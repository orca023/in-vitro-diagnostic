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xml" ContentType="application/vnd.openxmlformats-officedocument.themeOverride+xml"/>
  <Override PartName="/ppt/notesSlides/notesSlide22.xml" ContentType="application/vnd.openxmlformats-officedocument.presentationml.notesSlide+xml"/>
  <Override PartName="/ppt/theme/themeOverride2.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8" r:id="rId2"/>
    <p:sldMasterId id="2147483660" r:id="rId3"/>
    <p:sldMasterId id="2147483662" r:id="rId4"/>
  </p:sldMasterIdLst>
  <p:notesMasterIdLst>
    <p:notesMasterId r:id="rId36"/>
  </p:notesMasterIdLst>
  <p:sldIdLst>
    <p:sldId id="453" r:id="rId5"/>
    <p:sldId id="387" r:id="rId6"/>
    <p:sldId id="393" r:id="rId7"/>
    <p:sldId id="395" r:id="rId8"/>
    <p:sldId id="411" r:id="rId9"/>
    <p:sldId id="450" r:id="rId10"/>
    <p:sldId id="452" r:id="rId11"/>
    <p:sldId id="451" r:id="rId12"/>
    <p:sldId id="396" r:id="rId13"/>
    <p:sldId id="399" r:id="rId14"/>
    <p:sldId id="403" r:id="rId15"/>
    <p:sldId id="401" r:id="rId16"/>
    <p:sldId id="404" r:id="rId17"/>
    <p:sldId id="406" r:id="rId18"/>
    <p:sldId id="413" r:id="rId19"/>
    <p:sldId id="409" r:id="rId20"/>
    <p:sldId id="407" r:id="rId21"/>
    <p:sldId id="416" r:id="rId22"/>
    <p:sldId id="412" r:id="rId23"/>
    <p:sldId id="418" r:id="rId24"/>
    <p:sldId id="442" r:id="rId25"/>
    <p:sldId id="440" r:id="rId26"/>
    <p:sldId id="419" r:id="rId27"/>
    <p:sldId id="420" r:id="rId28"/>
    <p:sldId id="429" r:id="rId29"/>
    <p:sldId id="434" r:id="rId30"/>
    <p:sldId id="421" r:id="rId31"/>
    <p:sldId id="435" r:id="rId32"/>
    <p:sldId id="417" r:id="rId33"/>
    <p:sldId id="448" r:id="rId34"/>
    <p:sldId id="454" r:id="rId35"/>
  </p:sldIdLst>
  <p:sldSz cx="11522075" cy="6480175"/>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4D4D4D"/>
    <a:srgbClr val="FF0915"/>
    <a:srgbClr val="990000"/>
    <a:srgbClr val="C7000B"/>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1031" autoAdjust="0"/>
  </p:normalViewPr>
  <p:slideViewPr>
    <p:cSldViewPr snapToGrid="0">
      <p:cViewPr varScale="1">
        <p:scale>
          <a:sx n="85" d="100"/>
          <a:sy n="85" d="100"/>
        </p:scale>
        <p:origin x="787" y="53"/>
      </p:cViewPr>
      <p:guideLst>
        <p:guide orient="horz" pos="2041"/>
        <p:guide pos="3629"/>
      </p:guideLst>
    </p:cSldViewPr>
  </p:slideViewPr>
  <p:outlineViewPr>
    <p:cViewPr>
      <p:scale>
        <a:sx n="33" d="100"/>
        <a:sy n="33" d="100"/>
      </p:scale>
      <p:origin x="0" y="-18636"/>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16BA15-5D06-4660-80A1-C3612E53201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B8A0E61-CA53-4FC7-AE88-6DAD5F18E615}">
      <dgm:prSet phldrT="[文本]" custT="1"/>
      <dgm:spPr/>
      <dgm:t>
        <a:bodyPr/>
        <a:lstStyle/>
        <a:p>
          <a:r>
            <a:rPr lang="en-US" altLang="zh-CN" sz="1100" dirty="0"/>
            <a:t>1</a:t>
          </a:r>
          <a:r>
            <a:rPr lang="zh-CN" altLang="en-US" sz="1100" dirty="0"/>
            <a:t>、</a:t>
          </a:r>
        </a:p>
      </dgm:t>
    </dgm:pt>
    <dgm:pt modelId="{A1B804CE-BA72-4091-BA95-376C0305C7DB}" type="parTrans" cxnId="{5D5E569F-793B-4A7C-88FF-FBD657517FF8}">
      <dgm:prSet/>
      <dgm:spPr/>
      <dgm:t>
        <a:bodyPr/>
        <a:lstStyle/>
        <a:p>
          <a:endParaRPr lang="zh-CN" altLang="en-US" sz="1100"/>
        </a:p>
      </dgm:t>
    </dgm:pt>
    <dgm:pt modelId="{5EF8F4EB-74D4-4A7A-A6E8-5AC6DD070CAC}" type="sibTrans" cxnId="{5D5E569F-793B-4A7C-88FF-FBD657517FF8}">
      <dgm:prSet/>
      <dgm:spPr/>
      <dgm:t>
        <a:bodyPr/>
        <a:lstStyle/>
        <a:p>
          <a:endParaRPr lang="zh-CN" altLang="en-US" sz="1100"/>
        </a:p>
      </dgm:t>
    </dgm:pt>
    <dgm:pt modelId="{1A1C8115-F292-44D0-9555-F2F459FD62A1}">
      <dgm:prSet phldrT="[文本]" custT="1"/>
      <dgm:spPr/>
      <dgm:t>
        <a:bodyPr/>
        <a:lstStyle/>
        <a:p>
          <a:r>
            <a:rPr lang="zh-CN" altLang="en-US" sz="1100" dirty="0"/>
            <a:t>基於正態分佈參考值的參數估計；</a:t>
          </a:r>
        </a:p>
      </dgm:t>
    </dgm:pt>
    <dgm:pt modelId="{BD333597-AC8A-4907-9F16-F3F69897A87D}" type="parTrans" cxnId="{064D28C6-FCB6-4575-907E-5B9B14AEA67D}">
      <dgm:prSet/>
      <dgm:spPr/>
      <dgm:t>
        <a:bodyPr/>
        <a:lstStyle/>
        <a:p>
          <a:endParaRPr lang="zh-CN" altLang="en-US" sz="1100"/>
        </a:p>
      </dgm:t>
    </dgm:pt>
    <dgm:pt modelId="{B9B261D7-5089-4427-A102-D335406805D3}" type="sibTrans" cxnId="{064D28C6-FCB6-4575-907E-5B9B14AEA67D}">
      <dgm:prSet/>
      <dgm:spPr/>
      <dgm:t>
        <a:bodyPr/>
        <a:lstStyle/>
        <a:p>
          <a:endParaRPr lang="zh-CN" altLang="en-US" sz="1100"/>
        </a:p>
      </dgm:t>
    </dgm:pt>
    <dgm:pt modelId="{78F7090A-115A-426E-A366-63F266892CE6}">
      <dgm:prSet phldrT="[文本]" custT="1"/>
      <dgm:spPr/>
      <dgm:t>
        <a:bodyPr/>
        <a:lstStyle/>
        <a:p>
          <a:r>
            <a:rPr lang="en-US" altLang="zh-CN" sz="1100" dirty="0"/>
            <a:t>2</a:t>
          </a:r>
          <a:r>
            <a:rPr lang="zh-CN" altLang="en-US" sz="1100" dirty="0"/>
            <a:t>、</a:t>
          </a:r>
        </a:p>
      </dgm:t>
    </dgm:pt>
    <dgm:pt modelId="{D377F233-97A9-4171-8DEC-1798D40BE95D}" type="parTrans" cxnId="{7FF33B65-6572-4B8C-9CCE-3F7A6DA8FDD5}">
      <dgm:prSet/>
      <dgm:spPr/>
      <dgm:t>
        <a:bodyPr/>
        <a:lstStyle/>
        <a:p>
          <a:endParaRPr lang="zh-CN" altLang="en-US" sz="1100"/>
        </a:p>
      </dgm:t>
    </dgm:pt>
    <dgm:pt modelId="{F2B943DD-E700-4B1B-B953-607D163AB796}" type="sibTrans" cxnId="{7FF33B65-6572-4B8C-9CCE-3F7A6DA8FDD5}">
      <dgm:prSet/>
      <dgm:spPr/>
      <dgm:t>
        <a:bodyPr/>
        <a:lstStyle/>
        <a:p>
          <a:endParaRPr lang="zh-CN" altLang="en-US" sz="1100"/>
        </a:p>
      </dgm:t>
    </dgm:pt>
    <dgm:pt modelId="{53C0D799-785C-46DB-B458-4D633972A95E}">
      <dgm:prSet phldrT="[文本]" custT="1"/>
      <dgm:spPr/>
      <dgm:t>
        <a:bodyPr/>
        <a:lstStyle/>
        <a:p>
          <a:r>
            <a:rPr lang="zh-CN" altLang="en-US" sz="1100" dirty="0"/>
            <a:t>非正態分佈參考值的數據轉換；</a:t>
          </a:r>
        </a:p>
      </dgm:t>
    </dgm:pt>
    <dgm:pt modelId="{24C3F0A1-7975-469C-B71D-383F61B948EA}" type="parTrans" cxnId="{4EB4D994-069D-458C-9A29-DC83842D4E63}">
      <dgm:prSet/>
      <dgm:spPr/>
      <dgm:t>
        <a:bodyPr/>
        <a:lstStyle/>
        <a:p>
          <a:endParaRPr lang="zh-CN" altLang="en-US" sz="1100"/>
        </a:p>
      </dgm:t>
    </dgm:pt>
    <dgm:pt modelId="{52E51FA6-FD43-45EF-A07C-71B15916D5E9}" type="sibTrans" cxnId="{4EB4D994-069D-458C-9A29-DC83842D4E63}">
      <dgm:prSet/>
      <dgm:spPr/>
      <dgm:t>
        <a:bodyPr/>
        <a:lstStyle/>
        <a:p>
          <a:endParaRPr lang="zh-CN" altLang="en-US" sz="1100"/>
        </a:p>
      </dgm:t>
    </dgm:pt>
    <dgm:pt modelId="{DFF81EB4-7262-4D0F-9ED7-88DCCB31AF29}">
      <dgm:prSet phldrT="[文本]" custT="1"/>
      <dgm:spPr/>
      <dgm:t>
        <a:bodyPr/>
        <a:lstStyle/>
        <a:p>
          <a:r>
            <a:rPr lang="en-US" altLang="zh-CN" sz="1100" dirty="0"/>
            <a:t>3</a:t>
          </a:r>
          <a:r>
            <a:rPr lang="zh-CN" altLang="en-US" sz="1100" dirty="0"/>
            <a:t>、</a:t>
          </a:r>
        </a:p>
      </dgm:t>
    </dgm:pt>
    <dgm:pt modelId="{43BF6CE1-7AC7-4FD7-AD6F-5A32C6F3F670}" type="parTrans" cxnId="{4C916D3D-ECED-4E1B-87AF-85059B37FB88}">
      <dgm:prSet/>
      <dgm:spPr/>
      <dgm:t>
        <a:bodyPr/>
        <a:lstStyle/>
        <a:p>
          <a:endParaRPr lang="zh-CN" altLang="en-US" sz="1100"/>
        </a:p>
      </dgm:t>
    </dgm:pt>
    <dgm:pt modelId="{AFC015B6-4F2D-4DC9-BBC8-192397898B74}" type="sibTrans" cxnId="{4C916D3D-ECED-4E1B-87AF-85059B37FB88}">
      <dgm:prSet/>
      <dgm:spPr/>
      <dgm:t>
        <a:bodyPr/>
        <a:lstStyle/>
        <a:p>
          <a:endParaRPr lang="zh-CN" altLang="en-US" sz="1100"/>
        </a:p>
      </dgm:t>
    </dgm:pt>
    <dgm:pt modelId="{C2D0F8A3-8561-45F6-927D-4A664C23F5D9}">
      <dgm:prSet phldrT="[文本]" custT="1"/>
      <dgm:spPr/>
      <dgm:t>
        <a:bodyPr/>
        <a:lstStyle/>
        <a:p>
          <a:r>
            <a:rPr lang="zh-CN" altLang="en-US" sz="1100" dirty="0"/>
            <a:t>基於參考值秩的非參數估計；</a:t>
          </a:r>
        </a:p>
      </dgm:t>
    </dgm:pt>
    <dgm:pt modelId="{EE1220E5-D715-4870-A9CB-20C531800AC2}" type="parTrans" cxnId="{F99F53AB-A017-4D06-9081-9E379D8A481B}">
      <dgm:prSet/>
      <dgm:spPr/>
      <dgm:t>
        <a:bodyPr/>
        <a:lstStyle/>
        <a:p>
          <a:endParaRPr lang="zh-CN" altLang="en-US" sz="1100"/>
        </a:p>
      </dgm:t>
    </dgm:pt>
    <dgm:pt modelId="{180EF7DB-7120-4226-B61E-E536DB62BC1D}" type="sibTrans" cxnId="{F99F53AB-A017-4D06-9081-9E379D8A481B}">
      <dgm:prSet/>
      <dgm:spPr/>
      <dgm:t>
        <a:bodyPr/>
        <a:lstStyle/>
        <a:p>
          <a:endParaRPr lang="zh-CN" altLang="en-US" sz="1100"/>
        </a:p>
      </dgm:t>
    </dgm:pt>
    <dgm:pt modelId="{BF3D2C66-ED13-44E0-A474-B496514B963E}">
      <dgm:prSet phldrT="[文本]" custT="1"/>
      <dgm:spPr/>
      <dgm:t>
        <a:bodyPr/>
        <a:lstStyle/>
        <a:p>
          <a:r>
            <a:rPr lang="en-US" altLang="zh-CN" sz="1100" dirty="0"/>
            <a:t>4</a:t>
          </a:r>
          <a:r>
            <a:rPr lang="zh-CN" altLang="en-US" sz="1100" dirty="0"/>
            <a:t>、</a:t>
          </a:r>
        </a:p>
      </dgm:t>
    </dgm:pt>
    <dgm:pt modelId="{1A0B1B93-44F1-4A52-B102-197EAF9C85A7}" type="parTrans" cxnId="{EE29ADA5-08BC-43B9-B705-5B26D30B4E4C}">
      <dgm:prSet/>
      <dgm:spPr/>
      <dgm:t>
        <a:bodyPr/>
        <a:lstStyle/>
        <a:p>
          <a:endParaRPr lang="zh-CN" altLang="en-US" sz="1100"/>
        </a:p>
      </dgm:t>
    </dgm:pt>
    <dgm:pt modelId="{352AC904-A44C-4DC4-A41F-09DE3AAEBAC8}" type="sibTrans" cxnId="{EE29ADA5-08BC-43B9-B705-5B26D30B4E4C}">
      <dgm:prSet/>
      <dgm:spPr/>
      <dgm:t>
        <a:bodyPr/>
        <a:lstStyle/>
        <a:p>
          <a:endParaRPr lang="zh-CN" altLang="en-US" sz="1100"/>
        </a:p>
      </dgm:t>
    </dgm:pt>
    <dgm:pt modelId="{7D4B0B5D-18D9-4AFC-9DE2-33DCECBA79A0}">
      <dgm:prSet phldrT="[文本]" custT="1"/>
      <dgm:spPr/>
      <dgm:t>
        <a:bodyPr/>
        <a:lstStyle/>
        <a:p>
          <a:r>
            <a:rPr lang="zh-TW" altLang="en-US" sz="1100" dirty="0"/>
            <a:t>參考界限的置信區間</a:t>
          </a:r>
          <a:r>
            <a:rPr lang="zh-CN" altLang="en-US" sz="1100" dirty="0"/>
            <a:t>；</a:t>
          </a:r>
        </a:p>
      </dgm:t>
    </dgm:pt>
    <dgm:pt modelId="{B57B4FBD-DC4F-4380-9207-CAC1BB32B867}" type="parTrans" cxnId="{92935008-3D9C-4B56-8466-D5A8CB75C4D0}">
      <dgm:prSet/>
      <dgm:spPr/>
      <dgm:t>
        <a:bodyPr/>
        <a:lstStyle/>
        <a:p>
          <a:endParaRPr lang="zh-CN" altLang="en-US" sz="1100"/>
        </a:p>
      </dgm:t>
    </dgm:pt>
    <dgm:pt modelId="{332D2E69-5FDA-4FF1-97F0-DF0A8D816761}" type="sibTrans" cxnId="{92935008-3D9C-4B56-8466-D5A8CB75C4D0}">
      <dgm:prSet/>
      <dgm:spPr/>
      <dgm:t>
        <a:bodyPr/>
        <a:lstStyle/>
        <a:p>
          <a:endParaRPr lang="zh-CN" altLang="en-US" sz="1100"/>
        </a:p>
      </dgm:t>
    </dgm:pt>
    <dgm:pt modelId="{0F1A4C81-C33A-45D3-B35D-17C0592008E0}">
      <dgm:prSet phldrT="[文本]" custT="1"/>
      <dgm:spPr/>
      <dgm:t>
        <a:bodyPr/>
        <a:lstStyle/>
        <a:p>
          <a:r>
            <a:rPr lang="en-US" altLang="zh-CN" sz="1100" dirty="0"/>
            <a:t>5</a:t>
          </a:r>
          <a:r>
            <a:rPr lang="zh-CN" altLang="en-US" sz="1100" dirty="0"/>
            <a:t>、</a:t>
          </a:r>
        </a:p>
      </dgm:t>
    </dgm:pt>
    <dgm:pt modelId="{04917321-D384-4777-9657-12182F898E58}" type="parTrans" cxnId="{CE2F5415-2466-4D63-ABE4-A639FA075AB8}">
      <dgm:prSet/>
      <dgm:spPr/>
      <dgm:t>
        <a:bodyPr/>
        <a:lstStyle/>
        <a:p>
          <a:endParaRPr lang="zh-CN" altLang="en-US" sz="1100"/>
        </a:p>
      </dgm:t>
    </dgm:pt>
    <dgm:pt modelId="{0297142B-2FAF-4746-BE89-9D964CBC50F1}" type="sibTrans" cxnId="{CE2F5415-2466-4D63-ABE4-A639FA075AB8}">
      <dgm:prSet/>
      <dgm:spPr/>
      <dgm:t>
        <a:bodyPr/>
        <a:lstStyle/>
        <a:p>
          <a:endParaRPr lang="zh-CN" altLang="en-US" sz="1100"/>
        </a:p>
      </dgm:t>
    </dgm:pt>
    <dgm:pt modelId="{2C18AB0A-DB95-4F33-BBDE-045BB6FA6B1E}">
      <dgm:prSet phldrT="[文本]" custT="1"/>
      <dgm:spPr/>
      <dgm:t>
        <a:bodyPr/>
        <a:lstStyle/>
        <a:p>
          <a:r>
            <a:rPr lang="zh-TW" altLang="en-US" sz="1100" dirty="0"/>
            <a:t>參考值的離群值檢測</a:t>
          </a:r>
          <a:r>
            <a:rPr lang="zh-CN" altLang="en-US" sz="1100" dirty="0"/>
            <a:t>；</a:t>
          </a:r>
        </a:p>
      </dgm:t>
    </dgm:pt>
    <dgm:pt modelId="{09AA0DFC-BBFA-40D0-AC9D-5AF20F575AE8}" type="parTrans" cxnId="{586568B8-862B-4807-ABF0-8A9827A3F5A3}">
      <dgm:prSet/>
      <dgm:spPr/>
      <dgm:t>
        <a:bodyPr/>
        <a:lstStyle/>
        <a:p>
          <a:endParaRPr lang="zh-CN" altLang="en-US" sz="1100"/>
        </a:p>
      </dgm:t>
    </dgm:pt>
    <dgm:pt modelId="{8F44FBBE-6CE9-4EF9-8843-9A4AAC6CC92E}" type="sibTrans" cxnId="{586568B8-862B-4807-ABF0-8A9827A3F5A3}">
      <dgm:prSet/>
      <dgm:spPr/>
      <dgm:t>
        <a:bodyPr/>
        <a:lstStyle/>
        <a:p>
          <a:endParaRPr lang="zh-CN" altLang="en-US" sz="1100"/>
        </a:p>
      </dgm:t>
    </dgm:pt>
    <dgm:pt modelId="{EDC3AA1C-BA9A-4A4B-85E4-D3140C66B74D}">
      <dgm:prSet phldrT="[文本]" custT="1"/>
      <dgm:spPr/>
      <dgm:t>
        <a:bodyPr/>
        <a:lstStyle/>
        <a:p>
          <a:r>
            <a:rPr lang="en-US" altLang="zh-CN" sz="1100" dirty="0"/>
            <a:t>6</a:t>
          </a:r>
          <a:r>
            <a:rPr lang="zh-CN" altLang="en-US" sz="1100" dirty="0"/>
            <a:t>、</a:t>
          </a:r>
        </a:p>
      </dgm:t>
    </dgm:pt>
    <dgm:pt modelId="{2292DC8E-BB56-4466-BB84-63117BFD8D9C}" type="parTrans" cxnId="{F3AEC421-E869-4000-8F32-890C96A99EB7}">
      <dgm:prSet/>
      <dgm:spPr/>
      <dgm:t>
        <a:bodyPr/>
        <a:lstStyle/>
        <a:p>
          <a:endParaRPr lang="zh-CN" altLang="en-US" sz="1100"/>
        </a:p>
      </dgm:t>
    </dgm:pt>
    <dgm:pt modelId="{50714549-5DE1-45C6-A8BA-A83805A2FFFF}" type="sibTrans" cxnId="{F3AEC421-E869-4000-8F32-890C96A99EB7}">
      <dgm:prSet/>
      <dgm:spPr/>
      <dgm:t>
        <a:bodyPr/>
        <a:lstStyle/>
        <a:p>
          <a:endParaRPr lang="zh-CN" altLang="en-US" sz="1100"/>
        </a:p>
      </dgm:t>
    </dgm:pt>
    <dgm:pt modelId="{AB552FC0-708D-4EDA-BF3B-0FACC433DA6C}">
      <dgm:prSet phldrT="[文本]" custT="1"/>
      <dgm:spPr/>
      <dgm:t>
        <a:bodyPr/>
        <a:lstStyle/>
        <a:p>
          <a:r>
            <a:rPr lang="zh-CN" altLang="en-US" sz="1100" dirty="0"/>
            <a:t>參考區間分組；</a:t>
          </a:r>
        </a:p>
      </dgm:t>
    </dgm:pt>
    <dgm:pt modelId="{56857044-0136-40DA-987A-4975F3FAAC02}" type="parTrans" cxnId="{883E4CCC-1464-4793-9583-1E5D1E9C8A2C}">
      <dgm:prSet/>
      <dgm:spPr/>
      <dgm:t>
        <a:bodyPr/>
        <a:lstStyle/>
        <a:p>
          <a:endParaRPr lang="zh-CN" altLang="en-US" sz="1100"/>
        </a:p>
      </dgm:t>
    </dgm:pt>
    <dgm:pt modelId="{AD7A4622-2984-4AA8-B5B7-EECA8E29AF78}" type="sibTrans" cxnId="{883E4CCC-1464-4793-9583-1E5D1E9C8A2C}">
      <dgm:prSet/>
      <dgm:spPr/>
      <dgm:t>
        <a:bodyPr/>
        <a:lstStyle/>
        <a:p>
          <a:endParaRPr lang="zh-CN" altLang="en-US" sz="1100"/>
        </a:p>
      </dgm:t>
    </dgm:pt>
    <dgm:pt modelId="{1B6E538E-8F68-44B8-B448-7E0EE3743AC9}">
      <dgm:prSet phldrT="[文本]" custT="1"/>
      <dgm:spPr/>
      <dgm:t>
        <a:bodyPr/>
        <a:lstStyle/>
        <a:p>
          <a:r>
            <a:rPr lang="en-US" altLang="zh-CN" sz="1100" dirty="0"/>
            <a:t>7</a:t>
          </a:r>
          <a:r>
            <a:rPr lang="zh-CN" altLang="en-US" sz="1100" dirty="0"/>
            <a:t>、</a:t>
          </a:r>
        </a:p>
      </dgm:t>
    </dgm:pt>
    <dgm:pt modelId="{951BB0EC-0713-4EBE-ACAC-8F5FD5DD0FDA}" type="parTrans" cxnId="{EA3E2A8E-919C-4E80-A93B-14AE7F872151}">
      <dgm:prSet/>
      <dgm:spPr/>
      <dgm:t>
        <a:bodyPr/>
        <a:lstStyle/>
        <a:p>
          <a:endParaRPr lang="zh-CN" altLang="en-US" sz="1100"/>
        </a:p>
      </dgm:t>
    </dgm:pt>
    <dgm:pt modelId="{4A2B1926-456C-48F9-AF42-8465DF6D1367}" type="sibTrans" cxnId="{EA3E2A8E-919C-4E80-A93B-14AE7F872151}">
      <dgm:prSet/>
      <dgm:spPr/>
      <dgm:t>
        <a:bodyPr/>
        <a:lstStyle/>
        <a:p>
          <a:endParaRPr lang="zh-CN" altLang="en-US" sz="1100"/>
        </a:p>
      </dgm:t>
    </dgm:pt>
    <dgm:pt modelId="{11347686-8486-4891-AC2B-94AADB59E490}">
      <dgm:prSet phldrT="[文本]" custT="1"/>
      <dgm:spPr/>
      <dgm:t>
        <a:bodyPr/>
        <a:lstStyle/>
        <a:p>
          <a:r>
            <a:rPr lang="zh-CN" altLang="en-US" sz="1100" dirty="0"/>
            <a:t>參考區間轉換；</a:t>
          </a:r>
        </a:p>
      </dgm:t>
    </dgm:pt>
    <dgm:pt modelId="{7B888079-25CB-4C77-8830-4F2940C5F2F4}" type="parTrans" cxnId="{F7BD7599-A48F-4800-8E8C-27ED49470813}">
      <dgm:prSet/>
      <dgm:spPr/>
      <dgm:t>
        <a:bodyPr/>
        <a:lstStyle/>
        <a:p>
          <a:endParaRPr lang="zh-CN" altLang="en-US" sz="1100"/>
        </a:p>
      </dgm:t>
    </dgm:pt>
    <dgm:pt modelId="{C8474871-B11B-4D22-8170-C83EA80AF9D9}" type="sibTrans" cxnId="{F7BD7599-A48F-4800-8E8C-27ED49470813}">
      <dgm:prSet/>
      <dgm:spPr/>
      <dgm:t>
        <a:bodyPr/>
        <a:lstStyle/>
        <a:p>
          <a:endParaRPr lang="zh-CN" altLang="en-US" sz="1100"/>
        </a:p>
      </dgm:t>
    </dgm:pt>
    <dgm:pt modelId="{3647DD21-73E8-4C0F-8E2E-733605AF069A}" type="pres">
      <dgm:prSet presAssocID="{C416BA15-5D06-4660-80A1-C3612E53201F}" presName="Name0" presStyleCnt="0">
        <dgm:presLayoutVars>
          <dgm:dir/>
          <dgm:animLvl val="lvl"/>
          <dgm:resizeHandles val="exact"/>
        </dgm:presLayoutVars>
      </dgm:prSet>
      <dgm:spPr/>
    </dgm:pt>
    <dgm:pt modelId="{084A9C7D-81FA-45C3-8A2D-61DAB7CF5165}" type="pres">
      <dgm:prSet presAssocID="{EB8A0E61-CA53-4FC7-AE88-6DAD5F18E615}" presName="linNode" presStyleCnt="0"/>
      <dgm:spPr/>
    </dgm:pt>
    <dgm:pt modelId="{AE964A93-F1AB-4514-9B6C-B47DB1791781}" type="pres">
      <dgm:prSet presAssocID="{EB8A0E61-CA53-4FC7-AE88-6DAD5F18E615}" presName="parentText" presStyleLbl="node1" presStyleIdx="0" presStyleCnt="7" custScaleX="39351">
        <dgm:presLayoutVars>
          <dgm:chMax val="1"/>
          <dgm:bulletEnabled val="1"/>
        </dgm:presLayoutVars>
      </dgm:prSet>
      <dgm:spPr/>
    </dgm:pt>
    <dgm:pt modelId="{75FF46BE-04E8-4734-B228-000FB3BD6DCB}" type="pres">
      <dgm:prSet presAssocID="{EB8A0E61-CA53-4FC7-AE88-6DAD5F18E615}" presName="descendantText" presStyleLbl="alignAccFollowNode1" presStyleIdx="0" presStyleCnt="7">
        <dgm:presLayoutVars>
          <dgm:bulletEnabled val="1"/>
        </dgm:presLayoutVars>
      </dgm:prSet>
      <dgm:spPr/>
    </dgm:pt>
    <dgm:pt modelId="{A2C17242-EB1B-4701-9A26-4AD5FB469E8F}" type="pres">
      <dgm:prSet presAssocID="{5EF8F4EB-74D4-4A7A-A6E8-5AC6DD070CAC}" presName="sp" presStyleCnt="0"/>
      <dgm:spPr/>
    </dgm:pt>
    <dgm:pt modelId="{6D0C9689-4E4C-4AEB-A776-B11F0F47FC2E}" type="pres">
      <dgm:prSet presAssocID="{78F7090A-115A-426E-A366-63F266892CE6}" presName="linNode" presStyleCnt="0"/>
      <dgm:spPr/>
    </dgm:pt>
    <dgm:pt modelId="{24E4580D-23B0-4328-B680-11AF7AB951B9}" type="pres">
      <dgm:prSet presAssocID="{78F7090A-115A-426E-A366-63F266892CE6}" presName="parentText" presStyleLbl="node1" presStyleIdx="1" presStyleCnt="7" custScaleX="39351">
        <dgm:presLayoutVars>
          <dgm:chMax val="1"/>
          <dgm:bulletEnabled val="1"/>
        </dgm:presLayoutVars>
      </dgm:prSet>
      <dgm:spPr/>
    </dgm:pt>
    <dgm:pt modelId="{BA495641-0683-4DE7-9FC2-182D4F7971B1}" type="pres">
      <dgm:prSet presAssocID="{78F7090A-115A-426E-A366-63F266892CE6}" presName="descendantText" presStyleLbl="alignAccFollowNode1" presStyleIdx="1" presStyleCnt="7">
        <dgm:presLayoutVars>
          <dgm:bulletEnabled val="1"/>
        </dgm:presLayoutVars>
      </dgm:prSet>
      <dgm:spPr/>
    </dgm:pt>
    <dgm:pt modelId="{2CE706C9-89F6-4853-BBD0-4FF79CCA6CE6}" type="pres">
      <dgm:prSet presAssocID="{F2B943DD-E700-4B1B-B953-607D163AB796}" presName="sp" presStyleCnt="0"/>
      <dgm:spPr/>
    </dgm:pt>
    <dgm:pt modelId="{9E634A49-C5EC-4868-AB09-F319F190F1A2}" type="pres">
      <dgm:prSet presAssocID="{DFF81EB4-7262-4D0F-9ED7-88DCCB31AF29}" presName="linNode" presStyleCnt="0"/>
      <dgm:spPr/>
    </dgm:pt>
    <dgm:pt modelId="{BE28E7E3-9E1B-45CE-ADA0-73BF5528FB6D}" type="pres">
      <dgm:prSet presAssocID="{DFF81EB4-7262-4D0F-9ED7-88DCCB31AF29}" presName="parentText" presStyleLbl="node1" presStyleIdx="2" presStyleCnt="7" custScaleX="39351">
        <dgm:presLayoutVars>
          <dgm:chMax val="1"/>
          <dgm:bulletEnabled val="1"/>
        </dgm:presLayoutVars>
      </dgm:prSet>
      <dgm:spPr/>
    </dgm:pt>
    <dgm:pt modelId="{7F38E13C-2984-4396-95AA-CA1B83A8FDE1}" type="pres">
      <dgm:prSet presAssocID="{DFF81EB4-7262-4D0F-9ED7-88DCCB31AF29}" presName="descendantText" presStyleLbl="alignAccFollowNode1" presStyleIdx="2" presStyleCnt="7">
        <dgm:presLayoutVars>
          <dgm:bulletEnabled val="1"/>
        </dgm:presLayoutVars>
      </dgm:prSet>
      <dgm:spPr/>
    </dgm:pt>
    <dgm:pt modelId="{BC8E0BAB-CBFF-477C-BBAE-10CECBA99006}" type="pres">
      <dgm:prSet presAssocID="{AFC015B6-4F2D-4DC9-BBC8-192397898B74}" presName="sp" presStyleCnt="0"/>
      <dgm:spPr/>
    </dgm:pt>
    <dgm:pt modelId="{A54F974F-4A46-457E-A047-C72028F472C0}" type="pres">
      <dgm:prSet presAssocID="{BF3D2C66-ED13-44E0-A474-B496514B963E}" presName="linNode" presStyleCnt="0"/>
      <dgm:spPr/>
    </dgm:pt>
    <dgm:pt modelId="{A097E47E-6A82-4D11-8918-61AED8DDF073}" type="pres">
      <dgm:prSet presAssocID="{BF3D2C66-ED13-44E0-A474-B496514B963E}" presName="parentText" presStyleLbl="node1" presStyleIdx="3" presStyleCnt="7" custScaleX="39351">
        <dgm:presLayoutVars>
          <dgm:chMax val="1"/>
          <dgm:bulletEnabled val="1"/>
        </dgm:presLayoutVars>
      </dgm:prSet>
      <dgm:spPr/>
    </dgm:pt>
    <dgm:pt modelId="{DAF98FA8-6E14-48CE-A2A8-8CE78F5DDB1F}" type="pres">
      <dgm:prSet presAssocID="{BF3D2C66-ED13-44E0-A474-B496514B963E}" presName="descendantText" presStyleLbl="alignAccFollowNode1" presStyleIdx="3" presStyleCnt="7">
        <dgm:presLayoutVars>
          <dgm:bulletEnabled val="1"/>
        </dgm:presLayoutVars>
      </dgm:prSet>
      <dgm:spPr/>
    </dgm:pt>
    <dgm:pt modelId="{047B87F0-6133-4E7C-A3FB-682F3A542390}" type="pres">
      <dgm:prSet presAssocID="{352AC904-A44C-4DC4-A41F-09DE3AAEBAC8}" presName="sp" presStyleCnt="0"/>
      <dgm:spPr/>
    </dgm:pt>
    <dgm:pt modelId="{F2A046FC-BAF8-44E2-A090-F59B8572B8D8}" type="pres">
      <dgm:prSet presAssocID="{0F1A4C81-C33A-45D3-B35D-17C0592008E0}" presName="linNode" presStyleCnt="0"/>
      <dgm:spPr/>
    </dgm:pt>
    <dgm:pt modelId="{CDDAB61D-F2B8-47FD-B8BD-C042F3CADD7C}" type="pres">
      <dgm:prSet presAssocID="{0F1A4C81-C33A-45D3-B35D-17C0592008E0}" presName="parentText" presStyleLbl="node1" presStyleIdx="4" presStyleCnt="7" custScaleX="39351">
        <dgm:presLayoutVars>
          <dgm:chMax val="1"/>
          <dgm:bulletEnabled val="1"/>
        </dgm:presLayoutVars>
      </dgm:prSet>
      <dgm:spPr/>
    </dgm:pt>
    <dgm:pt modelId="{F968D3B4-8B02-4E7D-9877-90BB11C21E36}" type="pres">
      <dgm:prSet presAssocID="{0F1A4C81-C33A-45D3-B35D-17C0592008E0}" presName="descendantText" presStyleLbl="alignAccFollowNode1" presStyleIdx="4" presStyleCnt="7">
        <dgm:presLayoutVars>
          <dgm:bulletEnabled val="1"/>
        </dgm:presLayoutVars>
      </dgm:prSet>
      <dgm:spPr/>
    </dgm:pt>
    <dgm:pt modelId="{3527F629-E640-4CE5-94ED-7B7CA0D4B039}" type="pres">
      <dgm:prSet presAssocID="{0297142B-2FAF-4746-BE89-9D964CBC50F1}" presName="sp" presStyleCnt="0"/>
      <dgm:spPr/>
    </dgm:pt>
    <dgm:pt modelId="{E2D60331-3632-42BE-AF5C-CFA27881A4B4}" type="pres">
      <dgm:prSet presAssocID="{EDC3AA1C-BA9A-4A4B-85E4-D3140C66B74D}" presName="linNode" presStyleCnt="0"/>
      <dgm:spPr/>
    </dgm:pt>
    <dgm:pt modelId="{CB2FB260-7C19-4FB5-8647-02F69728932D}" type="pres">
      <dgm:prSet presAssocID="{EDC3AA1C-BA9A-4A4B-85E4-D3140C66B74D}" presName="parentText" presStyleLbl="node1" presStyleIdx="5" presStyleCnt="7" custScaleX="39351">
        <dgm:presLayoutVars>
          <dgm:chMax val="1"/>
          <dgm:bulletEnabled val="1"/>
        </dgm:presLayoutVars>
      </dgm:prSet>
      <dgm:spPr/>
    </dgm:pt>
    <dgm:pt modelId="{42170C6B-7DCD-46FD-8642-AD55567EE7D2}" type="pres">
      <dgm:prSet presAssocID="{EDC3AA1C-BA9A-4A4B-85E4-D3140C66B74D}" presName="descendantText" presStyleLbl="alignAccFollowNode1" presStyleIdx="5" presStyleCnt="7">
        <dgm:presLayoutVars>
          <dgm:bulletEnabled val="1"/>
        </dgm:presLayoutVars>
      </dgm:prSet>
      <dgm:spPr/>
    </dgm:pt>
    <dgm:pt modelId="{635FC7F3-9F9F-484D-8FCD-C9CD2DC2E0B3}" type="pres">
      <dgm:prSet presAssocID="{50714549-5DE1-45C6-A8BA-A83805A2FFFF}" presName="sp" presStyleCnt="0"/>
      <dgm:spPr/>
    </dgm:pt>
    <dgm:pt modelId="{CE36B0C7-F582-4A56-8070-46EDD9D5AFE8}" type="pres">
      <dgm:prSet presAssocID="{1B6E538E-8F68-44B8-B448-7E0EE3743AC9}" presName="linNode" presStyleCnt="0"/>
      <dgm:spPr/>
    </dgm:pt>
    <dgm:pt modelId="{DEB5D609-E9A4-4B44-9953-DCEBFC3862C6}" type="pres">
      <dgm:prSet presAssocID="{1B6E538E-8F68-44B8-B448-7E0EE3743AC9}" presName="parentText" presStyleLbl="node1" presStyleIdx="6" presStyleCnt="7" custScaleX="39351">
        <dgm:presLayoutVars>
          <dgm:chMax val="1"/>
          <dgm:bulletEnabled val="1"/>
        </dgm:presLayoutVars>
      </dgm:prSet>
      <dgm:spPr/>
    </dgm:pt>
    <dgm:pt modelId="{295921A2-300F-4265-974D-72EB841C032E}" type="pres">
      <dgm:prSet presAssocID="{1B6E538E-8F68-44B8-B448-7E0EE3743AC9}" presName="descendantText" presStyleLbl="alignAccFollowNode1" presStyleIdx="6" presStyleCnt="7">
        <dgm:presLayoutVars>
          <dgm:bulletEnabled val="1"/>
        </dgm:presLayoutVars>
      </dgm:prSet>
      <dgm:spPr/>
    </dgm:pt>
  </dgm:ptLst>
  <dgm:cxnLst>
    <dgm:cxn modelId="{2F7C0503-6ED2-4A9B-AD87-558327594ED5}" type="presOf" srcId="{11347686-8486-4891-AC2B-94AADB59E490}" destId="{295921A2-300F-4265-974D-72EB841C032E}" srcOrd="0" destOrd="0" presId="urn:microsoft.com/office/officeart/2005/8/layout/vList5"/>
    <dgm:cxn modelId="{92935008-3D9C-4B56-8466-D5A8CB75C4D0}" srcId="{BF3D2C66-ED13-44E0-A474-B496514B963E}" destId="{7D4B0B5D-18D9-4AFC-9DE2-33DCECBA79A0}" srcOrd="0" destOrd="0" parTransId="{B57B4FBD-DC4F-4380-9207-CAC1BB32B867}" sibTransId="{332D2E69-5FDA-4FF1-97F0-DF0A8D816761}"/>
    <dgm:cxn modelId="{CE2F5415-2466-4D63-ABE4-A639FA075AB8}" srcId="{C416BA15-5D06-4660-80A1-C3612E53201F}" destId="{0F1A4C81-C33A-45D3-B35D-17C0592008E0}" srcOrd="4" destOrd="0" parTransId="{04917321-D384-4777-9657-12182F898E58}" sibTransId="{0297142B-2FAF-4746-BE89-9D964CBC50F1}"/>
    <dgm:cxn modelId="{4AD0FA1E-8A80-454A-9133-677B515DF9AC}" type="presOf" srcId="{78F7090A-115A-426E-A366-63F266892CE6}" destId="{24E4580D-23B0-4328-B680-11AF7AB951B9}" srcOrd="0" destOrd="0" presId="urn:microsoft.com/office/officeart/2005/8/layout/vList5"/>
    <dgm:cxn modelId="{F3AEC421-E869-4000-8F32-890C96A99EB7}" srcId="{C416BA15-5D06-4660-80A1-C3612E53201F}" destId="{EDC3AA1C-BA9A-4A4B-85E4-D3140C66B74D}" srcOrd="5" destOrd="0" parTransId="{2292DC8E-BB56-4466-BB84-63117BFD8D9C}" sibTransId="{50714549-5DE1-45C6-A8BA-A83805A2FFFF}"/>
    <dgm:cxn modelId="{73BC9A28-7967-4550-9006-B79B52B6F09B}" type="presOf" srcId="{7D4B0B5D-18D9-4AFC-9DE2-33DCECBA79A0}" destId="{DAF98FA8-6E14-48CE-A2A8-8CE78F5DDB1F}" srcOrd="0" destOrd="0" presId="urn:microsoft.com/office/officeart/2005/8/layout/vList5"/>
    <dgm:cxn modelId="{D324412B-3093-4B49-929A-FA8E60667E0D}" type="presOf" srcId="{C416BA15-5D06-4660-80A1-C3612E53201F}" destId="{3647DD21-73E8-4C0F-8E2E-733605AF069A}" srcOrd="0" destOrd="0" presId="urn:microsoft.com/office/officeart/2005/8/layout/vList5"/>
    <dgm:cxn modelId="{4C916D3D-ECED-4E1B-87AF-85059B37FB88}" srcId="{C416BA15-5D06-4660-80A1-C3612E53201F}" destId="{DFF81EB4-7262-4D0F-9ED7-88DCCB31AF29}" srcOrd="2" destOrd="0" parTransId="{43BF6CE1-7AC7-4FD7-AD6F-5A32C6F3F670}" sibTransId="{AFC015B6-4F2D-4DC9-BBC8-192397898B74}"/>
    <dgm:cxn modelId="{7FF33B65-6572-4B8C-9CCE-3F7A6DA8FDD5}" srcId="{C416BA15-5D06-4660-80A1-C3612E53201F}" destId="{78F7090A-115A-426E-A366-63F266892CE6}" srcOrd="1" destOrd="0" parTransId="{D377F233-97A9-4171-8DEC-1798D40BE95D}" sibTransId="{F2B943DD-E700-4B1B-B953-607D163AB796}"/>
    <dgm:cxn modelId="{215DC28A-3D67-428D-B710-13C547285A3E}" type="presOf" srcId="{BF3D2C66-ED13-44E0-A474-B496514B963E}" destId="{A097E47E-6A82-4D11-8918-61AED8DDF073}" srcOrd="0" destOrd="0" presId="urn:microsoft.com/office/officeart/2005/8/layout/vList5"/>
    <dgm:cxn modelId="{EA3E2A8E-919C-4E80-A93B-14AE7F872151}" srcId="{C416BA15-5D06-4660-80A1-C3612E53201F}" destId="{1B6E538E-8F68-44B8-B448-7E0EE3743AC9}" srcOrd="6" destOrd="0" parTransId="{951BB0EC-0713-4EBE-ACAC-8F5FD5DD0FDA}" sibTransId="{4A2B1926-456C-48F9-AF42-8465DF6D1367}"/>
    <dgm:cxn modelId="{19D7A98F-95E4-4820-AB4E-CA173355A9E7}" type="presOf" srcId="{EDC3AA1C-BA9A-4A4B-85E4-D3140C66B74D}" destId="{CB2FB260-7C19-4FB5-8647-02F69728932D}" srcOrd="0" destOrd="0" presId="urn:microsoft.com/office/officeart/2005/8/layout/vList5"/>
    <dgm:cxn modelId="{4EB4D994-069D-458C-9A29-DC83842D4E63}" srcId="{78F7090A-115A-426E-A366-63F266892CE6}" destId="{53C0D799-785C-46DB-B458-4D633972A95E}" srcOrd="0" destOrd="0" parTransId="{24C3F0A1-7975-469C-B71D-383F61B948EA}" sibTransId="{52E51FA6-FD43-45EF-A07C-71B15916D5E9}"/>
    <dgm:cxn modelId="{F7BD7599-A48F-4800-8E8C-27ED49470813}" srcId="{1B6E538E-8F68-44B8-B448-7E0EE3743AC9}" destId="{11347686-8486-4891-AC2B-94AADB59E490}" srcOrd="0" destOrd="0" parTransId="{7B888079-25CB-4C77-8830-4F2940C5F2F4}" sibTransId="{C8474871-B11B-4D22-8170-C83EA80AF9D9}"/>
    <dgm:cxn modelId="{5D5E569F-793B-4A7C-88FF-FBD657517FF8}" srcId="{C416BA15-5D06-4660-80A1-C3612E53201F}" destId="{EB8A0E61-CA53-4FC7-AE88-6DAD5F18E615}" srcOrd="0" destOrd="0" parTransId="{A1B804CE-BA72-4091-BA95-376C0305C7DB}" sibTransId="{5EF8F4EB-74D4-4A7A-A6E8-5AC6DD070CAC}"/>
    <dgm:cxn modelId="{EE29ADA5-08BC-43B9-B705-5B26D30B4E4C}" srcId="{C416BA15-5D06-4660-80A1-C3612E53201F}" destId="{BF3D2C66-ED13-44E0-A474-B496514B963E}" srcOrd="3" destOrd="0" parTransId="{1A0B1B93-44F1-4A52-B102-197EAF9C85A7}" sibTransId="{352AC904-A44C-4DC4-A41F-09DE3AAEBAC8}"/>
    <dgm:cxn modelId="{F99F53AB-A017-4D06-9081-9E379D8A481B}" srcId="{DFF81EB4-7262-4D0F-9ED7-88DCCB31AF29}" destId="{C2D0F8A3-8561-45F6-927D-4A664C23F5D9}" srcOrd="0" destOrd="0" parTransId="{EE1220E5-D715-4870-A9CB-20C531800AC2}" sibTransId="{180EF7DB-7120-4226-B61E-E536DB62BC1D}"/>
    <dgm:cxn modelId="{5F938CAC-CE3B-452B-9444-8C639C9EB28D}" type="presOf" srcId="{DFF81EB4-7262-4D0F-9ED7-88DCCB31AF29}" destId="{BE28E7E3-9E1B-45CE-ADA0-73BF5528FB6D}" srcOrd="0" destOrd="0" presId="urn:microsoft.com/office/officeart/2005/8/layout/vList5"/>
    <dgm:cxn modelId="{586568B8-862B-4807-ABF0-8A9827A3F5A3}" srcId="{0F1A4C81-C33A-45D3-B35D-17C0592008E0}" destId="{2C18AB0A-DB95-4F33-BBDE-045BB6FA6B1E}" srcOrd="0" destOrd="0" parTransId="{09AA0DFC-BBFA-40D0-AC9D-5AF20F575AE8}" sibTransId="{8F44FBBE-6CE9-4EF9-8843-9A4AAC6CC92E}"/>
    <dgm:cxn modelId="{AB161ABC-4FFF-4BD0-AF27-A31365F1C6B1}" type="presOf" srcId="{1A1C8115-F292-44D0-9555-F2F459FD62A1}" destId="{75FF46BE-04E8-4734-B228-000FB3BD6DCB}" srcOrd="0" destOrd="0" presId="urn:microsoft.com/office/officeart/2005/8/layout/vList5"/>
    <dgm:cxn modelId="{064D28C6-FCB6-4575-907E-5B9B14AEA67D}" srcId="{EB8A0E61-CA53-4FC7-AE88-6DAD5F18E615}" destId="{1A1C8115-F292-44D0-9555-F2F459FD62A1}" srcOrd="0" destOrd="0" parTransId="{BD333597-AC8A-4907-9F16-F3F69897A87D}" sibTransId="{B9B261D7-5089-4427-A102-D335406805D3}"/>
    <dgm:cxn modelId="{770F79C6-1815-457E-911F-7A1089A1BB65}" type="presOf" srcId="{53C0D799-785C-46DB-B458-4D633972A95E}" destId="{BA495641-0683-4DE7-9FC2-182D4F7971B1}" srcOrd="0" destOrd="0" presId="urn:microsoft.com/office/officeart/2005/8/layout/vList5"/>
    <dgm:cxn modelId="{883E4CCC-1464-4793-9583-1E5D1E9C8A2C}" srcId="{EDC3AA1C-BA9A-4A4B-85E4-D3140C66B74D}" destId="{AB552FC0-708D-4EDA-BF3B-0FACC433DA6C}" srcOrd="0" destOrd="0" parTransId="{56857044-0136-40DA-987A-4975F3FAAC02}" sibTransId="{AD7A4622-2984-4AA8-B5B7-EECA8E29AF78}"/>
    <dgm:cxn modelId="{8EFEB6CC-022C-4680-AE96-2B61E2FA1354}" type="presOf" srcId="{C2D0F8A3-8561-45F6-927D-4A664C23F5D9}" destId="{7F38E13C-2984-4396-95AA-CA1B83A8FDE1}" srcOrd="0" destOrd="0" presId="urn:microsoft.com/office/officeart/2005/8/layout/vList5"/>
    <dgm:cxn modelId="{C9C79ED3-BA8E-4B5B-90E6-A60C738A2B2B}" type="presOf" srcId="{0F1A4C81-C33A-45D3-B35D-17C0592008E0}" destId="{CDDAB61D-F2B8-47FD-B8BD-C042F3CADD7C}" srcOrd="0" destOrd="0" presId="urn:microsoft.com/office/officeart/2005/8/layout/vList5"/>
    <dgm:cxn modelId="{20E62BD4-CA13-4AEF-B542-AD0ACB34EDE6}" type="presOf" srcId="{EB8A0E61-CA53-4FC7-AE88-6DAD5F18E615}" destId="{AE964A93-F1AB-4514-9B6C-B47DB1791781}" srcOrd="0" destOrd="0" presId="urn:microsoft.com/office/officeart/2005/8/layout/vList5"/>
    <dgm:cxn modelId="{FCBBBEE9-4FD8-4C81-BB37-1CB0D730ED98}" type="presOf" srcId="{1B6E538E-8F68-44B8-B448-7E0EE3743AC9}" destId="{DEB5D609-E9A4-4B44-9953-DCEBFC3862C6}" srcOrd="0" destOrd="0" presId="urn:microsoft.com/office/officeart/2005/8/layout/vList5"/>
    <dgm:cxn modelId="{A81549F5-7A90-4D28-8915-90FA372C08C9}" type="presOf" srcId="{AB552FC0-708D-4EDA-BF3B-0FACC433DA6C}" destId="{42170C6B-7DCD-46FD-8642-AD55567EE7D2}" srcOrd="0" destOrd="0" presId="urn:microsoft.com/office/officeart/2005/8/layout/vList5"/>
    <dgm:cxn modelId="{46FB34F9-9F10-4E54-8796-E36FCB9C520B}" type="presOf" srcId="{2C18AB0A-DB95-4F33-BBDE-045BB6FA6B1E}" destId="{F968D3B4-8B02-4E7D-9877-90BB11C21E36}" srcOrd="0" destOrd="0" presId="urn:microsoft.com/office/officeart/2005/8/layout/vList5"/>
    <dgm:cxn modelId="{ED753233-8C48-4074-B0FE-9145541F83B0}" type="presParOf" srcId="{3647DD21-73E8-4C0F-8E2E-733605AF069A}" destId="{084A9C7D-81FA-45C3-8A2D-61DAB7CF5165}" srcOrd="0" destOrd="0" presId="urn:microsoft.com/office/officeart/2005/8/layout/vList5"/>
    <dgm:cxn modelId="{E407B58A-6CDD-4E5B-AEA8-1D2A320946E9}" type="presParOf" srcId="{084A9C7D-81FA-45C3-8A2D-61DAB7CF5165}" destId="{AE964A93-F1AB-4514-9B6C-B47DB1791781}" srcOrd="0" destOrd="0" presId="urn:microsoft.com/office/officeart/2005/8/layout/vList5"/>
    <dgm:cxn modelId="{9BCA048B-033D-4529-9214-1A8D174A4258}" type="presParOf" srcId="{084A9C7D-81FA-45C3-8A2D-61DAB7CF5165}" destId="{75FF46BE-04E8-4734-B228-000FB3BD6DCB}" srcOrd="1" destOrd="0" presId="urn:microsoft.com/office/officeart/2005/8/layout/vList5"/>
    <dgm:cxn modelId="{DF3CFE0B-FBD0-42EB-856A-F152691C2D54}" type="presParOf" srcId="{3647DD21-73E8-4C0F-8E2E-733605AF069A}" destId="{A2C17242-EB1B-4701-9A26-4AD5FB469E8F}" srcOrd="1" destOrd="0" presId="urn:microsoft.com/office/officeart/2005/8/layout/vList5"/>
    <dgm:cxn modelId="{9C0A445D-DA31-4E16-81F7-5998F84A9C4C}" type="presParOf" srcId="{3647DD21-73E8-4C0F-8E2E-733605AF069A}" destId="{6D0C9689-4E4C-4AEB-A776-B11F0F47FC2E}" srcOrd="2" destOrd="0" presId="urn:microsoft.com/office/officeart/2005/8/layout/vList5"/>
    <dgm:cxn modelId="{A6C6B6C8-339E-48A5-B697-78570770D7C1}" type="presParOf" srcId="{6D0C9689-4E4C-4AEB-A776-B11F0F47FC2E}" destId="{24E4580D-23B0-4328-B680-11AF7AB951B9}" srcOrd="0" destOrd="0" presId="urn:microsoft.com/office/officeart/2005/8/layout/vList5"/>
    <dgm:cxn modelId="{45875E57-6939-4825-A593-F1D079BE5E24}" type="presParOf" srcId="{6D0C9689-4E4C-4AEB-A776-B11F0F47FC2E}" destId="{BA495641-0683-4DE7-9FC2-182D4F7971B1}" srcOrd="1" destOrd="0" presId="urn:microsoft.com/office/officeart/2005/8/layout/vList5"/>
    <dgm:cxn modelId="{C460BCE7-F604-418C-B008-38D9F206EDF4}" type="presParOf" srcId="{3647DD21-73E8-4C0F-8E2E-733605AF069A}" destId="{2CE706C9-89F6-4853-BBD0-4FF79CCA6CE6}" srcOrd="3" destOrd="0" presId="urn:microsoft.com/office/officeart/2005/8/layout/vList5"/>
    <dgm:cxn modelId="{43D0B4E2-AFB4-460D-A941-BE5B2713D5B2}" type="presParOf" srcId="{3647DD21-73E8-4C0F-8E2E-733605AF069A}" destId="{9E634A49-C5EC-4868-AB09-F319F190F1A2}" srcOrd="4" destOrd="0" presId="urn:microsoft.com/office/officeart/2005/8/layout/vList5"/>
    <dgm:cxn modelId="{2D367F91-EBC9-4934-9F0F-1FFACE89362A}" type="presParOf" srcId="{9E634A49-C5EC-4868-AB09-F319F190F1A2}" destId="{BE28E7E3-9E1B-45CE-ADA0-73BF5528FB6D}" srcOrd="0" destOrd="0" presId="urn:microsoft.com/office/officeart/2005/8/layout/vList5"/>
    <dgm:cxn modelId="{26C65680-3349-4E7D-9282-F265B6F74B6D}" type="presParOf" srcId="{9E634A49-C5EC-4868-AB09-F319F190F1A2}" destId="{7F38E13C-2984-4396-95AA-CA1B83A8FDE1}" srcOrd="1" destOrd="0" presId="urn:microsoft.com/office/officeart/2005/8/layout/vList5"/>
    <dgm:cxn modelId="{E1F841D1-0002-4832-A520-A0E766B00128}" type="presParOf" srcId="{3647DD21-73E8-4C0F-8E2E-733605AF069A}" destId="{BC8E0BAB-CBFF-477C-BBAE-10CECBA99006}" srcOrd="5" destOrd="0" presId="urn:microsoft.com/office/officeart/2005/8/layout/vList5"/>
    <dgm:cxn modelId="{3FB2036F-6F0B-4079-8434-0E6170EB509C}" type="presParOf" srcId="{3647DD21-73E8-4C0F-8E2E-733605AF069A}" destId="{A54F974F-4A46-457E-A047-C72028F472C0}" srcOrd="6" destOrd="0" presId="urn:microsoft.com/office/officeart/2005/8/layout/vList5"/>
    <dgm:cxn modelId="{634039A8-195A-422B-9FDE-216137C655D6}" type="presParOf" srcId="{A54F974F-4A46-457E-A047-C72028F472C0}" destId="{A097E47E-6A82-4D11-8918-61AED8DDF073}" srcOrd="0" destOrd="0" presId="urn:microsoft.com/office/officeart/2005/8/layout/vList5"/>
    <dgm:cxn modelId="{24EAA245-6CEE-400F-B38E-0A4BD13D613D}" type="presParOf" srcId="{A54F974F-4A46-457E-A047-C72028F472C0}" destId="{DAF98FA8-6E14-48CE-A2A8-8CE78F5DDB1F}" srcOrd="1" destOrd="0" presId="urn:microsoft.com/office/officeart/2005/8/layout/vList5"/>
    <dgm:cxn modelId="{D23ABBAA-48CB-4CA7-89EB-BD1673CF6554}" type="presParOf" srcId="{3647DD21-73E8-4C0F-8E2E-733605AF069A}" destId="{047B87F0-6133-4E7C-A3FB-682F3A542390}" srcOrd="7" destOrd="0" presId="urn:microsoft.com/office/officeart/2005/8/layout/vList5"/>
    <dgm:cxn modelId="{DDAE0925-9F3E-402D-83BB-BB9BE88B1A8F}" type="presParOf" srcId="{3647DD21-73E8-4C0F-8E2E-733605AF069A}" destId="{F2A046FC-BAF8-44E2-A090-F59B8572B8D8}" srcOrd="8" destOrd="0" presId="urn:microsoft.com/office/officeart/2005/8/layout/vList5"/>
    <dgm:cxn modelId="{12A9DD2F-68AD-435B-9936-954AED20AF4B}" type="presParOf" srcId="{F2A046FC-BAF8-44E2-A090-F59B8572B8D8}" destId="{CDDAB61D-F2B8-47FD-B8BD-C042F3CADD7C}" srcOrd="0" destOrd="0" presId="urn:microsoft.com/office/officeart/2005/8/layout/vList5"/>
    <dgm:cxn modelId="{81200DA9-5594-4D1B-9C35-39B5C5D1D096}" type="presParOf" srcId="{F2A046FC-BAF8-44E2-A090-F59B8572B8D8}" destId="{F968D3B4-8B02-4E7D-9877-90BB11C21E36}" srcOrd="1" destOrd="0" presId="urn:microsoft.com/office/officeart/2005/8/layout/vList5"/>
    <dgm:cxn modelId="{A391D052-6A25-44AC-9EBD-15658AEA15F5}" type="presParOf" srcId="{3647DD21-73E8-4C0F-8E2E-733605AF069A}" destId="{3527F629-E640-4CE5-94ED-7B7CA0D4B039}" srcOrd="9" destOrd="0" presId="urn:microsoft.com/office/officeart/2005/8/layout/vList5"/>
    <dgm:cxn modelId="{0F5A5E52-143E-4E2B-B4F1-500A41DF3308}" type="presParOf" srcId="{3647DD21-73E8-4C0F-8E2E-733605AF069A}" destId="{E2D60331-3632-42BE-AF5C-CFA27881A4B4}" srcOrd="10" destOrd="0" presId="urn:microsoft.com/office/officeart/2005/8/layout/vList5"/>
    <dgm:cxn modelId="{1ADCE4F5-2E59-4FC1-AAFF-2784DC5D4628}" type="presParOf" srcId="{E2D60331-3632-42BE-AF5C-CFA27881A4B4}" destId="{CB2FB260-7C19-4FB5-8647-02F69728932D}" srcOrd="0" destOrd="0" presId="urn:microsoft.com/office/officeart/2005/8/layout/vList5"/>
    <dgm:cxn modelId="{2B35E857-0B97-4AA6-AA8F-D656EA80A5B4}" type="presParOf" srcId="{E2D60331-3632-42BE-AF5C-CFA27881A4B4}" destId="{42170C6B-7DCD-46FD-8642-AD55567EE7D2}" srcOrd="1" destOrd="0" presId="urn:microsoft.com/office/officeart/2005/8/layout/vList5"/>
    <dgm:cxn modelId="{6823177E-09AC-4D46-A5B8-07B6927FED6E}" type="presParOf" srcId="{3647DD21-73E8-4C0F-8E2E-733605AF069A}" destId="{635FC7F3-9F9F-484D-8FCD-C9CD2DC2E0B3}" srcOrd="11" destOrd="0" presId="urn:microsoft.com/office/officeart/2005/8/layout/vList5"/>
    <dgm:cxn modelId="{3C28CFF0-73B1-4E1C-B484-E8A7DD4EBDDC}" type="presParOf" srcId="{3647DD21-73E8-4C0F-8E2E-733605AF069A}" destId="{CE36B0C7-F582-4A56-8070-46EDD9D5AFE8}" srcOrd="12" destOrd="0" presId="urn:microsoft.com/office/officeart/2005/8/layout/vList5"/>
    <dgm:cxn modelId="{603E24DC-95FE-4026-85F2-DA87CEA712F2}" type="presParOf" srcId="{CE36B0C7-F582-4A56-8070-46EDD9D5AFE8}" destId="{DEB5D609-E9A4-4B44-9953-DCEBFC3862C6}" srcOrd="0" destOrd="0" presId="urn:microsoft.com/office/officeart/2005/8/layout/vList5"/>
    <dgm:cxn modelId="{EC6045C8-4940-4B52-8B96-F84D6801AF53}" type="presParOf" srcId="{CE36B0C7-F582-4A56-8070-46EDD9D5AFE8}" destId="{295921A2-300F-4265-974D-72EB841C032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F46BE-04E8-4734-B228-000FB3BD6DCB}">
      <dsp:nvSpPr>
        <dsp:cNvPr id="0" name=""/>
        <dsp:cNvSpPr/>
      </dsp:nvSpPr>
      <dsp:spPr>
        <a:xfrm rot="5400000">
          <a:off x="2311066" y="-1196865"/>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基於正態分佈參考值的參數估計；</a:t>
          </a:r>
        </a:p>
      </dsp:txBody>
      <dsp:txXfrm rot="-5400000">
        <a:off x="1078273" y="49872"/>
        <a:ext cx="2737280" cy="257750"/>
      </dsp:txXfrm>
    </dsp:sp>
    <dsp:sp modelId="{AE964A93-F1AB-4514-9B6C-B47DB1791781}">
      <dsp:nvSpPr>
        <dsp:cNvPr id="0" name=""/>
        <dsp:cNvSpPr/>
      </dsp:nvSpPr>
      <dsp:spPr>
        <a:xfrm>
          <a:off x="469291" y="2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1</a:t>
          </a:r>
          <a:r>
            <a:rPr lang="zh-CN" altLang="en-US" sz="1100" kern="1200" dirty="0"/>
            <a:t>、</a:t>
          </a:r>
        </a:p>
      </dsp:txBody>
      <dsp:txXfrm>
        <a:off x="486721" y="17652"/>
        <a:ext cx="574121" cy="322187"/>
      </dsp:txXfrm>
    </dsp:sp>
    <dsp:sp modelId="{BA495641-0683-4DE7-9FC2-182D4F7971B1}">
      <dsp:nvSpPr>
        <dsp:cNvPr id="0" name=""/>
        <dsp:cNvSpPr/>
      </dsp:nvSpPr>
      <dsp:spPr>
        <a:xfrm rot="5400000">
          <a:off x="2311066" y="-821965"/>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非正態分佈參考值的數據轉換；</a:t>
          </a:r>
        </a:p>
      </dsp:txBody>
      <dsp:txXfrm rot="-5400000">
        <a:off x="1078273" y="424772"/>
        <a:ext cx="2737280" cy="257750"/>
      </dsp:txXfrm>
    </dsp:sp>
    <dsp:sp modelId="{24E4580D-23B0-4328-B680-11AF7AB951B9}">
      <dsp:nvSpPr>
        <dsp:cNvPr id="0" name=""/>
        <dsp:cNvSpPr/>
      </dsp:nvSpPr>
      <dsp:spPr>
        <a:xfrm>
          <a:off x="469291" y="3751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2</a:t>
          </a:r>
          <a:r>
            <a:rPr lang="zh-CN" altLang="en-US" sz="1100" kern="1200" dirty="0"/>
            <a:t>、</a:t>
          </a:r>
        </a:p>
      </dsp:txBody>
      <dsp:txXfrm>
        <a:off x="486721" y="392552"/>
        <a:ext cx="574121" cy="322187"/>
      </dsp:txXfrm>
    </dsp:sp>
    <dsp:sp modelId="{7F38E13C-2984-4396-95AA-CA1B83A8FDE1}">
      <dsp:nvSpPr>
        <dsp:cNvPr id="0" name=""/>
        <dsp:cNvSpPr/>
      </dsp:nvSpPr>
      <dsp:spPr>
        <a:xfrm rot="5400000">
          <a:off x="2311066" y="-447065"/>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基於參考值秩的非參數估計；</a:t>
          </a:r>
        </a:p>
      </dsp:txBody>
      <dsp:txXfrm rot="-5400000">
        <a:off x="1078273" y="799672"/>
        <a:ext cx="2737280" cy="257750"/>
      </dsp:txXfrm>
    </dsp:sp>
    <dsp:sp modelId="{BE28E7E3-9E1B-45CE-ADA0-73BF5528FB6D}">
      <dsp:nvSpPr>
        <dsp:cNvPr id="0" name=""/>
        <dsp:cNvSpPr/>
      </dsp:nvSpPr>
      <dsp:spPr>
        <a:xfrm>
          <a:off x="469291" y="7500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3</a:t>
          </a:r>
          <a:r>
            <a:rPr lang="zh-CN" altLang="en-US" sz="1100" kern="1200" dirty="0"/>
            <a:t>、</a:t>
          </a:r>
        </a:p>
      </dsp:txBody>
      <dsp:txXfrm>
        <a:off x="486721" y="767452"/>
        <a:ext cx="574121" cy="322187"/>
      </dsp:txXfrm>
    </dsp:sp>
    <dsp:sp modelId="{DAF98FA8-6E14-48CE-A2A8-8CE78F5DDB1F}">
      <dsp:nvSpPr>
        <dsp:cNvPr id="0" name=""/>
        <dsp:cNvSpPr/>
      </dsp:nvSpPr>
      <dsp:spPr>
        <a:xfrm rot="5400000">
          <a:off x="2311066" y="-72165"/>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TW" altLang="en-US" sz="1100" kern="1200" dirty="0"/>
            <a:t>參考界限的置信區間</a:t>
          </a:r>
          <a:r>
            <a:rPr lang="zh-CN" altLang="en-US" sz="1100" kern="1200" dirty="0"/>
            <a:t>；</a:t>
          </a:r>
        </a:p>
      </dsp:txBody>
      <dsp:txXfrm rot="-5400000">
        <a:off x="1078273" y="1174572"/>
        <a:ext cx="2737280" cy="257750"/>
      </dsp:txXfrm>
    </dsp:sp>
    <dsp:sp modelId="{A097E47E-6A82-4D11-8918-61AED8DDF073}">
      <dsp:nvSpPr>
        <dsp:cNvPr id="0" name=""/>
        <dsp:cNvSpPr/>
      </dsp:nvSpPr>
      <dsp:spPr>
        <a:xfrm>
          <a:off x="469291" y="11249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4</a:t>
          </a:r>
          <a:r>
            <a:rPr lang="zh-CN" altLang="en-US" sz="1100" kern="1200" dirty="0"/>
            <a:t>、</a:t>
          </a:r>
        </a:p>
      </dsp:txBody>
      <dsp:txXfrm>
        <a:off x="486721" y="1142352"/>
        <a:ext cx="574121" cy="322187"/>
      </dsp:txXfrm>
    </dsp:sp>
    <dsp:sp modelId="{F968D3B4-8B02-4E7D-9877-90BB11C21E36}">
      <dsp:nvSpPr>
        <dsp:cNvPr id="0" name=""/>
        <dsp:cNvSpPr/>
      </dsp:nvSpPr>
      <dsp:spPr>
        <a:xfrm rot="5400000">
          <a:off x="2311066" y="302734"/>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TW" altLang="en-US" sz="1100" kern="1200" dirty="0"/>
            <a:t>參考值的離群值檢測</a:t>
          </a:r>
          <a:r>
            <a:rPr lang="zh-CN" altLang="en-US" sz="1100" kern="1200" dirty="0"/>
            <a:t>；</a:t>
          </a:r>
        </a:p>
      </dsp:txBody>
      <dsp:txXfrm rot="-5400000">
        <a:off x="1078273" y="1549471"/>
        <a:ext cx="2737280" cy="257750"/>
      </dsp:txXfrm>
    </dsp:sp>
    <dsp:sp modelId="{CDDAB61D-F2B8-47FD-B8BD-C042F3CADD7C}">
      <dsp:nvSpPr>
        <dsp:cNvPr id="0" name=""/>
        <dsp:cNvSpPr/>
      </dsp:nvSpPr>
      <dsp:spPr>
        <a:xfrm>
          <a:off x="469291" y="14998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5</a:t>
          </a:r>
          <a:r>
            <a:rPr lang="zh-CN" altLang="en-US" sz="1100" kern="1200" dirty="0"/>
            <a:t>、</a:t>
          </a:r>
        </a:p>
      </dsp:txBody>
      <dsp:txXfrm>
        <a:off x="486721" y="1517252"/>
        <a:ext cx="574121" cy="322187"/>
      </dsp:txXfrm>
    </dsp:sp>
    <dsp:sp modelId="{42170C6B-7DCD-46FD-8642-AD55567EE7D2}">
      <dsp:nvSpPr>
        <dsp:cNvPr id="0" name=""/>
        <dsp:cNvSpPr/>
      </dsp:nvSpPr>
      <dsp:spPr>
        <a:xfrm rot="5400000">
          <a:off x="2311066" y="677633"/>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參考區間分組；</a:t>
          </a:r>
        </a:p>
      </dsp:txBody>
      <dsp:txXfrm rot="-5400000">
        <a:off x="1078273" y="1924370"/>
        <a:ext cx="2737280" cy="257750"/>
      </dsp:txXfrm>
    </dsp:sp>
    <dsp:sp modelId="{CB2FB260-7C19-4FB5-8647-02F69728932D}">
      <dsp:nvSpPr>
        <dsp:cNvPr id="0" name=""/>
        <dsp:cNvSpPr/>
      </dsp:nvSpPr>
      <dsp:spPr>
        <a:xfrm>
          <a:off x="469291" y="18747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6</a:t>
          </a:r>
          <a:r>
            <a:rPr lang="zh-CN" altLang="en-US" sz="1100" kern="1200" dirty="0"/>
            <a:t>、</a:t>
          </a:r>
        </a:p>
      </dsp:txBody>
      <dsp:txXfrm>
        <a:off x="486721" y="1892152"/>
        <a:ext cx="574121" cy="322187"/>
      </dsp:txXfrm>
    </dsp:sp>
    <dsp:sp modelId="{295921A2-300F-4265-974D-72EB841C032E}">
      <dsp:nvSpPr>
        <dsp:cNvPr id="0" name=""/>
        <dsp:cNvSpPr/>
      </dsp:nvSpPr>
      <dsp:spPr>
        <a:xfrm rot="5400000">
          <a:off x="2311066" y="1052533"/>
          <a:ext cx="285638" cy="275122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參考區間轉換；</a:t>
          </a:r>
        </a:p>
      </dsp:txBody>
      <dsp:txXfrm rot="-5400000">
        <a:off x="1078273" y="2299270"/>
        <a:ext cx="2737280" cy="257750"/>
      </dsp:txXfrm>
    </dsp:sp>
    <dsp:sp modelId="{DEB5D609-E9A4-4B44-9953-DCEBFC3862C6}">
      <dsp:nvSpPr>
        <dsp:cNvPr id="0" name=""/>
        <dsp:cNvSpPr/>
      </dsp:nvSpPr>
      <dsp:spPr>
        <a:xfrm>
          <a:off x="469291" y="2249622"/>
          <a:ext cx="608981" cy="3570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7</a:t>
          </a:r>
          <a:r>
            <a:rPr lang="zh-CN" altLang="en-US" sz="1100" kern="1200" dirty="0"/>
            <a:t>、</a:t>
          </a:r>
        </a:p>
      </dsp:txBody>
      <dsp:txXfrm>
        <a:off x="486721" y="2267052"/>
        <a:ext cx="574121" cy="32218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charset="-122"/>
              </a:defRPr>
            </a:lvl1pPr>
          </a:lstStyle>
          <a:p>
            <a:pPr>
              <a:defRPr/>
            </a:pPr>
            <a:endParaRPr lang="en-US" altLang="zh-CN"/>
          </a:p>
        </p:txBody>
      </p:sp>
      <p:sp>
        <p:nvSpPr>
          <p:cNvPr id="194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charset="-122"/>
              </a:defRPr>
            </a:lvl1pPr>
          </a:lstStyle>
          <a:p>
            <a:pPr>
              <a:defRPr/>
            </a:pPr>
            <a:fld id="{00D0DE39-752F-48E6-8B1F-196CB12F13B9}" type="slidenum">
              <a:rPr lang="en-US" altLang="zh-CN"/>
              <a:pPr>
                <a:defRPr/>
              </a:pPr>
              <a:t>‹#›</a:t>
            </a:fld>
            <a:endParaRPr lang="en-US" altLang="zh-CN" dirty="0"/>
          </a:p>
        </p:txBody>
      </p:sp>
    </p:spTree>
    <p:extLst>
      <p:ext uri="{BB962C8B-B14F-4D97-AF65-F5344CB8AC3E}">
        <p14:creationId xmlns:p14="http://schemas.microsoft.com/office/powerpoint/2010/main" val="16944923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xfrm>
            <a:off x="381000" y="685800"/>
            <a:ext cx="6096000" cy="3429000"/>
          </a:xfrm>
          <a:ln/>
        </p:spPr>
      </p:sp>
      <p:sp>
        <p:nvSpPr>
          <p:cNvPr id="20483" name="备注占位符 2"/>
          <p:cNvSpPr>
            <a:spLocks noGrp="1"/>
          </p:cNvSpPr>
          <p:nvPr>
            <p:ph type="body" idx="1"/>
          </p:nvPr>
        </p:nvSpPr>
        <p:spPr>
          <a:noFill/>
        </p:spPr>
        <p:txBody>
          <a:bodyPr/>
          <a:lstStyle/>
          <a:p>
            <a:pPr eaLnBrk="1" hangingPunct="1"/>
            <a:r>
              <a:rPr lang="zh-TW" altLang="en-US" sz="1000" dirty="0"/>
              <a:t>人體內很多生物學指標在臨床實驗室的檢測結果都隨著時間在變化，引起這些變化的原因之一是人體的生物學變異；在人的一生中，某些特殊的生理階段會使這些指標發生變化，例如新生兒期、兒童期、青春期、絕經期或者老年期；而引起檢測結果變化的因素主要來自三個方面：分析前變異、分析中的因素和人體本身的生物學變異（稱為個體內生物學變異）；</a:t>
            </a:r>
            <a:endParaRPr lang="en-US" altLang="zh-TW" sz="1000" dirty="0"/>
          </a:p>
          <a:p>
            <a:pPr eaLnBrk="1" hangingPunct="1"/>
            <a:r>
              <a:rPr lang="zh-TW" altLang="en-US" sz="1000" dirty="0"/>
              <a:t>通過實驗可獲得平均個體內生物學變異和個體間生物學變異；</a:t>
            </a:r>
            <a:r>
              <a:rPr lang="en-US" altLang="zh-TW" sz="800" dirty="0"/>
              <a:t>1982</a:t>
            </a:r>
            <a:r>
              <a:rPr lang="zh-TW" altLang="en-US" sz="1000" dirty="0"/>
              <a:t>年，</a:t>
            </a:r>
            <a:r>
              <a:rPr lang="en-US" altLang="zh-TW" sz="1000" i="1" dirty="0">
                <a:latin typeface="Times New Roman" pitchFamily="18" charset="0"/>
                <a:cs typeface="Times New Roman" pitchFamily="18" charset="0"/>
              </a:rPr>
              <a:t>John Ross </a:t>
            </a:r>
            <a:r>
              <a:rPr lang="zh-TW" altLang="en-US" sz="1000" dirty="0"/>
              <a:t>在一篇關於精密度估算的評論中將發表的數據進行了編輯整理，列出了研究的時間範圍、個體內（</a:t>
            </a:r>
            <a:r>
              <a:rPr lang="en-US" altLang="zh-TW" sz="1000" i="1" dirty="0">
                <a:latin typeface="Times New Roman" pitchFamily="18" charset="0"/>
                <a:cs typeface="Times New Roman" pitchFamily="18" charset="0"/>
              </a:rPr>
              <a:t>CV</a:t>
            </a:r>
            <a:r>
              <a:rPr lang="en-US" altLang="zh-TW" sz="1000" baseline="-25000" dirty="0">
                <a:latin typeface="Times New Roman" pitchFamily="18" charset="0"/>
                <a:cs typeface="Times New Roman" pitchFamily="18" charset="0"/>
              </a:rPr>
              <a:t>I</a:t>
            </a:r>
            <a:r>
              <a:rPr lang="zh-TW" altLang="en-US" sz="1000" dirty="0"/>
              <a:t>）、個體間（</a:t>
            </a:r>
            <a:r>
              <a:rPr lang="en-US" altLang="zh-TW" sz="1000" i="1" dirty="0">
                <a:latin typeface="Times New Roman" pitchFamily="18" charset="0"/>
                <a:cs typeface="Times New Roman" pitchFamily="18" charset="0"/>
              </a:rPr>
              <a:t>CV</a:t>
            </a:r>
            <a:r>
              <a:rPr lang="en-US" altLang="zh-TW" sz="1000" baseline="-25000" dirty="0">
                <a:latin typeface="Times New Roman" pitchFamily="18" charset="0"/>
                <a:cs typeface="Times New Roman" pitchFamily="18" charset="0"/>
              </a:rPr>
              <a:t>G</a:t>
            </a:r>
            <a:r>
              <a:rPr lang="zh-TW" altLang="en-US" sz="1000" dirty="0"/>
              <a:t>）以及其他一些指標，</a:t>
            </a:r>
            <a:r>
              <a:rPr lang="en-US" altLang="zh-TW" sz="1000" i="1" dirty="0">
                <a:latin typeface="Times New Roman" pitchFamily="18" charset="0"/>
                <a:cs typeface="Times New Roman" pitchFamily="18" charset="0"/>
              </a:rPr>
              <a:t>Callum Fraser</a:t>
            </a:r>
            <a:r>
              <a:rPr lang="en-US" altLang="zh-TW" sz="1000" dirty="0"/>
              <a:t> </a:t>
            </a:r>
            <a:r>
              <a:rPr lang="zh-TW" altLang="en-US" sz="1000" dirty="0"/>
              <a:t>於</a:t>
            </a:r>
            <a:r>
              <a:rPr lang="en-US" altLang="zh-TW" sz="800" dirty="0"/>
              <a:t>1988</a:t>
            </a:r>
            <a:r>
              <a:rPr lang="zh-TW" altLang="en-US" sz="1000" dirty="0"/>
              <a:t>年參照此模型將此工作在</a:t>
            </a:r>
            <a:r>
              <a:rPr lang="en-US" altLang="zh-TW" sz="800" dirty="0"/>
              <a:t>1992</a:t>
            </a:r>
            <a:r>
              <a:rPr lang="zh-TW" altLang="en-US" sz="1000" dirty="0"/>
              <a:t>年進行了更新，</a:t>
            </a:r>
            <a:r>
              <a:rPr lang="en-US" altLang="zh-TW" sz="1000" i="1" dirty="0">
                <a:latin typeface="Times New Roman" pitchFamily="18" charset="0"/>
                <a:cs typeface="Times New Roman" pitchFamily="18" charset="0"/>
              </a:rPr>
              <a:t>Xavier </a:t>
            </a:r>
            <a:r>
              <a:rPr lang="en-US" altLang="zh-TW" sz="1000" i="1" dirty="0" err="1">
                <a:latin typeface="Times New Roman" pitchFamily="18" charset="0"/>
                <a:cs typeface="Times New Roman" pitchFamily="18" charset="0"/>
              </a:rPr>
              <a:t>Funetes-Arderiu</a:t>
            </a:r>
            <a:r>
              <a:rPr lang="en-US" altLang="zh-TW" sz="1000" dirty="0"/>
              <a:t> </a:t>
            </a:r>
            <a:r>
              <a:rPr lang="zh-TW" altLang="en-US" sz="1000" dirty="0"/>
              <a:t>及其同事</a:t>
            </a:r>
            <a:r>
              <a:rPr lang="en-US" altLang="zh-TW" sz="800" dirty="0"/>
              <a:t>1997</a:t>
            </a:r>
            <a:r>
              <a:rPr lang="zh-TW" altLang="en-US" sz="1000" dirty="0"/>
              <a:t>年出版了綜合性數據庫總結了中位 </a:t>
            </a:r>
            <a:r>
              <a:rPr lang="en-US" altLang="zh-TW" sz="1000" i="1" dirty="0">
                <a:latin typeface="Times New Roman" pitchFamily="18" charset="0"/>
                <a:cs typeface="Times New Roman" pitchFamily="18" charset="0"/>
              </a:rPr>
              <a:t>CV</a:t>
            </a:r>
            <a:r>
              <a:rPr lang="en-US" altLang="zh-TW" sz="1000" baseline="-25000" dirty="0">
                <a:latin typeface="Times New Roman" pitchFamily="18" charset="0"/>
                <a:cs typeface="Times New Roman" pitchFamily="18" charset="0"/>
              </a:rPr>
              <a:t>I</a:t>
            </a:r>
            <a:r>
              <a:rPr lang="en-US" altLang="zh-TW" sz="1000" dirty="0"/>
              <a:t> </a:t>
            </a:r>
            <a:r>
              <a:rPr lang="zh-TW" altLang="en-US" sz="1000" dirty="0"/>
              <a:t>和</a:t>
            </a:r>
            <a:r>
              <a:rPr lang="en-US" altLang="zh-TW" sz="1000" dirty="0"/>
              <a:t> </a:t>
            </a:r>
            <a:r>
              <a:rPr lang="en-US" altLang="zh-TW" sz="1000" i="1" dirty="0">
                <a:latin typeface="Times New Roman" pitchFamily="18" charset="0"/>
                <a:cs typeface="Times New Roman" pitchFamily="18" charset="0"/>
              </a:rPr>
              <a:t>CV</a:t>
            </a:r>
            <a:r>
              <a:rPr lang="en-US" altLang="zh-TW" sz="1000" baseline="-25000" dirty="0">
                <a:latin typeface="Times New Roman" pitchFamily="18" charset="0"/>
                <a:cs typeface="Times New Roman" pitchFamily="18" charset="0"/>
              </a:rPr>
              <a:t>G</a:t>
            </a:r>
            <a:r>
              <a:rPr lang="en-US" altLang="zh-TW" sz="1000" dirty="0">
                <a:latin typeface="Times New Roman" pitchFamily="18" charset="0"/>
                <a:cs typeface="Times New Roman" pitchFamily="18" charset="0"/>
              </a:rPr>
              <a:t> </a:t>
            </a:r>
            <a:r>
              <a:rPr lang="zh-TW" altLang="en-US" sz="1000" dirty="0"/>
              <a:t>，西班牙醫學會生物化學與分子病理學分析質量委員會</a:t>
            </a:r>
            <a:r>
              <a:rPr lang="zh-CN" altLang="en-US" sz="1000" dirty="0"/>
              <a:t>（</a:t>
            </a:r>
            <a:r>
              <a:rPr lang="en-US" altLang="zh-TW" sz="1000" i="1" dirty="0">
                <a:latin typeface="Times New Roman" pitchFamily="18" charset="0"/>
                <a:cs typeface="Times New Roman" pitchFamily="18" charset="0"/>
              </a:rPr>
              <a:t>SEQC</a:t>
            </a:r>
            <a:r>
              <a:rPr lang="zh-CN" altLang="en-US" sz="1000" dirty="0">
                <a:latin typeface="Times New Roman" pitchFamily="18" charset="0"/>
                <a:cs typeface="Times New Roman" pitchFamily="18" charset="0"/>
              </a:rPr>
              <a:t>）</a:t>
            </a:r>
            <a:r>
              <a:rPr lang="zh-TW" altLang="en-US" sz="1000" dirty="0"/>
              <a:t>卡門博士</a:t>
            </a:r>
            <a:r>
              <a:rPr lang="zh-CN" altLang="en-US" sz="1000" dirty="0">
                <a:latin typeface="Times New Roman" pitchFamily="18" charset="0"/>
                <a:cs typeface="Times New Roman" pitchFamily="18" charset="0"/>
              </a:rPr>
              <a:t>（</a:t>
            </a:r>
            <a:r>
              <a:rPr lang="en-US" altLang="zh-TW" sz="1000" i="1" dirty="0" err="1">
                <a:latin typeface="Times New Roman" pitchFamily="18" charset="0"/>
                <a:cs typeface="Times New Roman" pitchFamily="18" charset="0"/>
              </a:rPr>
              <a:t>Dr.Carmen</a:t>
            </a:r>
            <a:r>
              <a:rPr lang="en-US" altLang="zh-TW" sz="1000" i="1" dirty="0">
                <a:latin typeface="Times New Roman" pitchFamily="18" charset="0"/>
                <a:cs typeface="Times New Roman" pitchFamily="18" charset="0"/>
              </a:rPr>
              <a:t> </a:t>
            </a:r>
            <a:r>
              <a:rPr lang="en-US" altLang="zh-TW" sz="1000" i="1" dirty="0" err="1">
                <a:latin typeface="Times New Roman" pitchFamily="18" charset="0"/>
                <a:cs typeface="Times New Roman" pitchFamily="18" charset="0"/>
              </a:rPr>
              <a:t>Ricos</a:t>
            </a:r>
            <a:r>
              <a:rPr lang="zh-CN" altLang="en-US" sz="1000" dirty="0">
                <a:latin typeface="Times New Roman" pitchFamily="18" charset="0"/>
                <a:cs typeface="Times New Roman" pitchFamily="18" charset="0"/>
              </a:rPr>
              <a:t>）</a:t>
            </a:r>
            <a:r>
              <a:rPr lang="zh-TW" altLang="en-US" sz="1000" dirty="0"/>
              <a:t>及其同事等人維護著一個基於甄選匯總已發表文獻生物變異數據為基礎構建的數據庫，該數據庫每兩年更新一次，最新一次為</a:t>
            </a:r>
            <a:r>
              <a:rPr lang="en-US" altLang="zh-TW" sz="800" dirty="0"/>
              <a:t>2014</a:t>
            </a:r>
            <a:r>
              <a:rPr lang="zh-TW" altLang="en-US" sz="1000" dirty="0"/>
              <a:t>年更新；</a:t>
            </a:r>
            <a:endParaRPr lang="en-US" altLang="zh-TW" sz="1000" dirty="0"/>
          </a:p>
          <a:p>
            <a:pPr eaLnBrk="1" hangingPunct="1"/>
            <a:r>
              <a:rPr lang="zh-TW" altLang="en-US" sz="1000" dirty="0"/>
              <a:t>醫學檢驗生物參考區間定義為覆蓋中心</a:t>
            </a:r>
            <a:r>
              <a:rPr lang="en-US" altLang="zh-TW" sz="800" dirty="0"/>
              <a:t>95%</a:t>
            </a:r>
            <a:r>
              <a:rPr lang="zh-TW" altLang="en-US" sz="1000" dirty="0"/>
              <a:t>的數值的分佈，這些數值來源於對參考人群進行隨機抽樣並進行檢測得到的數據；生物參考區間反映的是健康個體檢驗項目的數值，而決定限是用於評價患者所得到的結果是否應採取治療措施，當沒有更好的方法將健康與患病狀態區分開來的時候，通常使用參考區間作為依據；</a:t>
            </a:r>
            <a:endParaRPr lang="en-US" altLang="zh-TW" sz="1000" dirty="0"/>
          </a:p>
          <a:p>
            <a:pPr eaLnBrk="1" hangingPunct="1"/>
            <a:r>
              <a:rPr lang="zh-TW" altLang="en-US" sz="1000" dirty="0"/>
              <a:t>參考區間這個定義最初是由 </a:t>
            </a:r>
            <a:r>
              <a:rPr lang="en-US" altLang="zh-TW" sz="1000" i="1" dirty="0">
                <a:latin typeface="Times New Roman" pitchFamily="18" charset="0"/>
                <a:cs typeface="Times New Roman" pitchFamily="18" charset="0"/>
              </a:rPr>
              <a:t>IFCC </a:t>
            </a:r>
            <a:r>
              <a:rPr lang="zh-TW" altLang="en-US" sz="1000" dirty="0"/>
              <a:t>提出的，</a:t>
            </a:r>
            <a:r>
              <a:rPr lang="en-US" altLang="zh-TW" sz="1000" i="1" dirty="0">
                <a:latin typeface="Times New Roman" pitchFamily="18" charset="0"/>
                <a:cs typeface="Times New Roman" pitchFamily="18" charset="0"/>
              </a:rPr>
              <a:t>CLSI </a:t>
            </a:r>
            <a:r>
              <a:rPr lang="zh-TW" altLang="en-US" sz="1000" dirty="0"/>
              <a:t>在其基礎上進行了歸納總結，</a:t>
            </a:r>
            <a:r>
              <a:rPr lang="en-US" altLang="zh-TW" sz="800" dirty="0"/>
              <a:t>1979</a:t>
            </a:r>
            <a:r>
              <a:rPr lang="zh-TW" altLang="en-US" sz="800" dirty="0"/>
              <a:t>～</a:t>
            </a:r>
            <a:r>
              <a:rPr lang="en-US" altLang="zh-TW" sz="800" dirty="0"/>
              <a:t>1987</a:t>
            </a:r>
            <a:r>
              <a:rPr lang="zh-TW" altLang="en-US" sz="1000" dirty="0"/>
              <a:t>年間，</a:t>
            </a:r>
            <a:r>
              <a:rPr lang="en-US" altLang="zh-TW" sz="1000" i="1" dirty="0">
                <a:latin typeface="Times New Roman" pitchFamily="18" charset="0"/>
                <a:cs typeface="Times New Roman" pitchFamily="18" charset="0"/>
              </a:rPr>
              <a:t>IFCC </a:t>
            </a:r>
            <a:r>
              <a:rPr lang="zh-TW" altLang="en-US" sz="1000" dirty="0"/>
              <a:t>發佈了</a:t>
            </a:r>
            <a:r>
              <a:rPr lang="zh-CN" altLang="en-US" sz="1000" dirty="0"/>
              <a:t>六</a:t>
            </a:r>
            <a:r>
              <a:rPr lang="zh-TW" altLang="en-US" sz="1000" dirty="0"/>
              <a:t>個關於參考區間制訂的原理和方法的檔</a:t>
            </a:r>
            <a:r>
              <a:rPr lang="zh-CN" altLang="en-US" sz="1000" dirty="0"/>
              <a:t>，</a:t>
            </a:r>
            <a:r>
              <a:rPr lang="zh-TW" altLang="en-US" sz="1000" dirty="0"/>
              <a:t>成為參考區間制訂的依據，</a:t>
            </a:r>
            <a:r>
              <a:rPr lang="en-US" altLang="zh-TW" sz="800" dirty="0"/>
              <a:t>1992</a:t>
            </a:r>
            <a:r>
              <a:rPr lang="zh-TW" altLang="en-US" sz="1000" dirty="0"/>
              <a:t>年</a:t>
            </a:r>
            <a:r>
              <a:rPr lang="en-US" altLang="zh-TW" sz="800" dirty="0"/>
              <a:t>3</a:t>
            </a:r>
            <a:r>
              <a:rPr lang="zh-TW" altLang="en-US" sz="1000" dirty="0"/>
              <a:t>月</a:t>
            </a:r>
            <a:r>
              <a:rPr lang="en-US" altLang="zh-TW" sz="1000" i="1" dirty="0">
                <a:latin typeface="Times New Roman" pitchFamily="18" charset="0"/>
                <a:cs typeface="Times New Roman" pitchFamily="18" charset="0"/>
              </a:rPr>
              <a:t>CLSI</a:t>
            </a:r>
            <a:r>
              <a:rPr lang="en-US" altLang="zh-TW" sz="1000" dirty="0"/>
              <a:t> </a:t>
            </a:r>
            <a:r>
              <a:rPr lang="zh-TW" altLang="en-US" sz="1000" dirty="0"/>
              <a:t>發表了關於參考區間制訂的指南檔</a:t>
            </a:r>
            <a:r>
              <a:rPr lang="en-US" altLang="zh-TW" sz="1000" dirty="0"/>
              <a:t>《</a:t>
            </a:r>
            <a:r>
              <a:rPr lang="zh-TW" altLang="en-US" sz="1000" dirty="0"/>
              <a:t>臨床實驗室如何定義和判定參考區間：批准指南</a:t>
            </a:r>
            <a:r>
              <a:rPr lang="en-US" altLang="zh-TW" sz="1000" dirty="0"/>
              <a:t>》</a:t>
            </a:r>
            <a:r>
              <a:rPr lang="zh-TW" altLang="en-US" sz="1000" dirty="0"/>
              <a:t>試行版，</a:t>
            </a:r>
            <a:r>
              <a:rPr lang="en-US" altLang="zh-TW" sz="800" dirty="0"/>
              <a:t>1995</a:t>
            </a:r>
            <a:r>
              <a:rPr lang="zh-TW" altLang="en-US" sz="1000" dirty="0"/>
              <a:t>年</a:t>
            </a:r>
            <a:r>
              <a:rPr lang="en-US" altLang="zh-TW" sz="800" dirty="0"/>
              <a:t>6</a:t>
            </a:r>
            <a:r>
              <a:rPr lang="zh-TW" altLang="en-US" sz="1000" dirty="0"/>
              <a:t>月發表了正式版，並於</a:t>
            </a:r>
            <a:r>
              <a:rPr lang="en-US" altLang="zh-TW" sz="800" dirty="0"/>
              <a:t>2001</a:t>
            </a:r>
            <a:r>
              <a:rPr lang="zh-TW" altLang="en-US" sz="1000" dirty="0"/>
              <a:t>年再次進行了修訂；</a:t>
            </a:r>
            <a:endParaRPr lang="zh-CN" altLang="en-US" sz="1000" dirty="0">
              <a:ea typeface="宋体" pitchFamily="2" charset="-122"/>
            </a:endParaRPr>
          </a:p>
        </p:txBody>
      </p:sp>
      <p:sp>
        <p:nvSpPr>
          <p:cNvPr id="2048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BEEA629-6D7D-4E96-A7AB-B6867313A94E}" type="slidenum">
              <a:rPr lang="en-US" altLang="zh-CN" smtClean="0"/>
              <a:pPr eaLnBrk="1" hangingPunct="1"/>
              <a:t>1</a:t>
            </a:fld>
            <a:endParaRPr lang="en-US" altLang="zh-CN" dirty="0"/>
          </a:p>
        </p:txBody>
      </p:sp>
    </p:spTree>
    <p:extLst>
      <p:ext uri="{BB962C8B-B14F-4D97-AF65-F5344CB8AC3E}">
        <p14:creationId xmlns:p14="http://schemas.microsoft.com/office/powerpoint/2010/main" val="2043388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a:t>
            </a:fld>
            <a:endParaRPr lang="en-US" altLang="zh-CN" dirty="0"/>
          </a:p>
        </p:txBody>
      </p:sp>
    </p:spTree>
    <p:extLst>
      <p:ext uri="{BB962C8B-B14F-4D97-AF65-F5344CB8AC3E}">
        <p14:creationId xmlns:p14="http://schemas.microsoft.com/office/powerpoint/2010/main" val="2752247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3</a:t>
            </a:fld>
            <a:endParaRPr lang="en-US" altLang="zh-CN" dirty="0"/>
          </a:p>
        </p:txBody>
      </p:sp>
    </p:spTree>
    <p:extLst>
      <p:ext uri="{BB962C8B-B14F-4D97-AF65-F5344CB8AC3E}">
        <p14:creationId xmlns:p14="http://schemas.microsoft.com/office/powerpoint/2010/main" val="2043018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4</a:t>
            </a:fld>
            <a:endParaRPr lang="en-US" altLang="zh-CN" dirty="0"/>
          </a:p>
        </p:txBody>
      </p:sp>
    </p:spTree>
    <p:extLst>
      <p:ext uri="{BB962C8B-B14F-4D97-AF65-F5344CB8AC3E}">
        <p14:creationId xmlns:p14="http://schemas.microsoft.com/office/powerpoint/2010/main" val="1528519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a:t>
            </a:r>
            <a:r>
              <a:rPr lang="zh-CN" altLang="en-US" dirty="0">
                <a:ea typeface="宋体" pitchFamily="2" charset="-122"/>
              </a:rPr>
              <a:t>血液學檢驗常規專案生物變異的研究</a:t>
            </a:r>
            <a:r>
              <a:rPr lang="en-US" altLang="zh-CN" dirty="0">
                <a:ea typeface="宋体" pitchFamily="2" charset="-122"/>
              </a:rPr>
              <a:t>》</a:t>
            </a:r>
            <a:r>
              <a:rPr lang="zh-CN" altLang="en-US" dirty="0">
                <a:ea typeface="宋体" pitchFamily="2" charset="-122"/>
              </a:rPr>
              <a:t>，碩士學位論文，北京協和醫學院，衛生部臨床檢驗中心，吳際，</a:t>
            </a:r>
            <a:endParaRPr lang="en-US" altLang="zh-CN" dirty="0">
              <a:ea typeface="宋体" pitchFamily="2" charset="-122"/>
            </a:endParaRPr>
          </a:p>
          <a:p>
            <a:r>
              <a:rPr lang="zh-CN" altLang="en-US" dirty="0">
                <a:ea typeface="宋体" pitchFamily="2" charset="-122"/>
              </a:rPr>
              <a:t>指導教師：申子瑜，學科專業：臨床檢驗診斷學，研究方向：臨床血液學檢驗標準化與品質控制，完成日期：</a:t>
            </a:r>
            <a:r>
              <a:rPr lang="zh-CN" altLang="en-US" baseline="0" dirty="0">
                <a:ea typeface="宋体" pitchFamily="2" charset="-122"/>
              </a:rPr>
              <a:t> </a:t>
            </a:r>
            <a:r>
              <a:rPr lang="en-US" altLang="zh-CN" baseline="0" dirty="0">
                <a:ea typeface="宋体" pitchFamily="2" charset="-122"/>
              </a:rPr>
              <a:t>2013.5</a:t>
            </a:r>
            <a:endParaRPr lang="en-US" altLang="zh-CN" dirty="0">
              <a:ea typeface="宋体" pitchFamily="2" charset="-122"/>
            </a:endParaRPr>
          </a:p>
          <a:p>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5</a:t>
            </a:fld>
            <a:endParaRPr lang="en-US" altLang="zh-CN" dirty="0"/>
          </a:p>
        </p:txBody>
      </p:sp>
    </p:spTree>
    <p:extLst>
      <p:ext uri="{BB962C8B-B14F-4D97-AF65-F5344CB8AC3E}">
        <p14:creationId xmlns:p14="http://schemas.microsoft.com/office/powerpoint/2010/main" val="2849588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a:t>
            </a:r>
            <a:r>
              <a:rPr lang="zh-CN" altLang="en-US" dirty="0">
                <a:ea typeface="宋体" pitchFamily="2" charset="-122"/>
              </a:rPr>
              <a:t>血液學檢驗常規專案生物變異的研究</a:t>
            </a:r>
            <a:r>
              <a:rPr lang="en-US" altLang="zh-CN" dirty="0">
                <a:ea typeface="宋体" pitchFamily="2" charset="-122"/>
              </a:rPr>
              <a:t>》</a:t>
            </a:r>
            <a:r>
              <a:rPr lang="zh-CN" altLang="en-US" dirty="0">
                <a:ea typeface="宋体" pitchFamily="2" charset="-122"/>
              </a:rPr>
              <a:t>，碩士學位論文，北京協和醫學院，衛生部臨床檢驗中心，吳際，</a:t>
            </a:r>
            <a:endParaRPr lang="en-US" altLang="zh-CN" dirty="0">
              <a:ea typeface="宋体" pitchFamily="2" charset="-122"/>
            </a:endParaRPr>
          </a:p>
          <a:p>
            <a:r>
              <a:rPr lang="zh-CN" altLang="en-US" dirty="0">
                <a:ea typeface="宋体" pitchFamily="2" charset="-122"/>
              </a:rPr>
              <a:t>指導教師：申子瑜，學科專業：臨床檢驗診斷學，研究方向：臨床血液學檢驗標準化與品質控制，完成日期：</a:t>
            </a:r>
            <a:r>
              <a:rPr lang="zh-CN" altLang="en-US" baseline="0" dirty="0">
                <a:ea typeface="宋体" pitchFamily="2" charset="-122"/>
              </a:rPr>
              <a:t> </a:t>
            </a:r>
            <a:r>
              <a:rPr lang="en-US" altLang="zh-CN" baseline="0" dirty="0">
                <a:ea typeface="宋体" pitchFamily="2" charset="-122"/>
              </a:rPr>
              <a:t>2013.5</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6</a:t>
            </a:fld>
            <a:endParaRPr lang="en-US" altLang="zh-CN" dirty="0"/>
          </a:p>
        </p:txBody>
      </p:sp>
    </p:spTree>
    <p:extLst>
      <p:ext uri="{BB962C8B-B14F-4D97-AF65-F5344CB8AC3E}">
        <p14:creationId xmlns:p14="http://schemas.microsoft.com/office/powerpoint/2010/main" val="2849588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a:t>
            </a:r>
            <a:r>
              <a:rPr lang="zh-CN" altLang="en-US" dirty="0">
                <a:ea typeface="宋体" pitchFamily="2" charset="-122"/>
              </a:rPr>
              <a:t>血液學檢驗常規專案生物變異的研究</a:t>
            </a:r>
            <a:r>
              <a:rPr lang="en-US" altLang="zh-CN" dirty="0">
                <a:ea typeface="宋体" pitchFamily="2" charset="-122"/>
              </a:rPr>
              <a:t>》</a:t>
            </a:r>
            <a:r>
              <a:rPr lang="zh-CN" altLang="en-US" dirty="0">
                <a:ea typeface="宋体" pitchFamily="2" charset="-122"/>
              </a:rPr>
              <a:t>，碩士學位論文，北京協和醫學院，衛生部臨床檢驗中心，吳際，</a:t>
            </a:r>
            <a:endParaRPr lang="en-US" altLang="zh-CN" dirty="0">
              <a:ea typeface="宋体" pitchFamily="2" charset="-122"/>
            </a:endParaRPr>
          </a:p>
          <a:p>
            <a:r>
              <a:rPr lang="zh-CN" altLang="en-US" dirty="0">
                <a:ea typeface="宋体" pitchFamily="2" charset="-122"/>
              </a:rPr>
              <a:t>指導教師：申子瑜，學科專業：臨床檢驗診斷學，研究方向：臨床血液學檢驗標準化與品質控制，完成日期：</a:t>
            </a:r>
            <a:r>
              <a:rPr lang="zh-CN" altLang="en-US" baseline="0" dirty="0">
                <a:ea typeface="宋体" pitchFamily="2" charset="-122"/>
              </a:rPr>
              <a:t> </a:t>
            </a:r>
            <a:r>
              <a:rPr lang="en-US" altLang="zh-CN" baseline="0" dirty="0">
                <a:ea typeface="宋体" pitchFamily="2" charset="-122"/>
              </a:rPr>
              <a:t>2013.5</a:t>
            </a:r>
            <a:endParaRPr lang="en-US" altLang="zh-CN" dirty="0">
              <a:ea typeface="宋体" pitchFamily="2" charset="-122"/>
            </a:endParaRPr>
          </a:p>
          <a:p>
            <a:r>
              <a:rPr lang="en-US" altLang="zh-CN" sz="1200" kern="1200" dirty="0">
                <a:solidFill>
                  <a:schemeClr val="tx1"/>
                </a:solidFill>
                <a:effectLst/>
                <a:latin typeface="Arial" charset="0"/>
                <a:ea typeface="宋体" charset="-122"/>
                <a:cs typeface="+mn-cs"/>
              </a:rPr>
              <a:t>HORIBA -</a:t>
            </a:r>
            <a:r>
              <a:rPr lang="zh-CN" altLang="zh-CN" sz="1200" kern="1200" dirty="0">
                <a:solidFill>
                  <a:schemeClr val="tx1"/>
                </a:solidFill>
                <a:effectLst/>
                <a:latin typeface="Arial" charset="0"/>
                <a:ea typeface="宋体" charset="-122"/>
                <a:cs typeface="+mn-cs"/>
              </a:rPr>
              <a:t>日本 堀場集團，</a:t>
            </a:r>
            <a:r>
              <a:rPr lang="en-US" altLang="zh-CN" sz="1200" kern="1200" dirty="0">
                <a:solidFill>
                  <a:schemeClr val="tx1"/>
                </a:solidFill>
                <a:effectLst/>
                <a:latin typeface="Arial" charset="0"/>
                <a:ea typeface="宋体" charset="-122"/>
                <a:cs typeface="+mn-cs"/>
              </a:rPr>
              <a:t>ABX – </a:t>
            </a:r>
            <a:r>
              <a:rPr lang="zh-CN" altLang="zh-CN" sz="1200" kern="1200" dirty="0">
                <a:solidFill>
                  <a:schemeClr val="tx1"/>
                </a:solidFill>
                <a:effectLst/>
                <a:latin typeface="Arial" charset="0"/>
                <a:ea typeface="宋体" charset="-122"/>
                <a:cs typeface="+mn-cs"/>
              </a:rPr>
              <a:t>法國</a:t>
            </a:r>
            <a:r>
              <a:rPr lang="en-US" altLang="zh-CN" sz="1200" b="0" i="0" kern="1200" dirty="0" err="1">
                <a:solidFill>
                  <a:schemeClr val="tx1"/>
                </a:solidFill>
                <a:effectLst/>
                <a:latin typeface="Arial" charset="0"/>
                <a:ea typeface="宋体" charset="-122"/>
                <a:cs typeface="+mn-cs"/>
              </a:rPr>
              <a:t>Jobin</a:t>
            </a:r>
            <a:r>
              <a:rPr lang="en-US" altLang="zh-CN" sz="1200" b="0" i="0" kern="1200" dirty="0">
                <a:solidFill>
                  <a:schemeClr val="tx1"/>
                </a:solidFill>
                <a:effectLst/>
                <a:latin typeface="Arial" charset="0"/>
                <a:ea typeface="宋体" charset="-122"/>
                <a:cs typeface="+mn-cs"/>
              </a:rPr>
              <a:t> </a:t>
            </a:r>
            <a:r>
              <a:rPr lang="en-US" altLang="zh-CN" sz="1200" b="0" i="0" kern="1200" dirty="0" err="1">
                <a:solidFill>
                  <a:schemeClr val="tx1"/>
                </a:solidFill>
                <a:effectLst/>
                <a:latin typeface="Arial" charset="0"/>
                <a:ea typeface="宋体" charset="-122"/>
                <a:cs typeface="+mn-cs"/>
              </a:rPr>
              <a:t>Yvon</a:t>
            </a:r>
            <a:r>
              <a:rPr lang="zh-CN" altLang="zh-CN" sz="1200" kern="1200" dirty="0">
                <a:solidFill>
                  <a:schemeClr val="tx1"/>
                </a:solidFill>
                <a:effectLst/>
                <a:latin typeface="Arial" charset="0"/>
                <a:ea typeface="宋体" charset="-122"/>
                <a:cs typeface="+mn-cs"/>
              </a:rPr>
              <a:t>公司，</a:t>
            </a:r>
            <a:r>
              <a:rPr lang="en-US" altLang="zh-CN" sz="1200" b="0" i="0" kern="1200" dirty="0">
                <a:solidFill>
                  <a:schemeClr val="tx1"/>
                </a:solidFill>
                <a:effectLst/>
                <a:latin typeface="Arial" charset="0"/>
                <a:ea typeface="宋体" charset="-122"/>
                <a:cs typeface="+mn-cs"/>
              </a:rPr>
              <a:t>2009</a:t>
            </a:r>
            <a:r>
              <a:rPr lang="zh-CN" altLang="en-US" sz="1200" b="0" i="0" kern="1200" dirty="0">
                <a:solidFill>
                  <a:schemeClr val="tx1"/>
                </a:solidFill>
                <a:effectLst/>
                <a:latin typeface="Arial" charset="0"/>
                <a:ea typeface="宋体" charset="-122"/>
                <a:cs typeface="+mn-cs"/>
              </a:rPr>
              <a:t>年與</a:t>
            </a:r>
            <a:r>
              <a:rPr lang="en-US" altLang="zh-CN" sz="1200" b="0" i="0" kern="1200" dirty="0">
                <a:solidFill>
                  <a:schemeClr val="tx1"/>
                </a:solidFill>
                <a:effectLst/>
                <a:latin typeface="Arial" charset="0"/>
                <a:ea typeface="宋体" charset="-122"/>
                <a:cs typeface="+mn-cs"/>
              </a:rPr>
              <a:t>HORIBA</a:t>
            </a:r>
            <a:r>
              <a:rPr lang="zh-CN" altLang="en-US" sz="1200" b="0" i="0" kern="1200" dirty="0">
                <a:solidFill>
                  <a:schemeClr val="tx1"/>
                </a:solidFill>
                <a:effectLst/>
                <a:latin typeface="Arial" charset="0"/>
                <a:ea typeface="宋体" charset="-122"/>
                <a:cs typeface="+mn-cs"/>
              </a:rPr>
              <a:t>旗下分析儀器產線正式合併成立</a:t>
            </a:r>
            <a:r>
              <a:rPr lang="en-US" altLang="zh-CN" sz="1200" b="0" i="0" kern="1200" dirty="0">
                <a:solidFill>
                  <a:schemeClr val="tx1"/>
                </a:solidFill>
                <a:effectLst/>
                <a:latin typeface="Arial" charset="0"/>
                <a:ea typeface="宋体" charset="-122"/>
                <a:cs typeface="+mn-cs"/>
              </a:rPr>
              <a:t>HORIBA Scientific(HORIBA</a:t>
            </a:r>
            <a:r>
              <a:rPr lang="zh-CN" altLang="en-US" sz="1200" b="0" i="0" kern="1200" dirty="0">
                <a:solidFill>
                  <a:schemeClr val="tx1"/>
                </a:solidFill>
                <a:effectLst/>
                <a:latin typeface="Arial" charset="0"/>
                <a:ea typeface="宋体" charset="-122"/>
                <a:cs typeface="+mn-cs"/>
              </a:rPr>
              <a:t>科學儀器事業部</a:t>
            </a:r>
            <a:r>
              <a:rPr lang="en-US" altLang="zh-CN" sz="1200" b="0" i="0" kern="1200" dirty="0">
                <a:solidFill>
                  <a:schemeClr val="tx1"/>
                </a:solidFill>
                <a:effectLst/>
                <a:latin typeface="Arial" charset="0"/>
                <a:ea typeface="宋体" charset="-122"/>
                <a:cs typeface="+mn-cs"/>
              </a:rPr>
              <a:t>)</a:t>
            </a:r>
            <a:r>
              <a:rPr lang="zh-CN" altLang="en-US" sz="1200" b="0" i="0" kern="1200" dirty="0">
                <a:solidFill>
                  <a:schemeClr val="tx1"/>
                </a:solidFill>
                <a:effectLst/>
                <a:latin typeface="Arial" charset="0"/>
                <a:ea typeface="宋体" charset="-122"/>
                <a:cs typeface="+mn-cs"/>
              </a:rPr>
              <a:t>，並啟用新標識</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7</a:t>
            </a:fld>
            <a:endParaRPr lang="en-US" altLang="zh-CN" dirty="0"/>
          </a:p>
        </p:txBody>
      </p:sp>
    </p:spTree>
    <p:extLst>
      <p:ext uri="{BB962C8B-B14F-4D97-AF65-F5344CB8AC3E}">
        <p14:creationId xmlns:p14="http://schemas.microsoft.com/office/powerpoint/2010/main" val="284958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a:t>
            </a:r>
            <a:r>
              <a:rPr lang="zh-CN" altLang="en-US" dirty="0">
                <a:ea typeface="宋体" pitchFamily="2" charset="-122"/>
              </a:rPr>
              <a:t>血液學檢驗常規專案生物變異的研究</a:t>
            </a:r>
            <a:r>
              <a:rPr lang="en-US" altLang="zh-CN" dirty="0">
                <a:ea typeface="宋体" pitchFamily="2" charset="-122"/>
              </a:rPr>
              <a:t>》</a:t>
            </a:r>
            <a:r>
              <a:rPr lang="zh-CN" altLang="en-US" dirty="0">
                <a:ea typeface="宋体" pitchFamily="2" charset="-122"/>
              </a:rPr>
              <a:t>，碩士學位論文，北京協和醫學院，衛生部臨床檢驗中心，吳際，</a:t>
            </a:r>
            <a:endParaRPr lang="en-US" altLang="zh-CN" dirty="0">
              <a:ea typeface="宋体" pitchFamily="2" charset="-122"/>
            </a:endParaRPr>
          </a:p>
          <a:p>
            <a:r>
              <a:rPr lang="zh-CN" altLang="en-US" dirty="0">
                <a:ea typeface="宋体" pitchFamily="2" charset="-122"/>
              </a:rPr>
              <a:t>指導教師：申子瑜，學科專業：臨床檢驗診斷學，研究方向：臨床血液學檢驗標準化與品質控制，完成日期：</a:t>
            </a:r>
            <a:r>
              <a:rPr lang="zh-CN" altLang="en-US" baseline="0" dirty="0">
                <a:ea typeface="宋体" pitchFamily="2" charset="-122"/>
              </a:rPr>
              <a:t> </a:t>
            </a:r>
            <a:r>
              <a:rPr lang="en-US" altLang="zh-CN" baseline="0" dirty="0">
                <a:ea typeface="宋体" pitchFamily="2" charset="-122"/>
              </a:rPr>
              <a:t>2013.5</a:t>
            </a:r>
            <a:endParaRPr lang="en-US" altLang="zh-CN" dirty="0">
              <a:ea typeface="宋体" pitchFamily="2" charset="-122"/>
            </a:endParaRPr>
          </a:p>
          <a:p>
            <a:r>
              <a:rPr lang="en-US" altLang="zh-CN" sz="1200" kern="1200" dirty="0">
                <a:solidFill>
                  <a:schemeClr val="tx1"/>
                </a:solidFill>
                <a:effectLst/>
                <a:latin typeface="Arial" charset="0"/>
                <a:ea typeface="宋体" charset="-122"/>
                <a:cs typeface="+mn-cs"/>
              </a:rPr>
              <a:t>HORIBA -</a:t>
            </a:r>
            <a:r>
              <a:rPr lang="zh-CN" altLang="zh-CN" sz="1200" kern="1200" dirty="0">
                <a:solidFill>
                  <a:schemeClr val="tx1"/>
                </a:solidFill>
                <a:effectLst/>
                <a:latin typeface="Arial" charset="0"/>
                <a:ea typeface="宋体" charset="-122"/>
                <a:cs typeface="+mn-cs"/>
              </a:rPr>
              <a:t>日本 堀場集團，</a:t>
            </a:r>
            <a:r>
              <a:rPr lang="en-US" altLang="zh-CN" sz="1200" kern="1200" dirty="0">
                <a:solidFill>
                  <a:schemeClr val="tx1"/>
                </a:solidFill>
                <a:effectLst/>
                <a:latin typeface="Arial" charset="0"/>
                <a:ea typeface="宋体" charset="-122"/>
                <a:cs typeface="+mn-cs"/>
              </a:rPr>
              <a:t>ABX – </a:t>
            </a:r>
            <a:r>
              <a:rPr lang="zh-CN" altLang="zh-CN" sz="1200" kern="1200" dirty="0">
                <a:solidFill>
                  <a:schemeClr val="tx1"/>
                </a:solidFill>
                <a:effectLst/>
                <a:latin typeface="Arial" charset="0"/>
                <a:ea typeface="宋体" charset="-122"/>
                <a:cs typeface="+mn-cs"/>
              </a:rPr>
              <a:t>法國</a:t>
            </a:r>
            <a:r>
              <a:rPr lang="en-US" altLang="zh-CN" sz="1200" b="0" i="0" kern="1200" dirty="0" err="1">
                <a:solidFill>
                  <a:schemeClr val="tx1"/>
                </a:solidFill>
                <a:effectLst/>
                <a:latin typeface="Arial" charset="0"/>
                <a:ea typeface="宋体" charset="-122"/>
                <a:cs typeface="+mn-cs"/>
              </a:rPr>
              <a:t>Jobin</a:t>
            </a:r>
            <a:r>
              <a:rPr lang="en-US" altLang="zh-CN" sz="1200" b="0" i="0" kern="1200" dirty="0">
                <a:solidFill>
                  <a:schemeClr val="tx1"/>
                </a:solidFill>
                <a:effectLst/>
                <a:latin typeface="Arial" charset="0"/>
                <a:ea typeface="宋体" charset="-122"/>
                <a:cs typeface="+mn-cs"/>
              </a:rPr>
              <a:t> </a:t>
            </a:r>
            <a:r>
              <a:rPr lang="en-US" altLang="zh-CN" sz="1200" b="0" i="0" kern="1200" dirty="0" err="1">
                <a:solidFill>
                  <a:schemeClr val="tx1"/>
                </a:solidFill>
                <a:effectLst/>
                <a:latin typeface="Arial" charset="0"/>
                <a:ea typeface="宋体" charset="-122"/>
                <a:cs typeface="+mn-cs"/>
              </a:rPr>
              <a:t>Yvon</a:t>
            </a:r>
            <a:r>
              <a:rPr lang="zh-CN" altLang="zh-CN" sz="1200" kern="1200" dirty="0">
                <a:solidFill>
                  <a:schemeClr val="tx1"/>
                </a:solidFill>
                <a:effectLst/>
                <a:latin typeface="Arial" charset="0"/>
                <a:ea typeface="宋体" charset="-122"/>
                <a:cs typeface="+mn-cs"/>
              </a:rPr>
              <a:t>公司，</a:t>
            </a:r>
            <a:r>
              <a:rPr lang="en-US" altLang="zh-CN" sz="1200" b="0" i="0" kern="1200" dirty="0">
                <a:solidFill>
                  <a:schemeClr val="tx1"/>
                </a:solidFill>
                <a:effectLst/>
                <a:latin typeface="Arial" charset="0"/>
                <a:ea typeface="宋体" charset="-122"/>
                <a:cs typeface="+mn-cs"/>
              </a:rPr>
              <a:t>2009</a:t>
            </a:r>
            <a:r>
              <a:rPr lang="zh-CN" altLang="en-US" sz="1200" b="0" i="0" kern="1200" dirty="0">
                <a:solidFill>
                  <a:schemeClr val="tx1"/>
                </a:solidFill>
                <a:effectLst/>
                <a:latin typeface="Arial" charset="0"/>
                <a:ea typeface="宋体" charset="-122"/>
                <a:cs typeface="+mn-cs"/>
              </a:rPr>
              <a:t>年與</a:t>
            </a:r>
            <a:r>
              <a:rPr lang="en-US" altLang="zh-CN" sz="1200" b="0" i="0" kern="1200" dirty="0">
                <a:solidFill>
                  <a:schemeClr val="tx1"/>
                </a:solidFill>
                <a:effectLst/>
                <a:latin typeface="Arial" charset="0"/>
                <a:ea typeface="宋体" charset="-122"/>
                <a:cs typeface="+mn-cs"/>
              </a:rPr>
              <a:t>HORIBA</a:t>
            </a:r>
            <a:r>
              <a:rPr lang="zh-CN" altLang="en-US" sz="1200" b="0" i="0" kern="1200" dirty="0">
                <a:solidFill>
                  <a:schemeClr val="tx1"/>
                </a:solidFill>
                <a:effectLst/>
                <a:latin typeface="Arial" charset="0"/>
                <a:ea typeface="宋体" charset="-122"/>
                <a:cs typeface="+mn-cs"/>
              </a:rPr>
              <a:t>旗下分析儀器產線正式合併成立</a:t>
            </a:r>
            <a:r>
              <a:rPr lang="en-US" altLang="zh-CN" sz="1200" b="0" i="0" kern="1200" dirty="0">
                <a:solidFill>
                  <a:schemeClr val="tx1"/>
                </a:solidFill>
                <a:effectLst/>
                <a:latin typeface="Arial" charset="0"/>
                <a:ea typeface="宋体" charset="-122"/>
                <a:cs typeface="+mn-cs"/>
              </a:rPr>
              <a:t>HORIBA Scientific(HORIBA</a:t>
            </a:r>
            <a:r>
              <a:rPr lang="zh-CN" altLang="en-US" sz="1200" b="0" i="0" kern="1200" dirty="0">
                <a:solidFill>
                  <a:schemeClr val="tx1"/>
                </a:solidFill>
                <a:effectLst/>
                <a:latin typeface="Arial" charset="0"/>
                <a:ea typeface="宋体" charset="-122"/>
                <a:cs typeface="+mn-cs"/>
              </a:rPr>
              <a:t>科學儀器事業部</a:t>
            </a:r>
            <a:r>
              <a:rPr lang="en-US" altLang="zh-CN" sz="1200" b="0" i="0" kern="1200" dirty="0">
                <a:solidFill>
                  <a:schemeClr val="tx1"/>
                </a:solidFill>
                <a:effectLst/>
                <a:latin typeface="Arial" charset="0"/>
                <a:ea typeface="宋体" charset="-122"/>
                <a:cs typeface="+mn-cs"/>
              </a:rPr>
              <a:t>)</a:t>
            </a:r>
            <a:r>
              <a:rPr lang="zh-CN" altLang="en-US" sz="1200" b="0" i="0" kern="1200" dirty="0">
                <a:solidFill>
                  <a:schemeClr val="tx1"/>
                </a:solidFill>
                <a:effectLst/>
                <a:latin typeface="Arial" charset="0"/>
                <a:ea typeface="宋体" charset="-122"/>
                <a:cs typeface="+mn-cs"/>
              </a:rPr>
              <a:t>，並啟用新標識</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8</a:t>
            </a:fld>
            <a:endParaRPr lang="en-US" altLang="zh-CN" dirty="0"/>
          </a:p>
        </p:txBody>
      </p:sp>
    </p:spTree>
    <p:extLst>
      <p:ext uri="{BB962C8B-B14F-4D97-AF65-F5344CB8AC3E}">
        <p14:creationId xmlns:p14="http://schemas.microsoft.com/office/powerpoint/2010/main" val="2849588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9</a:t>
            </a:fld>
            <a:endParaRPr lang="en-US" altLang="zh-CN" dirty="0"/>
          </a:p>
        </p:txBody>
      </p:sp>
    </p:spTree>
    <p:extLst>
      <p:ext uri="{BB962C8B-B14F-4D97-AF65-F5344CB8AC3E}">
        <p14:creationId xmlns:p14="http://schemas.microsoft.com/office/powerpoint/2010/main" val="2013351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10</a:t>
            </a:fld>
            <a:endParaRPr lang="en-US" altLang="zh-CN" dirty="0"/>
          </a:p>
        </p:txBody>
      </p:sp>
    </p:spTree>
    <p:extLst>
      <p:ext uri="{BB962C8B-B14F-4D97-AF65-F5344CB8AC3E}">
        <p14:creationId xmlns:p14="http://schemas.microsoft.com/office/powerpoint/2010/main" val="3831250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11</a:t>
            </a:fld>
            <a:endParaRPr lang="en-US" altLang="zh-CN" dirty="0"/>
          </a:p>
        </p:txBody>
      </p:sp>
    </p:spTree>
    <p:extLst>
      <p:ext uri="{BB962C8B-B14F-4D97-AF65-F5344CB8AC3E}">
        <p14:creationId xmlns:p14="http://schemas.microsoft.com/office/powerpoint/2010/main" val="1838249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12</a:t>
            </a:fld>
            <a:endParaRPr lang="en-US" altLang="zh-CN" dirty="0"/>
          </a:p>
        </p:txBody>
      </p:sp>
    </p:spTree>
    <p:extLst>
      <p:ext uri="{BB962C8B-B14F-4D97-AF65-F5344CB8AC3E}">
        <p14:creationId xmlns:p14="http://schemas.microsoft.com/office/powerpoint/2010/main" val="2529616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13</a:t>
            </a:fld>
            <a:endParaRPr lang="en-US" altLang="zh-CN" dirty="0"/>
          </a:p>
        </p:txBody>
      </p:sp>
    </p:spTree>
    <p:extLst>
      <p:ext uri="{BB962C8B-B14F-4D97-AF65-F5344CB8AC3E}">
        <p14:creationId xmlns:p14="http://schemas.microsoft.com/office/powerpoint/2010/main" val="3228442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14</a:t>
            </a:fld>
            <a:endParaRPr lang="en-US" altLang="zh-CN" dirty="0"/>
          </a:p>
        </p:txBody>
      </p:sp>
    </p:spTree>
    <p:extLst>
      <p:ext uri="{BB962C8B-B14F-4D97-AF65-F5344CB8AC3E}">
        <p14:creationId xmlns:p14="http://schemas.microsoft.com/office/powerpoint/2010/main" val="4272817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xfrm>
            <a:off x="381000" y="685800"/>
            <a:ext cx="6096000" cy="3429000"/>
          </a:xfrm>
          <a:ln/>
        </p:spPr>
      </p:sp>
      <p:sp>
        <p:nvSpPr>
          <p:cNvPr id="44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Barnett </a:t>
            </a:r>
            <a:r>
              <a:rPr lang="zh-CN" altLang="en-US" dirty="0">
                <a:latin typeface="Arial" pitchFamily="34" charset="0"/>
                <a:ea typeface="宋体" pitchFamily="2" charset="-122"/>
              </a:rPr>
              <a:t>和 </a:t>
            </a:r>
            <a:r>
              <a:rPr lang="en-US" altLang="zh-CN" dirty="0" err="1">
                <a:latin typeface="Arial" pitchFamily="34" charset="0"/>
                <a:ea typeface="宋体" pitchFamily="2" charset="-122"/>
              </a:rPr>
              <a:t>Westgard</a:t>
            </a:r>
            <a:r>
              <a:rPr lang="en-US" altLang="zh-CN" dirty="0">
                <a:latin typeface="Arial" pitchFamily="34" charset="0"/>
                <a:ea typeface="宋体" pitchFamily="2" charset="-122"/>
              </a:rPr>
              <a:t> </a:t>
            </a:r>
            <a:r>
              <a:rPr lang="zh-CN" altLang="en-US" dirty="0">
                <a:latin typeface="Arial" pitchFamily="34" charset="0"/>
                <a:ea typeface="宋体" pitchFamily="2" charset="-122"/>
              </a:rPr>
              <a:t>建議常規分析方法的變異係數不應超過 </a:t>
            </a:r>
            <a:r>
              <a:rPr lang="en-US" altLang="zh-CN" dirty="0">
                <a:latin typeface="Arial" pitchFamily="34" charset="0"/>
                <a:ea typeface="宋体" pitchFamily="2" charset="-122"/>
              </a:rPr>
              <a:t>CLIA’88</a:t>
            </a:r>
            <a:r>
              <a:rPr lang="zh-CN" altLang="en-US" dirty="0">
                <a:latin typeface="Arial" pitchFamily="34" charset="0"/>
                <a:ea typeface="宋体" pitchFamily="2" charset="-122"/>
              </a:rPr>
              <a:t>的 </a:t>
            </a:r>
            <a:r>
              <a:rPr lang="en-US" altLang="zh-CN" dirty="0">
                <a:latin typeface="Arial" pitchFamily="34" charset="0"/>
                <a:ea typeface="宋体" pitchFamily="2" charset="-122"/>
              </a:rPr>
              <a:t>1/4 </a:t>
            </a:r>
            <a:r>
              <a:rPr lang="zh-CN" altLang="en-US" dirty="0">
                <a:latin typeface="Arial" pitchFamily="34" charset="0"/>
                <a:ea typeface="宋体" pitchFamily="2" charset="-122"/>
              </a:rPr>
              <a:t>界限，這樣可以給偏倚留有餘地，並可以給質控方案的設計留有更大餘地。</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歐洲工作小組推薦使用，精密度目標是，</a:t>
            </a:r>
            <a:r>
              <a:rPr lang="en-US" altLang="zh-CN" dirty="0">
                <a:latin typeface="Arial" pitchFamily="34" charset="0"/>
                <a:ea typeface="宋体" pitchFamily="2" charset="-122"/>
              </a:rPr>
              <a:t>1/2 </a:t>
            </a:r>
            <a:r>
              <a:rPr lang="zh-CN" altLang="en-US" dirty="0">
                <a:latin typeface="Arial" pitchFamily="34" charset="0"/>
                <a:ea typeface="宋体" pitchFamily="2" charset="-122"/>
              </a:rPr>
              <a:t>的個體內生物變異；對於偏倚，他們推薦的是 </a:t>
            </a:r>
            <a:r>
              <a:rPr lang="en-US" altLang="zh-CN" dirty="0">
                <a:latin typeface="Arial" pitchFamily="34" charset="0"/>
                <a:ea typeface="宋体" pitchFamily="2" charset="-122"/>
              </a:rPr>
              <a:t>1/4 </a:t>
            </a:r>
            <a:r>
              <a:rPr lang="zh-CN" altLang="en-US" dirty="0">
                <a:latin typeface="Arial" pitchFamily="34" charset="0"/>
                <a:ea typeface="宋体" pitchFamily="2" charset="-122"/>
              </a:rPr>
              <a:t>的組生物學變異（包括個體內和個體間總的生物變異），或 </a:t>
            </a:r>
            <a:r>
              <a:rPr lang="en-US" altLang="zh-CN" dirty="0">
                <a:latin typeface="Arial" pitchFamily="34" charset="0"/>
                <a:ea typeface="宋体" pitchFamily="2" charset="-122"/>
              </a:rPr>
              <a:t>1/16 </a:t>
            </a:r>
            <a:r>
              <a:rPr lang="zh-CN" altLang="en-US" dirty="0">
                <a:latin typeface="Arial" pitchFamily="34" charset="0"/>
                <a:ea typeface="宋体" pitchFamily="2" charset="-122"/>
              </a:rPr>
              <a:t>的參考區間，或者是缺乏其它準則時，採用 </a:t>
            </a:r>
            <a:r>
              <a:rPr lang="en-US" altLang="zh-CN" dirty="0">
                <a:latin typeface="Arial" pitchFamily="34" charset="0"/>
                <a:ea typeface="宋体" pitchFamily="2" charset="-122"/>
              </a:rPr>
              <a:t>1/2  </a:t>
            </a:r>
            <a:r>
              <a:rPr lang="zh-CN" altLang="en-US" dirty="0">
                <a:latin typeface="Arial" pitchFamily="34" charset="0"/>
                <a:ea typeface="宋体" pitchFamily="2" charset="-122"/>
              </a:rPr>
              <a:t>的個體內變異。</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zh-CN" altLang="en-US" dirty="0">
                <a:latin typeface="Arial" pitchFamily="34" charset="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採用哪種標準依賴於：使用目的、服務物件的患者群體、試驗的特定應用、以及醫師解釋試驗結果時採用的方式等；</a:t>
            </a:r>
            <a:endParaRPr lang="en-US" altLang="zh-CN" dirty="0">
              <a:latin typeface="Arial" pitchFamily="34" charset="0"/>
              <a:ea typeface="宋体" pitchFamily="2" charset="-122"/>
            </a:endParaRPr>
          </a:p>
          <a:p>
            <a:r>
              <a:rPr lang="zh-CN" altLang="en-US" dirty="0">
                <a:latin typeface="Arial" pitchFamily="34" charset="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a:p>
            <a:r>
              <a:rPr lang="en-US" altLang="zh-CN" dirty="0">
                <a:latin typeface="Arial" pitchFamily="34" charset="0"/>
                <a:ea typeface="宋体" pitchFamily="2" charset="-122"/>
              </a:rPr>
              <a:t>70</a:t>
            </a:r>
            <a:r>
              <a:rPr lang="zh-CN" altLang="zh-CN" dirty="0">
                <a:latin typeface="Arial" pitchFamily="34" charset="0"/>
                <a:ea typeface="宋体" pitchFamily="2" charset="-122"/>
              </a:rPr>
              <a:t>年代由</a:t>
            </a:r>
            <a:r>
              <a:rPr lang="en-US" altLang="zh-CN" dirty="0">
                <a:latin typeface="Arial" pitchFamily="34" charset="0"/>
                <a:ea typeface="宋体" pitchFamily="2" charset="-122"/>
              </a:rPr>
              <a:t> Barnett </a:t>
            </a:r>
            <a:r>
              <a:rPr lang="zh-CN" altLang="zh-CN" dirty="0">
                <a:latin typeface="Arial" pitchFamily="34" charset="0"/>
                <a:ea typeface="宋体" pitchFamily="2" charset="-122"/>
              </a:rPr>
              <a:t>和</a:t>
            </a:r>
            <a:r>
              <a:rPr lang="en-US" altLang="zh-CN" dirty="0">
                <a:latin typeface="Arial" pitchFamily="34" charset="0"/>
                <a:ea typeface="宋体" pitchFamily="2" charset="-122"/>
              </a:rPr>
              <a:t> </a:t>
            </a:r>
            <a:r>
              <a:rPr lang="en-US" altLang="zh-CN" dirty="0" err="1">
                <a:latin typeface="Arial" pitchFamily="34" charset="0"/>
                <a:ea typeface="宋体" pitchFamily="2" charset="-122"/>
              </a:rPr>
              <a:t>Youden</a:t>
            </a:r>
            <a:r>
              <a:rPr lang="en-US" altLang="zh-CN" dirty="0">
                <a:latin typeface="Arial" pitchFamily="34" charset="0"/>
                <a:ea typeface="宋体" pitchFamily="2" charset="-122"/>
              </a:rPr>
              <a:t> </a:t>
            </a:r>
            <a:r>
              <a:rPr lang="zh-CN" altLang="zh-CN" dirty="0">
                <a:latin typeface="Arial" pitchFamily="34" charset="0"/>
                <a:ea typeface="宋体" pitchFamily="2" charset="-122"/>
              </a:rPr>
              <a:t>，首次提出了選擇和評價臨床實驗室的客觀計畫；國際臨床化學聯合會（</a:t>
            </a:r>
            <a:r>
              <a:rPr lang="en-US" altLang="zh-CN" dirty="0">
                <a:latin typeface="Arial" pitchFamily="34" charset="0"/>
                <a:ea typeface="宋体" pitchFamily="2" charset="-122"/>
              </a:rPr>
              <a:t>IFCC</a:t>
            </a:r>
            <a:r>
              <a:rPr lang="zh-CN" altLang="zh-CN" dirty="0">
                <a:latin typeface="Arial" pitchFamily="34" charset="0"/>
                <a:ea typeface="宋体" pitchFamily="2" charset="-122"/>
              </a:rPr>
              <a:t>）提供的檔提供了方法評價名詞術語和哲學思想的一般討論以及它與整個品質保證過程的相互關係；美國臨床和實驗室標準研究院（</a:t>
            </a:r>
            <a:r>
              <a:rPr lang="en-US" altLang="zh-CN" dirty="0">
                <a:latin typeface="Arial" pitchFamily="34" charset="0"/>
                <a:ea typeface="宋体" pitchFamily="2" charset="-122"/>
              </a:rPr>
              <a:t>CLSI</a:t>
            </a:r>
            <a:r>
              <a:rPr lang="zh-CN" altLang="zh-CN" dirty="0">
                <a:latin typeface="Arial" pitchFamily="34" charset="0"/>
                <a:ea typeface="宋体" pitchFamily="2" charset="-122"/>
              </a:rPr>
              <a:t>，原為美國國家臨床實驗室標準化委員會，</a:t>
            </a:r>
            <a:r>
              <a:rPr lang="en-US" altLang="zh-CN" dirty="0">
                <a:latin typeface="Arial" pitchFamily="34" charset="0"/>
                <a:ea typeface="宋体" pitchFamily="2" charset="-122"/>
              </a:rPr>
              <a:t>NCCLS</a:t>
            </a:r>
            <a:r>
              <a:rPr lang="zh-CN" altLang="zh-CN" dirty="0">
                <a:latin typeface="Arial" pitchFamily="34" charset="0"/>
                <a:ea typeface="宋体" pitchFamily="2" charset="-122"/>
              </a:rPr>
              <a:t>）制定了方法評價時，實驗室人員和廠家執行的協同一致系列檔（</a:t>
            </a:r>
            <a:r>
              <a:rPr lang="en-US" altLang="zh-CN" dirty="0">
                <a:latin typeface="Arial" pitchFamily="34" charset="0"/>
                <a:ea typeface="宋体" pitchFamily="2" charset="-122"/>
              </a:rPr>
              <a:t>EP</a:t>
            </a:r>
            <a:r>
              <a:rPr lang="zh-CN" altLang="zh-CN" dirty="0">
                <a:latin typeface="Arial" pitchFamily="34" charset="0"/>
                <a:ea typeface="宋体" pitchFamily="2" charset="-122"/>
              </a:rPr>
              <a:t>）。</a:t>
            </a:r>
          </a:p>
          <a:p>
            <a:endParaRPr lang="en-US" altLang="zh-CN" dirty="0">
              <a:latin typeface="Arial" pitchFamily="34" charset="0"/>
              <a:ea typeface="宋体" pitchFamily="2" charset="-122"/>
            </a:endParaRPr>
          </a:p>
          <a:p>
            <a:r>
              <a:rPr lang="zh-CN" altLang="zh-CN" dirty="0">
                <a:latin typeface="Arial" pitchFamily="34" charset="0"/>
                <a:ea typeface="宋体" pitchFamily="2" charset="-122"/>
              </a:rPr>
              <a:t>與方法或儀器性能相關的特徵包括：準確度、線性範圍、回收率、分析靈敏度、</a:t>
            </a:r>
            <a:r>
              <a:rPr lang="zh-CN" altLang="en-US" dirty="0">
                <a:latin typeface="Arial" pitchFamily="34" charset="0"/>
                <a:ea typeface="宋体" pitchFamily="2" charset="-122"/>
              </a:rPr>
              <a:t>分析特異性（</a:t>
            </a:r>
            <a:r>
              <a:rPr lang="zh-CN" altLang="zh-CN" dirty="0">
                <a:latin typeface="Arial" pitchFamily="34" charset="0"/>
                <a:ea typeface="宋体" pitchFamily="2" charset="-122"/>
              </a:rPr>
              <a:t>幹擾</a:t>
            </a:r>
            <a:r>
              <a:rPr lang="zh-CN" altLang="en-US" dirty="0">
                <a:latin typeface="Arial" pitchFamily="34" charset="0"/>
                <a:ea typeface="宋体" pitchFamily="2" charset="-122"/>
              </a:rPr>
              <a:t>）</a:t>
            </a:r>
            <a:r>
              <a:rPr lang="zh-CN" altLang="zh-CN" dirty="0">
                <a:latin typeface="Arial" pitchFamily="34" charset="0"/>
                <a:ea typeface="宋体" pitchFamily="2" charset="-122"/>
              </a:rPr>
              <a:t>、檢出限、精密度、試劑穩定性、分析過程的</a:t>
            </a:r>
            <a:r>
              <a:rPr lang="zh-CN" altLang="en-US" dirty="0">
                <a:latin typeface="Arial" pitchFamily="34" charset="0"/>
                <a:ea typeface="宋体" pitchFamily="2" charset="-122"/>
              </a:rPr>
              <a:t>「</a:t>
            </a:r>
            <a:r>
              <a:rPr lang="zh-CN" altLang="zh-CN" dirty="0">
                <a:latin typeface="Arial" pitchFamily="34" charset="0"/>
                <a:ea typeface="宋体" pitchFamily="2" charset="-122"/>
              </a:rPr>
              <a:t>穩健性</a:t>
            </a:r>
            <a:r>
              <a:rPr lang="zh-CN" altLang="en-US" dirty="0">
                <a:latin typeface="Arial" pitchFamily="34" charset="0"/>
                <a:ea typeface="宋体" pitchFamily="2" charset="-122"/>
              </a:rPr>
              <a:t>」</a:t>
            </a:r>
            <a:r>
              <a:rPr lang="zh-CN" altLang="zh-CN" dirty="0">
                <a:latin typeface="Arial" pitchFamily="34" charset="0"/>
                <a:ea typeface="宋体" pitchFamily="2" charset="-122"/>
              </a:rPr>
              <a:t>、以及與樣本的交互作用等；</a:t>
            </a:r>
          </a:p>
          <a:p>
            <a:r>
              <a:rPr lang="zh-CN" altLang="zh-CN" dirty="0">
                <a:latin typeface="Arial" pitchFamily="34" charset="0"/>
                <a:ea typeface="宋体" pitchFamily="2" charset="-122"/>
              </a:rPr>
              <a:t>性能要求取決於實驗結果的預期用途或在其醫學上不同的應用，不同的應用可產生不同的準確度和精密度需求。</a:t>
            </a:r>
          </a:p>
          <a:p>
            <a:endParaRPr lang="en-US" altLang="zh-CN" dirty="0">
              <a:latin typeface="Arial" pitchFamily="34" charset="0"/>
              <a:ea typeface="宋体" pitchFamily="2" charset="-122"/>
            </a:endParaRPr>
          </a:p>
          <a:p>
            <a:endParaRPr lang="zh-CN" altLang="en-US"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440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2480B00-D8E2-4977-A74B-846DF020222B}" type="slidenum">
              <a:rPr lang="en-US" altLang="zh-CN" smtClean="0"/>
              <a:pPr eaLnBrk="1" hangingPunct="1"/>
              <a:t>15</a:t>
            </a:fld>
            <a:endParaRPr lang="en-US" altLang="zh-CN" dirty="0"/>
          </a:p>
        </p:txBody>
      </p:sp>
    </p:spTree>
    <p:extLst>
      <p:ext uri="{BB962C8B-B14F-4D97-AF65-F5344CB8AC3E}">
        <p14:creationId xmlns:p14="http://schemas.microsoft.com/office/powerpoint/2010/main" val="642368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16</a:t>
            </a:fld>
            <a:endParaRPr lang="en-US" altLang="zh-CN" dirty="0"/>
          </a:p>
        </p:txBody>
      </p:sp>
    </p:spTree>
    <p:extLst>
      <p:ext uri="{BB962C8B-B14F-4D97-AF65-F5344CB8AC3E}">
        <p14:creationId xmlns:p14="http://schemas.microsoft.com/office/powerpoint/2010/main" val="2521205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17</a:t>
            </a:fld>
            <a:endParaRPr lang="en-US" altLang="zh-CN" dirty="0"/>
          </a:p>
        </p:txBody>
      </p:sp>
    </p:spTree>
    <p:extLst>
      <p:ext uri="{BB962C8B-B14F-4D97-AF65-F5344CB8AC3E}">
        <p14:creationId xmlns:p14="http://schemas.microsoft.com/office/powerpoint/2010/main" val="3576761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18</a:t>
            </a:fld>
            <a:endParaRPr lang="en-US" altLang="zh-CN" dirty="0"/>
          </a:p>
        </p:txBody>
      </p:sp>
    </p:spTree>
    <p:extLst>
      <p:ext uri="{BB962C8B-B14F-4D97-AF65-F5344CB8AC3E}">
        <p14:creationId xmlns:p14="http://schemas.microsoft.com/office/powerpoint/2010/main" val="2605450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19</a:t>
            </a:fld>
            <a:endParaRPr lang="en-US" altLang="zh-CN" dirty="0"/>
          </a:p>
        </p:txBody>
      </p:sp>
    </p:spTree>
    <p:extLst>
      <p:ext uri="{BB962C8B-B14F-4D97-AF65-F5344CB8AC3E}">
        <p14:creationId xmlns:p14="http://schemas.microsoft.com/office/powerpoint/2010/main" val="2604913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20</a:t>
            </a:fld>
            <a:endParaRPr lang="en-US" altLang="zh-CN" dirty="0"/>
          </a:p>
        </p:txBody>
      </p:sp>
    </p:spTree>
    <p:extLst>
      <p:ext uri="{BB962C8B-B14F-4D97-AF65-F5344CB8AC3E}">
        <p14:creationId xmlns:p14="http://schemas.microsoft.com/office/powerpoint/2010/main" val="951587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461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200">
                <a:solidFill>
                  <a:srgbClr val="FF0915"/>
                </a:solidFill>
                <a:latin typeface="Arial" charset="0"/>
                <a:ea typeface="宋体" pitchFamily="2" charset="-122"/>
              </a:defRPr>
            </a:lvl1pPr>
            <a:lvl2pPr marL="742950" indent="-285750" eaLnBrk="0" hangingPunct="0">
              <a:defRPr sz="1200">
                <a:solidFill>
                  <a:srgbClr val="FF0915"/>
                </a:solidFill>
                <a:latin typeface="Arial" charset="0"/>
                <a:ea typeface="宋体" pitchFamily="2" charset="-122"/>
              </a:defRPr>
            </a:lvl2pPr>
            <a:lvl3pPr marL="1143000" indent="-228600" eaLnBrk="0" hangingPunct="0">
              <a:defRPr sz="1200">
                <a:solidFill>
                  <a:srgbClr val="FF0915"/>
                </a:solidFill>
                <a:latin typeface="Arial" charset="0"/>
                <a:ea typeface="宋体" pitchFamily="2" charset="-122"/>
              </a:defRPr>
            </a:lvl3pPr>
            <a:lvl4pPr marL="1600200" indent="-228600" eaLnBrk="0" hangingPunct="0">
              <a:defRPr sz="1200">
                <a:solidFill>
                  <a:srgbClr val="FF0915"/>
                </a:solidFill>
                <a:latin typeface="Arial" charset="0"/>
                <a:ea typeface="宋体" pitchFamily="2" charset="-122"/>
              </a:defRPr>
            </a:lvl4pPr>
            <a:lvl5pPr marL="2057400" indent="-228600" eaLnBrk="0" hangingPunct="0">
              <a:defRPr sz="1200">
                <a:solidFill>
                  <a:srgbClr val="FF0915"/>
                </a:solidFill>
                <a:latin typeface="Arial" charset="0"/>
                <a:ea typeface="宋体" pitchFamily="2" charset="-122"/>
              </a:defRPr>
            </a:lvl5pPr>
            <a:lvl6pPr marL="2514600" indent="-228600" eaLnBrk="0" fontAlgn="base" hangingPunct="0">
              <a:spcBef>
                <a:spcPct val="0"/>
              </a:spcBef>
              <a:spcAft>
                <a:spcPct val="0"/>
              </a:spcAft>
              <a:defRPr sz="1200">
                <a:solidFill>
                  <a:srgbClr val="FF0915"/>
                </a:solidFill>
                <a:latin typeface="Arial" charset="0"/>
                <a:ea typeface="宋体" pitchFamily="2" charset="-122"/>
              </a:defRPr>
            </a:lvl6pPr>
            <a:lvl7pPr marL="2971800" indent="-228600" eaLnBrk="0" fontAlgn="base" hangingPunct="0">
              <a:spcBef>
                <a:spcPct val="0"/>
              </a:spcBef>
              <a:spcAft>
                <a:spcPct val="0"/>
              </a:spcAft>
              <a:defRPr sz="1200">
                <a:solidFill>
                  <a:srgbClr val="FF0915"/>
                </a:solidFill>
                <a:latin typeface="Arial" charset="0"/>
                <a:ea typeface="宋体" pitchFamily="2" charset="-122"/>
              </a:defRPr>
            </a:lvl7pPr>
            <a:lvl8pPr marL="3429000" indent="-228600" eaLnBrk="0" fontAlgn="base" hangingPunct="0">
              <a:spcBef>
                <a:spcPct val="0"/>
              </a:spcBef>
              <a:spcAft>
                <a:spcPct val="0"/>
              </a:spcAft>
              <a:defRPr sz="1200">
                <a:solidFill>
                  <a:srgbClr val="FF0915"/>
                </a:solidFill>
                <a:latin typeface="Arial" charset="0"/>
                <a:ea typeface="宋体" pitchFamily="2" charset="-122"/>
              </a:defRPr>
            </a:lvl8pPr>
            <a:lvl9pPr marL="3886200" indent="-228600" eaLnBrk="0" fontAlgn="base" hangingPunct="0">
              <a:spcBef>
                <a:spcPct val="0"/>
              </a:spcBef>
              <a:spcAft>
                <a:spcPct val="0"/>
              </a:spcAft>
              <a:defRPr sz="1200">
                <a:solidFill>
                  <a:srgbClr val="FF0915"/>
                </a:solidFill>
                <a:latin typeface="Arial" charset="0"/>
                <a:ea typeface="宋体" pitchFamily="2" charset="-122"/>
              </a:defRPr>
            </a:lvl9pPr>
          </a:lstStyle>
          <a:p>
            <a:pPr algn="r" eaLnBrk="1" hangingPunct="1"/>
            <a:fld id="{89EC8576-16CC-4013-8422-8CB0B6FA8F39}" type="slidenum">
              <a:rPr lang="en-US" altLang="zh-CN">
                <a:solidFill>
                  <a:schemeClr val="tx1"/>
                </a:solidFill>
              </a:rPr>
              <a:pPr algn="r" eaLnBrk="1" hangingPunct="1"/>
              <a:t>21</a:t>
            </a:fld>
            <a:endParaRPr lang="en-US" altLang="zh-CN" dirty="0">
              <a:solidFill>
                <a:schemeClr val="tx1"/>
              </a:solidFill>
            </a:endParaRPr>
          </a:p>
        </p:txBody>
      </p:sp>
      <p:sp>
        <p:nvSpPr>
          <p:cNvPr id="346115" name="Rectangle 2"/>
          <p:cNvSpPr>
            <a:spLocks noGrp="1" noRot="1" noChangeAspect="1" noChangeArrowheads="1" noTextEdit="1"/>
          </p:cNvSpPr>
          <p:nvPr>
            <p:ph type="sldImg"/>
          </p:nvPr>
        </p:nvSpPr>
        <p:spPr>
          <a:xfrm>
            <a:off x="381000" y="685800"/>
            <a:ext cx="6096000" cy="3429000"/>
          </a:xfrm>
        </p:spPr>
      </p:sp>
      <p:sp>
        <p:nvSpPr>
          <p:cNvPr id="346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0" marR="0" indent="0" algn="l" defTabSz="914400" rtl="0" eaLnBrk="1" fontAlgn="base" latinLnBrk="0" hangingPunct="1">
              <a:lnSpc>
                <a:spcPct val="100000"/>
              </a:lnSpc>
              <a:spcBef>
                <a:spcPct val="0"/>
              </a:spcBef>
              <a:spcAft>
                <a:spcPct val="0"/>
              </a:spcAft>
              <a:buClrTx/>
              <a:buSzTx/>
              <a:buFontTx/>
              <a:buNone/>
              <a:tabLst/>
              <a:defRPr/>
            </a:pPr>
            <a:r>
              <a:rPr lang="zh-TW" altLang="en-US" sz="1200" dirty="0">
                <a:solidFill>
                  <a:schemeClr val="tx1"/>
                </a:solidFill>
              </a:rPr>
              <a:t>∀  </a:t>
            </a:r>
            <a:r>
              <a:rPr lang="en-US" altLang="zh-TW" sz="1200" dirty="0">
                <a:solidFill>
                  <a:schemeClr val="tx1"/>
                </a:solidFill>
              </a:rPr>
              <a:t>— </a:t>
            </a:r>
            <a:r>
              <a:rPr lang="zh-TW" altLang="en-US" sz="1200" dirty="0">
                <a:solidFill>
                  <a:schemeClr val="tx1"/>
                </a:solidFill>
              </a:rPr>
              <a:t>「任意」符號，表示集合中任意取值；</a:t>
            </a:r>
          </a:p>
          <a:p>
            <a:pPr marL="0" marR="0" indent="0" algn="l" defTabSz="914400" rtl="0" eaLnBrk="1" fontAlgn="base" latinLnBrk="0" hangingPunct="1">
              <a:lnSpc>
                <a:spcPct val="100000"/>
              </a:lnSpc>
              <a:spcBef>
                <a:spcPct val="0"/>
              </a:spcBef>
              <a:spcAft>
                <a:spcPct val="0"/>
              </a:spcAft>
              <a:buClrTx/>
              <a:buSzTx/>
              <a:buFontTx/>
              <a:buNone/>
              <a:tabLst/>
              <a:defRPr/>
            </a:pPr>
            <a:endParaRPr lang="en-US" altLang="zh-CN" sz="1200" dirty="0">
              <a:solidFill>
                <a:schemeClr val="tx1"/>
              </a:solidFill>
            </a:endParaRPr>
          </a:p>
        </p:txBody>
      </p:sp>
    </p:spTree>
    <p:extLst>
      <p:ext uri="{BB962C8B-B14F-4D97-AF65-F5344CB8AC3E}">
        <p14:creationId xmlns:p14="http://schemas.microsoft.com/office/powerpoint/2010/main" val="2699059757"/>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491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200">
                <a:solidFill>
                  <a:srgbClr val="FF0915"/>
                </a:solidFill>
                <a:latin typeface="Arial" charset="0"/>
                <a:ea typeface="宋体" pitchFamily="2" charset="-122"/>
              </a:defRPr>
            </a:lvl1pPr>
            <a:lvl2pPr marL="742950" indent="-285750" eaLnBrk="0" hangingPunct="0">
              <a:defRPr sz="1200">
                <a:solidFill>
                  <a:srgbClr val="FF0915"/>
                </a:solidFill>
                <a:latin typeface="Arial" charset="0"/>
                <a:ea typeface="宋体" pitchFamily="2" charset="-122"/>
              </a:defRPr>
            </a:lvl2pPr>
            <a:lvl3pPr marL="1143000" indent="-228600" eaLnBrk="0" hangingPunct="0">
              <a:defRPr sz="1200">
                <a:solidFill>
                  <a:srgbClr val="FF0915"/>
                </a:solidFill>
                <a:latin typeface="Arial" charset="0"/>
                <a:ea typeface="宋体" pitchFamily="2" charset="-122"/>
              </a:defRPr>
            </a:lvl3pPr>
            <a:lvl4pPr marL="1600200" indent="-228600" eaLnBrk="0" hangingPunct="0">
              <a:defRPr sz="1200">
                <a:solidFill>
                  <a:srgbClr val="FF0915"/>
                </a:solidFill>
                <a:latin typeface="Arial" charset="0"/>
                <a:ea typeface="宋体" pitchFamily="2" charset="-122"/>
              </a:defRPr>
            </a:lvl4pPr>
            <a:lvl5pPr marL="2057400" indent="-228600" eaLnBrk="0" hangingPunct="0">
              <a:defRPr sz="1200">
                <a:solidFill>
                  <a:srgbClr val="FF0915"/>
                </a:solidFill>
                <a:latin typeface="Arial" charset="0"/>
                <a:ea typeface="宋体" pitchFamily="2" charset="-122"/>
              </a:defRPr>
            </a:lvl5pPr>
            <a:lvl6pPr marL="2514600" indent="-228600" eaLnBrk="0" fontAlgn="base" hangingPunct="0">
              <a:spcBef>
                <a:spcPct val="0"/>
              </a:spcBef>
              <a:spcAft>
                <a:spcPct val="0"/>
              </a:spcAft>
              <a:defRPr sz="1200">
                <a:solidFill>
                  <a:srgbClr val="FF0915"/>
                </a:solidFill>
                <a:latin typeface="Arial" charset="0"/>
                <a:ea typeface="宋体" pitchFamily="2" charset="-122"/>
              </a:defRPr>
            </a:lvl6pPr>
            <a:lvl7pPr marL="2971800" indent="-228600" eaLnBrk="0" fontAlgn="base" hangingPunct="0">
              <a:spcBef>
                <a:spcPct val="0"/>
              </a:spcBef>
              <a:spcAft>
                <a:spcPct val="0"/>
              </a:spcAft>
              <a:defRPr sz="1200">
                <a:solidFill>
                  <a:srgbClr val="FF0915"/>
                </a:solidFill>
                <a:latin typeface="Arial" charset="0"/>
                <a:ea typeface="宋体" pitchFamily="2" charset="-122"/>
              </a:defRPr>
            </a:lvl7pPr>
            <a:lvl8pPr marL="3429000" indent="-228600" eaLnBrk="0" fontAlgn="base" hangingPunct="0">
              <a:spcBef>
                <a:spcPct val="0"/>
              </a:spcBef>
              <a:spcAft>
                <a:spcPct val="0"/>
              </a:spcAft>
              <a:defRPr sz="1200">
                <a:solidFill>
                  <a:srgbClr val="FF0915"/>
                </a:solidFill>
                <a:latin typeface="Arial" charset="0"/>
                <a:ea typeface="宋体" pitchFamily="2" charset="-122"/>
              </a:defRPr>
            </a:lvl8pPr>
            <a:lvl9pPr marL="3886200" indent="-228600" eaLnBrk="0" fontAlgn="base" hangingPunct="0">
              <a:spcBef>
                <a:spcPct val="0"/>
              </a:spcBef>
              <a:spcAft>
                <a:spcPct val="0"/>
              </a:spcAft>
              <a:defRPr sz="1200">
                <a:solidFill>
                  <a:srgbClr val="FF0915"/>
                </a:solidFill>
                <a:latin typeface="Arial" charset="0"/>
                <a:ea typeface="宋体" pitchFamily="2" charset="-122"/>
              </a:defRPr>
            </a:lvl9pPr>
          </a:lstStyle>
          <a:p>
            <a:pPr algn="r" eaLnBrk="1" hangingPunct="1"/>
            <a:fld id="{9CD466AE-F6F0-4649-BF21-15D2AC52D7E3}" type="slidenum">
              <a:rPr lang="en-US" altLang="zh-CN">
                <a:solidFill>
                  <a:schemeClr val="tx1"/>
                </a:solidFill>
              </a:rPr>
              <a:pPr algn="r" eaLnBrk="1" hangingPunct="1"/>
              <a:t>22</a:t>
            </a:fld>
            <a:endParaRPr lang="en-US" altLang="zh-CN" dirty="0">
              <a:solidFill>
                <a:schemeClr val="tx1"/>
              </a:solidFill>
            </a:endParaRPr>
          </a:p>
        </p:txBody>
      </p:sp>
      <p:sp>
        <p:nvSpPr>
          <p:cNvPr id="349187" name="Rectangle 2"/>
          <p:cNvSpPr>
            <a:spLocks noGrp="1" noRot="1" noChangeAspect="1" noChangeArrowheads="1" noTextEdit="1"/>
          </p:cNvSpPr>
          <p:nvPr>
            <p:ph type="sldImg"/>
          </p:nvPr>
        </p:nvSpPr>
        <p:spPr>
          <a:xfrm>
            <a:off x="381000" y="685800"/>
            <a:ext cx="6096000" cy="3429000"/>
          </a:xfrm>
        </p:spPr>
      </p:sp>
      <p:sp>
        <p:nvSpPr>
          <p:cNvPr id="349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spcBef>
                <a:spcPct val="0"/>
              </a:spcBef>
            </a:pPr>
            <a:endParaRPr lang="en-US" altLang="zh-CN">
              <a:latin typeface="Arial" charset="0"/>
            </a:endParaRPr>
          </a:p>
        </p:txBody>
      </p:sp>
    </p:spTree>
    <p:extLst>
      <p:ext uri="{BB962C8B-B14F-4D97-AF65-F5344CB8AC3E}">
        <p14:creationId xmlns:p14="http://schemas.microsoft.com/office/powerpoint/2010/main" val="2136939612"/>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 </a:t>
            </a:r>
            <a:r>
              <a:rPr lang="zh-CN" altLang="en-US" dirty="0">
                <a:ea typeface="宋体" pitchFamily="2" charset="-122"/>
              </a:rPr>
              <a:t>：是 恆等 符號，是指 恆等於 的意思。</a:t>
            </a:r>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23</a:t>
            </a:fld>
            <a:endParaRPr lang="en-US" altLang="zh-CN" dirty="0"/>
          </a:p>
        </p:txBody>
      </p:sp>
    </p:spTree>
    <p:extLst>
      <p:ext uri="{BB962C8B-B14F-4D97-AF65-F5344CB8AC3E}">
        <p14:creationId xmlns:p14="http://schemas.microsoft.com/office/powerpoint/2010/main" val="2052627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24</a:t>
            </a:fld>
            <a:endParaRPr lang="en-US" altLang="zh-CN" dirty="0"/>
          </a:p>
        </p:txBody>
      </p:sp>
    </p:spTree>
    <p:extLst>
      <p:ext uri="{BB962C8B-B14F-4D97-AF65-F5344CB8AC3E}">
        <p14:creationId xmlns:p14="http://schemas.microsoft.com/office/powerpoint/2010/main" val="3710702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25</a:t>
            </a:fld>
            <a:endParaRPr lang="en-US" altLang="zh-CN" dirty="0"/>
          </a:p>
        </p:txBody>
      </p:sp>
    </p:spTree>
    <p:extLst>
      <p:ext uri="{BB962C8B-B14F-4D97-AF65-F5344CB8AC3E}">
        <p14:creationId xmlns:p14="http://schemas.microsoft.com/office/powerpoint/2010/main" val="2020446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26</a:t>
            </a:fld>
            <a:endParaRPr lang="en-US" altLang="zh-CN" dirty="0"/>
          </a:p>
        </p:txBody>
      </p:sp>
    </p:spTree>
    <p:extLst>
      <p:ext uri="{BB962C8B-B14F-4D97-AF65-F5344CB8AC3E}">
        <p14:creationId xmlns:p14="http://schemas.microsoft.com/office/powerpoint/2010/main" val="1122071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27</a:t>
            </a:fld>
            <a:endParaRPr lang="en-US" altLang="zh-CN" dirty="0"/>
          </a:p>
        </p:txBody>
      </p:sp>
    </p:spTree>
    <p:extLst>
      <p:ext uri="{BB962C8B-B14F-4D97-AF65-F5344CB8AC3E}">
        <p14:creationId xmlns:p14="http://schemas.microsoft.com/office/powerpoint/2010/main" val="2496503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28</a:t>
            </a:fld>
            <a:endParaRPr lang="en-US" altLang="zh-CN" dirty="0"/>
          </a:p>
        </p:txBody>
      </p:sp>
    </p:spTree>
    <p:extLst>
      <p:ext uri="{BB962C8B-B14F-4D97-AF65-F5344CB8AC3E}">
        <p14:creationId xmlns:p14="http://schemas.microsoft.com/office/powerpoint/2010/main" val="2326350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381000" y="685800"/>
            <a:ext cx="6096000" cy="3429000"/>
          </a:xfrm>
          <a:ln/>
        </p:spPr>
      </p:sp>
      <p:sp>
        <p:nvSpPr>
          <p:cNvPr id="25603" name="备注占位符 2"/>
          <p:cNvSpPr>
            <a:spLocks noGrp="1"/>
          </p:cNvSpPr>
          <p:nvPr>
            <p:ph type="body" idx="1"/>
          </p:nvPr>
        </p:nvSpPr>
        <p:spPr>
          <a:noFill/>
        </p:spPr>
        <p:txBody>
          <a:bodyPr/>
          <a:lstStyle/>
          <a:p>
            <a:r>
              <a:rPr lang="zh-CN" altLang="en-US" dirty="0">
                <a:ea typeface="宋体" pitchFamily="2" charset="-122"/>
              </a:rPr>
              <a:t>只要檢測人群不變，分析前程式沒有改變並且</a:t>
            </a:r>
          </a:p>
          <a:p>
            <a:r>
              <a:rPr lang="zh-CN" altLang="en-US" dirty="0">
                <a:ea typeface="宋体" pitchFamily="2" charset="-122"/>
              </a:rPr>
              <a:t>方法比對研究已證明兩方法之間存在可比性，那麼</a:t>
            </a:r>
          </a:p>
          <a:p>
            <a:r>
              <a:rPr lang="zh-CN" altLang="en-US" dirty="0">
                <a:ea typeface="宋体" pitchFamily="2" charset="-122"/>
              </a:rPr>
              <a:t>從本質上講可以接受現有參考區間的簡單轉換。</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29</a:t>
            </a:fld>
            <a:endParaRPr lang="en-US" altLang="zh-CN" dirty="0"/>
          </a:p>
        </p:txBody>
      </p:sp>
    </p:spTree>
    <p:extLst>
      <p:ext uri="{BB962C8B-B14F-4D97-AF65-F5344CB8AC3E}">
        <p14:creationId xmlns:p14="http://schemas.microsoft.com/office/powerpoint/2010/main" val="534135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396F1-8B79-1AEE-4138-BA4F4B76DEE7}"/>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D09AD977-F901-2825-4A6A-90615DFCE6E5}"/>
              </a:ext>
            </a:extLst>
          </p:cNvPr>
          <p:cNvSpPr>
            <a:spLocks noGrp="1" noRot="1" noChangeAspect="1" noTextEdit="1"/>
          </p:cNvSpPr>
          <p:nvPr>
            <p:ph type="sldImg"/>
          </p:nvPr>
        </p:nvSpPr>
        <p:spPr>
          <a:xfrm>
            <a:off x="381000" y="685800"/>
            <a:ext cx="6096000" cy="3429000"/>
          </a:xfrm>
          <a:ln/>
        </p:spPr>
      </p:sp>
      <p:sp>
        <p:nvSpPr>
          <p:cNvPr id="25603" name="备注占位符 2">
            <a:extLst>
              <a:ext uri="{FF2B5EF4-FFF2-40B4-BE49-F238E27FC236}">
                <a16:creationId xmlns:a16="http://schemas.microsoft.com/office/drawing/2014/main" id="{7D66ED7D-4677-64BB-068A-22EDB156F8DF}"/>
              </a:ext>
            </a:extLst>
          </p:cNvPr>
          <p:cNvSpPr>
            <a:spLocks noGrp="1"/>
          </p:cNvSpPr>
          <p:nvPr>
            <p:ph type="body" idx="1"/>
          </p:nvPr>
        </p:nvSpPr>
        <p:spPr>
          <a:noFill/>
        </p:spPr>
        <p:txBody>
          <a:bodyPr/>
          <a:lstStyle/>
          <a:p>
            <a:endParaRPr lang="zh-CN" altLang="en-US" dirty="0">
              <a:ea typeface="宋体" pitchFamily="2" charset="-122"/>
            </a:endParaRPr>
          </a:p>
          <a:p>
            <a:endParaRPr lang="en-US" altLang="zh-CN" dirty="0">
              <a:ea typeface="宋体" pitchFamily="2" charset="-122"/>
            </a:endParaRPr>
          </a:p>
        </p:txBody>
      </p:sp>
      <p:sp>
        <p:nvSpPr>
          <p:cNvPr id="25604" name="灯片编号占位符 3">
            <a:extLst>
              <a:ext uri="{FF2B5EF4-FFF2-40B4-BE49-F238E27FC236}">
                <a16:creationId xmlns:a16="http://schemas.microsoft.com/office/drawing/2014/main" id="{2D8D0BFF-EEFF-A253-60D0-76100F4F06D5}"/>
              </a:ext>
            </a:extLst>
          </p:cNvPr>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F20A88-6AE7-4C25-8C6E-0FF2B3EA7AFE}" type="slidenum">
              <a:rPr lang="en-US" altLang="zh-CN" smtClean="0"/>
              <a:pPr eaLnBrk="1" hangingPunct="1"/>
              <a:t>31</a:t>
            </a:fld>
            <a:endParaRPr lang="en-US" altLang="zh-CN" dirty="0"/>
          </a:p>
        </p:txBody>
      </p:sp>
    </p:spTree>
    <p:extLst>
      <p:ext uri="{BB962C8B-B14F-4D97-AF65-F5344CB8AC3E}">
        <p14:creationId xmlns:p14="http://schemas.microsoft.com/office/powerpoint/2010/main" val="18946711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w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cstate="print">
            <a:extLst>
              <a:ext uri="{28A0092B-C50C-407E-A947-70E740481C1C}">
                <a14:useLocalDpi xmlns:a14="http://schemas.microsoft.com/office/drawing/2010/main" val="0"/>
              </a:ext>
            </a:extLst>
          </a:blip>
          <a:srcRect t="8968" b="2744"/>
          <a:stretch>
            <a:fillRect/>
          </a:stretch>
        </p:blipFill>
        <p:spPr bwMode="auto">
          <a:xfrm>
            <a:off x="3"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4" y="284165"/>
            <a:ext cx="9793288"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7"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554619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05304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26602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87438"/>
            <a:ext cx="5356224"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87438"/>
            <a:ext cx="5356224"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73478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99571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0404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235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2036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63909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16322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2"/>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44452"/>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02478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5" y="44450"/>
            <a:ext cx="10864851"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7"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04695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5" y="44450"/>
            <a:ext cx="10864851"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7"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40" y="1087438"/>
            <a:ext cx="5356224"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40" y="3551240"/>
            <a:ext cx="5356224"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4867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3"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20911"/>
          <a:stretch>
            <a:fillRect/>
          </a:stretch>
        </p:blipFill>
        <p:spPr bwMode="auto">
          <a:xfrm>
            <a:off x="3" y="2"/>
            <a:ext cx="115220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1" descr="PPT用图16 9"/>
          <p:cNvPicPr>
            <a:picLocks noChangeAspect="1" noChangeArrowheads="1"/>
          </p:cNvPicPr>
          <p:nvPr/>
        </p:nvPicPr>
        <p:blipFill>
          <a:blip r:embed="rId3" cstate="print">
            <a:extLst>
              <a:ext uri="{28A0092B-C50C-407E-A947-70E740481C1C}">
                <a14:useLocalDpi xmlns:a14="http://schemas.microsoft.com/office/drawing/2010/main" val="0"/>
              </a:ext>
            </a:extLst>
          </a:blip>
          <a:srcRect l="621" t="59732" r="491" b="2483"/>
          <a:stretch>
            <a:fillRect/>
          </a:stretch>
        </p:blipFill>
        <p:spPr bwMode="auto">
          <a:xfrm>
            <a:off x="3" y="3879850"/>
            <a:ext cx="115220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pic>
        <p:nvPicPr>
          <p:cNvPr id="7" name="Picture 2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8" y="5851525"/>
            <a:ext cx="2444749"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Rectangle 18"/>
          <p:cNvSpPr>
            <a:spLocks noGrp="1" noChangeArrowheads="1"/>
          </p:cNvSpPr>
          <p:nvPr>
            <p:ph type="ctrTitle"/>
          </p:nvPr>
        </p:nvSpPr>
        <p:spPr>
          <a:xfrm>
            <a:off x="863601" y="3868739"/>
            <a:ext cx="9794875" cy="1082675"/>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3571" name="Rectangle 19"/>
          <p:cNvSpPr>
            <a:spLocks noGrp="1" noChangeArrowheads="1"/>
          </p:cNvSpPr>
          <p:nvPr>
            <p:ph type="subTitle" idx="1"/>
          </p:nvPr>
        </p:nvSpPr>
        <p:spPr>
          <a:xfrm>
            <a:off x="863601" y="5005390"/>
            <a:ext cx="8066088" cy="585787"/>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213281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90656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056423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7" y="1030289"/>
            <a:ext cx="5356224"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41" y="1030289"/>
            <a:ext cx="5356224"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11961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1575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16843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836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24850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824156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32486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3" y="2"/>
            <a:ext cx="2722563" cy="58594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2"/>
            <a:ext cx="8015287" cy="58594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3647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8"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15022"/>
          <a:stretch>
            <a:fillRect/>
          </a:stretch>
        </p:blipFill>
        <p:spPr bwMode="auto">
          <a:xfrm>
            <a:off x="3"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PPT用图红色"/>
          <p:cNvPicPr>
            <a:picLocks noChangeAspect="1" noChangeArrowheads="1"/>
          </p:cNvPicPr>
          <p:nvPr/>
        </p:nvPicPr>
        <p:blipFill>
          <a:blip r:embed="rId3" cstate="print">
            <a:extLst>
              <a:ext uri="{28A0092B-C50C-407E-A947-70E740481C1C}">
                <a14:useLocalDpi xmlns:a14="http://schemas.microsoft.com/office/drawing/2010/main" val="0"/>
              </a:ext>
            </a:extLst>
          </a:blip>
          <a:srcRect l="8858" t="42973" r="9386" b="275"/>
          <a:stretch>
            <a:fillRect/>
          </a:stretch>
        </p:blipFill>
        <p:spPr bwMode="auto">
          <a:xfrm>
            <a:off x="3" y="2343152"/>
            <a:ext cx="11522075"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solidFill>
                  <a:schemeClr val="bg1"/>
                </a:solidFill>
                <a:ea typeface="Arial Unicode MS" pitchFamily="34" charset="-122"/>
                <a:cs typeface="Arial Unicode MS" pitchFamily="34" charset="-122"/>
              </a:rPr>
              <a:t>© 2011 </a:t>
            </a:r>
            <a:r>
              <a:rPr lang="en-US" altLang="zh-CN" sz="800" dirty="0" err="1">
                <a:solidFill>
                  <a:schemeClr val="bg1"/>
                </a:solidFill>
                <a:ea typeface="Arial Unicode MS" pitchFamily="34" charset="-122"/>
                <a:cs typeface="Arial Unicode MS" pitchFamily="34" charset="-122"/>
              </a:rPr>
              <a:t>Mindray</a:t>
            </a:r>
            <a:r>
              <a:rPr lang="en-US" altLang="zh-CN" sz="800" dirty="0">
                <a:solidFill>
                  <a:schemeClr val="bg1"/>
                </a:solidFill>
                <a:ea typeface="Arial Unicode MS" pitchFamily="34" charset="-122"/>
                <a:cs typeface="Arial Unicode MS" pitchFamily="34" charset="-122"/>
              </a:rPr>
              <a:t> Confidential</a:t>
            </a:r>
          </a:p>
        </p:txBody>
      </p:sp>
      <p:sp>
        <p:nvSpPr>
          <p:cNvPr id="7" name="Freeform 17"/>
          <p:cNvSpPr>
            <a:spLocks noEditPoints="1"/>
          </p:cNvSpPr>
          <p:nvPr/>
        </p:nvSpPr>
        <p:spPr bwMode="auto">
          <a:xfrm>
            <a:off x="8632828" y="5851525"/>
            <a:ext cx="2444749" cy="431800"/>
          </a:xfrm>
          <a:custGeom>
            <a:avLst/>
            <a:gdLst>
              <a:gd name="T0" fmla="*/ 2147483647 w 16940"/>
              <a:gd name="T1" fmla="*/ 2147483647 h 2992"/>
              <a:gd name="T2" fmla="*/ 2147483647 w 16940"/>
              <a:gd name="T3" fmla="*/ 2147483647 h 2992"/>
              <a:gd name="T4" fmla="*/ 2147483647 w 16940"/>
              <a:gd name="T5" fmla="*/ 2147483647 h 2992"/>
              <a:gd name="T6" fmla="*/ 2147483647 w 16940"/>
              <a:gd name="T7" fmla="*/ 2147483647 h 2992"/>
              <a:gd name="T8" fmla="*/ 2147483647 w 16940"/>
              <a:gd name="T9" fmla="*/ 2147483647 h 2992"/>
              <a:gd name="T10" fmla="*/ 2147483647 w 16940"/>
              <a:gd name="T11" fmla="*/ 2147483647 h 2992"/>
              <a:gd name="T12" fmla="*/ 2147483647 w 16940"/>
              <a:gd name="T13" fmla="*/ 2147483647 h 2992"/>
              <a:gd name="T14" fmla="*/ 2147483647 w 16940"/>
              <a:gd name="T15" fmla="*/ 2147483647 h 2992"/>
              <a:gd name="T16" fmla="*/ 2147483647 w 16940"/>
              <a:gd name="T17" fmla="*/ 2147483647 h 2992"/>
              <a:gd name="T18" fmla="*/ 2147483647 w 16940"/>
              <a:gd name="T19" fmla="*/ 2147483647 h 2992"/>
              <a:gd name="T20" fmla="*/ 2147483647 w 16940"/>
              <a:gd name="T21" fmla="*/ 2147483647 h 2992"/>
              <a:gd name="T22" fmla="*/ 2147483647 w 16940"/>
              <a:gd name="T23" fmla="*/ 2147483647 h 2992"/>
              <a:gd name="T24" fmla="*/ 2147483647 w 16940"/>
              <a:gd name="T25" fmla="*/ 2147483647 h 2992"/>
              <a:gd name="T26" fmla="*/ 2147483647 w 16940"/>
              <a:gd name="T27" fmla="*/ 2147483647 h 2992"/>
              <a:gd name="T28" fmla="*/ 2147483647 w 16940"/>
              <a:gd name="T29" fmla="*/ 2147483647 h 2992"/>
              <a:gd name="T30" fmla="*/ 2147483647 w 16940"/>
              <a:gd name="T31" fmla="*/ 2147483647 h 2992"/>
              <a:gd name="T32" fmla="*/ 2147483647 w 16940"/>
              <a:gd name="T33" fmla="*/ 2147483647 h 2992"/>
              <a:gd name="T34" fmla="*/ 2147483647 w 16940"/>
              <a:gd name="T35" fmla="*/ 2147483647 h 2992"/>
              <a:gd name="T36" fmla="*/ 2147483647 w 16940"/>
              <a:gd name="T37" fmla="*/ 2147483647 h 2992"/>
              <a:gd name="T38" fmla="*/ 2147483647 w 16940"/>
              <a:gd name="T39" fmla="*/ 2147483647 h 2992"/>
              <a:gd name="T40" fmla="*/ 2147483647 w 16940"/>
              <a:gd name="T41" fmla="*/ 2147483647 h 2992"/>
              <a:gd name="T42" fmla="*/ 2147483647 w 16940"/>
              <a:gd name="T43" fmla="*/ 2147483647 h 2992"/>
              <a:gd name="T44" fmla="*/ 2147483647 w 16940"/>
              <a:gd name="T45" fmla="*/ 2147483647 h 2992"/>
              <a:gd name="T46" fmla="*/ 2147483647 w 16940"/>
              <a:gd name="T47" fmla="*/ 2147483647 h 2992"/>
              <a:gd name="T48" fmla="*/ 2147483647 w 16940"/>
              <a:gd name="T49" fmla="*/ 2147483647 h 2992"/>
              <a:gd name="T50" fmla="*/ 2147483647 w 16940"/>
              <a:gd name="T51" fmla="*/ 2147483647 h 2992"/>
              <a:gd name="T52" fmla="*/ 2147483647 w 16940"/>
              <a:gd name="T53" fmla="*/ 2147483647 h 2992"/>
              <a:gd name="T54" fmla="*/ 2147483647 w 16940"/>
              <a:gd name="T55" fmla="*/ 2147483647 h 2992"/>
              <a:gd name="T56" fmla="*/ 2147483647 w 16940"/>
              <a:gd name="T57" fmla="*/ 2147483647 h 2992"/>
              <a:gd name="T58" fmla="*/ 2147483647 w 16940"/>
              <a:gd name="T59" fmla="*/ 2147483647 h 2992"/>
              <a:gd name="T60" fmla="*/ 2147483647 w 16940"/>
              <a:gd name="T61" fmla="*/ 2147483647 h 2992"/>
              <a:gd name="T62" fmla="*/ 2147483647 w 16940"/>
              <a:gd name="T63" fmla="*/ 2147483647 h 2992"/>
              <a:gd name="T64" fmla="*/ 2147483647 w 16940"/>
              <a:gd name="T65" fmla="*/ 2147483647 h 2992"/>
              <a:gd name="T66" fmla="*/ 2147483647 w 16940"/>
              <a:gd name="T67" fmla="*/ 2147483647 h 2992"/>
              <a:gd name="T68" fmla="*/ 2147483647 w 16940"/>
              <a:gd name="T69" fmla="*/ 2147483647 h 2992"/>
              <a:gd name="T70" fmla="*/ 2147483647 w 16940"/>
              <a:gd name="T71" fmla="*/ 2147483647 h 2992"/>
              <a:gd name="T72" fmla="*/ 2147483647 w 16940"/>
              <a:gd name="T73" fmla="*/ 2147483647 h 2992"/>
              <a:gd name="T74" fmla="*/ 2147483647 w 16940"/>
              <a:gd name="T75" fmla="*/ 2147483647 h 2992"/>
              <a:gd name="T76" fmla="*/ 2147483647 w 16940"/>
              <a:gd name="T77" fmla="*/ 2147483647 h 2992"/>
              <a:gd name="T78" fmla="*/ 2147483647 w 16940"/>
              <a:gd name="T79" fmla="*/ 2147483647 h 2992"/>
              <a:gd name="T80" fmla="*/ 2147483647 w 16940"/>
              <a:gd name="T81" fmla="*/ 2147483647 h 2992"/>
              <a:gd name="T82" fmla="*/ 2147483647 w 16940"/>
              <a:gd name="T83" fmla="*/ 2147483647 h 2992"/>
              <a:gd name="T84" fmla="*/ 2147483647 w 16940"/>
              <a:gd name="T85" fmla="*/ 2147483647 h 2992"/>
              <a:gd name="T86" fmla="*/ 2147483647 w 16940"/>
              <a:gd name="T87" fmla="*/ 2147483647 h 2992"/>
              <a:gd name="T88" fmla="*/ 2147483647 w 16940"/>
              <a:gd name="T89" fmla="*/ 2147483647 h 2992"/>
              <a:gd name="T90" fmla="*/ 2147483647 w 16940"/>
              <a:gd name="T91" fmla="*/ 2147483647 h 2992"/>
              <a:gd name="T92" fmla="*/ 2147483647 w 16940"/>
              <a:gd name="T93" fmla="*/ 2147483647 h 2992"/>
              <a:gd name="T94" fmla="*/ 2147483647 w 16940"/>
              <a:gd name="T95" fmla="*/ 2147483647 h 2992"/>
              <a:gd name="T96" fmla="*/ 2147483647 w 16940"/>
              <a:gd name="T97" fmla="*/ 0 h 2992"/>
              <a:gd name="T98" fmla="*/ 2147483647 w 16940"/>
              <a:gd name="T99" fmla="*/ 2147483647 h 2992"/>
              <a:gd name="T100" fmla="*/ 2147483647 w 16940"/>
              <a:gd name="T101" fmla="*/ 2147483647 h 2992"/>
              <a:gd name="T102" fmla="*/ 2147483647 w 16940"/>
              <a:gd name="T103" fmla="*/ 2147483647 h 2992"/>
              <a:gd name="T104" fmla="*/ 2147483647 w 16940"/>
              <a:gd name="T105" fmla="*/ 2147483647 h 2992"/>
              <a:gd name="T106" fmla="*/ 2147483647 w 16940"/>
              <a:gd name="T107" fmla="*/ 2147483647 h 2992"/>
              <a:gd name="T108" fmla="*/ 2147483647 w 16940"/>
              <a:gd name="T109" fmla="*/ 2147483647 h 2992"/>
              <a:gd name="T110" fmla="*/ 2147483647 w 16940"/>
              <a:gd name="T111" fmla="*/ 2147483647 h 2992"/>
              <a:gd name="T112" fmla="*/ 2147483647 w 16940"/>
              <a:gd name="T113" fmla="*/ 2147483647 h 2992"/>
              <a:gd name="T114" fmla="*/ 2147483647 w 16940"/>
              <a:gd name="T115" fmla="*/ 2147483647 h 2992"/>
              <a:gd name="T116" fmla="*/ 2147483647 w 16940"/>
              <a:gd name="T117" fmla="*/ 2147483647 h 2992"/>
              <a:gd name="T118" fmla="*/ 2147483647 w 16940"/>
              <a:gd name="T119" fmla="*/ 2147483647 h 2992"/>
              <a:gd name="T120" fmla="*/ 2147483647 w 16940"/>
              <a:gd name="T121" fmla="*/ 2147483647 h 2992"/>
              <a:gd name="T122" fmla="*/ 2147483647 w 16940"/>
              <a:gd name="T123" fmla="*/ 2147483647 h 2992"/>
              <a:gd name="T124" fmla="*/ 2147483647 w 16940"/>
              <a:gd name="T125" fmla="*/ 2147483647 h 2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40" h="2992">
                <a:moveTo>
                  <a:pt x="12947" y="1611"/>
                </a:moveTo>
                <a:lnTo>
                  <a:pt x="12974" y="1588"/>
                </a:lnTo>
                <a:lnTo>
                  <a:pt x="12998" y="1565"/>
                </a:lnTo>
                <a:lnTo>
                  <a:pt x="13022" y="1539"/>
                </a:lnTo>
                <a:lnTo>
                  <a:pt x="13044" y="1514"/>
                </a:lnTo>
                <a:lnTo>
                  <a:pt x="13066" y="1488"/>
                </a:lnTo>
                <a:lnTo>
                  <a:pt x="13085" y="1459"/>
                </a:lnTo>
                <a:lnTo>
                  <a:pt x="13104" y="1430"/>
                </a:lnTo>
                <a:lnTo>
                  <a:pt x="13122" y="1402"/>
                </a:lnTo>
                <a:lnTo>
                  <a:pt x="13138" y="1371"/>
                </a:lnTo>
                <a:lnTo>
                  <a:pt x="13153" y="1341"/>
                </a:lnTo>
                <a:lnTo>
                  <a:pt x="13167" y="1310"/>
                </a:lnTo>
                <a:lnTo>
                  <a:pt x="13179" y="1279"/>
                </a:lnTo>
                <a:lnTo>
                  <a:pt x="13191" y="1247"/>
                </a:lnTo>
                <a:lnTo>
                  <a:pt x="13200" y="1214"/>
                </a:lnTo>
                <a:lnTo>
                  <a:pt x="13209" y="1182"/>
                </a:lnTo>
                <a:lnTo>
                  <a:pt x="13216" y="1150"/>
                </a:lnTo>
                <a:lnTo>
                  <a:pt x="13230" y="1074"/>
                </a:lnTo>
                <a:lnTo>
                  <a:pt x="13241" y="1002"/>
                </a:lnTo>
                <a:lnTo>
                  <a:pt x="13246" y="967"/>
                </a:lnTo>
                <a:lnTo>
                  <a:pt x="13249" y="932"/>
                </a:lnTo>
                <a:lnTo>
                  <a:pt x="13253" y="896"/>
                </a:lnTo>
                <a:lnTo>
                  <a:pt x="13256" y="860"/>
                </a:lnTo>
                <a:lnTo>
                  <a:pt x="13261" y="784"/>
                </a:lnTo>
                <a:lnTo>
                  <a:pt x="13263" y="700"/>
                </a:lnTo>
                <a:lnTo>
                  <a:pt x="13265" y="608"/>
                </a:lnTo>
                <a:lnTo>
                  <a:pt x="13265" y="503"/>
                </a:lnTo>
                <a:lnTo>
                  <a:pt x="13253" y="503"/>
                </a:lnTo>
                <a:lnTo>
                  <a:pt x="13222" y="503"/>
                </a:lnTo>
                <a:lnTo>
                  <a:pt x="13176" y="503"/>
                </a:lnTo>
                <a:lnTo>
                  <a:pt x="13124" y="503"/>
                </a:lnTo>
                <a:lnTo>
                  <a:pt x="13073" y="503"/>
                </a:lnTo>
                <a:lnTo>
                  <a:pt x="13028" y="503"/>
                </a:lnTo>
                <a:lnTo>
                  <a:pt x="12996" y="503"/>
                </a:lnTo>
                <a:lnTo>
                  <a:pt x="12985" y="503"/>
                </a:lnTo>
                <a:lnTo>
                  <a:pt x="12985" y="493"/>
                </a:lnTo>
                <a:lnTo>
                  <a:pt x="12985" y="465"/>
                </a:lnTo>
                <a:lnTo>
                  <a:pt x="12985" y="427"/>
                </a:lnTo>
                <a:lnTo>
                  <a:pt x="12985" y="382"/>
                </a:lnTo>
                <a:lnTo>
                  <a:pt x="12985" y="339"/>
                </a:lnTo>
                <a:lnTo>
                  <a:pt x="12985" y="300"/>
                </a:lnTo>
                <a:lnTo>
                  <a:pt x="12985" y="273"/>
                </a:lnTo>
                <a:lnTo>
                  <a:pt x="12985" y="263"/>
                </a:lnTo>
                <a:lnTo>
                  <a:pt x="13001" y="263"/>
                </a:lnTo>
                <a:lnTo>
                  <a:pt x="13050" y="263"/>
                </a:lnTo>
                <a:lnTo>
                  <a:pt x="13126" y="263"/>
                </a:lnTo>
                <a:lnTo>
                  <a:pt x="13226" y="263"/>
                </a:lnTo>
                <a:lnTo>
                  <a:pt x="13343" y="263"/>
                </a:lnTo>
                <a:lnTo>
                  <a:pt x="13474" y="263"/>
                </a:lnTo>
                <a:lnTo>
                  <a:pt x="13613" y="263"/>
                </a:lnTo>
                <a:lnTo>
                  <a:pt x="13757" y="263"/>
                </a:lnTo>
                <a:lnTo>
                  <a:pt x="13902" y="263"/>
                </a:lnTo>
                <a:lnTo>
                  <a:pt x="14042" y="263"/>
                </a:lnTo>
                <a:lnTo>
                  <a:pt x="14172" y="263"/>
                </a:lnTo>
                <a:lnTo>
                  <a:pt x="14290" y="263"/>
                </a:lnTo>
                <a:lnTo>
                  <a:pt x="14388" y="263"/>
                </a:lnTo>
                <a:lnTo>
                  <a:pt x="14465" y="263"/>
                </a:lnTo>
                <a:lnTo>
                  <a:pt x="14514" y="263"/>
                </a:lnTo>
                <a:lnTo>
                  <a:pt x="14531" y="263"/>
                </a:lnTo>
                <a:lnTo>
                  <a:pt x="14528" y="273"/>
                </a:lnTo>
                <a:lnTo>
                  <a:pt x="14521" y="300"/>
                </a:lnTo>
                <a:lnTo>
                  <a:pt x="14510" y="339"/>
                </a:lnTo>
                <a:lnTo>
                  <a:pt x="14497" y="382"/>
                </a:lnTo>
                <a:lnTo>
                  <a:pt x="14485" y="427"/>
                </a:lnTo>
                <a:lnTo>
                  <a:pt x="14474" y="465"/>
                </a:lnTo>
                <a:lnTo>
                  <a:pt x="14467" y="493"/>
                </a:lnTo>
                <a:lnTo>
                  <a:pt x="14464" y="503"/>
                </a:lnTo>
                <a:lnTo>
                  <a:pt x="14454" y="503"/>
                </a:lnTo>
                <a:lnTo>
                  <a:pt x="14425" y="503"/>
                </a:lnTo>
                <a:lnTo>
                  <a:pt x="14382" y="503"/>
                </a:lnTo>
                <a:lnTo>
                  <a:pt x="14325" y="503"/>
                </a:lnTo>
                <a:lnTo>
                  <a:pt x="14258" y="503"/>
                </a:lnTo>
                <a:lnTo>
                  <a:pt x="14183" y="503"/>
                </a:lnTo>
                <a:lnTo>
                  <a:pt x="14103" y="503"/>
                </a:lnTo>
                <a:lnTo>
                  <a:pt x="14020" y="503"/>
                </a:lnTo>
                <a:lnTo>
                  <a:pt x="13937" y="503"/>
                </a:lnTo>
                <a:lnTo>
                  <a:pt x="13858" y="503"/>
                </a:lnTo>
                <a:lnTo>
                  <a:pt x="13783" y="503"/>
                </a:lnTo>
                <a:lnTo>
                  <a:pt x="13715" y="503"/>
                </a:lnTo>
                <a:lnTo>
                  <a:pt x="13659" y="503"/>
                </a:lnTo>
                <a:lnTo>
                  <a:pt x="13616" y="503"/>
                </a:lnTo>
                <a:lnTo>
                  <a:pt x="13587" y="503"/>
                </a:lnTo>
                <a:lnTo>
                  <a:pt x="13577" y="503"/>
                </a:lnTo>
                <a:lnTo>
                  <a:pt x="13577" y="513"/>
                </a:lnTo>
                <a:lnTo>
                  <a:pt x="13576" y="539"/>
                </a:lnTo>
                <a:lnTo>
                  <a:pt x="13576" y="577"/>
                </a:lnTo>
                <a:lnTo>
                  <a:pt x="13576" y="620"/>
                </a:lnTo>
                <a:lnTo>
                  <a:pt x="13576" y="662"/>
                </a:lnTo>
                <a:lnTo>
                  <a:pt x="13576" y="700"/>
                </a:lnTo>
                <a:lnTo>
                  <a:pt x="13576" y="727"/>
                </a:lnTo>
                <a:lnTo>
                  <a:pt x="13576" y="736"/>
                </a:lnTo>
                <a:lnTo>
                  <a:pt x="13600" y="736"/>
                </a:lnTo>
                <a:lnTo>
                  <a:pt x="13663" y="736"/>
                </a:lnTo>
                <a:lnTo>
                  <a:pt x="13754" y="736"/>
                </a:lnTo>
                <a:lnTo>
                  <a:pt x="13862" y="736"/>
                </a:lnTo>
                <a:lnTo>
                  <a:pt x="13976" y="736"/>
                </a:lnTo>
                <a:lnTo>
                  <a:pt x="14085" y="736"/>
                </a:lnTo>
                <a:lnTo>
                  <a:pt x="14177" y="736"/>
                </a:lnTo>
                <a:lnTo>
                  <a:pt x="14240" y="736"/>
                </a:lnTo>
                <a:lnTo>
                  <a:pt x="14255" y="736"/>
                </a:lnTo>
                <a:lnTo>
                  <a:pt x="14270" y="738"/>
                </a:lnTo>
                <a:lnTo>
                  <a:pt x="14284" y="740"/>
                </a:lnTo>
                <a:lnTo>
                  <a:pt x="14296" y="743"/>
                </a:lnTo>
                <a:lnTo>
                  <a:pt x="14309" y="745"/>
                </a:lnTo>
                <a:lnTo>
                  <a:pt x="14321" y="749"/>
                </a:lnTo>
                <a:lnTo>
                  <a:pt x="14331" y="753"/>
                </a:lnTo>
                <a:lnTo>
                  <a:pt x="14342" y="758"/>
                </a:lnTo>
                <a:lnTo>
                  <a:pt x="14351" y="763"/>
                </a:lnTo>
                <a:lnTo>
                  <a:pt x="14361" y="768"/>
                </a:lnTo>
                <a:lnTo>
                  <a:pt x="14369" y="774"/>
                </a:lnTo>
                <a:lnTo>
                  <a:pt x="14378" y="780"/>
                </a:lnTo>
                <a:lnTo>
                  <a:pt x="14392" y="794"/>
                </a:lnTo>
                <a:lnTo>
                  <a:pt x="14404" y="806"/>
                </a:lnTo>
                <a:lnTo>
                  <a:pt x="14415" y="821"/>
                </a:lnTo>
                <a:lnTo>
                  <a:pt x="14423" y="835"/>
                </a:lnTo>
                <a:lnTo>
                  <a:pt x="14431" y="848"/>
                </a:lnTo>
                <a:lnTo>
                  <a:pt x="14436" y="860"/>
                </a:lnTo>
                <a:lnTo>
                  <a:pt x="14440" y="872"/>
                </a:lnTo>
                <a:lnTo>
                  <a:pt x="14442" y="881"/>
                </a:lnTo>
                <a:lnTo>
                  <a:pt x="14443" y="890"/>
                </a:lnTo>
                <a:lnTo>
                  <a:pt x="14445" y="896"/>
                </a:lnTo>
                <a:lnTo>
                  <a:pt x="14446" y="908"/>
                </a:lnTo>
                <a:lnTo>
                  <a:pt x="14446" y="914"/>
                </a:lnTo>
                <a:lnTo>
                  <a:pt x="14446" y="939"/>
                </a:lnTo>
                <a:lnTo>
                  <a:pt x="14446" y="1003"/>
                </a:lnTo>
                <a:lnTo>
                  <a:pt x="14446" y="1094"/>
                </a:lnTo>
                <a:lnTo>
                  <a:pt x="14446" y="1198"/>
                </a:lnTo>
                <a:lnTo>
                  <a:pt x="14446" y="1303"/>
                </a:lnTo>
                <a:lnTo>
                  <a:pt x="14446" y="1394"/>
                </a:lnTo>
                <a:lnTo>
                  <a:pt x="14446" y="1458"/>
                </a:lnTo>
                <a:lnTo>
                  <a:pt x="14446" y="1482"/>
                </a:lnTo>
                <a:lnTo>
                  <a:pt x="14443" y="1504"/>
                </a:lnTo>
                <a:lnTo>
                  <a:pt x="14442" y="1526"/>
                </a:lnTo>
                <a:lnTo>
                  <a:pt x="14439" y="1547"/>
                </a:lnTo>
                <a:lnTo>
                  <a:pt x="14436" y="1567"/>
                </a:lnTo>
                <a:lnTo>
                  <a:pt x="14432" y="1586"/>
                </a:lnTo>
                <a:lnTo>
                  <a:pt x="14428" y="1604"/>
                </a:lnTo>
                <a:lnTo>
                  <a:pt x="14422" y="1623"/>
                </a:lnTo>
                <a:lnTo>
                  <a:pt x="14416" y="1640"/>
                </a:lnTo>
                <a:lnTo>
                  <a:pt x="14409" y="1657"/>
                </a:lnTo>
                <a:lnTo>
                  <a:pt x="14401" y="1673"/>
                </a:lnTo>
                <a:lnTo>
                  <a:pt x="14394" y="1688"/>
                </a:lnTo>
                <a:lnTo>
                  <a:pt x="14384" y="1703"/>
                </a:lnTo>
                <a:lnTo>
                  <a:pt x="14375" y="1717"/>
                </a:lnTo>
                <a:lnTo>
                  <a:pt x="14365" y="1730"/>
                </a:lnTo>
                <a:lnTo>
                  <a:pt x="14355" y="1743"/>
                </a:lnTo>
                <a:lnTo>
                  <a:pt x="14343" y="1756"/>
                </a:lnTo>
                <a:lnTo>
                  <a:pt x="14331" y="1766"/>
                </a:lnTo>
                <a:lnTo>
                  <a:pt x="14320" y="1778"/>
                </a:lnTo>
                <a:lnTo>
                  <a:pt x="14306" y="1787"/>
                </a:lnTo>
                <a:lnTo>
                  <a:pt x="14293" y="1797"/>
                </a:lnTo>
                <a:lnTo>
                  <a:pt x="14278" y="1805"/>
                </a:lnTo>
                <a:lnTo>
                  <a:pt x="14265" y="1814"/>
                </a:lnTo>
                <a:lnTo>
                  <a:pt x="14249" y="1820"/>
                </a:lnTo>
                <a:lnTo>
                  <a:pt x="14233" y="1828"/>
                </a:lnTo>
                <a:lnTo>
                  <a:pt x="14217" y="1833"/>
                </a:lnTo>
                <a:lnTo>
                  <a:pt x="14201" y="1838"/>
                </a:lnTo>
                <a:lnTo>
                  <a:pt x="14183" y="1842"/>
                </a:lnTo>
                <a:lnTo>
                  <a:pt x="14166" y="1847"/>
                </a:lnTo>
                <a:lnTo>
                  <a:pt x="14148" y="1850"/>
                </a:lnTo>
                <a:lnTo>
                  <a:pt x="14129" y="1852"/>
                </a:lnTo>
                <a:lnTo>
                  <a:pt x="14110" y="1853"/>
                </a:lnTo>
                <a:lnTo>
                  <a:pt x="14091" y="1854"/>
                </a:lnTo>
                <a:lnTo>
                  <a:pt x="14054" y="1856"/>
                </a:lnTo>
                <a:lnTo>
                  <a:pt x="14001" y="1858"/>
                </a:lnTo>
                <a:lnTo>
                  <a:pt x="13937" y="1860"/>
                </a:lnTo>
                <a:lnTo>
                  <a:pt x="13871" y="1862"/>
                </a:lnTo>
                <a:lnTo>
                  <a:pt x="13807" y="1863"/>
                </a:lnTo>
                <a:lnTo>
                  <a:pt x="13753" y="1864"/>
                </a:lnTo>
                <a:lnTo>
                  <a:pt x="13716" y="1864"/>
                </a:lnTo>
                <a:lnTo>
                  <a:pt x="13702" y="1864"/>
                </a:lnTo>
                <a:lnTo>
                  <a:pt x="13699" y="1851"/>
                </a:lnTo>
                <a:lnTo>
                  <a:pt x="13691" y="1819"/>
                </a:lnTo>
                <a:lnTo>
                  <a:pt x="13679" y="1773"/>
                </a:lnTo>
                <a:lnTo>
                  <a:pt x="13666" y="1720"/>
                </a:lnTo>
                <a:lnTo>
                  <a:pt x="13653" y="1667"/>
                </a:lnTo>
                <a:lnTo>
                  <a:pt x="13641" y="1620"/>
                </a:lnTo>
                <a:lnTo>
                  <a:pt x="13632" y="1587"/>
                </a:lnTo>
                <a:lnTo>
                  <a:pt x="13629" y="1574"/>
                </a:lnTo>
                <a:lnTo>
                  <a:pt x="13639" y="1575"/>
                </a:lnTo>
                <a:lnTo>
                  <a:pt x="13664" y="1578"/>
                </a:lnTo>
                <a:lnTo>
                  <a:pt x="13701" y="1581"/>
                </a:lnTo>
                <a:lnTo>
                  <a:pt x="13748" y="1585"/>
                </a:lnTo>
                <a:lnTo>
                  <a:pt x="13798" y="1588"/>
                </a:lnTo>
                <a:lnTo>
                  <a:pt x="13848" y="1591"/>
                </a:lnTo>
                <a:lnTo>
                  <a:pt x="13895" y="1593"/>
                </a:lnTo>
                <a:lnTo>
                  <a:pt x="13935" y="1595"/>
                </a:lnTo>
                <a:lnTo>
                  <a:pt x="13960" y="1593"/>
                </a:lnTo>
                <a:lnTo>
                  <a:pt x="13982" y="1591"/>
                </a:lnTo>
                <a:lnTo>
                  <a:pt x="14003" y="1588"/>
                </a:lnTo>
                <a:lnTo>
                  <a:pt x="14023" y="1583"/>
                </a:lnTo>
                <a:lnTo>
                  <a:pt x="14041" y="1577"/>
                </a:lnTo>
                <a:lnTo>
                  <a:pt x="14058" y="1569"/>
                </a:lnTo>
                <a:lnTo>
                  <a:pt x="14074" y="1560"/>
                </a:lnTo>
                <a:lnTo>
                  <a:pt x="14088" y="1549"/>
                </a:lnTo>
                <a:lnTo>
                  <a:pt x="14100" y="1537"/>
                </a:lnTo>
                <a:lnTo>
                  <a:pt x="14112" y="1525"/>
                </a:lnTo>
                <a:lnTo>
                  <a:pt x="14122" y="1510"/>
                </a:lnTo>
                <a:lnTo>
                  <a:pt x="14129" y="1494"/>
                </a:lnTo>
                <a:lnTo>
                  <a:pt x="14135" y="1476"/>
                </a:lnTo>
                <a:lnTo>
                  <a:pt x="14140" y="1457"/>
                </a:lnTo>
                <a:lnTo>
                  <a:pt x="14143" y="1437"/>
                </a:lnTo>
                <a:lnTo>
                  <a:pt x="14144" y="1415"/>
                </a:lnTo>
                <a:lnTo>
                  <a:pt x="14144" y="1402"/>
                </a:lnTo>
                <a:lnTo>
                  <a:pt x="14144" y="1365"/>
                </a:lnTo>
                <a:lnTo>
                  <a:pt x="14144" y="1312"/>
                </a:lnTo>
                <a:lnTo>
                  <a:pt x="14144" y="1252"/>
                </a:lnTo>
                <a:lnTo>
                  <a:pt x="14144" y="1192"/>
                </a:lnTo>
                <a:lnTo>
                  <a:pt x="14144" y="1140"/>
                </a:lnTo>
                <a:lnTo>
                  <a:pt x="14144" y="1103"/>
                </a:lnTo>
                <a:lnTo>
                  <a:pt x="14144" y="1088"/>
                </a:lnTo>
                <a:lnTo>
                  <a:pt x="14144" y="1083"/>
                </a:lnTo>
                <a:lnTo>
                  <a:pt x="14142" y="1070"/>
                </a:lnTo>
                <a:lnTo>
                  <a:pt x="14141" y="1062"/>
                </a:lnTo>
                <a:lnTo>
                  <a:pt x="14137" y="1053"/>
                </a:lnTo>
                <a:lnTo>
                  <a:pt x="14134" y="1043"/>
                </a:lnTo>
                <a:lnTo>
                  <a:pt x="14129" y="1033"/>
                </a:lnTo>
                <a:lnTo>
                  <a:pt x="14124" y="1022"/>
                </a:lnTo>
                <a:lnTo>
                  <a:pt x="14116" y="1013"/>
                </a:lnTo>
                <a:lnTo>
                  <a:pt x="14107" y="1004"/>
                </a:lnTo>
                <a:lnTo>
                  <a:pt x="14096" y="996"/>
                </a:lnTo>
                <a:lnTo>
                  <a:pt x="14091" y="993"/>
                </a:lnTo>
                <a:lnTo>
                  <a:pt x="14083" y="990"/>
                </a:lnTo>
                <a:lnTo>
                  <a:pt x="14077" y="986"/>
                </a:lnTo>
                <a:lnTo>
                  <a:pt x="14070" y="984"/>
                </a:lnTo>
                <a:lnTo>
                  <a:pt x="14061" y="982"/>
                </a:lnTo>
                <a:lnTo>
                  <a:pt x="14053" y="981"/>
                </a:lnTo>
                <a:lnTo>
                  <a:pt x="14043" y="980"/>
                </a:lnTo>
                <a:lnTo>
                  <a:pt x="14034" y="980"/>
                </a:lnTo>
                <a:lnTo>
                  <a:pt x="13984" y="980"/>
                </a:lnTo>
                <a:lnTo>
                  <a:pt x="13920" y="980"/>
                </a:lnTo>
                <a:lnTo>
                  <a:pt x="13847" y="980"/>
                </a:lnTo>
                <a:lnTo>
                  <a:pt x="13772" y="980"/>
                </a:lnTo>
                <a:lnTo>
                  <a:pt x="13699" y="980"/>
                </a:lnTo>
                <a:lnTo>
                  <a:pt x="13636" y="980"/>
                </a:lnTo>
                <a:lnTo>
                  <a:pt x="13588" y="980"/>
                </a:lnTo>
                <a:lnTo>
                  <a:pt x="13559" y="980"/>
                </a:lnTo>
                <a:lnTo>
                  <a:pt x="13557" y="1018"/>
                </a:lnTo>
                <a:lnTo>
                  <a:pt x="13553" y="1056"/>
                </a:lnTo>
                <a:lnTo>
                  <a:pt x="13549" y="1093"/>
                </a:lnTo>
                <a:lnTo>
                  <a:pt x="13544" y="1129"/>
                </a:lnTo>
                <a:lnTo>
                  <a:pt x="13537" y="1164"/>
                </a:lnTo>
                <a:lnTo>
                  <a:pt x="13530" y="1199"/>
                </a:lnTo>
                <a:lnTo>
                  <a:pt x="13522" y="1233"/>
                </a:lnTo>
                <a:lnTo>
                  <a:pt x="13514" y="1266"/>
                </a:lnTo>
                <a:lnTo>
                  <a:pt x="13504" y="1299"/>
                </a:lnTo>
                <a:lnTo>
                  <a:pt x="13494" y="1331"/>
                </a:lnTo>
                <a:lnTo>
                  <a:pt x="13482" y="1361"/>
                </a:lnTo>
                <a:lnTo>
                  <a:pt x="13470" y="1392"/>
                </a:lnTo>
                <a:lnTo>
                  <a:pt x="13459" y="1422"/>
                </a:lnTo>
                <a:lnTo>
                  <a:pt x="13445" y="1452"/>
                </a:lnTo>
                <a:lnTo>
                  <a:pt x="13431" y="1479"/>
                </a:lnTo>
                <a:lnTo>
                  <a:pt x="13416" y="1507"/>
                </a:lnTo>
                <a:lnTo>
                  <a:pt x="13402" y="1534"/>
                </a:lnTo>
                <a:lnTo>
                  <a:pt x="13386" y="1561"/>
                </a:lnTo>
                <a:lnTo>
                  <a:pt x="13369" y="1586"/>
                </a:lnTo>
                <a:lnTo>
                  <a:pt x="13352" y="1611"/>
                </a:lnTo>
                <a:lnTo>
                  <a:pt x="13334" y="1636"/>
                </a:lnTo>
                <a:lnTo>
                  <a:pt x="13316" y="1660"/>
                </a:lnTo>
                <a:lnTo>
                  <a:pt x="13297" y="1684"/>
                </a:lnTo>
                <a:lnTo>
                  <a:pt x="13277" y="1706"/>
                </a:lnTo>
                <a:lnTo>
                  <a:pt x="13257" y="1728"/>
                </a:lnTo>
                <a:lnTo>
                  <a:pt x="13236" y="1749"/>
                </a:lnTo>
                <a:lnTo>
                  <a:pt x="13215" y="1770"/>
                </a:lnTo>
                <a:lnTo>
                  <a:pt x="13193" y="1791"/>
                </a:lnTo>
                <a:lnTo>
                  <a:pt x="13172" y="1811"/>
                </a:lnTo>
                <a:lnTo>
                  <a:pt x="13149" y="1830"/>
                </a:lnTo>
                <a:lnTo>
                  <a:pt x="13125" y="1849"/>
                </a:lnTo>
                <a:lnTo>
                  <a:pt x="13102" y="1867"/>
                </a:lnTo>
                <a:lnTo>
                  <a:pt x="13096" y="1856"/>
                </a:lnTo>
                <a:lnTo>
                  <a:pt x="13078" y="1827"/>
                </a:lnTo>
                <a:lnTo>
                  <a:pt x="13053" y="1786"/>
                </a:lnTo>
                <a:lnTo>
                  <a:pt x="13025" y="1739"/>
                </a:lnTo>
                <a:lnTo>
                  <a:pt x="12996" y="1692"/>
                </a:lnTo>
                <a:lnTo>
                  <a:pt x="12972" y="1651"/>
                </a:lnTo>
                <a:lnTo>
                  <a:pt x="12955" y="1622"/>
                </a:lnTo>
                <a:lnTo>
                  <a:pt x="12947" y="1611"/>
                </a:lnTo>
                <a:close/>
                <a:moveTo>
                  <a:pt x="12325" y="1930"/>
                </a:moveTo>
                <a:lnTo>
                  <a:pt x="12334" y="1925"/>
                </a:lnTo>
                <a:lnTo>
                  <a:pt x="12358" y="1911"/>
                </a:lnTo>
                <a:lnTo>
                  <a:pt x="12392" y="1891"/>
                </a:lnTo>
                <a:lnTo>
                  <a:pt x="12430" y="1868"/>
                </a:lnTo>
                <a:lnTo>
                  <a:pt x="12469" y="1846"/>
                </a:lnTo>
                <a:lnTo>
                  <a:pt x="12502" y="1826"/>
                </a:lnTo>
                <a:lnTo>
                  <a:pt x="12526" y="1812"/>
                </a:lnTo>
                <a:lnTo>
                  <a:pt x="12535" y="1806"/>
                </a:lnTo>
                <a:lnTo>
                  <a:pt x="12535" y="1778"/>
                </a:lnTo>
                <a:lnTo>
                  <a:pt x="12535" y="1702"/>
                </a:lnTo>
                <a:lnTo>
                  <a:pt x="12535" y="1595"/>
                </a:lnTo>
                <a:lnTo>
                  <a:pt x="12535" y="1472"/>
                </a:lnTo>
                <a:lnTo>
                  <a:pt x="12536" y="1349"/>
                </a:lnTo>
                <a:lnTo>
                  <a:pt x="12536" y="1242"/>
                </a:lnTo>
                <a:lnTo>
                  <a:pt x="12536" y="1166"/>
                </a:lnTo>
                <a:lnTo>
                  <a:pt x="12536" y="1137"/>
                </a:lnTo>
                <a:lnTo>
                  <a:pt x="12526" y="1137"/>
                </a:lnTo>
                <a:lnTo>
                  <a:pt x="12503" y="1137"/>
                </a:lnTo>
                <a:lnTo>
                  <a:pt x="12470" y="1137"/>
                </a:lnTo>
                <a:lnTo>
                  <a:pt x="12432" y="1137"/>
                </a:lnTo>
                <a:lnTo>
                  <a:pt x="12394" y="1137"/>
                </a:lnTo>
                <a:lnTo>
                  <a:pt x="12361" y="1137"/>
                </a:lnTo>
                <a:lnTo>
                  <a:pt x="12338" y="1137"/>
                </a:lnTo>
                <a:lnTo>
                  <a:pt x="12328" y="1137"/>
                </a:lnTo>
                <a:lnTo>
                  <a:pt x="12328" y="1126"/>
                </a:lnTo>
                <a:lnTo>
                  <a:pt x="12328" y="1099"/>
                </a:lnTo>
                <a:lnTo>
                  <a:pt x="12328" y="1061"/>
                </a:lnTo>
                <a:lnTo>
                  <a:pt x="12328" y="1015"/>
                </a:lnTo>
                <a:lnTo>
                  <a:pt x="12328" y="970"/>
                </a:lnTo>
                <a:lnTo>
                  <a:pt x="12328" y="931"/>
                </a:lnTo>
                <a:lnTo>
                  <a:pt x="12328" y="904"/>
                </a:lnTo>
                <a:lnTo>
                  <a:pt x="12328" y="893"/>
                </a:lnTo>
                <a:lnTo>
                  <a:pt x="12343" y="893"/>
                </a:lnTo>
                <a:lnTo>
                  <a:pt x="12382" y="893"/>
                </a:lnTo>
                <a:lnTo>
                  <a:pt x="12438" y="893"/>
                </a:lnTo>
                <a:lnTo>
                  <a:pt x="12502" y="893"/>
                </a:lnTo>
                <a:lnTo>
                  <a:pt x="12566" y="893"/>
                </a:lnTo>
                <a:lnTo>
                  <a:pt x="12623" y="893"/>
                </a:lnTo>
                <a:lnTo>
                  <a:pt x="12667" y="893"/>
                </a:lnTo>
                <a:lnTo>
                  <a:pt x="12686" y="893"/>
                </a:lnTo>
                <a:lnTo>
                  <a:pt x="12701" y="894"/>
                </a:lnTo>
                <a:lnTo>
                  <a:pt x="12721" y="898"/>
                </a:lnTo>
                <a:lnTo>
                  <a:pt x="12734" y="902"/>
                </a:lnTo>
                <a:lnTo>
                  <a:pt x="12746" y="907"/>
                </a:lnTo>
                <a:lnTo>
                  <a:pt x="12759" y="913"/>
                </a:lnTo>
                <a:lnTo>
                  <a:pt x="12772" y="922"/>
                </a:lnTo>
                <a:lnTo>
                  <a:pt x="12784" y="931"/>
                </a:lnTo>
                <a:lnTo>
                  <a:pt x="12796" y="944"/>
                </a:lnTo>
                <a:lnTo>
                  <a:pt x="12801" y="950"/>
                </a:lnTo>
                <a:lnTo>
                  <a:pt x="12808" y="959"/>
                </a:lnTo>
                <a:lnTo>
                  <a:pt x="12812" y="966"/>
                </a:lnTo>
                <a:lnTo>
                  <a:pt x="12817" y="976"/>
                </a:lnTo>
                <a:lnTo>
                  <a:pt x="12821" y="985"/>
                </a:lnTo>
                <a:lnTo>
                  <a:pt x="12825" y="995"/>
                </a:lnTo>
                <a:lnTo>
                  <a:pt x="12829" y="1005"/>
                </a:lnTo>
                <a:lnTo>
                  <a:pt x="12831" y="1017"/>
                </a:lnTo>
                <a:lnTo>
                  <a:pt x="12833" y="1030"/>
                </a:lnTo>
                <a:lnTo>
                  <a:pt x="12835" y="1044"/>
                </a:lnTo>
                <a:lnTo>
                  <a:pt x="12836" y="1057"/>
                </a:lnTo>
                <a:lnTo>
                  <a:pt x="12836" y="1072"/>
                </a:lnTo>
                <a:lnTo>
                  <a:pt x="12836" y="1081"/>
                </a:lnTo>
                <a:lnTo>
                  <a:pt x="12836" y="1104"/>
                </a:lnTo>
                <a:lnTo>
                  <a:pt x="12836" y="1141"/>
                </a:lnTo>
                <a:lnTo>
                  <a:pt x="12836" y="1188"/>
                </a:lnTo>
                <a:lnTo>
                  <a:pt x="12836" y="1244"/>
                </a:lnTo>
                <a:lnTo>
                  <a:pt x="12836" y="1307"/>
                </a:lnTo>
                <a:lnTo>
                  <a:pt x="12836" y="1374"/>
                </a:lnTo>
                <a:lnTo>
                  <a:pt x="12836" y="1443"/>
                </a:lnTo>
                <a:lnTo>
                  <a:pt x="12836" y="1513"/>
                </a:lnTo>
                <a:lnTo>
                  <a:pt x="12836" y="1580"/>
                </a:lnTo>
                <a:lnTo>
                  <a:pt x="12836" y="1642"/>
                </a:lnTo>
                <a:lnTo>
                  <a:pt x="12836" y="1699"/>
                </a:lnTo>
                <a:lnTo>
                  <a:pt x="12836" y="1746"/>
                </a:lnTo>
                <a:lnTo>
                  <a:pt x="12836" y="1783"/>
                </a:lnTo>
                <a:lnTo>
                  <a:pt x="12836" y="1806"/>
                </a:lnTo>
                <a:lnTo>
                  <a:pt x="12836" y="1815"/>
                </a:lnTo>
                <a:lnTo>
                  <a:pt x="12847" y="1827"/>
                </a:lnTo>
                <a:lnTo>
                  <a:pt x="12859" y="1837"/>
                </a:lnTo>
                <a:lnTo>
                  <a:pt x="12870" y="1848"/>
                </a:lnTo>
                <a:lnTo>
                  <a:pt x="12883" y="1858"/>
                </a:lnTo>
                <a:lnTo>
                  <a:pt x="12896" y="1868"/>
                </a:lnTo>
                <a:lnTo>
                  <a:pt x="12908" y="1877"/>
                </a:lnTo>
                <a:lnTo>
                  <a:pt x="12922" y="1886"/>
                </a:lnTo>
                <a:lnTo>
                  <a:pt x="12937" y="1894"/>
                </a:lnTo>
                <a:lnTo>
                  <a:pt x="12951" y="1903"/>
                </a:lnTo>
                <a:lnTo>
                  <a:pt x="12967" y="1910"/>
                </a:lnTo>
                <a:lnTo>
                  <a:pt x="12982" y="1918"/>
                </a:lnTo>
                <a:lnTo>
                  <a:pt x="12998" y="1925"/>
                </a:lnTo>
                <a:lnTo>
                  <a:pt x="13032" y="1938"/>
                </a:lnTo>
                <a:lnTo>
                  <a:pt x="13068" y="1949"/>
                </a:lnTo>
                <a:lnTo>
                  <a:pt x="13105" y="1960"/>
                </a:lnTo>
                <a:lnTo>
                  <a:pt x="13145" y="1969"/>
                </a:lnTo>
                <a:lnTo>
                  <a:pt x="13187" y="1976"/>
                </a:lnTo>
                <a:lnTo>
                  <a:pt x="13231" y="1981"/>
                </a:lnTo>
                <a:lnTo>
                  <a:pt x="13277" y="1985"/>
                </a:lnTo>
                <a:lnTo>
                  <a:pt x="13324" y="1989"/>
                </a:lnTo>
                <a:lnTo>
                  <a:pt x="13374" y="1991"/>
                </a:lnTo>
                <a:lnTo>
                  <a:pt x="13426" y="1992"/>
                </a:lnTo>
                <a:lnTo>
                  <a:pt x="13439" y="1992"/>
                </a:lnTo>
                <a:lnTo>
                  <a:pt x="13474" y="1992"/>
                </a:lnTo>
                <a:lnTo>
                  <a:pt x="13528" y="1992"/>
                </a:lnTo>
                <a:lnTo>
                  <a:pt x="13599" y="1992"/>
                </a:lnTo>
                <a:lnTo>
                  <a:pt x="13682" y="1992"/>
                </a:lnTo>
                <a:lnTo>
                  <a:pt x="13776" y="1992"/>
                </a:lnTo>
                <a:lnTo>
                  <a:pt x="13876" y="1992"/>
                </a:lnTo>
                <a:lnTo>
                  <a:pt x="13980" y="1992"/>
                </a:lnTo>
                <a:lnTo>
                  <a:pt x="14082" y="1992"/>
                </a:lnTo>
                <a:lnTo>
                  <a:pt x="14182" y="1992"/>
                </a:lnTo>
                <a:lnTo>
                  <a:pt x="14276" y="1992"/>
                </a:lnTo>
                <a:lnTo>
                  <a:pt x="14360" y="1992"/>
                </a:lnTo>
                <a:lnTo>
                  <a:pt x="14431" y="1992"/>
                </a:lnTo>
                <a:lnTo>
                  <a:pt x="14485" y="1992"/>
                </a:lnTo>
                <a:lnTo>
                  <a:pt x="14521" y="1992"/>
                </a:lnTo>
                <a:lnTo>
                  <a:pt x="14532" y="1992"/>
                </a:lnTo>
                <a:lnTo>
                  <a:pt x="14529" y="2003"/>
                </a:lnTo>
                <a:lnTo>
                  <a:pt x="14521" y="2034"/>
                </a:lnTo>
                <a:lnTo>
                  <a:pt x="14508" y="2078"/>
                </a:lnTo>
                <a:lnTo>
                  <a:pt x="14494" y="2129"/>
                </a:lnTo>
                <a:lnTo>
                  <a:pt x="14481" y="2178"/>
                </a:lnTo>
                <a:lnTo>
                  <a:pt x="14468" y="2222"/>
                </a:lnTo>
                <a:lnTo>
                  <a:pt x="14459" y="2252"/>
                </a:lnTo>
                <a:lnTo>
                  <a:pt x="14456" y="2264"/>
                </a:lnTo>
                <a:lnTo>
                  <a:pt x="14443" y="2264"/>
                </a:lnTo>
                <a:lnTo>
                  <a:pt x="14411" y="2264"/>
                </a:lnTo>
                <a:lnTo>
                  <a:pt x="14359" y="2264"/>
                </a:lnTo>
                <a:lnTo>
                  <a:pt x="14291" y="2264"/>
                </a:lnTo>
                <a:lnTo>
                  <a:pt x="14211" y="2264"/>
                </a:lnTo>
                <a:lnTo>
                  <a:pt x="14122" y="2264"/>
                </a:lnTo>
                <a:lnTo>
                  <a:pt x="14026" y="2264"/>
                </a:lnTo>
                <a:lnTo>
                  <a:pt x="13928" y="2264"/>
                </a:lnTo>
                <a:lnTo>
                  <a:pt x="13829" y="2264"/>
                </a:lnTo>
                <a:lnTo>
                  <a:pt x="13733" y="2264"/>
                </a:lnTo>
                <a:lnTo>
                  <a:pt x="13644" y="2264"/>
                </a:lnTo>
                <a:lnTo>
                  <a:pt x="13564" y="2264"/>
                </a:lnTo>
                <a:lnTo>
                  <a:pt x="13496" y="2264"/>
                </a:lnTo>
                <a:lnTo>
                  <a:pt x="13443" y="2264"/>
                </a:lnTo>
                <a:lnTo>
                  <a:pt x="13409" y="2264"/>
                </a:lnTo>
                <a:lnTo>
                  <a:pt x="13397" y="2264"/>
                </a:lnTo>
                <a:lnTo>
                  <a:pt x="13337" y="2261"/>
                </a:lnTo>
                <a:lnTo>
                  <a:pt x="13280" y="2256"/>
                </a:lnTo>
                <a:lnTo>
                  <a:pt x="13224" y="2250"/>
                </a:lnTo>
                <a:lnTo>
                  <a:pt x="13171" y="2244"/>
                </a:lnTo>
                <a:lnTo>
                  <a:pt x="13120" y="2237"/>
                </a:lnTo>
                <a:lnTo>
                  <a:pt x="13070" y="2228"/>
                </a:lnTo>
                <a:lnTo>
                  <a:pt x="13024" y="2219"/>
                </a:lnTo>
                <a:lnTo>
                  <a:pt x="12979" y="2208"/>
                </a:lnTo>
                <a:lnTo>
                  <a:pt x="12937" y="2196"/>
                </a:lnTo>
                <a:lnTo>
                  <a:pt x="12897" y="2183"/>
                </a:lnTo>
                <a:lnTo>
                  <a:pt x="12877" y="2175"/>
                </a:lnTo>
                <a:lnTo>
                  <a:pt x="12859" y="2168"/>
                </a:lnTo>
                <a:lnTo>
                  <a:pt x="12839" y="2159"/>
                </a:lnTo>
                <a:lnTo>
                  <a:pt x="12823" y="2151"/>
                </a:lnTo>
                <a:lnTo>
                  <a:pt x="12805" y="2142"/>
                </a:lnTo>
                <a:lnTo>
                  <a:pt x="12789" y="2133"/>
                </a:lnTo>
                <a:lnTo>
                  <a:pt x="12772" y="2123"/>
                </a:lnTo>
                <a:lnTo>
                  <a:pt x="12757" y="2113"/>
                </a:lnTo>
                <a:lnTo>
                  <a:pt x="12741" y="2102"/>
                </a:lnTo>
                <a:lnTo>
                  <a:pt x="12727" y="2091"/>
                </a:lnTo>
                <a:lnTo>
                  <a:pt x="12713" y="2080"/>
                </a:lnTo>
                <a:lnTo>
                  <a:pt x="12700" y="2067"/>
                </a:lnTo>
                <a:lnTo>
                  <a:pt x="12684" y="2077"/>
                </a:lnTo>
                <a:lnTo>
                  <a:pt x="12641" y="2102"/>
                </a:lnTo>
                <a:lnTo>
                  <a:pt x="12581" y="2137"/>
                </a:lnTo>
                <a:lnTo>
                  <a:pt x="12512" y="2176"/>
                </a:lnTo>
                <a:lnTo>
                  <a:pt x="12443" y="2216"/>
                </a:lnTo>
                <a:lnTo>
                  <a:pt x="12384" y="2251"/>
                </a:lnTo>
                <a:lnTo>
                  <a:pt x="12342" y="2276"/>
                </a:lnTo>
                <a:lnTo>
                  <a:pt x="12326" y="2285"/>
                </a:lnTo>
                <a:lnTo>
                  <a:pt x="12326" y="2269"/>
                </a:lnTo>
                <a:lnTo>
                  <a:pt x="12326" y="2229"/>
                </a:lnTo>
                <a:lnTo>
                  <a:pt x="12325" y="2173"/>
                </a:lnTo>
                <a:lnTo>
                  <a:pt x="12325" y="2107"/>
                </a:lnTo>
                <a:lnTo>
                  <a:pt x="12325" y="2043"/>
                </a:lnTo>
                <a:lnTo>
                  <a:pt x="12325" y="1985"/>
                </a:lnTo>
                <a:lnTo>
                  <a:pt x="12325" y="1945"/>
                </a:lnTo>
                <a:lnTo>
                  <a:pt x="12325" y="1930"/>
                </a:lnTo>
                <a:close/>
                <a:moveTo>
                  <a:pt x="12337" y="299"/>
                </a:moveTo>
                <a:lnTo>
                  <a:pt x="12335" y="296"/>
                </a:lnTo>
                <a:lnTo>
                  <a:pt x="12335" y="288"/>
                </a:lnTo>
                <a:lnTo>
                  <a:pt x="12335" y="284"/>
                </a:lnTo>
                <a:lnTo>
                  <a:pt x="12337" y="280"/>
                </a:lnTo>
                <a:lnTo>
                  <a:pt x="12339" y="275"/>
                </a:lnTo>
                <a:lnTo>
                  <a:pt x="12343" y="271"/>
                </a:lnTo>
                <a:lnTo>
                  <a:pt x="12347" y="268"/>
                </a:lnTo>
                <a:lnTo>
                  <a:pt x="12353" y="265"/>
                </a:lnTo>
                <a:lnTo>
                  <a:pt x="12362" y="263"/>
                </a:lnTo>
                <a:lnTo>
                  <a:pt x="12371" y="263"/>
                </a:lnTo>
                <a:lnTo>
                  <a:pt x="12388" y="263"/>
                </a:lnTo>
                <a:lnTo>
                  <a:pt x="12414" y="263"/>
                </a:lnTo>
                <a:lnTo>
                  <a:pt x="12446" y="263"/>
                </a:lnTo>
                <a:lnTo>
                  <a:pt x="12482" y="263"/>
                </a:lnTo>
                <a:lnTo>
                  <a:pt x="12519" y="263"/>
                </a:lnTo>
                <a:lnTo>
                  <a:pt x="12556" y="263"/>
                </a:lnTo>
                <a:lnTo>
                  <a:pt x="12590" y="263"/>
                </a:lnTo>
                <a:lnTo>
                  <a:pt x="12617" y="263"/>
                </a:lnTo>
                <a:lnTo>
                  <a:pt x="12625" y="263"/>
                </a:lnTo>
                <a:lnTo>
                  <a:pt x="12631" y="264"/>
                </a:lnTo>
                <a:lnTo>
                  <a:pt x="12637" y="266"/>
                </a:lnTo>
                <a:lnTo>
                  <a:pt x="12643" y="268"/>
                </a:lnTo>
                <a:lnTo>
                  <a:pt x="12652" y="274"/>
                </a:lnTo>
                <a:lnTo>
                  <a:pt x="12659" y="281"/>
                </a:lnTo>
                <a:lnTo>
                  <a:pt x="12669" y="293"/>
                </a:lnTo>
                <a:lnTo>
                  <a:pt x="12672" y="300"/>
                </a:lnTo>
                <a:lnTo>
                  <a:pt x="12679" y="317"/>
                </a:lnTo>
                <a:lnTo>
                  <a:pt x="12695" y="362"/>
                </a:lnTo>
                <a:lnTo>
                  <a:pt x="12720" y="427"/>
                </a:lnTo>
                <a:lnTo>
                  <a:pt x="12748" y="500"/>
                </a:lnTo>
                <a:lnTo>
                  <a:pt x="12777" y="574"/>
                </a:lnTo>
                <a:lnTo>
                  <a:pt x="12801" y="638"/>
                </a:lnTo>
                <a:lnTo>
                  <a:pt x="12818" y="683"/>
                </a:lnTo>
                <a:lnTo>
                  <a:pt x="12825" y="700"/>
                </a:lnTo>
                <a:lnTo>
                  <a:pt x="12827" y="706"/>
                </a:lnTo>
                <a:lnTo>
                  <a:pt x="12828" y="716"/>
                </a:lnTo>
                <a:lnTo>
                  <a:pt x="12828" y="722"/>
                </a:lnTo>
                <a:lnTo>
                  <a:pt x="12827" y="726"/>
                </a:lnTo>
                <a:lnTo>
                  <a:pt x="12825" y="731"/>
                </a:lnTo>
                <a:lnTo>
                  <a:pt x="12820" y="735"/>
                </a:lnTo>
                <a:lnTo>
                  <a:pt x="12815" y="740"/>
                </a:lnTo>
                <a:lnTo>
                  <a:pt x="12809" y="742"/>
                </a:lnTo>
                <a:lnTo>
                  <a:pt x="12800" y="744"/>
                </a:lnTo>
                <a:lnTo>
                  <a:pt x="12791" y="745"/>
                </a:lnTo>
                <a:lnTo>
                  <a:pt x="12770" y="745"/>
                </a:lnTo>
                <a:lnTo>
                  <a:pt x="12737" y="745"/>
                </a:lnTo>
                <a:lnTo>
                  <a:pt x="12695" y="745"/>
                </a:lnTo>
                <a:lnTo>
                  <a:pt x="12652" y="745"/>
                </a:lnTo>
                <a:lnTo>
                  <a:pt x="12610" y="745"/>
                </a:lnTo>
                <a:lnTo>
                  <a:pt x="12574" y="745"/>
                </a:lnTo>
                <a:lnTo>
                  <a:pt x="12548" y="745"/>
                </a:lnTo>
                <a:lnTo>
                  <a:pt x="12539" y="745"/>
                </a:lnTo>
                <a:lnTo>
                  <a:pt x="12533" y="744"/>
                </a:lnTo>
                <a:lnTo>
                  <a:pt x="12527" y="743"/>
                </a:lnTo>
                <a:lnTo>
                  <a:pt x="12521" y="741"/>
                </a:lnTo>
                <a:lnTo>
                  <a:pt x="12514" y="737"/>
                </a:lnTo>
                <a:lnTo>
                  <a:pt x="12509" y="734"/>
                </a:lnTo>
                <a:lnTo>
                  <a:pt x="12504" y="729"/>
                </a:lnTo>
                <a:lnTo>
                  <a:pt x="12500" y="724"/>
                </a:lnTo>
                <a:lnTo>
                  <a:pt x="12496" y="717"/>
                </a:lnTo>
                <a:lnTo>
                  <a:pt x="12489" y="698"/>
                </a:lnTo>
                <a:lnTo>
                  <a:pt x="12471" y="651"/>
                </a:lnTo>
                <a:lnTo>
                  <a:pt x="12445" y="584"/>
                </a:lnTo>
                <a:lnTo>
                  <a:pt x="12416" y="506"/>
                </a:lnTo>
                <a:lnTo>
                  <a:pt x="12387" y="430"/>
                </a:lnTo>
                <a:lnTo>
                  <a:pt x="12362" y="363"/>
                </a:lnTo>
                <a:lnTo>
                  <a:pt x="12344" y="317"/>
                </a:lnTo>
                <a:lnTo>
                  <a:pt x="12337" y="299"/>
                </a:lnTo>
                <a:close/>
                <a:moveTo>
                  <a:pt x="15547" y="784"/>
                </a:moveTo>
                <a:lnTo>
                  <a:pt x="15547" y="762"/>
                </a:lnTo>
                <a:lnTo>
                  <a:pt x="15547" y="702"/>
                </a:lnTo>
                <a:lnTo>
                  <a:pt x="15547" y="619"/>
                </a:lnTo>
                <a:lnTo>
                  <a:pt x="15547" y="523"/>
                </a:lnTo>
                <a:lnTo>
                  <a:pt x="15547" y="428"/>
                </a:lnTo>
                <a:lnTo>
                  <a:pt x="15547" y="344"/>
                </a:lnTo>
                <a:lnTo>
                  <a:pt x="15547" y="285"/>
                </a:lnTo>
                <a:lnTo>
                  <a:pt x="15547" y="263"/>
                </a:lnTo>
                <a:lnTo>
                  <a:pt x="15559" y="263"/>
                </a:lnTo>
                <a:lnTo>
                  <a:pt x="15594" y="263"/>
                </a:lnTo>
                <a:lnTo>
                  <a:pt x="15642" y="263"/>
                </a:lnTo>
                <a:lnTo>
                  <a:pt x="15698" y="263"/>
                </a:lnTo>
                <a:lnTo>
                  <a:pt x="15754" y="263"/>
                </a:lnTo>
                <a:lnTo>
                  <a:pt x="15802" y="263"/>
                </a:lnTo>
                <a:lnTo>
                  <a:pt x="15837" y="263"/>
                </a:lnTo>
                <a:lnTo>
                  <a:pt x="15849" y="263"/>
                </a:lnTo>
                <a:lnTo>
                  <a:pt x="15849" y="274"/>
                </a:lnTo>
                <a:lnTo>
                  <a:pt x="15849" y="306"/>
                </a:lnTo>
                <a:lnTo>
                  <a:pt x="15849" y="352"/>
                </a:lnTo>
                <a:lnTo>
                  <a:pt x="15849" y="403"/>
                </a:lnTo>
                <a:lnTo>
                  <a:pt x="15849" y="455"/>
                </a:lnTo>
                <a:lnTo>
                  <a:pt x="15849" y="499"/>
                </a:lnTo>
                <a:lnTo>
                  <a:pt x="15849" y="531"/>
                </a:lnTo>
                <a:lnTo>
                  <a:pt x="15849" y="542"/>
                </a:lnTo>
                <a:lnTo>
                  <a:pt x="15860" y="542"/>
                </a:lnTo>
                <a:lnTo>
                  <a:pt x="15887" y="542"/>
                </a:lnTo>
                <a:lnTo>
                  <a:pt x="15924" y="542"/>
                </a:lnTo>
                <a:lnTo>
                  <a:pt x="15967" y="542"/>
                </a:lnTo>
                <a:lnTo>
                  <a:pt x="16009" y="542"/>
                </a:lnTo>
                <a:lnTo>
                  <a:pt x="16046" y="542"/>
                </a:lnTo>
                <a:lnTo>
                  <a:pt x="16073" y="542"/>
                </a:lnTo>
                <a:lnTo>
                  <a:pt x="16083" y="542"/>
                </a:lnTo>
                <a:lnTo>
                  <a:pt x="16083" y="526"/>
                </a:lnTo>
                <a:lnTo>
                  <a:pt x="16083" y="481"/>
                </a:lnTo>
                <a:lnTo>
                  <a:pt x="16083" y="416"/>
                </a:lnTo>
                <a:lnTo>
                  <a:pt x="16083" y="343"/>
                </a:lnTo>
                <a:lnTo>
                  <a:pt x="16083" y="270"/>
                </a:lnTo>
                <a:lnTo>
                  <a:pt x="16083" y="207"/>
                </a:lnTo>
                <a:lnTo>
                  <a:pt x="16083" y="161"/>
                </a:lnTo>
                <a:lnTo>
                  <a:pt x="16083" y="144"/>
                </a:lnTo>
                <a:lnTo>
                  <a:pt x="16096" y="144"/>
                </a:lnTo>
                <a:lnTo>
                  <a:pt x="16130" y="144"/>
                </a:lnTo>
                <a:lnTo>
                  <a:pt x="16179" y="144"/>
                </a:lnTo>
                <a:lnTo>
                  <a:pt x="16234" y="144"/>
                </a:lnTo>
                <a:lnTo>
                  <a:pt x="16289" y="144"/>
                </a:lnTo>
                <a:lnTo>
                  <a:pt x="16338" y="144"/>
                </a:lnTo>
                <a:lnTo>
                  <a:pt x="16371" y="144"/>
                </a:lnTo>
                <a:lnTo>
                  <a:pt x="16384" y="144"/>
                </a:lnTo>
                <a:lnTo>
                  <a:pt x="16384" y="161"/>
                </a:lnTo>
                <a:lnTo>
                  <a:pt x="16384" y="207"/>
                </a:lnTo>
                <a:lnTo>
                  <a:pt x="16384" y="270"/>
                </a:lnTo>
                <a:lnTo>
                  <a:pt x="16384" y="343"/>
                </a:lnTo>
                <a:lnTo>
                  <a:pt x="16384" y="416"/>
                </a:lnTo>
                <a:lnTo>
                  <a:pt x="16384" y="481"/>
                </a:lnTo>
                <a:lnTo>
                  <a:pt x="16384" y="526"/>
                </a:lnTo>
                <a:lnTo>
                  <a:pt x="16384" y="542"/>
                </a:lnTo>
                <a:lnTo>
                  <a:pt x="16392" y="542"/>
                </a:lnTo>
                <a:lnTo>
                  <a:pt x="16412" y="542"/>
                </a:lnTo>
                <a:lnTo>
                  <a:pt x="16439" y="542"/>
                </a:lnTo>
                <a:lnTo>
                  <a:pt x="16471" y="542"/>
                </a:lnTo>
                <a:lnTo>
                  <a:pt x="16503" y="542"/>
                </a:lnTo>
                <a:lnTo>
                  <a:pt x="16531" y="542"/>
                </a:lnTo>
                <a:lnTo>
                  <a:pt x="16550" y="542"/>
                </a:lnTo>
                <a:lnTo>
                  <a:pt x="16558" y="542"/>
                </a:lnTo>
                <a:lnTo>
                  <a:pt x="16567" y="542"/>
                </a:lnTo>
                <a:lnTo>
                  <a:pt x="16585" y="539"/>
                </a:lnTo>
                <a:lnTo>
                  <a:pt x="16596" y="536"/>
                </a:lnTo>
                <a:lnTo>
                  <a:pt x="16605" y="532"/>
                </a:lnTo>
                <a:lnTo>
                  <a:pt x="16611" y="530"/>
                </a:lnTo>
                <a:lnTo>
                  <a:pt x="16615" y="527"/>
                </a:lnTo>
                <a:lnTo>
                  <a:pt x="16619" y="522"/>
                </a:lnTo>
                <a:lnTo>
                  <a:pt x="16622" y="519"/>
                </a:lnTo>
                <a:lnTo>
                  <a:pt x="16627" y="513"/>
                </a:lnTo>
                <a:lnTo>
                  <a:pt x="16631" y="506"/>
                </a:lnTo>
                <a:lnTo>
                  <a:pt x="16633" y="500"/>
                </a:lnTo>
                <a:lnTo>
                  <a:pt x="16635" y="494"/>
                </a:lnTo>
                <a:lnTo>
                  <a:pt x="16637" y="482"/>
                </a:lnTo>
                <a:lnTo>
                  <a:pt x="16637" y="471"/>
                </a:lnTo>
                <a:lnTo>
                  <a:pt x="16638" y="463"/>
                </a:lnTo>
                <a:lnTo>
                  <a:pt x="16638" y="439"/>
                </a:lnTo>
                <a:lnTo>
                  <a:pt x="16638" y="406"/>
                </a:lnTo>
                <a:lnTo>
                  <a:pt x="16638" y="367"/>
                </a:lnTo>
                <a:lnTo>
                  <a:pt x="16638" y="328"/>
                </a:lnTo>
                <a:lnTo>
                  <a:pt x="16638" y="296"/>
                </a:lnTo>
                <a:lnTo>
                  <a:pt x="16638" y="271"/>
                </a:lnTo>
                <a:lnTo>
                  <a:pt x="16638" y="263"/>
                </a:lnTo>
                <a:lnTo>
                  <a:pt x="16651" y="263"/>
                </a:lnTo>
                <a:lnTo>
                  <a:pt x="16685" y="263"/>
                </a:lnTo>
                <a:lnTo>
                  <a:pt x="16734" y="263"/>
                </a:lnTo>
                <a:lnTo>
                  <a:pt x="16789" y="263"/>
                </a:lnTo>
                <a:lnTo>
                  <a:pt x="16845" y="263"/>
                </a:lnTo>
                <a:lnTo>
                  <a:pt x="16892" y="263"/>
                </a:lnTo>
                <a:lnTo>
                  <a:pt x="16927" y="263"/>
                </a:lnTo>
                <a:lnTo>
                  <a:pt x="16940" y="263"/>
                </a:lnTo>
                <a:lnTo>
                  <a:pt x="16940" y="275"/>
                </a:lnTo>
                <a:lnTo>
                  <a:pt x="16940" y="310"/>
                </a:lnTo>
                <a:lnTo>
                  <a:pt x="16940" y="359"/>
                </a:lnTo>
                <a:lnTo>
                  <a:pt x="16940" y="415"/>
                </a:lnTo>
                <a:lnTo>
                  <a:pt x="16940" y="471"/>
                </a:lnTo>
                <a:lnTo>
                  <a:pt x="16940" y="520"/>
                </a:lnTo>
                <a:lnTo>
                  <a:pt x="16940" y="554"/>
                </a:lnTo>
                <a:lnTo>
                  <a:pt x="16940" y="568"/>
                </a:lnTo>
                <a:lnTo>
                  <a:pt x="16940" y="571"/>
                </a:lnTo>
                <a:lnTo>
                  <a:pt x="16939" y="583"/>
                </a:lnTo>
                <a:lnTo>
                  <a:pt x="16940" y="587"/>
                </a:lnTo>
                <a:lnTo>
                  <a:pt x="16939" y="598"/>
                </a:lnTo>
                <a:lnTo>
                  <a:pt x="16938" y="615"/>
                </a:lnTo>
                <a:lnTo>
                  <a:pt x="16935" y="636"/>
                </a:lnTo>
                <a:lnTo>
                  <a:pt x="16933" y="646"/>
                </a:lnTo>
                <a:lnTo>
                  <a:pt x="16929" y="659"/>
                </a:lnTo>
                <a:lnTo>
                  <a:pt x="16925" y="671"/>
                </a:lnTo>
                <a:lnTo>
                  <a:pt x="16921" y="682"/>
                </a:lnTo>
                <a:lnTo>
                  <a:pt x="16915" y="695"/>
                </a:lnTo>
                <a:lnTo>
                  <a:pt x="16908" y="707"/>
                </a:lnTo>
                <a:lnTo>
                  <a:pt x="16900" y="717"/>
                </a:lnTo>
                <a:lnTo>
                  <a:pt x="16890" y="728"/>
                </a:lnTo>
                <a:lnTo>
                  <a:pt x="16888" y="730"/>
                </a:lnTo>
                <a:lnTo>
                  <a:pt x="16883" y="736"/>
                </a:lnTo>
                <a:lnTo>
                  <a:pt x="16871" y="746"/>
                </a:lnTo>
                <a:lnTo>
                  <a:pt x="16855" y="755"/>
                </a:lnTo>
                <a:lnTo>
                  <a:pt x="16846" y="761"/>
                </a:lnTo>
                <a:lnTo>
                  <a:pt x="16834" y="766"/>
                </a:lnTo>
                <a:lnTo>
                  <a:pt x="16821" y="771"/>
                </a:lnTo>
                <a:lnTo>
                  <a:pt x="16808" y="776"/>
                </a:lnTo>
                <a:lnTo>
                  <a:pt x="16792" y="779"/>
                </a:lnTo>
                <a:lnTo>
                  <a:pt x="16775" y="782"/>
                </a:lnTo>
                <a:lnTo>
                  <a:pt x="16757" y="783"/>
                </a:lnTo>
                <a:lnTo>
                  <a:pt x="16736" y="784"/>
                </a:lnTo>
                <a:lnTo>
                  <a:pt x="16721" y="784"/>
                </a:lnTo>
                <a:lnTo>
                  <a:pt x="16683" y="784"/>
                </a:lnTo>
                <a:lnTo>
                  <a:pt x="16622" y="784"/>
                </a:lnTo>
                <a:lnTo>
                  <a:pt x="16546" y="784"/>
                </a:lnTo>
                <a:lnTo>
                  <a:pt x="16456" y="784"/>
                </a:lnTo>
                <a:lnTo>
                  <a:pt x="16356" y="784"/>
                </a:lnTo>
                <a:lnTo>
                  <a:pt x="16249" y="784"/>
                </a:lnTo>
                <a:lnTo>
                  <a:pt x="16137" y="784"/>
                </a:lnTo>
                <a:lnTo>
                  <a:pt x="16027" y="784"/>
                </a:lnTo>
                <a:lnTo>
                  <a:pt x="15920" y="784"/>
                </a:lnTo>
                <a:lnTo>
                  <a:pt x="15821" y="784"/>
                </a:lnTo>
                <a:lnTo>
                  <a:pt x="15731" y="784"/>
                </a:lnTo>
                <a:lnTo>
                  <a:pt x="15656" y="784"/>
                </a:lnTo>
                <a:lnTo>
                  <a:pt x="15598" y="784"/>
                </a:lnTo>
                <a:lnTo>
                  <a:pt x="15559" y="784"/>
                </a:lnTo>
                <a:lnTo>
                  <a:pt x="15547" y="784"/>
                </a:lnTo>
                <a:close/>
                <a:moveTo>
                  <a:pt x="15547" y="2264"/>
                </a:moveTo>
                <a:lnTo>
                  <a:pt x="15547" y="2254"/>
                </a:lnTo>
                <a:lnTo>
                  <a:pt x="15547" y="2223"/>
                </a:lnTo>
                <a:lnTo>
                  <a:pt x="15547" y="2174"/>
                </a:lnTo>
                <a:lnTo>
                  <a:pt x="15547" y="2112"/>
                </a:lnTo>
                <a:lnTo>
                  <a:pt x="15547" y="2038"/>
                </a:lnTo>
                <a:lnTo>
                  <a:pt x="15547" y="1956"/>
                </a:lnTo>
                <a:lnTo>
                  <a:pt x="15547" y="1867"/>
                </a:lnTo>
                <a:lnTo>
                  <a:pt x="15547" y="1777"/>
                </a:lnTo>
                <a:lnTo>
                  <a:pt x="15547" y="1686"/>
                </a:lnTo>
                <a:lnTo>
                  <a:pt x="15547" y="1597"/>
                </a:lnTo>
                <a:lnTo>
                  <a:pt x="15547" y="1515"/>
                </a:lnTo>
                <a:lnTo>
                  <a:pt x="15547" y="1441"/>
                </a:lnTo>
                <a:lnTo>
                  <a:pt x="15547" y="1378"/>
                </a:lnTo>
                <a:lnTo>
                  <a:pt x="15547" y="1331"/>
                </a:lnTo>
                <a:lnTo>
                  <a:pt x="15547" y="1299"/>
                </a:lnTo>
                <a:lnTo>
                  <a:pt x="15547" y="1288"/>
                </a:lnTo>
                <a:lnTo>
                  <a:pt x="15568" y="1288"/>
                </a:lnTo>
                <a:lnTo>
                  <a:pt x="15623" y="1288"/>
                </a:lnTo>
                <a:lnTo>
                  <a:pt x="15702" y="1288"/>
                </a:lnTo>
                <a:lnTo>
                  <a:pt x="15792" y="1288"/>
                </a:lnTo>
                <a:lnTo>
                  <a:pt x="15883" y="1288"/>
                </a:lnTo>
                <a:lnTo>
                  <a:pt x="15962" y="1288"/>
                </a:lnTo>
                <a:lnTo>
                  <a:pt x="16018" y="1288"/>
                </a:lnTo>
                <a:lnTo>
                  <a:pt x="16039" y="1288"/>
                </a:lnTo>
                <a:lnTo>
                  <a:pt x="16045" y="1265"/>
                </a:lnTo>
                <a:lnTo>
                  <a:pt x="16059" y="1213"/>
                </a:lnTo>
                <a:lnTo>
                  <a:pt x="16074" y="1161"/>
                </a:lnTo>
                <a:lnTo>
                  <a:pt x="16080" y="1137"/>
                </a:lnTo>
                <a:lnTo>
                  <a:pt x="16057" y="1137"/>
                </a:lnTo>
                <a:lnTo>
                  <a:pt x="15996" y="1137"/>
                </a:lnTo>
                <a:lnTo>
                  <a:pt x="15909" y="1137"/>
                </a:lnTo>
                <a:lnTo>
                  <a:pt x="15809" y="1137"/>
                </a:lnTo>
                <a:lnTo>
                  <a:pt x="15709" y="1137"/>
                </a:lnTo>
                <a:lnTo>
                  <a:pt x="15622" y="1137"/>
                </a:lnTo>
                <a:lnTo>
                  <a:pt x="15560" y="1137"/>
                </a:lnTo>
                <a:lnTo>
                  <a:pt x="15537" y="1137"/>
                </a:lnTo>
                <a:lnTo>
                  <a:pt x="15540" y="1126"/>
                </a:lnTo>
                <a:lnTo>
                  <a:pt x="15548" y="1099"/>
                </a:lnTo>
                <a:lnTo>
                  <a:pt x="15558" y="1061"/>
                </a:lnTo>
                <a:lnTo>
                  <a:pt x="15570" y="1015"/>
                </a:lnTo>
                <a:lnTo>
                  <a:pt x="15583" y="970"/>
                </a:lnTo>
                <a:lnTo>
                  <a:pt x="15593" y="932"/>
                </a:lnTo>
                <a:lnTo>
                  <a:pt x="15601" y="905"/>
                </a:lnTo>
                <a:lnTo>
                  <a:pt x="15604" y="894"/>
                </a:lnTo>
                <a:lnTo>
                  <a:pt x="15619" y="894"/>
                </a:lnTo>
                <a:lnTo>
                  <a:pt x="15661" y="894"/>
                </a:lnTo>
                <a:lnTo>
                  <a:pt x="15727" y="894"/>
                </a:lnTo>
                <a:lnTo>
                  <a:pt x="15812" y="894"/>
                </a:lnTo>
                <a:lnTo>
                  <a:pt x="15913" y="894"/>
                </a:lnTo>
                <a:lnTo>
                  <a:pt x="16026" y="894"/>
                </a:lnTo>
                <a:lnTo>
                  <a:pt x="16147" y="894"/>
                </a:lnTo>
                <a:lnTo>
                  <a:pt x="16272" y="894"/>
                </a:lnTo>
                <a:lnTo>
                  <a:pt x="16397" y="894"/>
                </a:lnTo>
                <a:lnTo>
                  <a:pt x="16518" y="894"/>
                </a:lnTo>
                <a:lnTo>
                  <a:pt x="16630" y="894"/>
                </a:lnTo>
                <a:lnTo>
                  <a:pt x="16731" y="894"/>
                </a:lnTo>
                <a:lnTo>
                  <a:pt x="16816" y="894"/>
                </a:lnTo>
                <a:lnTo>
                  <a:pt x="16883" y="894"/>
                </a:lnTo>
                <a:lnTo>
                  <a:pt x="16925" y="894"/>
                </a:lnTo>
                <a:lnTo>
                  <a:pt x="16940" y="894"/>
                </a:lnTo>
                <a:lnTo>
                  <a:pt x="16940" y="905"/>
                </a:lnTo>
                <a:lnTo>
                  <a:pt x="16940" y="932"/>
                </a:lnTo>
                <a:lnTo>
                  <a:pt x="16940" y="970"/>
                </a:lnTo>
                <a:lnTo>
                  <a:pt x="16940" y="1015"/>
                </a:lnTo>
                <a:lnTo>
                  <a:pt x="16940" y="1061"/>
                </a:lnTo>
                <a:lnTo>
                  <a:pt x="16940" y="1099"/>
                </a:lnTo>
                <a:lnTo>
                  <a:pt x="16940" y="1126"/>
                </a:lnTo>
                <a:lnTo>
                  <a:pt x="16940" y="1137"/>
                </a:lnTo>
                <a:lnTo>
                  <a:pt x="16916" y="1137"/>
                </a:lnTo>
                <a:lnTo>
                  <a:pt x="16853" y="1137"/>
                </a:lnTo>
                <a:lnTo>
                  <a:pt x="16764" y="1137"/>
                </a:lnTo>
                <a:lnTo>
                  <a:pt x="16663" y="1137"/>
                </a:lnTo>
                <a:lnTo>
                  <a:pt x="16560" y="1137"/>
                </a:lnTo>
                <a:lnTo>
                  <a:pt x="16471" y="1137"/>
                </a:lnTo>
                <a:lnTo>
                  <a:pt x="16409" y="1137"/>
                </a:lnTo>
                <a:lnTo>
                  <a:pt x="16385" y="1137"/>
                </a:lnTo>
                <a:lnTo>
                  <a:pt x="16378" y="1161"/>
                </a:lnTo>
                <a:lnTo>
                  <a:pt x="16363" y="1213"/>
                </a:lnTo>
                <a:lnTo>
                  <a:pt x="16348" y="1265"/>
                </a:lnTo>
                <a:lnTo>
                  <a:pt x="16342" y="1288"/>
                </a:lnTo>
                <a:lnTo>
                  <a:pt x="16362" y="1288"/>
                </a:lnTo>
                <a:lnTo>
                  <a:pt x="16395" y="1288"/>
                </a:lnTo>
                <a:lnTo>
                  <a:pt x="16438" y="1288"/>
                </a:lnTo>
                <a:lnTo>
                  <a:pt x="16489" y="1288"/>
                </a:lnTo>
                <a:lnTo>
                  <a:pt x="16547" y="1288"/>
                </a:lnTo>
                <a:lnTo>
                  <a:pt x="16609" y="1288"/>
                </a:lnTo>
                <a:lnTo>
                  <a:pt x="16673" y="1288"/>
                </a:lnTo>
                <a:lnTo>
                  <a:pt x="16738" y="1288"/>
                </a:lnTo>
                <a:lnTo>
                  <a:pt x="16755" y="1288"/>
                </a:lnTo>
                <a:lnTo>
                  <a:pt x="16772" y="1290"/>
                </a:lnTo>
                <a:lnTo>
                  <a:pt x="16786" y="1293"/>
                </a:lnTo>
                <a:lnTo>
                  <a:pt x="16800" y="1295"/>
                </a:lnTo>
                <a:lnTo>
                  <a:pt x="16814" y="1299"/>
                </a:lnTo>
                <a:lnTo>
                  <a:pt x="16827" y="1303"/>
                </a:lnTo>
                <a:lnTo>
                  <a:pt x="16838" y="1307"/>
                </a:lnTo>
                <a:lnTo>
                  <a:pt x="16849" y="1313"/>
                </a:lnTo>
                <a:lnTo>
                  <a:pt x="16860" y="1319"/>
                </a:lnTo>
                <a:lnTo>
                  <a:pt x="16869" y="1325"/>
                </a:lnTo>
                <a:lnTo>
                  <a:pt x="16878" y="1332"/>
                </a:lnTo>
                <a:lnTo>
                  <a:pt x="16885" y="1339"/>
                </a:lnTo>
                <a:lnTo>
                  <a:pt x="16892" y="1347"/>
                </a:lnTo>
                <a:lnTo>
                  <a:pt x="16899" y="1354"/>
                </a:lnTo>
                <a:lnTo>
                  <a:pt x="16905" y="1361"/>
                </a:lnTo>
                <a:lnTo>
                  <a:pt x="16910" y="1369"/>
                </a:lnTo>
                <a:lnTo>
                  <a:pt x="16919" y="1385"/>
                </a:lnTo>
                <a:lnTo>
                  <a:pt x="16926" y="1401"/>
                </a:lnTo>
                <a:lnTo>
                  <a:pt x="16932" y="1414"/>
                </a:lnTo>
                <a:lnTo>
                  <a:pt x="16935" y="1428"/>
                </a:lnTo>
                <a:lnTo>
                  <a:pt x="16939" y="1452"/>
                </a:lnTo>
                <a:lnTo>
                  <a:pt x="16940" y="1464"/>
                </a:lnTo>
                <a:lnTo>
                  <a:pt x="16940" y="1491"/>
                </a:lnTo>
                <a:lnTo>
                  <a:pt x="16940" y="1560"/>
                </a:lnTo>
                <a:lnTo>
                  <a:pt x="16940" y="1656"/>
                </a:lnTo>
                <a:lnTo>
                  <a:pt x="16940" y="1768"/>
                </a:lnTo>
                <a:lnTo>
                  <a:pt x="16940" y="1880"/>
                </a:lnTo>
                <a:lnTo>
                  <a:pt x="16940" y="1977"/>
                </a:lnTo>
                <a:lnTo>
                  <a:pt x="16940" y="2046"/>
                </a:lnTo>
                <a:lnTo>
                  <a:pt x="16940" y="2072"/>
                </a:lnTo>
                <a:lnTo>
                  <a:pt x="16939" y="2096"/>
                </a:lnTo>
                <a:lnTo>
                  <a:pt x="16937" y="2117"/>
                </a:lnTo>
                <a:lnTo>
                  <a:pt x="16933" y="2137"/>
                </a:lnTo>
                <a:lnTo>
                  <a:pt x="16926" y="2156"/>
                </a:lnTo>
                <a:lnTo>
                  <a:pt x="16923" y="2166"/>
                </a:lnTo>
                <a:lnTo>
                  <a:pt x="16919" y="2174"/>
                </a:lnTo>
                <a:lnTo>
                  <a:pt x="16915" y="2181"/>
                </a:lnTo>
                <a:lnTo>
                  <a:pt x="16910" y="2190"/>
                </a:lnTo>
                <a:lnTo>
                  <a:pt x="16905" y="2197"/>
                </a:lnTo>
                <a:lnTo>
                  <a:pt x="16899" y="2204"/>
                </a:lnTo>
                <a:lnTo>
                  <a:pt x="16893" y="2211"/>
                </a:lnTo>
                <a:lnTo>
                  <a:pt x="16887" y="2216"/>
                </a:lnTo>
                <a:lnTo>
                  <a:pt x="16880" y="2223"/>
                </a:lnTo>
                <a:lnTo>
                  <a:pt x="16872" y="2228"/>
                </a:lnTo>
                <a:lnTo>
                  <a:pt x="16865" y="2233"/>
                </a:lnTo>
                <a:lnTo>
                  <a:pt x="16856" y="2238"/>
                </a:lnTo>
                <a:lnTo>
                  <a:pt x="16839" y="2246"/>
                </a:lnTo>
                <a:lnTo>
                  <a:pt x="16820" y="2254"/>
                </a:lnTo>
                <a:lnTo>
                  <a:pt x="16799" y="2259"/>
                </a:lnTo>
                <a:lnTo>
                  <a:pt x="16777" y="2262"/>
                </a:lnTo>
                <a:lnTo>
                  <a:pt x="16754" y="2264"/>
                </a:lnTo>
                <a:lnTo>
                  <a:pt x="16728" y="2265"/>
                </a:lnTo>
                <a:lnTo>
                  <a:pt x="16681" y="2265"/>
                </a:lnTo>
                <a:lnTo>
                  <a:pt x="16648" y="2265"/>
                </a:lnTo>
                <a:lnTo>
                  <a:pt x="16631" y="2265"/>
                </a:lnTo>
                <a:lnTo>
                  <a:pt x="16624" y="2265"/>
                </a:lnTo>
                <a:lnTo>
                  <a:pt x="16622" y="2256"/>
                </a:lnTo>
                <a:lnTo>
                  <a:pt x="16615" y="2230"/>
                </a:lnTo>
                <a:lnTo>
                  <a:pt x="16604" y="2195"/>
                </a:lnTo>
                <a:lnTo>
                  <a:pt x="16593" y="2154"/>
                </a:lnTo>
                <a:lnTo>
                  <a:pt x="16581" y="2113"/>
                </a:lnTo>
                <a:lnTo>
                  <a:pt x="16572" y="2078"/>
                </a:lnTo>
                <a:lnTo>
                  <a:pt x="16564" y="2052"/>
                </a:lnTo>
                <a:lnTo>
                  <a:pt x="16561" y="2043"/>
                </a:lnTo>
                <a:lnTo>
                  <a:pt x="16568" y="2042"/>
                </a:lnTo>
                <a:lnTo>
                  <a:pt x="16582" y="2041"/>
                </a:lnTo>
                <a:lnTo>
                  <a:pt x="16597" y="2040"/>
                </a:lnTo>
                <a:lnTo>
                  <a:pt x="16603" y="2038"/>
                </a:lnTo>
                <a:lnTo>
                  <a:pt x="16611" y="2037"/>
                </a:lnTo>
                <a:lnTo>
                  <a:pt x="16616" y="2035"/>
                </a:lnTo>
                <a:lnTo>
                  <a:pt x="16621" y="2032"/>
                </a:lnTo>
                <a:lnTo>
                  <a:pt x="16626" y="2029"/>
                </a:lnTo>
                <a:lnTo>
                  <a:pt x="16629" y="2025"/>
                </a:lnTo>
                <a:lnTo>
                  <a:pt x="16632" y="2020"/>
                </a:lnTo>
                <a:lnTo>
                  <a:pt x="16634" y="2016"/>
                </a:lnTo>
                <a:lnTo>
                  <a:pt x="16635" y="2011"/>
                </a:lnTo>
                <a:lnTo>
                  <a:pt x="16638" y="1994"/>
                </a:lnTo>
                <a:lnTo>
                  <a:pt x="16638" y="1987"/>
                </a:lnTo>
                <a:lnTo>
                  <a:pt x="16638" y="1966"/>
                </a:lnTo>
                <a:lnTo>
                  <a:pt x="16638" y="1914"/>
                </a:lnTo>
                <a:lnTo>
                  <a:pt x="16638" y="1841"/>
                </a:lnTo>
                <a:lnTo>
                  <a:pt x="16638" y="1758"/>
                </a:lnTo>
                <a:lnTo>
                  <a:pt x="16638" y="1673"/>
                </a:lnTo>
                <a:lnTo>
                  <a:pt x="16638" y="1600"/>
                </a:lnTo>
                <a:lnTo>
                  <a:pt x="16638" y="1548"/>
                </a:lnTo>
                <a:lnTo>
                  <a:pt x="16638" y="1529"/>
                </a:lnTo>
                <a:lnTo>
                  <a:pt x="16620" y="1529"/>
                </a:lnTo>
                <a:lnTo>
                  <a:pt x="16581" y="1529"/>
                </a:lnTo>
                <a:lnTo>
                  <a:pt x="16542" y="1529"/>
                </a:lnTo>
                <a:lnTo>
                  <a:pt x="16524" y="1529"/>
                </a:lnTo>
                <a:lnTo>
                  <a:pt x="16524" y="1557"/>
                </a:lnTo>
                <a:lnTo>
                  <a:pt x="16524" y="1633"/>
                </a:lnTo>
                <a:lnTo>
                  <a:pt x="16524" y="1739"/>
                </a:lnTo>
                <a:lnTo>
                  <a:pt x="16524" y="1860"/>
                </a:lnTo>
                <a:lnTo>
                  <a:pt x="16524" y="1982"/>
                </a:lnTo>
                <a:lnTo>
                  <a:pt x="16524" y="2089"/>
                </a:lnTo>
                <a:lnTo>
                  <a:pt x="16524" y="2165"/>
                </a:lnTo>
                <a:lnTo>
                  <a:pt x="16524" y="2192"/>
                </a:lnTo>
                <a:lnTo>
                  <a:pt x="16514" y="2192"/>
                </a:lnTo>
                <a:lnTo>
                  <a:pt x="16488" y="2192"/>
                </a:lnTo>
                <a:lnTo>
                  <a:pt x="16450" y="2193"/>
                </a:lnTo>
                <a:lnTo>
                  <a:pt x="16406" y="2193"/>
                </a:lnTo>
                <a:lnTo>
                  <a:pt x="16364" y="2193"/>
                </a:lnTo>
                <a:lnTo>
                  <a:pt x="16326" y="2193"/>
                </a:lnTo>
                <a:lnTo>
                  <a:pt x="16299" y="2193"/>
                </a:lnTo>
                <a:lnTo>
                  <a:pt x="16290" y="2193"/>
                </a:lnTo>
                <a:lnTo>
                  <a:pt x="16290" y="2165"/>
                </a:lnTo>
                <a:lnTo>
                  <a:pt x="16290" y="2089"/>
                </a:lnTo>
                <a:lnTo>
                  <a:pt x="16290" y="1982"/>
                </a:lnTo>
                <a:lnTo>
                  <a:pt x="16290" y="1860"/>
                </a:lnTo>
                <a:lnTo>
                  <a:pt x="16290" y="1739"/>
                </a:lnTo>
                <a:lnTo>
                  <a:pt x="16290" y="1633"/>
                </a:lnTo>
                <a:lnTo>
                  <a:pt x="16290" y="1557"/>
                </a:lnTo>
                <a:lnTo>
                  <a:pt x="16290" y="1529"/>
                </a:lnTo>
                <a:lnTo>
                  <a:pt x="16273" y="1529"/>
                </a:lnTo>
                <a:lnTo>
                  <a:pt x="16237" y="1529"/>
                </a:lnTo>
                <a:lnTo>
                  <a:pt x="16201" y="1529"/>
                </a:lnTo>
                <a:lnTo>
                  <a:pt x="16184" y="1529"/>
                </a:lnTo>
                <a:lnTo>
                  <a:pt x="16184" y="1557"/>
                </a:lnTo>
                <a:lnTo>
                  <a:pt x="16184" y="1633"/>
                </a:lnTo>
                <a:lnTo>
                  <a:pt x="16184" y="1739"/>
                </a:lnTo>
                <a:lnTo>
                  <a:pt x="16184" y="1860"/>
                </a:lnTo>
                <a:lnTo>
                  <a:pt x="16184" y="1982"/>
                </a:lnTo>
                <a:lnTo>
                  <a:pt x="16184" y="2089"/>
                </a:lnTo>
                <a:lnTo>
                  <a:pt x="16184" y="2165"/>
                </a:lnTo>
                <a:lnTo>
                  <a:pt x="16184" y="2193"/>
                </a:lnTo>
                <a:lnTo>
                  <a:pt x="16175" y="2193"/>
                </a:lnTo>
                <a:lnTo>
                  <a:pt x="16149" y="2193"/>
                </a:lnTo>
                <a:lnTo>
                  <a:pt x="16113" y="2193"/>
                </a:lnTo>
                <a:lnTo>
                  <a:pt x="16072" y="2193"/>
                </a:lnTo>
                <a:lnTo>
                  <a:pt x="16029" y="2193"/>
                </a:lnTo>
                <a:lnTo>
                  <a:pt x="15993" y="2193"/>
                </a:lnTo>
                <a:lnTo>
                  <a:pt x="15968" y="2193"/>
                </a:lnTo>
                <a:lnTo>
                  <a:pt x="15959" y="2193"/>
                </a:lnTo>
                <a:lnTo>
                  <a:pt x="15959" y="2165"/>
                </a:lnTo>
                <a:lnTo>
                  <a:pt x="15959" y="2089"/>
                </a:lnTo>
                <a:lnTo>
                  <a:pt x="15959" y="1982"/>
                </a:lnTo>
                <a:lnTo>
                  <a:pt x="15959" y="1860"/>
                </a:lnTo>
                <a:lnTo>
                  <a:pt x="15959" y="1739"/>
                </a:lnTo>
                <a:lnTo>
                  <a:pt x="15959" y="1633"/>
                </a:lnTo>
                <a:lnTo>
                  <a:pt x="15959" y="1557"/>
                </a:lnTo>
                <a:lnTo>
                  <a:pt x="15959" y="1529"/>
                </a:lnTo>
                <a:lnTo>
                  <a:pt x="15942" y="1529"/>
                </a:lnTo>
                <a:lnTo>
                  <a:pt x="15903" y="1529"/>
                </a:lnTo>
                <a:lnTo>
                  <a:pt x="15865" y="1529"/>
                </a:lnTo>
                <a:lnTo>
                  <a:pt x="15848" y="1529"/>
                </a:lnTo>
                <a:lnTo>
                  <a:pt x="15848" y="1560"/>
                </a:lnTo>
                <a:lnTo>
                  <a:pt x="15848" y="1643"/>
                </a:lnTo>
                <a:lnTo>
                  <a:pt x="15848" y="1761"/>
                </a:lnTo>
                <a:lnTo>
                  <a:pt x="15848" y="1896"/>
                </a:lnTo>
                <a:lnTo>
                  <a:pt x="15848" y="2031"/>
                </a:lnTo>
                <a:lnTo>
                  <a:pt x="15848" y="2150"/>
                </a:lnTo>
                <a:lnTo>
                  <a:pt x="15848" y="2232"/>
                </a:lnTo>
                <a:lnTo>
                  <a:pt x="15848" y="2264"/>
                </a:lnTo>
                <a:lnTo>
                  <a:pt x="15836" y="2264"/>
                </a:lnTo>
                <a:lnTo>
                  <a:pt x="15801" y="2264"/>
                </a:lnTo>
                <a:lnTo>
                  <a:pt x="15753" y="2264"/>
                </a:lnTo>
                <a:lnTo>
                  <a:pt x="15697" y="2264"/>
                </a:lnTo>
                <a:lnTo>
                  <a:pt x="15642" y="2264"/>
                </a:lnTo>
                <a:lnTo>
                  <a:pt x="15593" y="2264"/>
                </a:lnTo>
                <a:lnTo>
                  <a:pt x="15559" y="2264"/>
                </a:lnTo>
                <a:lnTo>
                  <a:pt x="15547" y="2264"/>
                </a:lnTo>
                <a:close/>
                <a:moveTo>
                  <a:pt x="14738" y="1137"/>
                </a:moveTo>
                <a:lnTo>
                  <a:pt x="14738" y="1126"/>
                </a:lnTo>
                <a:lnTo>
                  <a:pt x="14738" y="1099"/>
                </a:lnTo>
                <a:lnTo>
                  <a:pt x="14738" y="1059"/>
                </a:lnTo>
                <a:lnTo>
                  <a:pt x="14738" y="1015"/>
                </a:lnTo>
                <a:lnTo>
                  <a:pt x="14738" y="970"/>
                </a:lnTo>
                <a:lnTo>
                  <a:pt x="14738" y="931"/>
                </a:lnTo>
                <a:lnTo>
                  <a:pt x="14738" y="904"/>
                </a:lnTo>
                <a:lnTo>
                  <a:pt x="14738" y="894"/>
                </a:lnTo>
                <a:lnTo>
                  <a:pt x="14746" y="894"/>
                </a:lnTo>
                <a:lnTo>
                  <a:pt x="14771" y="894"/>
                </a:lnTo>
                <a:lnTo>
                  <a:pt x="14805" y="894"/>
                </a:lnTo>
                <a:lnTo>
                  <a:pt x="14844" y="894"/>
                </a:lnTo>
                <a:lnTo>
                  <a:pt x="14883" y="894"/>
                </a:lnTo>
                <a:lnTo>
                  <a:pt x="14917" y="894"/>
                </a:lnTo>
                <a:lnTo>
                  <a:pt x="14941" y="894"/>
                </a:lnTo>
                <a:lnTo>
                  <a:pt x="14950" y="894"/>
                </a:lnTo>
                <a:lnTo>
                  <a:pt x="14950" y="877"/>
                </a:lnTo>
                <a:lnTo>
                  <a:pt x="14950" y="833"/>
                </a:lnTo>
                <a:lnTo>
                  <a:pt x="14950" y="770"/>
                </a:lnTo>
                <a:lnTo>
                  <a:pt x="14950" y="698"/>
                </a:lnTo>
                <a:lnTo>
                  <a:pt x="14950" y="626"/>
                </a:lnTo>
                <a:lnTo>
                  <a:pt x="14950" y="564"/>
                </a:lnTo>
                <a:lnTo>
                  <a:pt x="14950" y="519"/>
                </a:lnTo>
                <a:lnTo>
                  <a:pt x="14950" y="502"/>
                </a:lnTo>
                <a:lnTo>
                  <a:pt x="14941" y="502"/>
                </a:lnTo>
                <a:lnTo>
                  <a:pt x="14917" y="502"/>
                </a:lnTo>
                <a:lnTo>
                  <a:pt x="14883" y="502"/>
                </a:lnTo>
                <a:lnTo>
                  <a:pt x="14844" y="502"/>
                </a:lnTo>
                <a:lnTo>
                  <a:pt x="14805" y="502"/>
                </a:lnTo>
                <a:lnTo>
                  <a:pt x="14771" y="502"/>
                </a:lnTo>
                <a:lnTo>
                  <a:pt x="14747" y="502"/>
                </a:lnTo>
                <a:lnTo>
                  <a:pt x="14738" y="502"/>
                </a:lnTo>
                <a:lnTo>
                  <a:pt x="14738" y="493"/>
                </a:lnTo>
                <a:lnTo>
                  <a:pt x="14738" y="465"/>
                </a:lnTo>
                <a:lnTo>
                  <a:pt x="14738" y="427"/>
                </a:lnTo>
                <a:lnTo>
                  <a:pt x="14738" y="382"/>
                </a:lnTo>
                <a:lnTo>
                  <a:pt x="14738" y="338"/>
                </a:lnTo>
                <a:lnTo>
                  <a:pt x="14738" y="300"/>
                </a:lnTo>
                <a:lnTo>
                  <a:pt x="14738" y="272"/>
                </a:lnTo>
                <a:lnTo>
                  <a:pt x="14738" y="262"/>
                </a:lnTo>
                <a:lnTo>
                  <a:pt x="14769" y="262"/>
                </a:lnTo>
                <a:lnTo>
                  <a:pt x="14851" y="262"/>
                </a:lnTo>
                <a:lnTo>
                  <a:pt x="14968" y="262"/>
                </a:lnTo>
                <a:lnTo>
                  <a:pt x="15101" y="262"/>
                </a:lnTo>
                <a:lnTo>
                  <a:pt x="15233" y="262"/>
                </a:lnTo>
                <a:lnTo>
                  <a:pt x="15350" y="262"/>
                </a:lnTo>
                <a:lnTo>
                  <a:pt x="15432" y="262"/>
                </a:lnTo>
                <a:lnTo>
                  <a:pt x="15463" y="262"/>
                </a:lnTo>
                <a:lnTo>
                  <a:pt x="15463" y="272"/>
                </a:lnTo>
                <a:lnTo>
                  <a:pt x="15463" y="300"/>
                </a:lnTo>
                <a:lnTo>
                  <a:pt x="15463" y="338"/>
                </a:lnTo>
                <a:lnTo>
                  <a:pt x="15463" y="382"/>
                </a:lnTo>
                <a:lnTo>
                  <a:pt x="15463" y="427"/>
                </a:lnTo>
                <a:lnTo>
                  <a:pt x="15463" y="465"/>
                </a:lnTo>
                <a:lnTo>
                  <a:pt x="15463" y="493"/>
                </a:lnTo>
                <a:lnTo>
                  <a:pt x="15463" y="502"/>
                </a:lnTo>
                <a:lnTo>
                  <a:pt x="15455" y="502"/>
                </a:lnTo>
                <a:lnTo>
                  <a:pt x="15430" y="502"/>
                </a:lnTo>
                <a:lnTo>
                  <a:pt x="15396" y="502"/>
                </a:lnTo>
                <a:lnTo>
                  <a:pt x="15358" y="502"/>
                </a:lnTo>
                <a:lnTo>
                  <a:pt x="15319" y="502"/>
                </a:lnTo>
                <a:lnTo>
                  <a:pt x="15285" y="502"/>
                </a:lnTo>
                <a:lnTo>
                  <a:pt x="15262" y="502"/>
                </a:lnTo>
                <a:lnTo>
                  <a:pt x="15252" y="502"/>
                </a:lnTo>
                <a:lnTo>
                  <a:pt x="15252" y="519"/>
                </a:lnTo>
                <a:lnTo>
                  <a:pt x="15252" y="564"/>
                </a:lnTo>
                <a:lnTo>
                  <a:pt x="15252" y="626"/>
                </a:lnTo>
                <a:lnTo>
                  <a:pt x="15252" y="698"/>
                </a:lnTo>
                <a:lnTo>
                  <a:pt x="15252" y="770"/>
                </a:lnTo>
                <a:lnTo>
                  <a:pt x="15252" y="833"/>
                </a:lnTo>
                <a:lnTo>
                  <a:pt x="15252" y="877"/>
                </a:lnTo>
                <a:lnTo>
                  <a:pt x="15252" y="894"/>
                </a:lnTo>
                <a:lnTo>
                  <a:pt x="15262" y="894"/>
                </a:lnTo>
                <a:lnTo>
                  <a:pt x="15285" y="894"/>
                </a:lnTo>
                <a:lnTo>
                  <a:pt x="15319" y="894"/>
                </a:lnTo>
                <a:lnTo>
                  <a:pt x="15358" y="894"/>
                </a:lnTo>
                <a:lnTo>
                  <a:pt x="15396" y="894"/>
                </a:lnTo>
                <a:lnTo>
                  <a:pt x="15430" y="894"/>
                </a:lnTo>
                <a:lnTo>
                  <a:pt x="15455" y="894"/>
                </a:lnTo>
                <a:lnTo>
                  <a:pt x="15463" y="894"/>
                </a:lnTo>
                <a:lnTo>
                  <a:pt x="15461" y="904"/>
                </a:lnTo>
                <a:lnTo>
                  <a:pt x="15454" y="931"/>
                </a:lnTo>
                <a:lnTo>
                  <a:pt x="15442" y="970"/>
                </a:lnTo>
                <a:lnTo>
                  <a:pt x="15430" y="1015"/>
                </a:lnTo>
                <a:lnTo>
                  <a:pt x="15418" y="1059"/>
                </a:lnTo>
                <a:lnTo>
                  <a:pt x="15407" y="1099"/>
                </a:lnTo>
                <a:lnTo>
                  <a:pt x="15400" y="1126"/>
                </a:lnTo>
                <a:lnTo>
                  <a:pt x="15397" y="1137"/>
                </a:lnTo>
                <a:lnTo>
                  <a:pt x="15374" y="1137"/>
                </a:lnTo>
                <a:lnTo>
                  <a:pt x="15324" y="1137"/>
                </a:lnTo>
                <a:lnTo>
                  <a:pt x="15275" y="1137"/>
                </a:lnTo>
                <a:lnTo>
                  <a:pt x="15252" y="1137"/>
                </a:lnTo>
                <a:lnTo>
                  <a:pt x="15252" y="1166"/>
                </a:lnTo>
                <a:lnTo>
                  <a:pt x="15252" y="1244"/>
                </a:lnTo>
                <a:lnTo>
                  <a:pt x="15252" y="1354"/>
                </a:lnTo>
                <a:lnTo>
                  <a:pt x="15252" y="1480"/>
                </a:lnTo>
                <a:lnTo>
                  <a:pt x="15252" y="1607"/>
                </a:lnTo>
                <a:lnTo>
                  <a:pt x="15252" y="1717"/>
                </a:lnTo>
                <a:lnTo>
                  <a:pt x="15252" y="1795"/>
                </a:lnTo>
                <a:lnTo>
                  <a:pt x="15252" y="1824"/>
                </a:lnTo>
                <a:lnTo>
                  <a:pt x="15261" y="1821"/>
                </a:lnTo>
                <a:lnTo>
                  <a:pt x="15282" y="1812"/>
                </a:lnTo>
                <a:lnTo>
                  <a:pt x="15313" y="1799"/>
                </a:lnTo>
                <a:lnTo>
                  <a:pt x="15349" y="1785"/>
                </a:lnTo>
                <a:lnTo>
                  <a:pt x="15384" y="1770"/>
                </a:lnTo>
                <a:lnTo>
                  <a:pt x="15414" y="1758"/>
                </a:lnTo>
                <a:lnTo>
                  <a:pt x="15436" y="1749"/>
                </a:lnTo>
                <a:lnTo>
                  <a:pt x="15444" y="1745"/>
                </a:lnTo>
                <a:lnTo>
                  <a:pt x="15445" y="1755"/>
                </a:lnTo>
                <a:lnTo>
                  <a:pt x="15447" y="1777"/>
                </a:lnTo>
                <a:lnTo>
                  <a:pt x="15450" y="1809"/>
                </a:lnTo>
                <a:lnTo>
                  <a:pt x="15455" y="1846"/>
                </a:lnTo>
                <a:lnTo>
                  <a:pt x="15459" y="1882"/>
                </a:lnTo>
                <a:lnTo>
                  <a:pt x="15462" y="1913"/>
                </a:lnTo>
                <a:lnTo>
                  <a:pt x="15464" y="1937"/>
                </a:lnTo>
                <a:lnTo>
                  <a:pt x="15465" y="1945"/>
                </a:lnTo>
                <a:lnTo>
                  <a:pt x="15436" y="1970"/>
                </a:lnTo>
                <a:lnTo>
                  <a:pt x="15406" y="1993"/>
                </a:lnTo>
                <a:lnTo>
                  <a:pt x="15376" y="2015"/>
                </a:lnTo>
                <a:lnTo>
                  <a:pt x="15347" y="2036"/>
                </a:lnTo>
                <a:lnTo>
                  <a:pt x="15317" y="2055"/>
                </a:lnTo>
                <a:lnTo>
                  <a:pt x="15287" y="2074"/>
                </a:lnTo>
                <a:lnTo>
                  <a:pt x="15258" y="2092"/>
                </a:lnTo>
                <a:lnTo>
                  <a:pt x="15228" y="2108"/>
                </a:lnTo>
                <a:lnTo>
                  <a:pt x="15199" y="2124"/>
                </a:lnTo>
                <a:lnTo>
                  <a:pt x="15171" y="2139"/>
                </a:lnTo>
                <a:lnTo>
                  <a:pt x="15143" y="2153"/>
                </a:lnTo>
                <a:lnTo>
                  <a:pt x="15116" y="2166"/>
                </a:lnTo>
                <a:lnTo>
                  <a:pt x="15063" y="2189"/>
                </a:lnTo>
                <a:lnTo>
                  <a:pt x="15013" y="2208"/>
                </a:lnTo>
                <a:lnTo>
                  <a:pt x="14966" y="2225"/>
                </a:lnTo>
                <a:lnTo>
                  <a:pt x="14925" y="2239"/>
                </a:lnTo>
                <a:lnTo>
                  <a:pt x="14888" y="2249"/>
                </a:lnTo>
                <a:lnTo>
                  <a:pt x="14856" y="2258"/>
                </a:lnTo>
                <a:lnTo>
                  <a:pt x="14812" y="2268"/>
                </a:lnTo>
                <a:lnTo>
                  <a:pt x="14796" y="2272"/>
                </a:lnTo>
                <a:lnTo>
                  <a:pt x="14793" y="2257"/>
                </a:lnTo>
                <a:lnTo>
                  <a:pt x="14783" y="2218"/>
                </a:lnTo>
                <a:lnTo>
                  <a:pt x="14771" y="2161"/>
                </a:lnTo>
                <a:lnTo>
                  <a:pt x="14756" y="2098"/>
                </a:lnTo>
                <a:lnTo>
                  <a:pt x="14741" y="2034"/>
                </a:lnTo>
                <a:lnTo>
                  <a:pt x="14728" y="1978"/>
                </a:lnTo>
                <a:lnTo>
                  <a:pt x="14719" y="1939"/>
                </a:lnTo>
                <a:lnTo>
                  <a:pt x="14716" y="1924"/>
                </a:lnTo>
                <a:lnTo>
                  <a:pt x="14724" y="1923"/>
                </a:lnTo>
                <a:lnTo>
                  <a:pt x="14747" y="1920"/>
                </a:lnTo>
                <a:lnTo>
                  <a:pt x="14780" y="1914"/>
                </a:lnTo>
                <a:lnTo>
                  <a:pt x="14819" y="1909"/>
                </a:lnTo>
                <a:lnTo>
                  <a:pt x="14861" y="1903"/>
                </a:lnTo>
                <a:lnTo>
                  <a:pt x="14899" y="1896"/>
                </a:lnTo>
                <a:lnTo>
                  <a:pt x="14929" y="1892"/>
                </a:lnTo>
                <a:lnTo>
                  <a:pt x="14950" y="1888"/>
                </a:lnTo>
                <a:lnTo>
                  <a:pt x="14950" y="1880"/>
                </a:lnTo>
                <a:lnTo>
                  <a:pt x="14950" y="1856"/>
                </a:lnTo>
                <a:lnTo>
                  <a:pt x="14950" y="1819"/>
                </a:lnTo>
                <a:lnTo>
                  <a:pt x="14950" y="1770"/>
                </a:lnTo>
                <a:lnTo>
                  <a:pt x="14950" y="1714"/>
                </a:lnTo>
                <a:lnTo>
                  <a:pt x="14950" y="1651"/>
                </a:lnTo>
                <a:lnTo>
                  <a:pt x="14950" y="1583"/>
                </a:lnTo>
                <a:lnTo>
                  <a:pt x="14950" y="1512"/>
                </a:lnTo>
                <a:lnTo>
                  <a:pt x="14950" y="1442"/>
                </a:lnTo>
                <a:lnTo>
                  <a:pt x="14950" y="1374"/>
                </a:lnTo>
                <a:lnTo>
                  <a:pt x="14950" y="1311"/>
                </a:lnTo>
                <a:lnTo>
                  <a:pt x="14950" y="1254"/>
                </a:lnTo>
                <a:lnTo>
                  <a:pt x="14950" y="1206"/>
                </a:lnTo>
                <a:lnTo>
                  <a:pt x="14950" y="1169"/>
                </a:lnTo>
                <a:lnTo>
                  <a:pt x="14950" y="1145"/>
                </a:lnTo>
                <a:lnTo>
                  <a:pt x="14950" y="1137"/>
                </a:lnTo>
                <a:lnTo>
                  <a:pt x="14941" y="1137"/>
                </a:lnTo>
                <a:lnTo>
                  <a:pt x="14917" y="1137"/>
                </a:lnTo>
                <a:lnTo>
                  <a:pt x="14883" y="1137"/>
                </a:lnTo>
                <a:lnTo>
                  <a:pt x="14844" y="1137"/>
                </a:lnTo>
                <a:lnTo>
                  <a:pt x="14805" y="1137"/>
                </a:lnTo>
                <a:lnTo>
                  <a:pt x="14771" y="1137"/>
                </a:lnTo>
                <a:lnTo>
                  <a:pt x="14746" y="1137"/>
                </a:lnTo>
                <a:lnTo>
                  <a:pt x="14738" y="1137"/>
                </a:lnTo>
                <a:close/>
                <a:moveTo>
                  <a:pt x="2783" y="2264"/>
                </a:moveTo>
                <a:lnTo>
                  <a:pt x="2806" y="2264"/>
                </a:lnTo>
                <a:lnTo>
                  <a:pt x="2863" y="2264"/>
                </a:lnTo>
                <a:lnTo>
                  <a:pt x="2943" y="2264"/>
                </a:lnTo>
                <a:lnTo>
                  <a:pt x="3035" y="2264"/>
                </a:lnTo>
                <a:lnTo>
                  <a:pt x="3128" y="2264"/>
                </a:lnTo>
                <a:lnTo>
                  <a:pt x="3208" y="2264"/>
                </a:lnTo>
                <a:lnTo>
                  <a:pt x="3265" y="2264"/>
                </a:lnTo>
                <a:lnTo>
                  <a:pt x="3287" y="2264"/>
                </a:lnTo>
                <a:lnTo>
                  <a:pt x="3287" y="2246"/>
                </a:lnTo>
                <a:lnTo>
                  <a:pt x="3287" y="2194"/>
                </a:lnTo>
                <a:lnTo>
                  <a:pt x="3287" y="2114"/>
                </a:lnTo>
                <a:lnTo>
                  <a:pt x="3287" y="2010"/>
                </a:lnTo>
                <a:lnTo>
                  <a:pt x="3287" y="1886"/>
                </a:lnTo>
                <a:lnTo>
                  <a:pt x="3287" y="1748"/>
                </a:lnTo>
                <a:lnTo>
                  <a:pt x="3287" y="1601"/>
                </a:lnTo>
                <a:lnTo>
                  <a:pt x="3287" y="1448"/>
                </a:lnTo>
                <a:lnTo>
                  <a:pt x="3287" y="1297"/>
                </a:lnTo>
                <a:lnTo>
                  <a:pt x="3287" y="1148"/>
                </a:lnTo>
                <a:lnTo>
                  <a:pt x="3287" y="1011"/>
                </a:lnTo>
                <a:lnTo>
                  <a:pt x="3287" y="888"/>
                </a:lnTo>
                <a:lnTo>
                  <a:pt x="3287" y="783"/>
                </a:lnTo>
                <a:lnTo>
                  <a:pt x="3287" y="702"/>
                </a:lnTo>
                <a:lnTo>
                  <a:pt x="3287" y="651"/>
                </a:lnTo>
                <a:lnTo>
                  <a:pt x="3287" y="633"/>
                </a:lnTo>
                <a:lnTo>
                  <a:pt x="3265" y="633"/>
                </a:lnTo>
                <a:lnTo>
                  <a:pt x="3208" y="633"/>
                </a:lnTo>
                <a:lnTo>
                  <a:pt x="3128" y="633"/>
                </a:lnTo>
                <a:lnTo>
                  <a:pt x="3035" y="633"/>
                </a:lnTo>
                <a:lnTo>
                  <a:pt x="2943" y="633"/>
                </a:lnTo>
                <a:lnTo>
                  <a:pt x="2863" y="633"/>
                </a:lnTo>
                <a:lnTo>
                  <a:pt x="2806" y="633"/>
                </a:lnTo>
                <a:lnTo>
                  <a:pt x="2783" y="633"/>
                </a:lnTo>
                <a:lnTo>
                  <a:pt x="2783" y="651"/>
                </a:lnTo>
                <a:lnTo>
                  <a:pt x="2783" y="702"/>
                </a:lnTo>
                <a:lnTo>
                  <a:pt x="2783" y="783"/>
                </a:lnTo>
                <a:lnTo>
                  <a:pt x="2783" y="888"/>
                </a:lnTo>
                <a:lnTo>
                  <a:pt x="2783" y="1011"/>
                </a:lnTo>
                <a:lnTo>
                  <a:pt x="2783" y="1148"/>
                </a:lnTo>
                <a:lnTo>
                  <a:pt x="2783" y="1297"/>
                </a:lnTo>
                <a:lnTo>
                  <a:pt x="2783" y="1448"/>
                </a:lnTo>
                <a:lnTo>
                  <a:pt x="2783" y="1601"/>
                </a:lnTo>
                <a:lnTo>
                  <a:pt x="2783" y="1748"/>
                </a:lnTo>
                <a:lnTo>
                  <a:pt x="2783" y="1886"/>
                </a:lnTo>
                <a:lnTo>
                  <a:pt x="2783" y="2010"/>
                </a:lnTo>
                <a:lnTo>
                  <a:pt x="2783" y="2114"/>
                </a:lnTo>
                <a:lnTo>
                  <a:pt x="2783" y="2194"/>
                </a:lnTo>
                <a:lnTo>
                  <a:pt x="2783" y="2246"/>
                </a:lnTo>
                <a:lnTo>
                  <a:pt x="2783" y="2264"/>
                </a:lnTo>
                <a:close/>
                <a:moveTo>
                  <a:pt x="9817" y="679"/>
                </a:moveTo>
                <a:lnTo>
                  <a:pt x="9801" y="671"/>
                </a:lnTo>
                <a:lnTo>
                  <a:pt x="9785" y="664"/>
                </a:lnTo>
                <a:lnTo>
                  <a:pt x="9769" y="658"/>
                </a:lnTo>
                <a:lnTo>
                  <a:pt x="9752" y="653"/>
                </a:lnTo>
                <a:lnTo>
                  <a:pt x="9720" y="644"/>
                </a:lnTo>
                <a:lnTo>
                  <a:pt x="9691" y="639"/>
                </a:lnTo>
                <a:lnTo>
                  <a:pt x="9664" y="636"/>
                </a:lnTo>
                <a:lnTo>
                  <a:pt x="9643" y="634"/>
                </a:lnTo>
                <a:lnTo>
                  <a:pt x="9629" y="633"/>
                </a:lnTo>
                <a:lnTo>
                  <a:pt x="9624" y="633"/>
                </a:lnTo>
                <a:lnTo>
                  <a:pt x="9615" y="633"/>
                </a:lnTo>
                <a:lnTo>
                  <a:pt x="9586" y="633"/>
                </a:lnTo>
                <a:lnTo>
                  <a:pt x="9543" y="633"/>
                </a:lnTo>
                <a:lnTo>
                  <a:pt x="9485" y="633"/>
                </a:lnTo>
                <a:lnTo>
                  <a:pt x="9418" y="633"/>
                </a:lnTo>
                <a:lnTo>
                  <a:pt x="9342" y="633"/>
                </a:lnTo>
                <a:lnTo>
                  <a:pt x="9262" y="633"/>
                </a:lnTo>
                <a:lnTo>
                  <a:pt x="9179" y="633"/>
                </a:lnTo>
                <a:lnTo>
                  <a:pt x="9096" y="633"/>
                </a:lnTo>
                <a:lnTo>
                  <a:pt x="9015" y="633"/>
                </a:lnTo>
                <a:lnTo>
                  <a:pt x="8940" y="633"/>
                </a:lnTo>
                <a:lnTo>
                  <a:pt x="8872" y="633"/>
                </a:lnTo>
                <a:lnTo>
                  <a:pt x="8815" y="633"/>
                </a:lnTo>
                <a:lnTo>
                  <a:pt x="8772" y="633"/>
                </a:lnTo>
                <a:lnTo>
                  <a:pt x="8743" y="633"/>
                </a:lnTo>
                <a:lnTo>
                  <a:pt x="8734" y="633"/>
                </a:lnTo>
                <a:lnTo>
                  <a:pt x="8727" y="645"/>
                </a:lnTo>
                <a:lnTo>
                  <a:pt x="8709" y="680"/>
                </a:lnTo>
                <a:lnTo>
                  <a:pt x="8684" y="728"/>
                </a:lnTo>
                <a:lnTo>
                  <a:pt x="8655" y="784"/>
                </a:lnTo>
                <a:lnTo>
                  <a:pt x="8627" y="839"/>
                </a:lnTo>
                <a:lnTo>
                  <a:pt x="8601" y="888"/>
                </a:lnTo>
                <a:lnTo>
                  <a:pt x="8584" y="922"/>
                </a:lnTo>
                <a:lnTo>
                  <a:pt x="8577" y="936"/>
                </a:lnTo>
                <a:lnTo>
                  <a:pt x="8585" y="936"/>
                </a:lnTo>
                <a:lnTo>
                  <a:pt x="8611" y="936"/>
                </a:lnTo>
                <a:lnTo>
                  <a:pt x="8649" y="936"/>
                </a:lnTo>
                <a:lnTo>
                  <a:pt x="8699" y="936"/>
                </a:lnTo>
                <a:lnTo>
                  <a:pt x="8757" y="936"/>
                </a:lnTo>
                <a:lnTo>
                  <a:pt x="8823" y="936"/>
                </a:lnTo>
                <a:lnTo>
                  <a:pt x="8892" y="936"/>
                </a:lnTo>
                <a:lnTo>
                  <a:pt x="8964" y="936"/>
                </a:lnTo>
                <a:lnTo>
                  <a:pt x="9037" y="936"/>
                </a:lnTo>
                <a:lnTo>
                  <a:pt x="9107" y="936"/>
                </a:lnTo>
                <a:lnTo>
                  <a:pt x="9172" y="936"/>
                </a:lnTo>
                <a:lnTo>
                  <a:pt x="9231" y="936"/>
                </a:lnTo>
                <a:lnTo>
                  <a:pt x="9281" y="936"/>
                </a:lnTo>
                <a:lnTo>
                  <a:pt x="9319" y="936"/>
                </a:lnTo>
                <a:lnTo>
                  <a:pt x="9343" y="936"/>
                </a:lnTo>
                <a:lnTo>
                  <a:pt x="9352" y="936"/>
                </a:lnTo>
                <a:lnTo>
                  <a:pt x="9367" y="936"/>
                </a:lnTo>
                <a:lnTo>
                  <a:pt x="9379" y="937"/>
                </a:lnTo>
                <a:lnTo>
                  <a:pt x="9391" y="939"/>
                </a:lnTo>
                <a:lnTo>
                  <a:pt x="9403" y="941"/>
                </a:lnTo>
                <a:lnTo>
                  <a:pt x="9413" y="943"/>
                </a:lnTo>
                <a:lnTo>
                  <a:pt x="9423" y="946"/>
                </a:lnTo>
                <a:lnTo>
                  <a:pt x="9431" y="949"/>
                </a:lnTo>
                <a:lnTo>
                  <a:pt x="9439" y="954"/>
                </a:lnTo>
                <a:lnTo>
                  <a:pt x="9446" y="958"/>
                </a:lnTo>
                <a:lnTo>
                  <a:pt x="9453" y="962"/>
                </a:lnTo>
                <a:lnTo>
                  <a:pt x="9459" y="966"/>
                </a:lnTo>
                <a:lnTo>
                  <a:pt x="9464" y="972"/>
                </a:lnTo>
                <a:lnTo>
                  <a:pt x="9474" y="982"/>
                </a:lnTo>
                <a:lnTo>
                  <a:pt x="9482" y="993"/>
                </a:lnTo>
                <a:lnTo>
                  <a:pt x="9489" y="1004"/>
                </a:lnTo>
                <a:lnTo>
                  <a:pt x="9494" y="1015"/>
                </a:lnTo>
                <a:lnTo>
                  <a:pt x="9497" y="1027"/>
                </a:lnTo>
                <a:lnTo>
                  <a:pt x="9500" y="1037"/>
                </a:lnTo>
                <a:lnTo>
                  <a:pt x="9503" y="1056"/>
                </a:lnTo>
                <a:lnTo>
                  <a:pt x="9503" y="1069"/>
                </a:lnTo>
                <a:lnTo>
                  <a:pt x="9503" y="1080"/>
                </a:lnTo>
                <a:lnTo>
                  <a:pt x="9503" y="1108"/>
                </a:lnTo>
                <a:lnTo>
                  <a:pt x="9503" y="1152"/>
                </a:lnTo>
                <a:lnTo>
                  <a:pt x="9503" y="1209"/>
                </a:lnTo>
                <a:lnTo>
                  <a:pt x="9503" y="1277"/>
                </a:lnTo>
                <a:lnTo>
                  <a:pt x="9503" y="1353"/>
                </a:lnTo>
                <a:lnTo>
                  <a:pt x="9503" y="1433"/>
                </a:lnTo>
                <a:lnTo>
                  <a:pt x="9503" y="1517"/>
                </a:lnTo>
                <a:lnTo>
                  <a:pt x="9503" y="1600"/>
                </a:lnTo>
                <a:lnTo>
                  <a:pt x="9503" y="1681"/>
                </a:lnTo>
                <a:lnTo>
                  <a:pt x="9503" y="1757"/>
                </a:lnTo>
                <a:lnTo>
                  <a:pt x="9503" y="1824"/>
                </a:lnTo>
                <a:lnTo>
                  <a:pt x="9503" y="1882"/>
                </a:lnTo>
                <a:lnTo>
                  <a:pt x="9503" y="1926"/>
                </a:lnTo>
                <a:lnTo>
                  <a:pt x="9503" y="1955"/>
                </a:lnTo>
                <a:lnTo>
                  <a:pt x="9503" y="1964"/>
                </a:lnTo>
                <a:lnTo>
                  <a:pt x="9487" y="1964"/>
                </a:lnTo>
                <a:lnTo>
                  <a:pt x="9446" y="1964"/>
                </a:lnTo>
                <a:lnTo>
                  <a:pt x="9388" y="1964"/>
                </a:lnTo>
                <a:lnTo>
                  <a:pt x="9321" y="1964"/>
                </a:lnTo>
                <a:lnTo>
                  <a:pt x="9253" y="1964"/>
                </a:lnTo>
                <a:lnTo>
                  <a:pt x="9195" y="1964"/>
                </a:lnTo>
                <a:lnTo>
                  <a:pt x="9154" y="1964"/>
                </a:lnTo>
                <a:lnTo>
                  <a:pt x="9138" y="1964"/>
                </a:lnTo>
                <a:lnTo>
                  <a:pt x="9120" y="1963"/>
                </a:lnTo>
                <a:lnTo>
                  <a:pt x="9103" y="1962"/>
                </a:lnTo>
                <a:lnTo>
                  <a:pt x="9087" y="1960"/>
                </a:lnTo>
                <a:lnTo>
                  <a:pt x="9073" y="1956"/>
                </a:lnTo>
                <a:lnTo>
                  <a:pt x="9060" y="1953"/>
                </a:lnTo>
                <a:lnTo>
                  <a:pt x="9047" y="1947"/>
                </a:lnTo>
                <a:lnTo>
                  <a:pt x="9035" y="1942"/>
                </a:lnTo>
                <a:lnTo>
                  <a:pt x="9025" y="1936"/>
                </a:lnTo>
                <a:lnTo>
                  <a:pt x="9015" y="1929"/>
                </a:lnTo>
                <a:lnTo>
                  <a:pt x="9007" y="1922"/>
                </a:lnTo>
                <a:lnTo>
                  <a:pt x="8998" y="1914"/>
                </a:lnTo>
                <a:lnTo>
                  <a:pt x="8991" y="1906"/>
                </a:lnTo>
                <a:lnTo>
                  <a:pt x="8983" y="1898"/>
                </a:lnTo>
                <a:lnTo>
                  <a:pt x="8977" y="1889"/>
                </a:lnTo>
                <a:lnTo>
                  <a:pt x="8971" y="1880"/>
                </a:lnTo>
                <a:lnTo>
                  <a:pt x="8965" y="1870"/>
                </a:lnTo>
                <a:lnTo>
                  <a:pt x="8956" y="1851"/>
                </a:lnTo>
                <a:lnTo>
                  <a:pt x="8950" y="1831"/>
                </a:lnTo>
                <a:lnTo>
                  <a:pt x="8944" y="1812"/>
                </a:lnTo>
                <a:lnTo>
                  <a:pt x="8940" y="1793"/>
                </a:lnTo>
                <a:lnTo>
                  <a:pt x="8937" y="1775"/>
                </a:lnTo>
                <a:lnTo>
                  <a:pt x="8936" y="1759"/>
                </a:lnTo>
                <a:lnTo>
                  <a:pt x="8935" y="1745"/>
                </a:lnTo>
                <a:lnTo>
                  <a:pt x="8935" y="1734"/>
                </a:lnTo>
                <a:lnTo>
                  <a:pt x="8935" y="1727"/>
                </a:lnTo>
                <a:lnTo>
                  <a:pt x="8935" y="1721"/>
                </a:lnTo>
                <a:lnTo>
                  <a:pt x="8936" y="1705"/>
                </a:lnTo>
                <a:lnTo>
                  <a:pt x="8937" y="1690"/>
                </a:lnTo>
                <a:lnTo>
                  <a:pt x="8939" y="1675"/>
                </a:lnTo>
                <a:lnTo>
                  <a:pt x="8941" y="1661"/>
                </a:lnTo>
                <a:lnTo>
                  <a:pt x="8944" y="1649"/>
                </a:lnTo>
                <a:lnTo>
                  <a:pt x="8949" y="1637"/>
                </a:lnTo>
                <a:lnTo>
                  <a:pt x="8953" y="1624"/>
                </a:lnTo>
                <a:lnTo>
                  <a:pt x="8958" y="1614"/>
                </a:lnTo>
                <a:lnTo>
                  <a:pt x="8963" y="1603"/>
                </a:lnTo>
                <a:lnTo>
                  <a:pt x="8969" y="1592"/>
                </a:lnTo>
                <a:lnTo>
                  <a:pt x="8975" y="1583"/>
                </a:lnTo>
                <a:lnTo>
                  <a:pt x="8980" y="1574"/>
                </a:lnTo>
                <a:lnTo>
                  <a:pt x="8994" y="1557"/>
                </a:lnTo>
                <a:lnTo>
                  <a:pt x="9008" y="1543"/>
                </a:lnTo>
                <a:lnTo>
                  <a:pt x="9022" y="1530"/>
                </a:lnTo>
                <a:lnTo>
                  <a:pt x="9034" y="1519"/>
                </a:lnTo>
                <a:lnTo>
                  <a:pt x="9047" y="1511"/>
                </a:lnTo>
                <a:lnTo>
                  <a:pt x="9059" y="1503"/>
                </a:lnTo>
                <a:lnTo>
                  <a:pt x="9077" y="1494"/>
                </a:lnTo>
                <a:lnTo>
                  <a:pt x="9120" y="1472"/>
                </a:lnTo>
                <a:lnTo>
                  <a:pt x="9179" y="1440"/>
                </a:lnTo>
                <a:lnTo>
                  <a:pt x="9248" y="1405"/>
                </a:lnTo>
                <a:lnTo>
                  <a:pt x="9316" y="1369"/>
                </a:lnTo>
                <a:lnTo>
                  <a:pt x="9375" y="1338"/>
                </a:lnTo>
                <a:lnTo>
                  <a:pt x="9417" y="1317"/>
                </a:lnTo>
                <a:lnTo>
                  <a:pt x="9432" y="1308"/>
                </a:lnTo>
                <a:lnTo>
                  <a:pt x="9432" y="1301"/>
                </a:lnTo>
                <a:lnTo>
                  <a:pt x="9432" y="1282"/>
                </a:lnTo>
                <a:lnTo>
                  <a:pt x="9432" y="1255"/>
                </a:lnTo>
                <a:lnTo>
                  <a:pt x="9432" y="1225"/>
                </a:lnTo>
                <a:lnTo>
                  <a:pt x="9432" y="1194"/>
                </a:lnTo>
                <a:lnTo>
                  <a:pt x="9432" y="1168"/>
                </a:lnTo>
                <a:lnTo>
                  <a:pt x="9432" y="1148"/>
                </a:lnTo>
                <a:lnTo>
                  <a:pt x="9432" y="1141"/>
                </a:lnTo>
                <a:lnTo>
                  <a:pt x="9405" y="1145"/>
                </a:lnTo>
                <a:lnTo>
                  <a:pt x="9332" y="1156"/>
                </a:lnTo>
                <a:lnTo>
                  <a:pt x="9228" y="1171"/>
                </a:lnTo>
                <a:lnTo>
                  <a:pt x="9109" y="1188"/>
                </a:lnTo>
                <a:lnTo>
                  <a:pt x="8992" y="1205"/>
                </a:lnTo>
                <a:lnTo>
                  <a:pt x="8888" y="1219"/>
                </a:lnTo>
                <a:lnTo>
                  <a:pt x="8815" y="1229"/>
                </a:lnTo>
                <a:lnTo>
                  <a:pt x="8788" y="1233"/>
                </a:lnTo>
                <a:lnTo>
                  <a:pt x="8772" y="1235"/>
                </a:lnTo>
                <a:lnTo>
                  <a:pt x="8757" y="1239"/>
                </a:lnTo>
                <a:lnTo>
                  <a:pt x="8743" y="1242"/>
                </a:lnTo>
                <a:lnTo>
                  <a:pt x="8728" y="1246"/>
                </a:lnTo>
                <a:lnTo>
                  <a:pt x="8716" y="1250"/>
                </a:lnTo>
                <a:lnTo>
                  <a:pt x="8702" y="1254"/>
                </a:lnTo>
                <a:lnTo>
                  <a:pt x="8689" y="1260"/>
                </a:lnTo>
                <a:lnTo>
                  <a:pt x="8678" y="1266"/>
                </a:lnTo>
                <a:lnTo>
                  <a:pt x="8666" y="1272"/>
                </a:lnTo>
                <a:lnTo>
                  <a:pt x="8654" y="1279"/>
                </a:lnTo>
                <a:lnTo>
                  <a:pt x="8644" y="1286"/>
                </a:lnTo>
                <a:lnTo>
                  <a:pt x="8633" y="1294"/>
                </a:lnTo>
                <a:lnTo>
                  <a:pt x="8613" y="1308"/>
                </a:lnTo>
                <a:lnTo>
                  <a:pt x="8594" y="1326"/>
                </a:lnTo>
                <a:lnTo>
                  <a:pt x="8577" y="1344"/>
                </a:lnTo>
                <a:lnTo>
                  <a:pt x="8562" y="1364"/>
                </a:lnTo>
                <a:lnTo>
                  <a:pt x="8547" y="1384"/>
                </a:lnTo>
                <a:lnTo>
                  <a:pt x="8535" y="1404"/>
                </a:lnTo>
                <a:lnTo>
                  <a:pt x="8523" y="1425"/>
                </a:lnTo>
                <a:lnTo>
                  <a:pt x="8512" y="1446"/>
                </a:lnTo>
                <a:lnTo>
                  <a:pt x="8504" y="1467"/>
                </a:lnTo>
                <a:lnTo>
                  <a:pt x="8495" y="1489"/>
                </a:lnTo>
                <a:lnTo>
                  <a:pt x="8488" y="1510"/>
                </a:lnTo>
                <a:lnTo>
                  <a:pt x="8482" y="1530"/>
                </a:lnTo>
                <a:lnTo>
                  <a:pt x="8476" y="1551"/>
                </a:lnTo>
                <a:lnTo>
                  <a:pt x="8471" y="1571"/>
                </a:lnTo>
                <a:lnTo>
                  <a:pt x="8464" y="1608"/>
                </a:lnTo>
                <a:lnTo>
                  <a:pt x="8459" y="1643"/>
                </a:lnTo>
                <a:lnTo>
                  <a:pt x="8456" y="1673"/>
                </a:lnTo>
                <a:lnTo>
                  <a:pt x="8454" y="1696"/>
                </a:lnTo>
                <a:lnTo>
                  <a:pt x="8454" y="1713"/>
                </a:lnTo>
                <a:lnTo>
                  <a:pt x="8453" y="1722"/>
                </a:lnTo>
                <a:lnTo>
                  <a:pt x="8453" y="1723"/>
                </a:lnTo>
                <a:lnTo>
                  <a:pt x="8453" y="1725"/>
                </a:lnTo>
                <a:lnTo>
                  <a:pt x="8454" y="1770"/>
                </a:lnTo>
                <a:lnTo>
                  <a:pt x="8457" y="1814"/>
                </a:lnTo>
                <a:lnTo>
                  <a:pt x="8463" y="1855"/>
                </a:lnTo>
                <a:lnTo>
                  <a:pt x="8469" y="1893"/>
                </a:lnTo>
                <a:lnTo>
                  <a:pt x="8476" y="1929"/>
                </a:lnTo>
                <a:lnTo>
                  <a:pt x="8486" y="1963"/>
                </a:lnTo>
                <a:lnTo>
                  <a:pt x="8496" y="1995"/>
                </a:lnTo>
                <a:lnTo>
                  <a:pt x="8509" y="2025"/>
                </a:lnTo>
                <a:lnTo>
                  <a:pt x="8522" y="2051"/>
                </a:lnTo>
                <a:lnTo>
                  <a:pt x="8537" y="2077"/>
                </a:lnTo>
                <a:lnTo>
                  <a:pt x="8552" y="2100"/>
                </a:lnTo>
                <a:lnTo>
                  <a:pt x="8567" y="2121"/>
                </a:lnTo>
                <a:lnTo>
                  <a:pt x="8584" y="2140"/>
                </a:lnTo>
                <a:lnTo>
                  <a:pt x="8601" y="2158"/>
                </a:lnTo>
                <a:lnTo>
                  <a:pt x="8619" y="2174"/>
                </a:lnTo>
                <a:lnTo>
                  <a:pt x="8637" y="2188"/>
                </a:lnTo>
                <a:lnTo>
                  <a:pt x="8655" y="2201"/>
                </a:lnTo>
                <a:lnTo>
                  <a:pt x="8673" y="2212"/>
                </a:lnTo>
                <a:lnTo>
                  <a:pt x="8691" y="2222"/>
                </a:lnTo>
                <a:lnTo>
                  <a:pt x="8709" y="2230"/>
                </a:lnTo>
                <a:lnTo>
                  <a:pt x="8727" y="2238"/>
                </a:lnTo>
                <a:lnTo>
                  <a:pt x="8744" y="2244"/>
                </a:lnTo>
                <a:lnTo>
                  <a:pt x="8760" y="2249"/>
                </a:lnTo>
                <a:lnTo>
                  <a:pt x="8776" y="2254"/>
                </a:lnTo>
                <a:lnTo>
                  <a:pt x="8805" y="2259"/>
                </a:lnTo>
                <a:lnTo>
                  <a:pt x="8829" y="2263"/>
                </a:lnTo>
                <a:lnTo>
                  <a:pt x="8848" y="2264"/>
                </a:lnTo>
                <a:lnTo>
                  <a:pt x="8862" y="2265"/>
                </a:lnTo>
                <a:lnTo>
                  <a:pt x="8866" y="2264"/>
                </a:lnTo>
                <a:lnTo>
                  <a:pt x="8867" y="2264"/>
                </a:lnTo>
                <a:lnTo>
                  <a:pt x="8880" y="2264"/>
                </a:lnTo>
                <a:lnTo>
                  <a:pt x="8916" y="2264"/>
                </a:lnTo>
                <a:lnTo>
                  <a:pt x="8972" y="2264"/>
                </a:lnTo>
                <a:lnTo>
                  <a:pt x="9044" y="2264"/>
                </a:lnTo>
                <a:lnTo>
                  <a:pt x="9130" y="2264"/>
                </a:lnTo>
                <a:lnTo>
                  <a:pt x="9225" y="2264"/>
                </a:lnTo>
                <a:lnTo>
                  <a:pt x="9327" y="2264"/>
                </a:lnTo>
                <a:lnTo>
                  <a:pt x="9432" y="2264"/>
                </a:lnTo>
                <a:lnTo>
                  <a:pt x="9537" y="2264"/>
                </a:lnTo>
                <a:lnTo>
                  <a:pt x="9640" y="2264"/>
                </a:lnTo>
                <a:lnTo>
                  <a:pt x="9735" y="2264"/>
                </a:lnTo>
                <a:lnTo>
                  <a:pt x="9820" y="2264"/>
                </a:lnTo>
                <a:lnTo>
                  <a:pt x="9893" y="2264"/>
                </a:lnTo>
                <a:lnTo>
                  <a:pt x="9948" y="2264"/>
                </a:lnTo>
                <a:lnTo>
                  <a:pt x="9984" y="2264"/>
                </a:lnTo>
                <a:lnTo>
                  <a:pt x="9997" y="2264"/>
                </a:lnTo>
                <a:lnTo>
                  <a:pt x="9997" y="2250"/>
                </a:lnTo>
                <a:lnTo>
                  <a:pt x="9997" y="2209"/>
                </a:lnTo>
                <a:lnTo>
                  <a:pt x="9997" y="2145"/>
                </a:lnTo>
                <a:lnTo>
                  <a:pt x="9997" y="2063"/>
                </a:lnTo>
                <a:lnTo>
                  <a:pt x="9997" y="1965"/>
                </a:lnTo>
                <a:lnTo>
                  <a:pt x="9997" y="1856"/>
                </a:lnTo>
                <a:lnTo>
                  <a:pt x="9997" y="1741"/>
                </a:lnTo>
                <a:lnTo>
                  <a:pt x="9997" y="1620"/>
                </a:lnTo>
                <a:lnTo>
                  <a:pt x="9997" y="1500"/>
                </a:lnTo>
                <a:lnTo>
                  <a:pt x="9997" y="1384"/>
                </a:lnTo>
                <a:lnTo>
                  <a:pt x="9997" y="1275"/>
                </a:lnTo>
                <a:lnTo>
                  <a:pt x="9997" y="1177"/>
                </a:lnTo>
                <a:lnTo>
                  <a:pt x="9997" y="1094"/>
                </a:lnTo>
                <a:lnTo>
                  <a:pt x="9997" y="1031"/>
                </a:lnTo>
                <a:lnTo>
                  <a:pt x="9997" y="990"/>
                </a:lnTo>
                <a:lnTo>
                  <a:pt x="9997" y="976"/>
                </a:lnTo>
                <a:lnTo>
                  <a:pt x="9997" y="975"/>
                </a:lnTo>
                <a:lnTo>
                  <a:pt x="9997" y="974"/>
                </a:lnTo>
                <a:lnTo>
                  <a:pt x="9997" y="960"/>
                </a:lnTo>
                <a:lnTo>
                  <a:pt x="9996" y="947"/>
                </a:lnTo>
                <a:lnTo>
                  <a:pt x="9995" y="933"/>
                </a:lnTo>
                <a:lnTo>
                  <a:pt x="9992" y="921"/>
                </a:lnTo>
                <a:lnTo>
                  <a:pt x="9987" y="896"/>
                </a:lnTo>
                <a:lnTo>
                  <a:pt x="9980" y="872"/>
                </a:lnTo>
                <a:lnTo>
                  <a:pt x="9971" y="850"/>
                </a:lnTo>
                <a:lnTo>
                  <a:pt x="9961" y="827"/>
                </a:lnTo>
                <a:lnTo>
                  <a:pt x="9950" y="807"/>
                </a:lnTo>
                <a:lnTo>
                  <a:pt x="9937" y="788"/>
                </a:lnTo>
                <a:lnTo>
                  <a:pt x="9924" y="770"/>
                </a:lnTo>
                <a:lnTo>
                  <a:pt x="9909" y="753"/>
                </a:lnTo>
                <a:lnTo>
                  <a:pt x="9894" y="737"/>
                </a:lnTo>
                <a:lnTo>
                  <a:pt x="9879" y="723"/>
                </a:lnTo>
                <a:lnTo>
                  <a:pt x="9863" y="710"/>
                </a:lnTo>
                <a:lnTo>
                  <a:pt x="9847" y="698"/>
                </a:lnTo>
                <a:lnTo>
                  <a:pt x="9832" y="688"/>
                </a:lnTo>
                <a:lnTo>
                  <a:pt x="9817" y="679"/>
                </a:lnTo>
                <a:close/>
                <a:moveTo>
                  <a:pt x="11516" y="629"/>
                </a:moveTo>
                <a:lnTo>
                  <a:pt x="11512" y="640"/>
                </a:lnTo>
                <a:lnTo>
                  <a:pt x="11498" y="670"/>
                </a:lnTo>
                <a:lnTo>
                  <a:pt x="11477" y="716"/>
                </a:lnTo>
                <a:lnTo>
                  <a:pt x="11449" y="777"/>
                </a:lnTo>
                <a:lnTo>
                  <a:pt x="11418" y="848"/>
                </a:lnTo>
                <a:lnTo>
                  <a:pt x="11382" y="928"/>
                </a:lnTo>
                <a:lnTo>
                  <a:pt x="11342" y="1013"/>
                </a:lnTo>
                <a:lnTo>
                  <a:pt x="11303" y="1101"/>
                </a:lnTo>
                <a:lnTo>
                  <a:pt x="11263" y="1189"/>
                </a:lnTo>
                <a:lnTo>
                  <a:pt x="11225" y="1274"/>
                </a:lnTo>
                <a:lnTo>
                  <a:pt x="11189" y="1353"/>
                </a:lnTo>
                <a:lnTo>
                  <a:pt x="11156" y="1424"/>
                </a:lnTo>
                <a:lnTo>
                  <a:pt x="11129" y="1484"/>
                </a:lnTo>
                <a:lnTo>
                  <a:pt x="11107" y="1531"/>
                </a:lnTo>
                <a:lnTo>
                  <a:pt x="11094" y="1561"/>
                </a:lnTo>
                <a:lnTo>
                  <a:pt x="11089" y="1571"/>
                </a:lnTo>
                <a:lnTo>
                  <a:pt x="11086" y="1575"/>
                </a:lnTo>
                <a:lnTo>
                  <a:pt x="11084" y="1580"/>
                </a:lnTo>
                <a:lnTo>
                  <a:pt x="11080" y="1583"/>
                </a:lnTo>
                <a:lnTo>
                  <a:pt x="11077" y="1585"/>
                </a:lnTo>
                <a:lnTo>
                  <a:pt x="11072" y="1587"/>
                </a:lnTo>
                <a:lnTo>
                  <a:pt x="11067" y="1589"/>
                </a:lnTo>
                <a:lnTo>
                  <a:pt x="11063" y="1590"/>
                </a:lnTo>
                <a:lnTo>
                  <a:pt x="11058" y="1590"/>
                </a:lnTo>
                <a:lnTo>
                  <a:pt x="11051" y="1589"/>
                </a:lnTo>
                <a:lnTo>
                  <a:pt x="11046" y="1588"/>
                </a:lnTo>
                <a:lnTo>
                  <a:pt x="11041" y="1586"/>
                </a:lnTo>
                <a:lnTo>
                  <a:pt x="11036" y="1583"/>
                </a:lnTo>
                <a:lnTo>
                  <a:pt x="11032" y="1579"/>
                </a:lnTo>
                <a:lnTo>
                  <a:pt x="11028" y="1574"/>
                </a:lnTo>
                <a:lnTo>
                  <a:pt x="11026" y="1570"/>
                </a:lnTo>
                <a:lnTo>
                  <a:pt x="11023" y="1566"/>
                </a:lnTo>
                <a:lnTo>
                  <a:pt x="11019" y="1556"/>
                </a:lnTo>
                <a:lnTo>
                  <a:pt x="11009" y="1531"/>
                </a:lnTo>
                <a:lnTo>
                  <a:pt x="10992" y="1490"/>
                </a:lnTo>
                <a:lnTo>
                  <a:pt x="10970" y="1437"/>
                </a:lnTo>
                <a:lnTo>
                  <a:pt x="10944" y="1374"/>
                </a:lnTo>
                <a:lnTo>
                  <a:pt x="10916" y="1304"/>
                </a:lnTo>
                <a:lnTo>
                  <a:pt x="10885" y="1229"/>
                </a:lnTo>
                <a:lnTo>
                  <a:pt x="10853" y="1152"/>
                </a:lnTo>
                <a:lnTo>
                  <a:pt x="10821" y="1074"/>
                </a:lnTo>
                <a:lnTo>
                  <a:pt x="10791" y="999"/>
                </a:lnTo>
                <a:lnTo>
                  <a:pt x="10762" y="929"/>
                </a:lnTo>
                <a:lnTo>
                  <a:pt x="10737" y="867"/>
                </a:lnTo>
                <a:lnTo>
                  <a:pt x="10715" y="814"/>
                </a:lnTo>
                <a:lnTo>
                  <a:pt x="10699" y="772"/>
                </a:lnTo>
                <a:lnTo>
                  <a:pt x="10687" y="746"/>
                </a:lnTo>
                <a:lnTo>
                  <a:pt x="10684" y="736"/>
                </a:lnTo>
                <a:lnTo>
                  <a:pt x="10682" y="732"/>
                </a:lnTo>
                <a:lnTo>
                  <a:pt x="10676" y="719"/>
                </a:lnTo>
                <a:lnTo>
                  <a:pt x="10672" y="712"/>
                </a:lnTo>
                <a:lnTo>
                  <a:pt x="10667" y="702"/>
                </a:lnTo>
                <a:lnTo>
                  <a:pt x="10661" y="693"/>
                </a:lnTo>
                <a:lnTo>
                  <a:pt x="10652" y="683"/>
                </a:lnTo>
                <a:lnTo>
                  <a:pt x="10643" y="673"/>
                </a:lnTo>
                <a:lnTo>
                  <a:pt x="10632" y="663"/>
                </a:lnTo>
                <a:lnTo>
                  <a:pt x="10618" y="655"/>
                </a:lnTo>
                <a:lnTo>
                  <a:pt x="10604" y="646"/>
                </a:lnTo>
                <a:lnTo>
                  <a:pt x="10588" y="640"/>
                </a:lnTo>
                <a:lnTo>
                  <a:pt x="10570" y="635"/>
                </a:lnTo>
                <a:lnTo>
                  <a:pt x="10559" y="633"/>
                </a:lnTo>
                <a:lnTo>
                  <a:pt x="10548" y="630"/>
                </a:lnTo>
                <a:lnTo>
                  <a:pt x="10538" y="630"/>
                </a:lnTo>
                <a:lnTo>
                  <a:pt x="10526" y="629"/>
                </a:lnTo>
                <a:lnTo>
                  <a:pt x="10476" y="629"/>
                </a:lnTo>
                <a:lnTo>
                  <a:pt x="10413" y="629"/>
                </a:lnTo>
                <a:lnTo>
                  <a:pt x="10342" y="629"/>
                </a:lnTo>
                <a:lnTo>
                  <a:pt x="10269" y="629"/>
                </a:lnTo>
                <a:lnTo>
                  <a:pt x="10201" y="629"/>
                </a:lnTo>
                <a:lnTo>
                  <a:pt x="10145" y="629"/>
                </a:lnTo>
                <a:lnTo>
                  <a:pt x="10107" y="629"/>
                </a:lnTo>
                <a:lnTo>
                  <a:pt x="10092" y="629"/>
                </a:lnTo>
                <a:lnTo>
                  <a:pt x="10099" y="645"/>
                </a:lnTo>
                <a:lnTo>
                  <a:pt x="10118" y="690"/>
                </a:lnTo>
                <a:lnTo>
                  <a:pt x="10149" y="760"/>
                </a:lnTo>
                <a:lnTo>
                  <a:pt x="10188" y="850"/>
                </a:lnTo>
                <a:lnTo>
                  <a:pt x="10234" y="957"/>
                </a:lnTo>
                <a:lnTo>
                  <a:pt x="10286" y="1076"/>
                </a:lnTo>
                <a:lnTo>
                  <a:pt x="10342" y="1204"/>
                </a:lnTo>
                <a:lnTo>
                  <a:pt x="10399" y="1335"/>
                </a:lnTo>
                <a:lnTo>
                  <a:pt x="10456" y="1467"/>
                </a:lnTo>
                <a:lnTo>
                  <a:pt x="10511" y="1595"/>
                </a:lnTo>
                <a:lnTo>
                  <a:pt x="10563" y="1713"/>
                </a:lnTo>
                <a:lnTo>
                  <a:pt x="10610" y="1820"/>
                </a:lnTo>
                <a:lnTo>
                  <a:pt x="10649" y="1911"/>
                </a:lnTo>
                <a:lnTo>
                  <a:pt x="10679" y="1980"/>
                </a:lnTo>
                <a:lnTo>
                  <a:pt x="10699" y="2026"/>
                </a:lnTo>
                <a:lnTo>
                  <a:pt x="10705" y="2041"/>
                </a:lnTo>
                <a:lnTo>
                  <a:pt x="10713" y="2066"/>
                </a:lnTo>
                <a:lnTo>
                  <a:pt x="10721" y="2095"/>
                </a:lnTo>
                <a:lnTo>
                  <a:pt x="10724" y="2111"/>
                </a:lnTo>
                <a:lnTo>
                  <a:pt x="10727" y="2127"/>
                </a:lnTo>
                <a:lnTo>
                  <a:pt x="10729" y="2144"/>
                </a:lnTo>
                <a:lnTo>
                  <a:pt x="10731" y="2162"/>
                </a:lnTo>
                <a:lnTo>
                  <a:pt x="10733" y="2180"/>
                </a:lnTo>
                <a:lnTo>
                  <a:pt x="10733" y="2198"/>
                </a:lnTo>
                <a:lnTo>
                  <a:pt x="10731" y="2218"/>
                </a:lnTo>
                <a:lnTo>
                  <a:pt x="10730" y="2237"/>
                </a:lnTo>
                <a:lnTo>
                  <a:pt x="10727" y="2255"/>
                </a:lnTo>
                <a:lnTo>
                  <a:pt x="10724" y="2274"/>
                </a:lnTo>
                <a:lnTo>
                  <a:pt x="10719" y="2292"/>
                </a:lnTo>
                <a:lnTo>
                  <a:pt x="10712" y="2310"/>
                </a:lnTo>
                <a:lnTo>
                  <a:pt x="10698" y="2339"/>
                </a:lnTo>
                <a:lnTo>
                  <a:pt x="10659" y="2417"/>
                </a:lnTo>
                <a:lnTo>
                  <a:pt x="10607" y="2526"/>
                </a:lnTo>
                <a:lnTo>
                  <a:pt x="10544" y="2651"/>
                </a:lnTo>
                <a:lnTo>
                  <a:pt x="10483" y="2776"/>
                </a:lnTo>
                <a:lnTo>
                  <a:pt x="10429" y="2885"/>
                </a:lnTo>
                <a:lnTo>
                  <a:pt x="10391" y="2962"/>
                </a:lnTo>
                <a:lnTo>
                  <a:pt x="10377" y="2992"/>
                </a:lnTo>
                <a:lnTo>
                  <a:pt x="10399" y="2992"/>
                </a:lnTo>
                <a:lnTo>
                  <a:pt x="10457" y="2992"/>
                </a:lnTo>
                <a:lnTo>
                  <a:pt x="10541" y="2992"/>
                </a:lnTo>
                <a:lnTo>
                  <a:pt x="10636" y="2992"/>
                </a:lnTo>
                <a:lnTo>
                  <a:pt x="10730" y="2992"/>
                </a:lnTo>
                <a:lnTo>
                  <a:pt x="10814" y="2992"/>
                </a:lnTo>
                <a:lnTo>
                  <a:pt x="10872" y="2992"/>
                </a:lnTo>
                <a:lnTo>
                  <a:pt x="10895" y="2992"/>
                </a:lnTo>
                <a:lnTo>
                  <a:pt x="10907" y="2966"/>
                </a:lnTo>
                <a:lnTo>
                  <a:pt x="10943" y="2890"/>
                </a:lnTo>
                <a:lnTo>
                  <a:pt x="10999" y="2774"/>
                </a:lnTo>
                <a:lnTo>
                  <a:pt x="11072" y="2623"/>
                </a:lnTo>
                <a:lnTo>
                  <a:pt x="11158" y="2444"/>
                </a:lnTo>
                <a:lnTo>
                  <a:pt x="11253" y="2245"/>
                </a:lnTo>
                <a:lnTo>
                  <a:pt x="11356" y="2031"/>
                </a:lnTo>
                <a:lnTo>
                  <a:pt x="11462" y="1811"/>
                </a:lnTo>
                <a:lnTo>
                  <a:pt x="11568" y="1590"/>
                </a:lnTo>
                <a:lnTo>
                  <a:pt x="11671" y="1377"/>
                </a:lnTo>
                <a:lnTo>
                  <a:pt x="11766" y="1177"/>
                </a:lnTo>
                <a:lnTo>
                  <a:pt x="11853" y="999"/>
                </a:lnTo>
                <a:lnTo>
                  <a:pt x="11925" y="848"/>
                </a:lnTo>
                <a:lnTo>
                  <a:pt x="11981" y="731"/>
                </a:lnTo>
                <a:lnTo>
                  <a:pt x="12017" y="656"/>
                </a:lnTo>
                <a:lnTo>
                  <a:pt x="12030" y="629"/>
                </a:lnTo>
                <a:lnTo>
                  <a:pt x="12007" y="629"/>
                </a:lnTo>
                <a:lnTo>
                  <a:pt x="11949" y="629"/>
                </a:lnTo>
                <a:lnTo>
                  <a:pt x="11868" y="629"/>
                </a:lnTo>
                <a:lnTo>
                  <a:pt x="11773" y="629"/>
                </a:lnTo>
                <a:lnTo>
                  <a:pt x="11679" y="629"/>
                </a:lnTo>
                <a:lnTo>
                  <a:pt x="11596" y="629"/>
                </a:lnTo>
                <a:lnTo>
                  <a:pt x="11538" y="629"/>
                </a:lnTo>
                <a:lnTo>
                  <a:pt x="11516" y="629"/>
                </a:lnTo>
                <a:close/>
                <a:moveTo>
                  <a:pt x="2783" y="503"/>
                </a:moveTo>
                <a:lnTo>
                  <a:pt x="2806" y="503"/>
                </a:lnTo>
                <a:lnTo>
                  <a:pt x="2863" y="503"/>
                </a:lnTo>
                <a:lnTo>
                  <a:pt x="2943" y="503"/>
                </a:lnTo>
                <a:lnTo>
                  <a:pt x="3035" y="503"/>
                </a:lnTo>
                <a:lnTo>
                  <a:pt x="3128" y="503"/>
                </a:lnTo>
                <a:lnTo>
                  <a:pt x="3208" y="503"/>
                </a:lnTo>
                <a:lnTo>
                  <a:pt x="3265" y="503"/>
                </a:lnTo>
                <a:lnTo>
                  <a:pt x="3287" y="503"/>
                </a:lnTo>
                <a:lnTo>
                  <a:pt x="3287" y="482"/>
                </a:lnTo>
                <a:lnTo>
                  <a:pt x="3287" y="425"/>
                </a:lnTo>
                <a:lnTo>
                  <a:pt x="3287" y="344"/>
                </a:lnTo>
                <a:lnTo>
                  <a:pt x="3287" y="252"/>
                </a:lnTo>
                <a:lnTo>
                  <a:pt x="3287" y="160"/>
                </a:lnTo>
                <a:lnTo>
                  <a:pt x="3287" y="79"/>
                </a:lnTo>
                <a:lnTo>
                  <a:pt x="3287" y="22"/>
                </a:lnTo>
                <a:lnTo>
                  <a:pt x="3287" y="1"/>
                </a:lnTo>
                <a:lnTo>
                  <a:pt x="3278" y="1"/>
                </a:lnTo>
                <a:lnTo>
                  <a:pt x="3254" y="1"/>
                </a:lnTo>
                <a:lnTo>
                  <a:pt x="3215" y="1"/>
                </a:lnTo>
                <a:lnTo>
                  <a:pt x="3169" y="1"/>
                </a:lnTo>
                <a:lnTo>
                  <a:pt x="3115" y="1"/>
                </a:lnTo>
                <a:lnTo>
                  <a:pt x="3057" y="1"/>
                </a:lnTo>
                <a:lnTo>
                  <a:pt x="2998" y="1"/>
                </a:lnTo>
                <a:lnTo>
                  <a:pt x="2941" y="1"/>
                </a:lnTo>
                <a:lnTo>
                  <a:pt x="2926" y="1"/>
                </a:lnTo>
                <a:lnTo>
                  <a:pt x="2912" y="2"/>
                </a:lnTo>
                <a:lnTo>
                  <a:pt x="2898" y="4"/>
                </a:lnTo>
                <a:lnTo>
                  <a:pt x="2885" y="7"/>
                </a:lnTo>
                <a:lnTo>
                  <a:pt x="2873" y="11"/>
                </a:lnTo>
                <a:lnTo>
                  <a:pt x="2863" y="14"/>
                </a:lnTo>
                <a:lnTo>
                  <a:pt x="2852" y="18"/>
                </a:lnTo>
                <a:lnTo>
                  <a:pt x="2844" y="23"/>
                </a:lnTo>
                <a:lnTo>
                  <a:pt x="2835" y="29"/>
                </a:lnTo>
                <a:lnTo>
                  <a:pt x="2828" y="34"/>
                </a:lnTo>
                <a:lnTo>
                  <a:pt x="2822" y="40"/>
                </a:lnTo>
                <a:lnTo>
                  <a:pt x="2815" y="46"/>
                </a:lnTo>
                <a:lnTo>
                  <a:pt x="2810" y="52"/>
                </a:lnTo>
                <a:lnTo>
                  <a:pt x="2805" y="59"/>
                </a:lnTo>
                <a:lnTo>
                  <a:pt x="2801" y="66"/>
                </a:lnTo>
                <a:lnTo>
                  <a:pt x="2797" y="72"/>
                </a:lnTo>
                <a:lnTo>
                  <a:pt x="2792" y="86"/>
                </a:lnTo>
                <a:lnTo>
                  <a:pt x="2788" y="99"/>
                </a:lnTo>
                <a:lnTo>
                  <a:pt x="2786" y="110"/>
                </a:lnTo>
                <a:lnTo>
                  <a:pt x="2783" y="121"/>
                </a:lnTo>
                <a:lnTo>
                  <a:pt x="2783" y="138"/>
                </a:lnTo>
                <a:lnTo>
                  <a:pt x="2783" y="143"/>
                </a:lnTo>
                <a:lnTo>
                  <a:pt x="2783" y="159"/>
                </a:lnTo>
                <a:lnTo>
                  <a:pt x="2783" y="200"/>
                </a:lnTo>
                <a:lnTo>
                  <a:pt x="2783" y="257"/>
                </a:lnTo>
                <a:lnTo>
                  <a:pt x="2783" y="323"/>
                </a:lnTo>
                <a:lnTo>
                  <a:pt x="2783" y="390"/>
                </a:lnTo>
                <a:lnTo>
                  <a:pt x="2783" y="447"/>
                </a:lnTo>
                <a:lnTo>
                  <a:pt x="2783" y="488"/>
                </a:lnTo>
                <a:lnTo>
                  <a:pt x="2783" y="503"/>
                </a:lnTo>
                <a:close/>
                <a:moveTo>
                  <a:pt x="6368" y="1965"/>
                </a:moveTo>
                <a:lnTo>
                  <a:pt x="6360" y="1965"/>
                </a:lnTo>
                <a:lnTo>
                  <a:pt x="6337" y="1965"/>
                </a:lnTo>
                <a:lnTo>
                  <a:pt x="6304" y="1965"/>
                </a:lnTo>
                <a:lnTo>
                  <a:pt x="6266" y="1965"/>
                </a:lnTo>
                <a:lnTo>
                  <a:pt x="6228" y="1965"/>
                </a:lnTo>
                <a:lnTo>
                  <a:pt x="6195" y="1965"/>
                </a:lnTo>
                <a:lnTo>
                  <a:pt x="6171" y="1965"/>
                </a:lnTo>
                <a:lnTo>
                  <a:pt x="6163" y="1965"/>
                </a:lnTo>
                <a:lnTo>
                  <a:pt x="6135" y="1964"/>
                </a:lnTo>
                <a:lnTo>
                  <a:pt x="6110" y="1963"/>
                </a:lnTo>
                <a:lnTo>
                  <a:pt x="6086" y="1961"/>
                </a:lnTo>
                <a:lnTo>
                  <a:pt x="6063" y="1958"/>
                </a:lnTo>
                <a:lnTo>
                  <a:pt x="6042" y="1954"/>
                </a:lnTo>
                <a:lnTo>
                  <a:pt x="6023" y="1949"/>
                </a:lnTo>
                <a:lnTo>
                  <a:pt x="6005" y="1944"/>
                </a:lnTo>
                <a:lnTo>
                  <a:pt x="5988" y="1938"/>
                </a:lnTo>
                <a:lnTo>
                  <a:pt x="5973" y="1930"/>
                </a:lnTo>
                <a:lnTo>
                  <a:pt x="5959" y="1923"/>
                </a:lnTo>
                <a:lnTo>
                  <a:pt x="5946" y="1913"/>
                </a:lnTo>
                <a:lnTo>
                  <a:pt x="5934" y="1905"/>
                </a:lnTo>
                <a:lnTo>
                  <a:pt x="5925" y="1894"/>
                </a:lnTo>
                <a:lnTo>
                  <a:pt x="5915" y="1884"/>
                </a:lnTo>
                <a:lnTo>
                  <a:pt x="5907" y="1872"/>
                </a:lnTo>
                <a:lnTo>
                  <a:pt x="5900" y="1859"/>
                </a:lnTo>
                <a:lnTo>
                  <a:pt x="5894" y="1847"/>
                </a:lnTo>
                <a:lnTo>
                  <a:pt x="5888" y="1826"/>
                </a:lnTo>
                <a:lnTo>
                  <a:pt x="5881" y="1798"/>
                </a:lnTo>
                <a:lnTo>
                  <a:pt x="5875" y="1761"/>
                </a:lnTo>
                <a:lnTo>
                  <a:pt x="5872" y="1740"/>
                </a:lnTo>
                <a:lnTo>
                  <a:pt x="5869" y="1715"/>
                </a:lnTo>
                <a:lnTo>
                  <a:pt x="5867" y="1688"/>
                </a:lnTo>
                <a:lnTo>
                  <a:pt x="5864" y="1659"/>
                </a:lnTo>
                <a:lnTo>
                  <a:pt x="5862" y="1626"/>
                </a:lnTo>
                <a:lnTo>
                  <a:pt x="5861" y="1591"/>
                </a:lnTo>
                <a:lnTo>
                  <a:pt x="5860" y="1553"/>
                </a:lnTo>
                <a:lnTo>
                  <a:pt x="5860" y="1512"/>
                </a:lnTo>
                <a:lnTo>
                  <a:pt x="5860" y="1498"/>
                </a:lnTo>
                <a:lnTo>
                  <a:pt x="5860" y="1463"/>
                </a:lnTo>
                <a:lnTo>
                  <a:pt x="5860" y="1413"/>
                </a:lnTo>
                <a:lnTo>
                  <a:pt x="5860" y="1357"/>
                </a:lnTo>
                <a:lnTo>
                  <a:pt x="5860" y="1300"/>
                </a:lnTo>
                <a:lnTo>
                  <a:pt x="5860" y="1250"/>
                </a:lnTo>
                <a:lnTo>
                  <a:pt x="5860" y="1215"/>
                </a:lnTo>
                <a:lnTo>
                  <a:pt x="5860" y="1203"/>
                </a:lnTo>
                <a:lnTo>
                  <a:pt x="5860" y="1201"/>
                </a:lnTo>
                <a:lnTo>
                  <a:pt x="5861" y="1173"/>
                </a:lnTo>
                <a:lnTo>
                  <a:pt x="5861" y="1146"/>
                </a:lnTo>
                <a:lnTo>
                  <a:pt x="5863" y="1122"/>
                </a:lnTo>
                <a:lnTo>
                  <a:pt x="5865" y="1101"/>
                </a:lnTo>
                <a:lnTo>
                  <a:pt x="5868" y="1083"/>
                </a:lnTo>
                <a:lnTo>
                  <a:pt x="5870" y="1066"/>
                </a:lnTo>
                <a:lnTo>
                  <a:pt x="5874" y="1051"/>
                </a:lnTo>
                <a:lnTo>
                  <a:pt x="5877" y="1038"/>
                </a:lnTo>
                <a:lnTo>
                  <a:pt x="5881" y="1027"/>
                </a:lnTo>
                <a:lnTo>
                  <a:pt x="5886" y="1017"/>
                </a:lnTo>
                <a:lnTo>
                  <a:pt x="5890" y="1008"/>
                </a:lnTo>
                <a:lnTo>
                  <a:pt x="5895" y="1000"/>
                </a:lnTo>
                <a:lnTo>
                  <a:pt x="5905" y="986"/>
                </a:lnTo>
                <a:lnTo>
                  <a:pt x="5915" y="974"/>
                </a:lnTo>
                <a:lnTo>
                  <a:pt x="5927" y="963"/>
                </a:lnTo>
                <a:lnTo>
                  <a:pt x="5939" y="955"/>
                </a:lnTo>
                <a:lnTo>
                  <a:pt x="5950" y="947"/>
                </a:lnTo>
                <a:lnTo>
                  <a:pt x="5963" y="943"/>
                </a:lnTo>
                <a:lnTo>
                  <a:pt x="5976" y="939"/>
                </a:lnTo>
                <a:lnTo>
                  <a:pt x="5989" y="937"/>
                </a:lnTo>
                <a:lnTo>
                  <a:pt x="6002" y="936"/>
                </a:lnTo>
                <a:lnTo>
                  <a:pt x="6016" y="936"/>
                </a:lnTo>
                <a:lnTo>
                  <a:pt x="6032" y="936"/>
                </a:lnTo>
                <a:lnTo>
                  <a:pt x="6071" y="936"/>
                </a:lnTo>
                <a:lnTo>
                  <a:pt x="6128" y="936"/>
                </a:lnTo>
                <a:lnTo>
                  <a:pt x="6193" y="936"/>
                </a:lnTo>
                <a:lnTo>
                  <a:pt x="6257" y="936"/>
                </a:lnTo>
                <a:lnTo>
                  <a:pt x="6313" y="936"/>
                </a:lnTo>
                <a:lnTo>
                  <a:pt x="6354" y="936"/>
                </a:lnTo>
                <a:lnTo>
                  <a:pt x="6368" y="936"/>
                </a:lnTo>
                <a:lnTo>
                  <a:pt x="6368" y="947"/>
                </a:lnTo>
                <a:lnTo>
                  <a:pt x="6368" y="979"/>
                </a:lnTo>
                <a:lnTo>
                  <a:pt x="6368" y="1030"/>
                </a:lnTo>
                <a:lnTo>
                  <a:pt x="6368" y="1096"/>
                </a:lnTo>
                <a:lnTo>
                  <a:pt x="6368" y="1174"/>
                </a:lnTo>
                <a:lnTo>
                  <a:pt x="6368" y="1261"/>
                </a:lnTo>
                <a:lnTo>
                  <a:pt x="6368" y="1354"/>
                </a:lnTo>
                <a:lnTo>
                  <a:pt x="6368" y="1450"/>
                </a:lnTo>
                <a:lnTo>
                  <a:pt x="6368" y="1546"/>
                </a:lnTo>
                <a:lnTo>
                  <a:pt x="6368" y="1639"/>
                </a:lnTo>
                <a:lnTo>
                  <a:pt x="6368" y="1726"/>
                </a:lnTo>
                <a:lnTo>
                  <a:pt x="6368" y="1804"/>
                </a:lnTo>
                <a:lnTo>
                  <a:pt x="6368" y="1870"/>
                </a:lnTo>
                <a:lnTo>
                  <a:pt x="6368" y="1921"/>
                </a:lnTo>
                <a:lnTo>
                  <a:pt x="6368" y="1954"/>
                </a:lnTo>
                <a:lnTo>
                  <a:pt x="6368" y="1965"/>
                </a:lnTo>
                <a:close/>
                <a:moveTo>
                  <a:pt x="6368" y="124"/>
                </a:moveTo>
                <a:lnTo>
                  <a:pt x="6368" y="145"/>
                </a:lnTo>
                <a:lnTo>
                  <a:pt x="6368" y="203"/>
                </a:lnTo>
                <a:lnTo>
                  <a:pt x="6368" y="285"/>
                </a:lnTo>
                <a:lnTo>
                  <a:pt x="6368" y="378"/>
                </a:lnTo>
                <a:lnTo>
                  <a:pt x="6368" y="471"/>
                </a:lnTo>
                <a:lnTo>
                  <a:pt x="6368" y="553"/>
                </a:lnTo>
                <a:lnTo>
                  <a:pt x="6368" y="610"/>
                </a:lnTo>
                <a:lnTo>
                  <a:pt x="6368" y="633"/>
                </a:lnTo>
                <a:lnTo>
                  <a:pt x="6346" y="633"/>
                </a:lnTo>
                <a:lnTo>
                  <a:pt x="6287" y="633"/>
                </a:lnTo>
                <a:lnTo>
                  <a:pt x="6202" y="633"/>
                </a:lnTo>
                <a:lnTo>
                  <a:pt x="6106" y="633"/>
                </a:lnTo>
                <a:lnTo>
                  <a:pt x="6009" y="633"/>
                </a:lnTo>
                <a:lnTo>
                  <a:pt x="5925" y="633"/>
                </a:lnTo>
                <a:lnTo>
                  <a:pt x="5865" y="633"/>
                </a:lnTo>
                <a:lnTo>
                  <a:pt x="5842" y="633"/>
                </a:lnTo>
                <a:lnTo>
                  <a:pt x="5841" y="633"/>
                </a:lnTo>
                <a:lnTo>
                  <a:pt x="5800" y="634"/>
                </a:lnTo>
                <a:lnTo>
                  <a:pt x="5762" y="636"/>
                </a:lnTo>
                <a:lnTo>
                  <a:pt x="5726" y="639"/>
                </a:lnTo>
                <a:lnTo>
                  <a:pt x="5692" y="645"/>
                </a:lnTo>
                <a:lnTo>
                  <a:pt x="5661" y="652"/>
                </a:lnTo>
                <a:lnTo>
                  <a:pt x="5631" y="660"/>
                </a:lnTo>
                <a:lnTo>
                  <a:pt x="5618" y="665"/>
                </a:lnTo>
                <a:lnTo>
                  <a:pt x="5605" y="671"/>
                </a:lnTo>
                <a:lnTo>
                  <a:pt x="5592" y="676"/>
                </a:lnTo>
                <a:lnTo>
                  <a:pt x="5580" y="682"/>
                </a:lnTo>
                <a:lnTo>
                  <a:pt x="5568" y="689"/>
                </a:lnTo>
                <a:lnTo>
                  <a:pt x="5556" y="695"/>
                </a:lnTo>
                <a:lnTo>
                  <a:pt x="5545" y="702"/>
                </a:lnTo>
                <a:lnTo>
                  <a:pt x="5534" y="710"/>
                </a:lnTo>
                <a:lnTo>
                  <a:pt x="5514" y="727"/>
                </a:lnTo>
                <a:lnTo>
                  <a:pt x="5495" y="745"/>
                </a:lnTo>
                <a:lnTo>
                  <a:pt x="5478" y="764"/>
                </a:lnTo>
                <a:lnTo>
                  <a:pt x="5461" y="785"/>
                </a:lnTo>
                <a:lnTo>
                  <a:pt x="5445" y="807"/>
                </a:lnTo>
                <a:lnTo>
                  <a:pt x="5431" y="832"/>
                </a:lnTo>
                <a:lnTo>
                  <a:pt x="5422" y="850"/>
                </a:lnTo>
                <a:lnTo>
                  <a:pt x="5412" y="869"/>
                </a:lnTo>
                <a:lnTo>
                  <a:pt x="5404" y="889"/>
                </a:lnTo>
                <a:lnTo>
                  <a:pt x="5396" y="910"/>
                </a:lnTo>
                <a:lnTo>
                  <a:pt x="5390" y="931"/>
                </a:lnTo>
                <a:lnTo>
                  <a:pt x="5384" y="955"/>
                </a:lnTo>
                <a:lnTo>
                  <a:pt x="5378" y="978"/>
                </a:lnTo>
                <a:lnTo>
                  <a:pt x="5373" y="1003"/>
                </a:lnTo>
                <a:lnTo>
                  <a:pt x="5369" y="1029"/>
                </a:lnTo>
                <a:lnTo>
                  <a:pt x="5365" y="1055"/>
                </a:lnTo>
                <a:lnTo>
                  <a:pt x="5362" y="1084"/>
                </a:lnTo>
                <a:lnTo>
                  <a:pt x="5359" y="1112"/>
                </a:lnTo>
                <a:lnTo>
                  <a:pt x="5357" y="1142"/>
                </a:lnTo>
                <a:lnTo>
                  <a:pt x="5356" y="1173"/>
                </a:lnTo>
                <a:lnTo>
                  <a:pt x="5355" y="1206"/>
                </a:lnTo>
                <a:lnTo>
                  <a:pt x="5355" y="1239"/>
                </a:lnTo>
                <a:lnTo>
                  <a:pt x="5355" y="1257"/>
                </a:lnTo>
                <a:lnTo>
                  <a:pt x="5355" y="1304"/>
                </a:lnTo>
                <a:lnTo>
                  <a:pt x="5355" y="1372"/>
                </a:lnTo>
                <a:lnTo>
                  <a:pt x="5355" y="1448"/>
                </a:lnTo>
                <a:lnTo>
                  <a:pt x="5355" y="1526"/>
                </a:lnTo>
                <a:lnTo>
                  <a:pt x="5355" y="1593"/>
                </a:lnTo>
                <a:lnTo>
                  <a:pt x="5355" y="1641"/>
                </a:lnTo>
                <a:lnTo>
                  <a:pt x="5355" y="1659"/>
                </a:lnTo>
                <a:lnTo>
                  <a:pt x="5355" y="1692"/>
                </a:lnTo>
                <a:lnTo>
                  <a:pt x="5356" y="1725"/>
                </a:lnTo>
                <a:lnTo>
                  <a:pt x="5357" y="1756"/>
                </a:lnTo>
                <a:lnTo>
                  <a:pt x="5359" y="1785"/>
                </a:lnTo>
                <a:lnTo>
                  <a:pt x="5362" y="1814"/>
                </a:lnTo>
                <a:lnTo>
                  <a:pt x="5365" y="1842"/>
                </a:lnTo>
                <a:lnTo>
                  <a:pt x="5369" y="1869"/>
                </a:lnTo>
                <a:lnTo>
                  <a:pt x="5373" y="1894"/>
                </a:lnTo>
                <a:lnTo>
                  <a:pt x="5378" y="1920"/>
                </a:lnTo>
                <a:lnTo>
                  <a:pt x="5384" y="1943"/>
                </a:lnTo>
                <a:lnTo>
                  <a:pt x="5390" y="1966"/>
                </a:lnTo>
                <a:lnTo>
                  <a:pt x="5396" y="1988"/>
                </a:lnTo>
                <a:lnTo>
                  <a:pt x="5405" y="2009"/>
                </a:lnTo>
                <a:lnTo>
                  <a:pt x="5412" y="2029"/>
                </a:lnTo>
                <a:lnTo>
                  <a:pt x="5422" y="2048"/>
                </a:lnTo>
                <a:lnTo>
                  <a:pt x="5431" y="2066"/>
                </a:lnTo>
                <a:lnTo>
                  <a:pt x="5439" y="2078"/>
                </a:lnTo>
                <a:lnTo>
                  <a:pt x="5446" y="2090"/>
                </a:lnTo>
                <a:lnTo>
                  <a:pt x="5454" y="2102"/>
                </a:lnTo>
                <a:lnTo>
                  <a:pt x="5462" y="2113"/>
                </a:lnTo>
                <a:lnTo>
                  <a:pt x="5472" y="2123"/>
                </a:lnTo>
                <a:lnTo>
                  <a:pt x="5480" y="2134"/>
                </a:lnTo>
                <a:lnTo>
                  <a:pt x="5491" y="2143"/>
                </a:lnTo>
                <a:lnTo>
                  <a:pt x="5500" y="2153"/>
                </a:lnTo>
                <a:lnTo>
                  <a:pt x="5511" y="2162"/>
                </a:lnTo>
                <a:lnTo>
                  <a:pt x="5521" y="2171"/>
                </a:lnTo>
                <a:lnTo>
                  <a:pt x="5532" y="2179"/>
                </a:lnTo>
                <a:lnTo>
                  <a:pt x="5544" y="2188"/>
                </a:lnTo>
                <a:lnTo>
                  <a:pt x="5567" y="2203"/>
                </a:lnTo>
                <a:lnTo>
                  <a:pt x="5592" y="2215"/>
                </a:lnTo>
                <a:lnTo>
                  <a:pt x="5619" y="2227"/>
                </a:lnTo>
                <a:lnTo>
                  <a:pt x="5646" y="2238"/>
                </a:lnTo>
                <a:lnTo>
                  <a:pt x="5676" y="2246"/>
                </a:lnTo>
                <a:lnTo>
                  <a:pt x="5707" y="2252"/>
                </a:lnTo>
                <a:lnTo>
                  <a:pt x="5737" y="2259"/>
                </a:lnTo>
                <a:lnTo>
                  <a:pt x="5770" y="2262"/>
                </a:lnTo>
                <a:lnTo>
                  <a:pt x="5804" y="2264"/>
                </a:lnTo>
                <a:lnTo>
                  <a:pt x="5840" y="2265"/>
                </a:lnTo>
                <a:lnTo>
                  <a:pt x="5841" y="2265"/>
                </a:lnTo>
                <a:lnTo>
                  <a:pt x="5853" y="2265"/>
                </a:lnTo>
                <a:lnTo>
                  <a:pt x="5885" y="2265"/>
                </a:lnTo>
                <a:lnTo>
                  <a:pt x="5935" y="2265"/>
                </a:lnTo>
                <a:lnTo>
                  <a:pt x="6001" y="2265"/>
                </a:lnTo>
                <a:lnTo>
                  <a:pt x="6078" y="2265"/>
                </a:lnTo>
                <a:lnTo>
                  <a:pt x="6165" y="2265"/>
                </a:lnTo>
                <a:lnTo>
                  <a:pt x="6257" y="2265"/>
                </a:lnTo>
                <a:lnTo>
                  <a:pt x="6353" y="2265"/>
                </a:lnTo>
                <a:lnTo>
                  <a:pt x="6448" y="2265"/>
                </a:lnTo>
                <a:lnTo>
                  <a:pt x="6540" y="2265"/>
                </a:lnTo>
                <a:lnTo>
                  <a:pt x="6627" y="2265"/>
                </a:lnTo>
                <a:lnTo>
                  <a:pt x="6704" y="2265"/>
                </a:lnTo>
                <a:lnTo>
                  <a:pt x="6770" y="2265"/>
                </a:lnTo>
                <a:lnTo>
                  <a:pt x="6820" y="2265"/>
                </a:lnTo>
                <a:lnTo>
                  <a:pt x="6852" y="2265"/>
                </a:lnTo>
                <a:lnTo>
                  <a:pt x="6864" y="2265"/>
                </a:lnTo>
                <a:lnTo>
                  <a:pt x="6864" y="2240"/>
                </a:lnTo>
                <a:lnTo>
                  <a:pt x="6864" y="2168"/>
                </a:lnTo>
                <a:lnTo>
                  <a:pt x="6864" y="2056"/>
                </a:lnTo>
                <a:lnTo>
                  <a:pt x="6864" y="1911"/>
                </a:lnTo>
                <a:lnTo>
                  <a:pt x="6864" y="1740"/>
                </a:lnTo>
                <a:lnTo>
                  <a:pt x="6864" y="1549"/>
                </a:lnTo>
                <a:lnTo>
                  <a:pt x="6864" y="1343"/>
                </a:lnTo>
                <a:lnTo>
                  <a:pt x="6864" y="1133"/>
                </a:lnTo>
                <a:lnTo>
                  <a:pt x="6864" y="922"/>
                </a:lnTo>
                <a:lnTo>
                  <a:pt x="6864" y="717"/>
                </a:lnTo>
                <a:lnTo>
                  <a:pt x="6864" y="526"/>
                </a:lnTo>
                <a:lnTo>
                  <a:pt x="6864" y="354"/>
                </a:lnTo>
                <a:lnTo>
                  <a:pt x="6864" y="209"/>
                </a:lnTo>
                <a:lnTo>
                  <a:pt x="6864" y="97"/>
                </a:lnTo>
                <a:lnTo>
                  <a:pt x="6864" y="25"/>
                </a:lnTo>
                <a:lnTo>
                  <a:pt x="6864" y="0"/>
                </a:lnTo>
                <a:lnTo>
                  <a:pt x="6854" y="0"/>
                </a:lnTo>
                <a:lnTo>
                  <a:pt x="6827" y="0"/>
                </a:lnTo>
                <a:lnTo>
                  <a:pt x="6786" y="0"/>
                </a:lnTo>
                <a:lnTo>
                  <a:pt x="6735" y="0"/>
                </a:lnTo>
                <a:lnTo>
                  <a:pt x="6679" y="0"/>
                </a:lnTo>
                <a:lnTo>
                  <a:pt x="6619" y="0"/>
                </a:lnTo>
                <a:lnTo>
                  <a:pt x="6561" y="0"/>
                </a:lnTo>
                <a:lnTo>
                  <a:pt x="6508" y="0"/>
                </a:lnTo>
                <a:lnTo>
                  <a:pt x="6495" y="1"/>
                </a:lnTo>
                <a:lnTo>
                  <a:pt x="6484" y="2"/>
                </a:lnTo>
                <a:lnTo>
                  <a:pt x="6473" y="3"/>
                </a:lnTo>
                <a:lnTo>
                  <a:pt x="6463" y="5"/>
                </a:lnTo>
                <a:lnTo>
                  <a:pt x="6453" y="8"/>
                </a:lnTo>
                <a:lnTo>
                  <a:pt x="6444" y="12"/>
                </a:lnTo>
                <a:lnTo>
                  <a:pt x="6435" y="16"/>
                </a:lnTo>
                <a:lnTo>
                  <a:pt x="6428" y="19"/>
                </a:lnTo>
                <a:lnTo>
                  <a:pt x="6420" y="24"/>
                </a:lnTo>
                <a:lnTo>
                  <a:pt x="6414" y="29"/>
                </a:lnTo>
                <a:lnTo>
                  <a:pt x="6409" y="34"/>
                </a:lnTo>
                <a:lnTo>
                  <a:pt x="6403" y="39"/>
                </a:lnTo>
                <a:lnTo>
                  <a:pt x="6394" y="51"/>
                </a:lnTo>
                <a:lnTo>
                  <a:pt x="6386" y="61"/>
                </a:lnTo>
                <a:lnTo>
                  <a:pt x="6380" y="73"/>
                </a:lnTo>
                <a:lnTo>
                  <a:pt x="6376" y="85"/>
                </a:lnTo>
                <a:lnTo>
                  <a:pt x="6373" y="95"/>
                </a:lnTo>
                <a:lnTo>
                  <a:pt x="6370" y="104"/>
                </a:lnTo>
                <a:lnTo>
                  <a:pt x="6369" y="119"/>
                </a:lnTo>
                <a:lnTo>
                  <a:pt x="6368" y="124"/>
                </a:lnTo>
                <a:close/>
                <a:moveTo>
                  <a:pt x="4910" y="699"/>
                </a:moveTo>
                <a:lnTo>
                  <a:pt x="4894" y="689"/>
                </a:lnTo>
                <a:lnTo>
                  <a:pt x="4876" y="679"/>
                </a:lnTo>
                <a:lnTo>
                  <a:pt x="4859" y="671"/>
                </a:lnTo>
                <a:lnTo>
                  <a:pt x="4842" y="663"/>
                </a:lnTo>
                <a:lnTo>
                  <a:pt x="4826" y="657"/>
                </a:lnTo>
                <a:lnTo>
                  <a:pt x="4809" y="652"/>
                </a:lnTo>
                <a:lnTo>
                  <a:pt x="4793" y="647"/>
                </a:lnTo>
                <a:lnTo>
                  <a:pt x="4777" y="643"/>
                </a:lnTo>
                <a:lnTo>
                  <a:pt x="4746" y="638"/>
                </a:lnTo>
                <a:lnTo>
                  <a:pt x="4720" y="635"/>
                </a:lnTo>
                <a:lnTo>
                  <a:pt x="4696" y="634"/>
                </a:lnTo>
                <a:lnTo>
                  <a:pt x="4674" y="633"/>
                </a:lnTo>
                <a:lnTo>
                  <a:pt x="4660" y="633"/>
                </a:lnTo>
                <a:lnTo>
                  <a:pt x="4623" y="633"/>
                </a:lnTo>
                <a:lnTo>
                  <a:pt x="4566" y="633"/>
                </a:lnTo>
                <a:lnTo>
                  <a:pt x="4494" y="633"/>
                </a:lnTo>
                <a:lnTo>
                  <a:pt x="4410" y="633"/>
                </a:lnTo>
                <a:lnTo>
                  <a:pt x="4317" y="633"/>
                </a:lnTo>
                <a:lnTo>
                  <a:pt x="4217" y="633"/>
                </a:lnTo>
                <a:lnTo>
                  <a:pt x="4113" y="633"/>
                </a:lnTo>
                <a:lnTo>
                  <a:pt x="4011" y="633"/>
                </a:lnTo>
                <a:lnTo>
                  <a:pt x="3911" y="633"/>
                </a:lnTo>
                <a:lnTo>
                  <a:pt x="3819" y="633"/>
                </a:lnTo>
                <a:lnTo>
                  <a:pt x="3735" y="633"/>
                </a:lnTo>
                <a:lnTo>
                  <a:pt x="3665" y="633"/>
                </a:lnTo>
                <a:lnTo>
                  <a:pt x="3611" y="633"/>
                </a:lnTo>
                <a:lnTo>
                  <a:pt x="3576" y="633"/>
                </a:lnTo>
                <a:lnTo>
                  <a:pt x="3564" y="633"/>
                </a:lnTo>
                <a:lnTo>
                  <a:pt x="3564" y="651"/>
                </a:lnTo>
                <a:lnTo>
                  <a:pt x="3564" y="702"/>
                </a:lnTo>
                <a:lnTo>
                  <a:pt x="3564" y="783"/>
                </a:lnTo>
                <a:lnTo>
                  <a:pt x="3564" y="888"/>
                </a:lnTo>
                <a:lnTo>
                  <a:pt x="3564" y="1011"/>
                </a:lnTo>
                <a:lnTo>
                  <a:pt x="3564" y="1150"/>
                </a:lnTo>
                <a:lnTo>
                  <a:pt x="3564" y="1297"/>
                </a:lnTo>
                <a:lnTo>
                  <a:pt x="3564" y="1448"/>
                </a:lnTo>
                <a:lnTo>
                  <a:pt x="3564" y="1601"/>
                </a:lnTo>
                <a:lnTo>
                  <a:pt x="3564" y="1748"/>
                </a:lnTo>
                <a:lnTo>
                  <a:pt x="3564" y="1887"/>
                </a:lnTo>
                <a:lnTo>
                  <a:pt x="3564" y="2010"/>
                </a:lnTo>
                <a:lnTo>
                  <a:pt x="3564" y="2115"/>
                </a:lnTo>
                <a:lnTo>
                  <a:pt x="3564" y="2195"/>
                </a:lnTo>
                <a:lnTo>
                  <a:pt x="3564" y="2247"/>
                </a:lnTo>
                <a:lnTo>
                  <a:pt x="3564" y="2265"/>
                </a:lnTo>
                <a:lnTo>
                  <a:pt x="3586" y="2265"/>
                </a:lnTo>
                <a:lnTo>
                  <a:pt x="3643" y="2265"/>
                </a:lnTo>
                <a:lnTo>
                  <a:pt x="3726" y="2265"/>
                </a:lnTo>
                <a:lnTo>
                  <a:pt x="3819" y="2265"/>
                </a:lnTo>
                <a:lnTo>
                  <a:pt x="3913" y="2265"/>
                </a:lnTo>
                <a:lnTo>
                  <a:pt x="3995" y="2265"/>
                </a:lnTo>
                <a:lnTo>
                  <a:pt x="4053" y="2265"/>
                </a:lnTo>
                <a:lnTo>
                  <a:pt x="4074" y="2265"/>
                </a:lnTo>
                <a:lnTo>
                  <a:pt x="4074" y="2250"/>
                </a:lnTo>
                <a:lnTo>
                  <a:pt x="4074" y="2208"/>
                </a:lnTo>
                <a:lnTo>
                  <a:pt x="4074" y="2142"/>
                </a:lnTo>
                <a:lnTo>
                  <a:pt x="4074" y="2058"/>
                </a:lnTo>
                <a:lnTo>
                  <a:pt x="4074" y="1957"/>
                </a:lnTo>
                <a:lnTo>
                  <a:pt x="4074" y="1845"/>
                </a:lnTo>
                <a:lnTo>
                  <a:pt x="4074" y="1725"/>
                </a:lnTo>
                <a:lnTo>
                  <a:pt x="4074" y="1601"/>
                </a:lnTo>
                <a:lnTo>
                  <a:pt x="4074" y="1477"/>
                </a:lnTo>
                <a:lnTo>
                  <a:pt x="4074" y="1356"/>
                </a:lnTo>
                <a:lnTo>
                  <a:pt x="4074" y="1244"/>
                </a:lnTo>
                <a:lnTo>
                  <a:pt x="4074" y="1143"/>
                </a:lnTo>
                <a:lnTo>
                  <a:pt x="4074" y="1058"/>
                </a:lnTo>
                <a:lnTo>
                  <a:pt x="4074" y="993"/>
                </a:lnTo>
                <a:lnTo>
                  <a:pt x="4074" y="950"/>
                </a:lnTo>
                <a:lnTo>
                  <a:pt x="4074" y="936"/>
                </a:lnTo>
                <a:lnTo>
                  <a:pt x="4089" y="936"/>
                </a:lnTo>
                <a:lnTo>
                  <a:pt x="4128" y="936"/>
                </a:lnTo>
                <a:lnTo>
                  <a:pt x="4183" y="936"/>
                </a:lnTo>
                <a:lnTo>
                  <a:pt x="4246" y="936"/>
                </a:lnTo>
                <a:lnTo>
                  <a:pt x="4309" y="936"/>
                </a:lnTo>
                <a:lnTo>
                  <a:pt x="4364" y="936"/>
                </a:lnTo>
                <a:lnTo>
                  <a:pt x="4403" y="936"/>
                </a:lnTo>
                <a:lnTo>
                  <a:pt x="4418" y="936"/>
                </a:lnTo>
                <a:lnTo>
                  <a:pt x="4432" y="937"/>
                </a:lnTo>
                <a:lnTo>
                  <a:pt x="4445" y="938"/>
                </a:lnTo>
                <a:lnTo>
                  <a:pt x="4457" y="940"/>
                </a:lnTo>
                <a:lnTo>
                  <a:pt x="4468" y="942"/>
                </a:lnTo>
                <a:lnTo>
                  <a:pt x="4479" y="945"/>
                </a:lnTo>
                <a:lnTo>
                  <a:pt x="4488" y="948"/>
                </a:lnTo>
                <a:lnTo>
                  <a:pt x="4498" y="952"/>
                </a:lnTo>
                <a:lnTo>
                  <a:pt x="4505" y="957"/>
                </a:lnTo>
                <a:lnTo>
                  <a:pt x="4512" y="962"/>
                </a:lnTo>
                <a:lnTo>
                  <a:pt x="4520" y="967"/>
                </a:lnTo>
                <a:lnTo>
                  <a:pt x="4526" y="974"/>
                </a:lnTo>
                <a:lnTo>
                  <a:pt x="4533" y="980"/>
                </a:lnTo>
                <a:lnTo>
                  <a:pt x="4543" y="993"/>
                </a:lnTo>
                <a:lnTo>
                  <a:pt x="4552" y="1008"/>
                </a:lnTo>
                <a:lnTo>
                  <a:pt x="4559" y="1022"/>
                </a:lnTo>
                <a:lnTo>
                  <a:pt x="4565" y="1038"/>
                </a:lnTo>
                <a:lnTo>
                  <a:pt x="4570" y="1054"/>
                </a:lnTo>
                <a:lnTo>
                  <a:pt x="4573" y="1069"/>
                </a:lnTo>
                <a:lnTo>
                  <a:pt x="4575" y="1085"/>
                </a:lnTo>
                <a:lnTo>
                  <a:pt x="4577" y="1099"/>
                </a:lnTo>
                <a:lnTo>
                  <a:pt x="4577" y="1111"/>
                </a:lnTo>
                <a:lnTo>
                  <a:pt x="4578" y="1122"/>
                </a:lnTo>
                <a:lnTo>
                  <a:pt x="4578" y="1135"/>
                </a:lnTo>
                <a:lnTo>
                  <a:pt x="4577" y="1171"/>
                </a:lnTo>
                <a:lnTo>
                  <a:pt x="4577" y="1227"/>
                </a:lnTo>
                <a:lnTo>
                  <a:pt x="4577" y="1300"/>
                </a:lnTo>
                <a:lnTo>
                  <a:pt x="4577" y="1387"/>
                </a:lnTo>
                <a:lnTo>
                  <a:pt x="4577" y="1483"/>
                </a:lnTo>
                <a:lnTo>
                  <a:pt x="4577" y="1587"/>
                </a:lnTo>
                <a:lnTo>
                  <a:pt x="4577" y="1693"/>
                </a:lnTo>
                <a:lnTo>
                  <a:pt x="4577" y="1800"/>
                </a:lnTo>
                <a:lnTo>
                  <a:pt x="4577" y="1904"/>
                </a:lnTo>
                <a:lnTo>
                  <a:pt x="4577" y="2000"/>
                </a:lnTo>
                <a:lnTo>
                  <a:pt x="4577" y="2086"/>
                </a:lnTo>
                <a:lnTo>
                  <a:pt x="4577" y="2159"/>
                </a:lnTo>
                <a:lnTo>
                  <a:pt x="4577" y="2216"/>
                </a:lnTo>
                <a:lnTo>
                  <a:pt x="4577" y="2252"/>
                </a:lnTo>
                <a:lnTo>
                  <a:pt x="4577" y="2265"/>
                </a:lnTo>
                <a:lnTo>
                  <a:pt x="4598" y="2265"/>
                </a:lnTo>
                <a:lnTo>
                  <a:pt x="4655" y="2265"/>
                </a:lnTo>
                <a:lnTo>
                  <a:pt x="4736" y="2265"/>
                </a:lnTo>
                <a:lnTo>
                  <a:pt x="4827" y="2265"/>
                </a:lnTo>
                <a:lnTo>
                  <a:pt x="4919" y="2265"/>
                </a:lnTo>
                <a:lnTo>
                  <a:pt x="4999" y="2265"/>
                </a:lnTo>
                <a:lnTo>
                  <a:pt x="5056" y="2265"/>
                </a:lnTo>
                <a:lnTo>
                  <a:pt x="5078" y="2265"/>
                </a:lnTo>
                <a:lnTo>
                  <a:pt x="5078" y="2251"/>
                </a:lnTo>
                <a:lnTo>
                  <a:pt x="5078" y="2214"/>
                </a:lnTo>
                <a:lnTo>
                  <a:pt x="5078" y="2155"/>
                </a:lnTo>
                <a:lnTo>
                  <a:pt x="5078" y="2079"/>
                </a:lnTo>
                <a:lnTo>
                  <a:pt x="5078" y="1989"/>
                </a:lnTo>
                <a:lnTo>
                  <a:pt x="5078" y="1888"/>
                </a:lnTo>
                <a:lnTo>
                  <a:pt x="5078" y="1780"/>
                </a:lnTo>
                <a:lnTo>
                  <a:pt x="5078" y="1670"/>
                </a:lnTo>
                <a:lnTo>
                  <a:pt x="5078" y="1559"/>
                </a:lnTo>
                <a:lnTo>
                  <a:pt x="5078" y="1450"/>
                </a:lnTo>
                <a:lnTo>
                  <a:pt x="5078" y="1350"/>
                </a:lnTo>
                <a:lnTo>
                  <a:pt x="5078" y="1260"/>
                </a:lnTo>
                <a:lnTo>
                  <a:pt x="5078" y="1183"/>
                </a:lnTo>
                <a:lnTo>
                  <a:pt x="5078" y="1125"/>
                </a:lnTo>
                <a:lnTo>
                  <a:pt x="5078" y="1087"/>
                </a:lnTo>
                <a:lnTo>
                  <a:pt x="5078" y="1073"/>
                </a:lnTo>
                <a:lnTo>
                  <a:pt x="5078" y="1072"/>
                </a:lnTo>
                <a:lnTo>
                  <a:pt x="5077" y="1036"/>
                </a:lnTo>
                <a:lnTo>
                  <a:pt x="5075" y="1002"/>
                </a:lnTo>
                <a:lnTo>
                  <a:pt x="5070" y="969"/>
                </a:lnTo>
                <a:lnTo>
                  <a:pt x="5064" y="939"/>
                </a:lnTo>
                <a:lnTo>
                  <a:pt x="5057" y="910"/>
                </a:lnTo>
                <a:lnTo>
                  <a:pt x="5048" y="884"/>
                </a:lnTo>
                <a:lnTo>
                  <a:pt x="5039" y="858"/>
                </a:lnTo>
                <a:lnTo>
                  <a:pt x="5028" y="834"/>
                </a:lnTo>
                <a:lnTo>
                  <a:pt x="5016" y="813"/>
                </a:lnTo>
                <a:lnTo>
                  <a:pt x="5004" y="791"/>
                </a:lnTo>
                <a:lnTo>
                  <a:pt x="4989" y="772"/>
                </a:lnTo>
                <a:lnTo>
                  <a:pt x="4975" y="755"/>
                </a:lnTo>
                <a:lnTo>
                  <a:pt x="4959" y="740"/>
                </a:lnTo>
                <a:lnTo>
                  <a:pt x="4943" y="725"/>
                </a:lnTo>
                <a:lnTo>
                  <a:pt x="4927" y="711"/>
                </a:lnTo>
                <a:lnTo>
                  <a:pt x="4910" y="699"/>
                </a:lnTo>
                <a:close/>
                <a:moveTo>
                  <a:pt x="2339" y="699"/>
                </a:moveTo>
                <a:lnTo>
                  <a:pt x="2322" y="689"/>
                </a:lnTo>
                <a:lnTo>
                  <a:pt x="2305" y="679"/>
                </a:lnTo>
                <a:lnTo>
                  <a:pt x="2288" y="671"/>
                </a:lnTo>
                <a:lnTo>
                  <a:pt x="2271" y="663"/>
                </a:lnTo>
                <a:lnTo>
                  <a:pt x="2254" y="657"/>
                </a:lnTo>
                <a:lnTo>
                  <a:pt x="2237" y="652"/>
                </a:lnTo>
                <a:lnTo>
                  <a:pt x="2221" y="647"/>
                </a:lnTo>
                <a:lnTo>
                  <a:pt x="2205" y="643"/>
                </a:lnTo>
                <a:lnTo>
                  <a:pt x="2176" y="638"/>
                </a:lnTo>
                <a:lnTo>
                  <a:pt x="2148" y="635"/>
                </a:lnTo>
                <a:lnTo>
                  <a:pt x="2124" y="634"/>
                </a:lnTo>
                <a:lnTo>
                  <a:pt x="2103" y="633"/>
                </a:lnTo>
                <a:lnTo>
                  <a:pt x="2079" y="633"/>
                </a:lnTo>
                <a:lnTo>
                  <a:pt x="2013" y="633"/>
                </a:lnTo>
                <a:lnTo>
                  <a:pt x="1909" y="633"/>
                </a:lnTo>
                <a:lnTo>
                  <a:pt x="1774" y="633"/>
                </a:lnTo>
                <a:lnTo>
                  <a:pt x="1616" y="633"/>
                </a:lnTo>
                <a:lnTo>
                  <a:pt x="1438" y="633"/>
                </a:lnTo>
                <a:lnTo>
                  <a:pt x="1247" y="633"/>
                </a:lnTo>
                <a:lnTo>
                  <a:pt x="1051" y="633"/>
                </a:lnTo>
                <a:lnTo>
                  <a:pt x="855" y="633"/>
                </a:lnTo>
                <a:lnTo>
                  <a:pt x="666" y="633"/>
                </a:lnTo>
                <a:lnTo>
                  <a:pt x="488" y="633"/>
                </a:lnTo>
                <a:lnTo>
                  <a:pt x="328" y="633"/>
                </a:lnTo>
                <a:lnTo>
                  <a:pt x="194" y="633"/>
                </a:lnTo>
                <a:lnTo>
                  <a:pt x="91" y="633"/>
                </a:lnTo>
                <a:lnTo>
                  <a:pt x="23" y="633"/>
                </a:lnTo>
                <a:lnTo>
                  <a:pt x="0" y="633"/>
                </a:lnTo>
                <a:lnTo>
                  <a:pt x="0" y="651"/>
                </a:lnTo>
                <a:lnTo>
                  <a:pt x="0" y="702"/>
                </a:lnTo>
                <a:lnTo>
                  <a:pt x="0" y="783"/>
                </a:lnTo>
                <a:lnTo>
                  <a:pt x="0" y="888"/>
                </a:lnTo>
                <a:lnTo>
                  <a:pt x="0" y="1011"/>
                </a:lnTo>
                <a:lnTo>
                  <a:pt x="0" y="1148"/>
                </a:lnTo>
                <a:lnTo>
                  <a:pt x="0" y="1297"/>
                </a:lnTo>
                <a:lnTo>
                  <a:pt x="0" y="1448"/>
                </a:lnTo>
                <a:lnTo>
                  <a:pt x="0" y="1601"/>
                </a:lnTo>
                <a:lnTo>
                  <a:pt x="0" y="1748"/>
                </a:lnTo>
                <a:lnTo>
                  <a:pt x="0" y="1886"/>
                </a:lnTo>
                <a:lnTo>
                  <a:pt x="0" y="2010"/>
                </a:lnTo>
                <a:lnTo>
                  <a:pt x="0" y="2114"/>
                </a:lnTo>
                <a:lnTo>
                  <a:pt x="0" y="2194"/>
                </a:lnTo>
                <a:lnTo>
                  <a:pt x="0" y="2246"/>
                </a:lnTo>
                <a:lnTo>
                  <a:pt x="0" y="2264"/>
                </a:lnTo>
                <a:lnTo>
                  <a:pt x="21" y="2264"/>
                </a:lnTo>
                <a:lnTo>
                  <a:pt x="78" y="2264"/>
                </a:lnTo>
                <a:lnTo>
                  <a:pt x="158" y="2264"/>
                </a:lnTo>
                <a:lnTo>
                  <a:pt x="250" y="2264"/>
                </a:lnTo>
                <a:lnTo>
                  <a:pt x="341" y="2264"/>
                </a:lnTo>
                <a:lnTo>
                  <a:pt x="421" y="2264"/>
                </a:lnTo>
                <a:lnTo>
                  <a:pt x="477" y="2264"/>
                </a:lnTo>
                <a:lnTo>
                  <a:pt x="500" y="2264"/>
                </a:lnTo>
                <a:lnTo>
                  <a:pt x="500" y="2249"/>
                </a:lnTo>
                <a:lnTo>
                  <a:pt x="500" y="2207"/>
                </a:lnTo>
                <a:lnTo>
                  <a:pt x="500" y="2142"/>
                </a:lnTo>
                <a:lnTo>
                  <a:pt x="500" y="2056"/>
                </a:lnTo>
                <a:lnTo>
                  <a:pt x="500" y="1956"/>
                </a:lnTo>
                <a:lnTo>
                  <a:pt x="500" y="1844"/>
                </a:lnTo>
                <a:lnTo>
                  <a:pt x="500" y="1724"/>
                </a:lnTo>
                <a:lnTo>
                  <a:pt x="500" y="1600"/>
                </a:lnTo>
                <a:lnTo>
                  <a:pt x="500" y="1476"/>
                </a:lnTo>
                <a:lnTo>
                  <a:pt x="500" y="1356"/>
                </a:lnTo>
                <a:lnTo>
                  <a:pt x="500" y="1244"/>
                </a:lnTo>
                <a:lnTo>
                  <a:pt x="500" y="1143"/>
                </a:lnTo>
                <a:lnTo>
                  <a:pt x="500" y="1057"/>
                </a:lnTo>
                <a:lnTo>
                  <a:pt x="500" y="993"/>
                </a:lnTo>
                <a:lnTo>
                  <a:pt x="500" y="950"/>
                </a:lnTo>
                <a:lnTo>
                  <a:pt x="500" y="936"/>
                </a:lnTo>
                <a:lnTo>
                  <a:pt x="515" y="936"/>
                </a:lnTo>
                <a:lnTo>
                  <a:pt x="553" y="936"/>
                </a:lnTo>
                <a:lnTo>
                  <a:pt x="608" y="936"/>
                </a:lnTo>
                <a:lnTo>
                  <a:pt x="671" y="936"/>
                </a:lnTo>
                <a:lnTo>
                  <a:pt x="734" y="936"/>
                </a:lnTo>
                <a:lnTo>
                  <a:pt x="789" y="936"/>
                </a:lnTo>
                <a:lnTo>
                  <a:pt x="828" y="936"/>
                </a:lnTo>
                <a:lnTo>
                  <a:pt x="843" y="936"/>
                </a:lnTo>
                <a:lnTo>
                  <a:pt x="857" y="936"/>
                </a:lnTo>
                <a:lnTo>
                  <a:pt x="870" y="937"/>
                </a:lnTo>
                <a:lnTo>
                  <a:pt x="882" y="939"/>
                </a:lnTo>
                <a:lnTo>
                  <a:pt x="894" y="941"/>
                </a:lnTo>
                <a:lnTo>
                  <a:pt x="904" y="944"/>
                </a:lnTo>
                <a:lnTo>
                  <a:pt x="914" y="948"/>
                </a:lnTo>
                <a:lnTo>
                  <a:pt x="922" y="952"/>
                </a:lnTo>
                <a:lnTo>
                  <a:pt x="931" y="957"/>
                </a:lnTo>
                <a:lnTo>
                  <a:pt x="938" y="962"/>
                </a:lnTo>
                <a:lnTo>
                  <a:pt x="944" y="967"/>
                </a:lnTo>
                <a:lnTo>
                  <a:pt x="951" y="974"/>
                </a:lnTo>
                <a:lnTo>
                  <a:pt x="957" y="979"/>
                </a:lnTo>
                <a:lnTo>
                  <a:pt x="968" y="993"/>
                </a:lnTo>
                <a:lnTo>
                  <a:pt x="976" y="1008"/>
                </a:lnTo>
                <a:lnTo>
                  <a:pt x="984" y="1022"/>
                </a:lnTo>
                <a:lnTo>
                  <a:pt x="990" y="1038"/>
                </a:lnTo>
                <a:lnTo>
                  <a:pt x="994" y="1054"/>
                </a:lnTo>
                <a:lnTo>
                  <a:pt x="997" y="1069"/>
                </a:lnTo>
                <a:lnTo>
                  <a:pt x="1001" y="1085"/>
                </a:lnTo>
                <a:lnTo>
                  <a:pt x="1002" y="1099"/>
                </a:lnTo>
                <a:lnTo>
                  <a:pt x="1003" y="1111"/>
                </a:lnTo>
                <a:lnTo>
                  <a:pt x="1003" y="1122"/>
                </a:lnTo>
                <a:lnTo>
                  <a:pt x="1003" y="1123"/>
                </a:lnTo>
                <a:lnTo>
                  <a:pt x="1003" y="1138"/>
                </a:lnTo>
                <a:lnTo>
                  <a:pt x="1003" y="1175"/>
                </a:lnTo>
                <a:lnTo>
                  <a:pt x="1003" y="1232"/>
                </a:lnTo>
                <a:lnTo>
                  <a:pt x="1003" y="1306"/>
                </a:lnTo>
                <a:lnTo>
                  <a:pt x="1003" y="1392"/>
                </a:lnTo>
                <a:lnTo>
                  <a:pt x="1003" y="1489"/>
                </a:lnTo>
                <a:lnTo>
                  <a:pt x="1003" y="1591"/>
                </a:lnTo>
                <a:lnTo>
                  <a:pt x="1003" y="1697"/>
                </a:lnTo>
                <a:lnTo>
                  <a:pt x="1003" y="1803"/>
                </a:lnTo>
                <a:lnTo>
                  <a:pt x="1003" y="1906"/>
                </a:lnTo>
                <a:lnTo>
                  <a:pt x="1003" y="2001"/>
                </a:lnTo>
                <a:lnTo>
                  <a:pt x="1002" y="2087"/>
                </a:lnTo>
                <a:lnTo>
                  <a:pt x="1002" y="2160"/>
                </a:lnTo>
                <a:lnTo>
                  <a:pt x="1002" y="2215"/>
                </a:lnTo>
                <a:lnTo>
                  <a:pt x="1002" y="2251"/>
                </a:lnTo>
                <a:lnTo>
                  <a:pt x="1002" y="2264"/>
                </a:lnTo>
                <a:lnTo>
                  <a:pt x="1024" y="2264"/>
                </a:lnTo>
                <a:lnTo>
                  <a:pt x="1080" y="2264"/>
                </a:lnTo>
                <a:lnTo>
                  <a:pt x="1160" y="2264"/>
                </a:lnTo>
                <a:lnTo>
                  <a:pt x="1253" y="2264"/>
                </a:lnTo>
                <a:lnTo>
                  <a:pt x="1345" y="2264"/>
                </a:lnTo>
                <a:lnTo>
                  <a:pt x="1425" y="2264"/>
                </a:lnTo>
                <a:lnTo>
                  <a:pt x="1481" y="2264"/>
                </a:lnTo>
                <a:lnTo>
                  <a:pt x="1503" y="2264"/>
                </a:lnTo>
                <a:lnTo>
                  <a:pt x="1503" y="2249"/>
                </a:lnTo>
                <a:lnTo>
                  <a:pt x="1503" y="2207"/>
                </a:lnTo>
                <a:lnTo>
                  <a:pt x="1503" y="2142"/>
                </a:lnTo>
                <a:lnTo>
                  <a:pt x="1503" y="2056"/>
                </a:lnTo>
                <a:lnTo>
                  <a:pt x="1503" y="1956"/>
                </a:lnTo>
                <a:lnTo>
                  <a:pt x="1503" y="1844"/>
                </a:lnTo>
                <a:lnTo>
                  <a:pt x="1503" y="1724"/>
                </a:lnTo>
                <a:lnTo>
                  <a:pt x="1503" y="1600"/>
                </a:lnTo>
                <a:lnTo>
                  <a:pt x="1503" y="1476"/>
                </a:lnTo>
                <a:lnTo>
                  <a:pt x="1503" y="1356"/>
                </a:lnTo>
                <a:lnTo>
                  <a:pt x="1503" y="1244"/>
                </a:lnTo>
                <a:lnTo>
                  <a:pt x="1503" y="1143"/>
                </a:lnTo>
                <a:lnTo>
                  <a:pt x="1503" y="1057"/>
                </a:lnTo>
                <a:lnTo>
                  <a:pt x="1503" y="993"/>
                </a:lnTo>
                <a:lnTo>
                  <a:pt x="1503" y="950"/>
                </a:lnTo>
                <a:lnTo>
                  <a:pt x="1503" y="936"/>
                </a:lnTo>
                <a:lnTo>
                  <a:pt x="1518" y="936"/>
                </a:lnTo>
                <a:lnTo>
                  <a:pt x="1556" y="936"/>
                </a:lnTo>
                <a:lnTo>
                  <a:pt x="1611" y="936"/>
                </a:lnTo>
                <a:lnTo>
                  <a:pt x="1675" y="936"/>
                </a:lnTo>
                <a:lnTo>
                  <a:pt x="1737" y="936"/>
                </a:lnTo>
                <a:lnTo>
                  <a:pt x="1792" y="936"/>
                </a:lnTo>
                <a:lnTo>
                  <a:pt x="1832" y="936"/>
                </a:lnTo>
                <a:lnTo>
                  <a:pt x="1846" y="936"/>
                </a:lnTo>
                <a:lnTo>
                  <a:pt x="1860" y="936"/>
                </a:lnTo>
                <a:lnTo>
                  <a:pt x="1874" y="937"/>
                </a:lnTo>
                <a:lnTo>
                  <a:pt x="1886" y="939"/>
                </a:lnTo>
                <a:lnTo>
                  <a:pt x="1897" y="941"/>
                </a:lnTo>
                <a:lnTo>
                  <a:pt x="1907" y="944"/>
                </a:lnTo>
                <a:lnTo>
                  <a:pt x="1917" y="948"/>
                </a:lnTo>
                <a:lnTo>
                  <a:pt x="1926" y="952"/>
                </a:lnTo>
                <a:lnTo>
                  <a:pt x="1934" y="957"/>
                </a:lnTo>
                <a:lnTo>
                  <a:pt x="1942" y="962"/>
                </a:lnTo>
                <a:lnTo>
                  <a:pt x="1948" y="967"/>
                </a:lnTo>
                <a:lnTo>
                  <a:pt x="1954" y="974"/>
                </a:lnTo>
                <a:lnTo>
                  <a:pt x="1961" y="979"/>
                </a:lnTo>
                <a:lnTo>
                  <a:pt x="1971" y="993"/>
                </a:lnTo>
                <a:lnTo>
                  <a:pt x="1980" y="1008"/>
                </a:lnTo>
                <a:lnTo>
                  <a:pt x="1987" y="1022"/>
                </a:lnTo>
                <a:lnTo>
                  <a:pt x="1994" y="1038"/>
                </a:lnTo>
                <a:lnTo>
                  <a:pt x="1998" y="1054"/>
                </a:lnTo>
                <a:lnTo>
                  <a:pt x="2001" y="1069"/>
                </a:lnTo>
                <a:lnTo>
                  <a:pt x="2003" y="1085"/>
                </a:lnTo>
                <a:lnTo>
                  <a:pt x="2005" y="1099"/>
                </a:lnTo>
                <a:lnTo>
                  <a:pt x="2006" y="1111"/>
                </a:lnTo>
                <a:lnTo>
                  <a:pt x="2006" y="1122"/>
                </a:lnTo>
                <a:lnTo>
                  <a:pt x="2006" y="1123"/>
                </a:lnTo>
                <a:lnTo>
                  <a:pt x="2006" y="1138"/>
                </a:lnTo>
                <a:lnTo>
                  <a:pt x="2006" y="1175"/>
                </a:lnTo>
                <a:lnTo>
                  <a:pt x="2006" y="1232"/>
                </a:lnTo>
                <a:lnTo>
                  <a:pt x="2006" y="1306"/>
                </a:lnTo>
                <a:lnTo>
                  <a:pt x="2006" y="1393"/>
                </a:lnTo>
                <a:lnTo>
                  <a:pt x="2006" y="1490"/>
                </a:lnTo>
                <a:lnTo>
                  <a:pt x="2005" y="1592"/>
                </a:lnTo>
                <a:lnTo>
                  <a:pt x="2005" y="1698"/>
                </a:lnTo>
                <a:lnTo>
                  <a:pt x="2005" y="1804"/>
                </a:lnTo>
                <a:lnTo>
                  <a:pt x="2005" y="1907"/>
                </a:lnTo>
                <a:lnTo>
                  <a:pt x="2005" y="2002"/>
                </a:lnTo>
                <a:lnTo>
                  <a:pt x="2005" y="2088"/>
                </a:lnTo>
                <a:lnTo>
                  <a:pt x="2005" y="2160"/>
                </a:lnTo>
                <a:lnTo>
                  <a:pt x="2005" y="2216"/>
                </a:lnTo>
                <a:lnTo>
                  <a:pt x="2005" y="2252"/>
                </a:lnTo>
                <a:lnTo>
                  <a:pt x="2005" y="2265"/>
                </a:lnTo>
                <a:lnTo>
                  <a:pt x="2028" y="2265"/>
                </a:lnTo>
                <a:lnTo>
                  <a:pt x="2084" y="2265"/>
                </a:lnTo>
                <a:lnTo>
                  <a:pt x="2164" y="2265"/>
                </a:lnTo>
                <a:lnTo>
                  <a:pt x="2256" y="2265"/>
                </a:lnTo>
                <a:lnTo>
                  <a:pt x="2347" y="2265"/>
                </a:lnTo>
                <a:lnTo>
                  <a:pt x="2428" y="2265"/>
                </a:lnTo>
                <a:lnTo>
                  <a:pt x="2485" y="2265"/>
                </a:lnTo>
                <a:lnTo>
                  <a:pt x="2506" y="2265"/>
                </a:lnTo>
                <a:lnTo>
                  <a:pt x="2506" y="2251"/>
                </a:lnTo>
                <a:lnTo>
                  <a:pt x="2506" y="2214"/>
                </a:lnTo>
                <a:lnTo>
                  <a:pt x="2506" y="2155"/>
                </a:lnTo>
                <a:lnTo>
                  <a:pt x="2506" y="2079"/>
                </a:lnTo>
                <a:lnTo>
                  <a:pt x="2506" y="1989"/>
                </a:lnTo>
                <a:lnTo>
                  <a:pt x="2506" y="1888"/>
                </a:lnTo>
                <a:lnTo>
                  <a:pt x="2506" y="1780"/>
                </a:lnTo>
                <a:lnTo>
                  <a:pt x="2506" y="1669"/>
                </a:lnTo>
                <a:lnTo>
                  <a:pt x="2506" y="1557"/>
                </a:lnTo>
                <a:lnTo>
                  <a:pt x="2506" y="1449"/>
                </a:lnTo>
                <a:lnTo>
                  <a:pt x="2506" y="1349"/>
                </a:lnTo>
                <a:lnTo>
                  <a:pt x="2506" y="1259"/>
                </a:lnTo>
                <a:lnTo>
                  <a:pt x="2506" y="1182"/>
                </a:lnTo>
                <a:lnTo>
                  <a:pt x="2506" y="1124"/>
                </a:lnTo>
                <a:lnTo>
                  <a:pt x="2506" y="1086"/>
                </a:lnTo>
                <a:lnTo>
                  <a:pt x="2506" y="1072"/>
                </a:lnTo>
                <a:lnTo>
                  <a:pt x="2505" y="1036"/>
                </a:lnTo>
                <a:lnTo>
                  <a:pt x="2503" y="1002"/>
                </a:lnTo>
                <a:lnTo>
                  <a:pt x="2499" y="969"/>
                </a:lnTo>
                <a:lnTo>
                  <a:pt x="2492" y="939"/>
                </a:lnTo>
                <a:lnTo>
                  <a:pt x="2486" y="910"/>
                </a:lnTo>
                <a:lnTo>
                  <a:pt x="2477" y="884"/>
                </a:lnTo>
                <a:lnTo>
                  <a:pt x="2468" y="858"/>
                </a:lnTo>
                <a:lnTo>
                  <a:pt x="2456" y="834"/>
                </a:lnTo>
                <a:lnTo>
                  <a:pt x="2445" y="813"/>
                </a:lnTo>
                <a:lnTo>
                  <a:pt x="2432" y="791"/>
                </a:lnTo>
                <a:lnTo>
                  <a:pt x="2418" y="772"/>
                </a:lnTo>
                <a:lnTo>
                  <a:pt x="2403" y="755"/>
                </a:lnTo>
                <a:lnTo>
                  <a:pt x="2387" y="740"/>
                </a:lnTo>
                <a:lnTo>
                  <a:pt x="2372" y="725"/>
                </a:lnTo>
                <a:lnTo>
                  <a:pt x="2356" y="711"/>
                </a:lnTo>
                <a:lnTo>
                  <a:pt x="2339" y="699"/>
                </a:lnTo>
                <a:close/>
                <a:moveTo>
                  <a:pt x="8041" y="631"/>
                </a:moveTo>
                <a:lnTo>
                  <a:pt x="8039" y="631"/>
                </a:lnTo>
                <a:lnTo>
                  <a:pt x="8037" y="631"/>
                </a:lnTo>
                <a:lnTo>
                  <a:pt x="7988" y="633"/>
                </a:lnTo>
                <a:lnTo>
                  <a:pt x="7943" y="634"/>
                </a:lnTo>
                <a:lnTo>
                  <a:pt x="7898" y="637"/>
                </a:lnTo>
                <a:lnTo>
                  <a:pt x="7857" y="640"/>
                </a:lnTo>
                <a:lnTo>
                  <a:pt x="7817" y="645"/>
                </a:lnTo>
                <a:lnTo>
                  <a:pt x="7779" y="651"/>
                </a:lnTo>
                <a:lnTo>
                  <a:pt x="7742" y="658"/>
                </a:lnTo>
                <a:lnTo>
                  <a:pt x="7708" y="665"/>
                </a:lnTo>
                <a:lnTo>
                  <a:pt x="7675" y="675"/>
                </a:lnTo>
                <a:lnTo>
                  <a:pt x="7643" y="684"/>
                </a:lnTo>
                <a:lnTo>
                  <a:pt x="7615" y="696"/>
                </a:lnTo>
                <a:lnTo>
                  <a:pt x="7586" y="708"/>
                </a:lnTo>
                <a:lnTo>
                  <a:pt x="7559" y="720"/>
                </a:lnTo>
                <a:lnTo>
                  <a:pt x="7535" y="735"/>
                </a:lnTo>
                <a:lnTo>
                  <a:pt x="7512" y="750"/>
                </a:lnTo>
                <a:lnTo>
                  <a:pt x="7490" y="767"/>
                </a:lnTo>
                <a:lnTo>
                  <a:pt x="7469" y="784"/>
                </a:lnTo>
                <a:lnTo>
                  <a:pt x="7449" y="802"/>
                </a:lnTo>
                <a:lnTo>
                  <a:pt x="7431" y="821"/>
                </a:lnTo>
                <a:lnTo>
                  <a:pt x="7414" y="842"/>
                </a:lnTo>
                <a:lnTo>
                  <a:pt x="7399" y="863"/>
                </a:lnTo>
                <a:lnTo>
                  <a:pt x="7384" y="886"/>
                </a:lnTo>
                <a:lnTo>
                  <a:pt x="7370" y="909"/>
                </a:lnTo>
                <a:lnTo>
                  <a:pt x="7357" y="933"/>
                </a:lnTo>
                <a:lnTo>
                  <a:pt x="7345" y="959"/>
                </a:lnTo>
                <a:lnTo>
                  <a:pt x="7334" y="985"/>
                </a:lnTo>
                <a:lnTo>
                  <a:pt x="7323" y="1013"/>
                </a:lnTo>
                <a:lnTo>
                  <a:pt x="7314" y="1041"/>
                </a:lnTo>
                <a:lnTo>
                  <a:pt x="7305" y="1071"/>
                </a:lnTo>
                <a:lnTo>
                  <a:pt x="7297" y="1102"/>
                </a:lnTo>
                <a:lnTo>
                  <a:pt x="7289" y="1134"/>
                </a:lnTo>
                <a:lnTo>
                  <a:pt x="7282" y="1166"/>
                </a:lnTo>
                <a:lnTo>
                  <a:pt x="7279" y="1178"/>
                </a:lnTo>
                <a:lnTo>
                  <a:pt x="7271" y="1213"/>
                </a:lnTo>
                <a:lnTo>
                  <a:pt x="7260" y="1267"/>
                </a:lnTo>
                <a:lnTo>
                  <a:pt x="7245" y="1337"/>
                </a:lnTo>
                <a:lnTo>
                  <a:pt x="7227" y="1421"/>
                </a:lnTo>
                <a:lnTo>
                  <a:pt x="7207" y="1513"/>
                </a:lnTo>
                <a:lnTo>
                  <a:pt x="7186" y="1611"/>
                </a:lnTo>
                <a:lnTo>
                  <a:pt x="7164" y="1714"/>
                </a:lnTo>
                <a:lnTo>
                  <a:pt x="7141" y="1816"/>
                </a:lnTo>
                <a:lnTo>
                  <a:pt x="7120" y="1916"/>
                </a:lnTo>
                <a:lnTo>
                  <a:pt x="7100" y="2008"/>
                </a:lnTo>
                <a:lnTo>
                  <a:pt x="7082" y="2090"/>
                </a:lnTo>
                <a:lnTo>
                  <a:pt x="7067" y="2160"/>
                </a:lnTo>
                <a:lnTo>
                  <a:pt x="7056" y="2214"/>
                </a:lnTo>
                <a:lnTo>
                  <a:pt x="7048" y="2249"/>
                </a:lnTo>
                <a:lnTo>
                  <a:pt x="7045" y="2262"/>
                </a:lnTo>
                <a:lnTo>
                  <a:pt x="7068" y="2262"/>
                </a:lnTo>
                <a:lnTo>
                  <a:pt x="7131" y="2262"/>
                </a:lnTo>
                <a:lnTo>
                  <a:pt x="7217" y="2262"/>
                </a:lnTo>
                <a:lnTo>
                  <a:pt x="7317" y="2262"/>
                </a:lnTo>
                <a:lnTo>
                  <a:pt x="7418" y="2262"/>
                </a:lnTo>
                <a:lnTo>
                  <a:pt x="7504" y="2262"/>
                </a:lnTo>
                <a:lnTo>
                  <a:pt x="7566" y="2262"/>
                </a:lnTo>
                <a:lnTo>
                  <a:pt x="7589" y="2262"/>
                </a:lnTo>
                <a:lnTo>
                  <a:pt x="7591" y="2250"/>
                </a:lnTo>
                <a:lnTo>
                  <a:pt x="7599" y="2218"/>
                </a:lnTo>
                <a:lnTo>
                  <a:pt x="7609" y="2168"/>
                </a:lnTo>
                <a:lnTo>
                  <a:pt x="7624" y="2102"/>
                </a:lnTo>
                <a:lnTo>
                  <a:pt x="7641" y="2024"/>
                </a:lnTo>
                <a:lnTo>
                  <a:pt x="7659" y="1937"/>
                </a:lnTo>
                <a:lnTo>
                  <a:pt x="7679" y="1845"/>
                </a:lnTo>
                <a:lnTo>
                  <a:pt x="7700" y="1749"/>
                </a:lnTo>
                <a:lnTo>
                  <a:pt x="7720" y="1653"/>
                </a:lnTo>
                <a:lnTo>
                  <a:pt x="7741" y="1561"/>
                </a:lnTo>
                <a:lnTo>
                  <a:pt x="7760" y="1474"/>
                </a:lnTo>
                <a:lnTo>
                  <a:pt x="7777" y="1396"/>
                </a:lnTo>
                <a:lnTo>
                  <a:pt x="7790" y="1331"/>
                </a:lnTo>
                <a:lnTo>
                  <a:pt x="7801" y="1280"/>
                </a:lnTo>
                <a:lnTo>
                  <a:pt x="7808" y="1247"/>
                </a:lnTo>
                <a:lnTo>
                  <a:pt x="7810" y="1235"/>
                </a:lnTo>
                <a:lnTo>
                  <a:pt x="7824" y="1177"/>
                </a:lnTo>
                <a:lnTo>
                  <a:pt x="7837" y="1128"/>
                </a:lnTo>
                <a:lnTo>
                  <a:pt x="7850" y="1087"/>
                </a:lnTo>
                <a:lnTo>
                  <a:pt x="7861" y="1055"/>
                </a:lnTo>
                <a:lnTo>
                  <a:pt x="7871" y="1030"/>
                </a:lnTo>
                <a:lnTo>
                  <a:pt x="7880" y="1012"/>
                </a:lnTo>
                <a:lnTo>
                  <a:pt x="7888" y="999"/>
                </a:lnTo>
                <a:lnTo>
                  <a:pt x="7894" y="992"/>
                </a:lnTo>
                <a:lnTo>
                  <a:pt x="7900" y="984"/>
                </a:lnTo>
                <a:lnTo>
                  <a:pt x="7908" y="978"/>
                </a:lnTo>
                <a:lnTo>
                  <a:pt x="7915" y="972"/>
                </a:lnTo>
                <a:lnTo>
                  <a:pt x="7923" y="966"/>
                </a:lnTo>
                <a:lnTo>
                  <a:pt x="7932" y="961"/>
                </a:lnTo>
                <a:lnTo>
                  <a:pt x="7942" y="957"/>
                </a:lnTo>
                <a:lnTo>
                  <a:pt x="7951" y="951"/>
                </a:lnTo>
                <a:lnTo>
                  <a:pt x="7963" y="948"/>
                </a:lnTo>
                <a:lnTo>
                  <a:pt x="7976" y="944"/>
                </a:lnTo>
                <a:lnTo>
                  <a:pt x="7989" y="941"/>
                </a:lnTo>
                <a:lnTo>
                  <a:pt x="8004" y="939"/>
                </a:lnTo>
                <a:lnTo>
                  <a:pt x="8020" y="937"/>
                </a:lnTo>
                <a:lnTo>
                  <a:pt x="8037" y="934"/>
                </a:lnTo>
                <a:lnTo>
                  <a:pt x="8055" y="933"/>
                </a:lnTo>
                <a:lnTo>
                  <a:pt x="8075" y="932"/>
                </a:lnTo>
                <a:lnTo>
                  <a:pt x="8097" y="932"/>
                </a:lnTo>
                <a:lnTo>
                  <a:pt x="8106" y="932"/>
                </a:lnTo>
                <a:lnTo>
                  <a:pt x="8128" y="932"/>
                </a:lnTo>
                <a:lnTo>
                  <a:pt x="8161" y="932"/>
                </a:lnTo>
                <a:lnTo>
                  <a:pt x="8198" y="932"/>
                </a:lnTo>
                <a:lnTo>
                  <a:pt x="8236" y="932"/>
                </a:lnTo>
                <a:lnTo>
                  <a:pt x="8268" y="932"/>
                </a:lnTo>
                <a:lnTo>
                  <a:pt x="8291" y="932"/>
                </a:lnTo>
                <a:lnTo>
                  <a:pt x="8300" y="932"/>
                </a:lnTo>
                <a:lnTo>
                  <a:pt x="8307" y="920"/>
                </a:lnTo>
                <a:lnTo>
                  <a:pt x="8325" y="886"/>
                </a:lnTo>
                <a:lnTo>
                  <a:pt x="8350" y="837"/>
                </a:lnTo>
                <a:lnTo>
                  <a:pt x="8379" y="782"/>
                </a:lnTo>
                <a:lnTo>
                  <a:pt x="8409" y="727"/>
                </a:lnTo>
                <a:lnTo>
                  <a:pt x="8434" y="679"/>
                </a:lnTo>
                <a:lnTo>
                  <a:pt x="8452" y="645"/>
                </a:lnTo>
                <a:lnTo>
                  <a:pt x="8458" y="631"/>
                </a:lnTo>
                <a:lnTo>
                  <a:pt x="8440" y="631"/>
                </a:lnTo>
                <a:lnTo>
                  <a:pt x="8394" y="631"/>
                </a:lnTo>
                <a:lnTo>
                  <a:pt x="8326" y="631"/>
                </a:lnTo>
                <a:lnTo>
                  <a:pt x="8250" y="631"/>
                </a:lnTo>
                <a:lnTo>
                  <a:pt x="8174" y="631"/>
                </a:lnTo>
                <a:lnTo>
                  <a:pt x="8107" y="631"/>
                </a:lnTo>
                <a:lnTo>
                  <a:pt x="8059" y="631"/>
                </a:lnTo>
                <a:lnTo>
                  <a:pt x="8041" y="6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0" name="Rectangle 2"/>
          <p:cNvSpPr>
            <a:spLocks noGrp="1" noChangeArrowheads="1"/>
          </p:cNvSpPr>
          <p:nvPr>
            <p:ph type="ctrTitle"/>
          </p:nvPr>
        </p:nvSpPr>
        <p:spPr>
          <a:xfrm>
            <a:off x="876300" y="4200525"/>
            <a:ext cx="9793288" cy="795338"/>
          </a:xfrm>
        </p:spPr>
        <p:txBody>
          <a:bodyPr/>
          <a:lstStyle>
            <a:lvl1pPr>
              <a:defRPr sz="3000">
                <a:solidFill>
                  <a:schemeClr val="bg1"/>
                </a:solidFill>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7651" name="Rectangle 3"/>
          <p:cNvSpPr>
            <a:spLocks noGrp="1" noChangeArrowheads="1"/>
          </p:cNvSpPr>
          <p:nvPr>
            <p:ph type="subTitle" idx="1"/>
          </p:nvPr>
        </p:nvSpPr>
        <p:spPr>
          <a:xfrm>
            <a:off x="852491" y="5078413"/>
            <a:ext cx="8064500" cy="620712"/>
          </a:xfrm>
        </p:spPr>
        <p:txBody>
          <a:bodyPr/>
          <a:lstStyle>
            <a:lvl1pPr marL="0" indent="0">
              <a:buFont typeface="Wingdings" pitchFamily="2" charset="2"/>
              <a:buNone/>
              <a:defRPr sz="2400">
                <a:solidFill>
                  <a:schemeClr val="bg1"/>
                </a:solidFill>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8" name="Rectangle 4"/>
          <p:cNvSpPr>
            <a:spLocks noGrp="1" noChangeArrowheads="1"/>
          </p:cNvSpPr>
          <p:nvPr>
            <p:ph type="dt" sz="half" idx="10"/>
          </p:nvPr>
        </p:nvSpPr>
        <p:spPr bwMode="auto">
          <a:xfrm>
            <a:off x="576264" y="5900738"/>
            <a:ext cx="2687636"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1" y="5900738"/>
            <a:ext cx="3648075"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E80CFC63-2406-49D0-9C54-FBB492850B08}" type="slidenum">
              <a:rPr lang="en-US" altLang="zh-CN"/>
              <a:pPr>
                <a:defRPr/>
              </a:pPr>
              <a:t>‹#›</a:t>
            </a:fld>
            <a:endParaRPr lang="en-US" altLang="zh-CN" dirty="0"/>
          </a:p>
        </p:txBody>
      </p:sp>
    </p:spTree>
    <p:extLst>
      <p:ext uri="{BB962C8B-B14F-4D97-AF65-F5344CB8AC3E}">
        <p14:creationId xmlns:p14="http://schemas.microsoft.com/office/powerpoint/2010/main" val="29472025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8846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575633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90613"/>
            <a:ext cx="5356224"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90613"/>
            <a:ext cx="5356224"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89042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075644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596776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6214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64763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955952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6192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2"/>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44452"/>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259735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3"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15022"/>
          <a:stretch>
            <a:fillRect/>
          </a:stretch>
        </p:blipFill>
        <p:spPr bwMode="auto">
          <a:xfrm>
            <a:off x="3"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PT用图灰色"/>
          <p:cNvPicPr>
            <a:picLocks noChangeAspect="1" noChangeArrowheads="1"/>
          </p:cNvPicPr>
          <p:nvPr/>
        </p:nvPicPr>
        <p:blipFill>
          <a:blip r:embed="rId3" cstate="print">
            <a:extLst>
              <a:ext uri="{28A0092B-C50C-407E-A947-70E740481C1C}">
                <a14:useLocalDpi xmlns:a14="http://schemas.microsoft.com/office/drawing/2010/main" val="0"/>
              </a:ext>
            </a:extLst>
          </a:blip>
          <a:srcRect l="16844" t="46463" r="10741"/>
          <a:stretch>
            <a:fillRect/>
          </a:stretch>
        </p:blipFill>
        <p:spPr bwMode="auto">
          <a:xfrm>
            <a:off x="3" y="1925639"/>
            <a:ext cx="115220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pic>
        <p:nvPicPr>
          <p:cNvPr id="7" name="Picture 1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8" y="5851525"/>
            <a:ext cx="2444749"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subTitle" idx="1"/>
          </p:nvPr>
        </p:nvSpPr>
        <p:spPr>
          <a:xfrm>
            <a:off x="839790" y="4841876"/>
            <a:ext cx="8066086" cy="603250"/>
          </a:xfrm>
        </p:spPr>
        <p:txBody>
          <a:bodyPr/>
          <a:lstStyle>
            <a:lvl1pPr marL="0" indent="0">
              <a:buFont typeface="Wingdings" pitchFamily="2" charset="2"/>
              <a:buNone/>
              <a:defRPr sz="2400">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29698" name="Rectangle 2"/>
          <p:cNvSpPr>
            <a:spLocks noGrp="1" noChangeArrowheads="1"/>
          </p:cNvSpPr>
          <p:nvPr>
            <p:ph type="ctrTitle"/>
          </p:nvPr>
        </p:nvSpPr>
        <p:spPr>
          <a:xfrm>
            <a:off x="863601" y="3911600"/>
            <a:ext cx="9794875" cy="839788"/>
          </a:xfrm>
        </p:spPr>
        <p:txBody>
          <a:bodyPr/>
          <a:lstStyle>
            <a:lvl1pPr>
              <a:defRPr sz="3000"/>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8" name="Rectangle 4"/>
          <p:cNvSpPr>
            <a:spLocks noGrp="1" noChangeArrowheads="1"/>
          </p:cNvSpPr>
          <p:nvPr>
            <p:ph type="dt" sz="half" idx="10"/>
          </p:nvPr>
        </p:nvSpPr>
        <p:spPr bwMode="auto">
          <a:xfrm>
            <a:off x="576264" y="5900738"/>
            <a:ext cx="2687636"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1" y="5900738"/>
            <a:ext cx="3648075"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33ABA569-27A8-43CF-8612-E7C2905B5874}" type="slidenum">
              <a:rPr lang="en-US" altLang="zh-CN"/>
              <a:pPr>
                <a:defRPr/>
              </a:pPr>
              <a:t>‹#›</a:t>
            </a:fld>
            <a:endParaRPr lang="en-US" altLang="zh-CN" dirty="0"/>
          </a:p>
        </p:txBody>
      </p:sp>
    </p:spTree>
    <p:extLst>
      <p:ext uri="{BB962C8B-B14F-4D97-AF65-F5344CB8AC3E}">
        <p14:creationId xmlns:p14="http://schemas.microsoft.com/office/powerpoint/2010/main" val="4376754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249198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470954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74740"/>
            <a:ext cx="5356224"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74740"/>
            <a:ext cx="5356224"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847551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405022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308046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2130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040275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37189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10424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3" y="2"/>
            <a:ext cx="2722563" cy="5864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2"/>
            <a:ext cx="8015287" cy="5864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1291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w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w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5" y="44450"/>
            <a:ext cx="10864851" cy="10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5" y="1087438"/>
            <a:ext cx="10864851" cy="477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102" r:id="rId1"/>
    <p:sldLayoutId id="2147486071" r:id="rId2"/>
    <p:sldLayoutId id="2147486070" r:id="rId3"/>
    <p:sldLayoutId id="2147486069" r:id="rId4"/>
    <p:sldLayoutId id="2147486068" r:id="rId5"/>
    <p:sldLayoutId id="2147486067" r:id="rId6"/>
    <p:sldLayoutId id="2147486066" r:id="rId7"/>
    <p:sldLayoutId id="2147486065" r:id="rId8"/>
    <p:sldLayoutId id="2147486064" r:id="rId9"/>
    <p:sldLayoutId id="2147486063" r:id="rId10"/>
    <p:sldLayoutId id="2147486062" r:id="rId11"/>
    <p:sldLayoutId id="2147486061" r:id="rId12"/>
    <p:sldLayoutId id="2147486060" r:id="rId13"/>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03215" y="0"/>
            <a:ext cx="10864851"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328615" y="1030289"/>
            <a:ext cx="10864851"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2054"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103" r:id="rId1"/>
    <p:sldLayoutId id="2147486081" r:id="rId2"/>
    <p:sldLayoutId id="2147486080" r:id="rId3"/>
    <p:sldLayoutId id="2147486079" r:id="rId4"/>
    <p:sldLayoutId id="2147486078" r:id="rId5"/>
    <p:sldLayoutId id="2147486077" r:id="rId6"/>
    <p:sldLayoutId id="2147486076" r:id="rId7"/>
    <p:sldLayoutId id="2147486075" r:id="rId8"/>
    <p:sldLayoutId id="2147486074" r:id="rId9"/>
    <p:sldLayoutId id="2147486073" r:id="rId10"/>
    <p:sldLayoutId id="214748607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rgbClr val="4D4D4D"/>
          </a:solidFill>
          <a:latin typeface="+mn-lt"/>
          <a:ea typeface="+mn-ea"/>
        </a:defRPr>
      </a:lvl5pPr>
      <a:lvl6pPr marL="2514600" indent="-228600" algn="l" rtl="0" fontAlgn="base">
        <a:spcBef>
          <a:spcPct val="20000"/>
        </a:spcBef>
        <a:spcAft>
          <a:spcPct val="0"/>
        </a:spcAft>
        <a:buChar char="»"/>
        <a:defRPr sz="2000">
          <a:solidFill>
            <a:srgbClr val="4D4D4D"/>
          </a:solidFill>
          <a:latin typeface="+mn-lt"/>
          <a:ea typeface="+mn-ea"/>
        </a:defRPr>
      </a:lvl6pPr>
      <a:lvl7pPr marL="2971800" indent="-228600" algn="l" rtl="0" fontAlgn="base">
        <a:spcBef>
          <a:spcPct val="20000"/>
        </a:spcBef>
        <a:spcAft>
          <a:spcPct val="0"/>
        </a:spcAft>
        <a:buChar char="»"/>
        <a:defRPr sz="2000">
          <a:solidFill>
            <a:srgbClr val="4D4D4D"/>
          </a:solidFill>
          <a:latin typeface="+mn-lt"/>
          <a:ea typeface="+mn-ea"/>
        </a:defRPr>
      </a:lvl7pPr>
      <a:lvl8pPr marL="3429000" indent="-228600" algn="l" rtl="0" fontAlgn="base">
        <a:spcBef>
          <a:spcPct val="20000"/>
        </a:spcBef>
        <a:spcAft>
          <a:spcPct val="0"/>
        </a:spcAft>
        <a:buChar char="»"/>
        <a:defRPr sz="2000">
          <a:solidFill>
            <a:srgbClr val="4D4D4D"/>
          </a:solidFill>
          <a:latin typeface="+mn-lt"/>
          <a:ea typeface="+mn-ea"/>
        </a:defRPr>
      </a:lvl8pPr>
      <a:lvl9pPr marL="3886200" indent="-228600" algn="l" rtl="0" fontAlgn="base">
        <a:spcBef>
          <a:spcPct val="20000"/>
        </a:spcBef>
        <a:spcAft>
          <a:spcPct val="0"/>
        </a:spcAft>
        <a:buChar char="»"/>
        <a:defRPr sz="2000">
          <a:solidFill>
            <a:srgbClr val="4D4D4D"/>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3215" y="44450"/>
            <a:ext cx="10864851" cy="10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303215" y="1090613"/>
            <a:ext cx="10864851" cy="477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sp>
        <p:nvSpPr>
          <p:cNvPr id="98315" name="Text Box 11"/>
          <p:cNvSpPr txBox="1">
            <a:spLocks noChangeArrowheads="1"/>
          </p:cNvSpPr>
          <p:nvPr/>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141716F1-DEB9-4CEB-A50B-35CD946F019C}"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dirty="0">
              <a:ea typeface="Arial Unicode MS" pitchFamily="34" charset="-122"/>
              <a:cs typeface="Arial Unicode MS" pitchFamily="34" charset="-122"/>
            </a:endParaRPr>
          </a:p>
        </p:txBody>
      </p:sp>
      <p:sp>
        <p:nvSpPr>
          <p:cNvPr id="3078"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3079"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6"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104" r:id="rId1"/>
    <p:sldLayoutId id="2147486091" r:id="rId2"/>
    <p:sldLayoutId id="2147486090" r:id="rId3"/>
    <p:sldLayoutId id="2147486089" r:id="rId4"/>
    <p:sldLayoutId id="2147486088" r:id="rId5"/>
    <p:sldLayoutId id="2147486087" r:id="rId6"/>
    <p:sldLayoutId id="2147486086" r:id="rId7"/>
    <p:sldLayoutId id="2147486085" r:id="rId8"/>
    <p:sldLayoutId id="2147486084" r:id="rId9"/>
    <p:sldLayoutId id="2147486083" r:id="rId10"/>
    <p:sldLayoutId id="214748608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28615" y="0"/>
            <a:ext cx="10864851"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303215" y="1074740"/>
            <a:ext cx="10864851" cy="478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sp>
        <p:nvSpPr>
          <p:cNvPr id="98315" name="Text Box 11"/>
          <p:cNvSpPr txBox="1">
            <a:spLocks noChangeArrowheads="1"/>
          </p:cNvSpPr>
          <p:nvPr/>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97717CAE-8A56-4A1E-9CCF-14BB7D98A060}"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dirty="0">
              <a:ea typeface="Arial Unicode MS" pitchFamily="34" charset="-122"/>
              <a:cs typeface="Arial Unicode MS" pitchFamily="34" charset="-122"/>
            </a:endParaRPr>
          </a:p>
        </p:txBody>
      </p:sp>
      <p:sp>
        <p:nvSpPr>
          <p:cNvPr id="4102"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4103"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6"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105" r:id="rId1"/>
    <p:sldLayoutId id="2147486101" r:id="rId2"/>
    <p:sldLayoutId id="2147486100" r:id="rId3"/>
    <p:sldLayoutId id="2147486099" r:id="rId4"/>
    <p:sldLayoutId id="2147486098" r:id="rId5"/>
    <p:sldLayoutId id="2147486097" r:id="rId6"/>
    <p:sldLayoutId id="2147486096" r:id="rId7"/>
    <p:sldLayoutId id="2147486095" r:id="rId8"/>
    <p:sldLayoutId id="2147486094" r:id="rId9"/>
    <p:sldLayoutId id="2147486093" r:id="rId10"/>
    <p:sldLayoutId id="214748609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2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2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2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2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wmf"/><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2.wmf"/></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wmf"/><Relationship Id="rId5" Type="http://schemas.openxmlformats.org/officeDocument/2006/relationships/oleObject" Target="../embeddings/oleObject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1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23.emf"/><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2.wmf"/><Relationship Id="rId5" Type="http://schemas.openxmlformats.org/officeDocument/2006/relationships/oleObject" Target="../embeddings/oleObject8.bin"/><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5.emf"/></Relationships>
</file>

<file path=ppt/slides/_rels/slide1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9.wmf"/><Relationship Id="rId5" Type="http://schemas.openxmlformats.org/officeDocument/2006/relationships/oleObject" Target="../embeddings/oleObject10.bin"/><Relationship Id="rId4" Type="http://schemas.openxmlformats.org/officeDocument/2006/relationships/image" Target="../media/image28.wmf"/></Relationships>
</file>

<file path=ppt/slides/_rels/slide1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11.bin"/><Relationship Id="rId7" Type="http://schemas.openxmlformats.org/officeDocument/2006/relationships/image" Target="../media/image33.emf"/><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wmf"/></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17.bin"/><Relationship Id="rId18" Type="http://schemas.openxmlformats.org/officeDocument/2006/relationships/image" Target="../media/image43.wmf"/><Relationship Id="rId26" Type="http://schemas.openxmlformats.org/officeDocument/2006/relationships/image" Target="../media/image47.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40.wmf"/><Relationship Id="rId17" Type="http://schemas.openxmlformats.org/officeDocument/2006/relationships/oleObject" Target="../embeddings/oleObject19.bin"/><Relationship Id="rId25" Type="http://schemas.openxmlformats.org/officeDocument/2006/relationships/oleObject" Target="../embeddings/oleObject23.bin"/><Relationship Id="rId2" Type="http://schemas.openxmlformats.org/officeDocument/2006/relationships/notesSlide" Target="../notesSlides/notesSlide19.xml"/><Relationship Id="rId16" Type="http://schemas.openxmlformats.org/officeDocument/2006/relationships/image" Target="../media/image42.wmf"/><Relationship Id="rId20" Type="http://schemas.openxmlformats.org/officeDocument/2006/relationships/image" Target="../media/image44.wmf"/><Relationship Id="rId29" Type="http://schemas.openxmlformats.org/officeDocument/2006/relationships/image" Target="../media/image48.wmf"/><Relationship Id="rId1" Type="http://schemas.openxmlformats.org/officeDocument/2006/relationships/slideLayout" Target="../slideLayouts/slideLayout12.xml"/><Relationship Id="rId6" Type="http://schemas.openxmlformats.org/officeDocument/2006/relationships/image" Target="../media/image37.wmf"/><Relationship Id="rId11" Type="http://schemas.openxmlformats.org/officeDocument/2006/relationships/oleObject" Target="../embeddings/oleObject16.bin"/><Relationship Id="rId24" Type="http://schemas.openxmlformats.org/officeDocument/2006/relationships/image" Target="../media/image46.wmf"/><Relationship Id="rId5" Type="http://schemas.openxmlformats.org/officeDocument/2006/relationships/oleObject" Target="../embeddings/oleObject13.bin"/><Relationship Id="rId15" Type="http://schemas.openxmlformats.org/officeDocument/2006/relationships/oleObject" Target="../embeddings/oleObject18.bin"/><Relationship Id="rId23" Type="http://schemas.openxmlformats.org/officeDocument/2006/relationships/oleObject" Target="../embeddings/oleObject22.bin"/><Relationship Id="rId28" Type="http://schemas.openxmlformats.org/officeDocument/2006/relationships/oleObject" Target="../embeddings/oleObject25.bin"/><Relationship Id="rId10" Type="http://schemas.openxmlformats.org/officeDocument/2006/relationships/image" Target="../media/image39.wmf"/><Relationship Id="rId19" Type="http://schemas.openxmlformats.org/officeDocument/2006/relationships/oleObject" Target="../embeddings/oleObject20.bin"/><Relationship Id="rId4" Type="http://schemas.openxmlformats.org/officeDocument/2006/relationships/image" Target="../media/image36.wmf"/><Relationship Id="rId9" Type="http://schemas.openxmlformats.org/officeDocument/2006/relationships/oleObject" Target="../embeddings/oleObject15.bin"/><Relationship Id="rId14" Type="http://schemas.openxmlformats.org/officeDocument/2006/relationships/image" Target="../media/image41.wmf"/><Relationship Id="rId22" Type="http://schemas.openxmlformats.org/officeDocument/2006/relationships/image" Target="../media/image45.wmf"/><Relationship Id="rId27"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0.wmf"/><Relationship Id="rId5" Type="http://schemas.openxmlformats.org/officeDocument/2006/relationships/oleObject" Target="../embeddings/oleObject27.bin"/><Relationship Id="rId4" Type="http://schemas.openxmlformats.org/officeDocument/2006/relationships/image" Target="../media/image49.wmf"/></Relationships>
</file>

<file path=ppt/slides/_rels/slide2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oleObject" Target="../embeddings/oleObject29.bin"/><Relationship Id="rId4" Type="http://schemas.openxmlformats.org/officeDocument/2006/relationships/image" Target="../media/image51.wmf"/></Relationships>
</file>

<file path=ppt/slides/_rels/slide22.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image" Target="../media/image54.emf"/><Relationship Id="rId7" Type="http://schemas.openxmlformats.org/officeDocument/2006/relationships/oleObject" Target="../embeddings/oleObject31.bin"/><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7.emf"/><Relationship Id="rId5" Type="http://schemas.openxmlformats.org/officeDocument/2006/relationships/image" Target="../media/image56.emf"/><Relationship Id="rId4" Type="http://schemas.openxmlformats.org/officeDocument/2006/relationships/image" Target="../media/image55.png"/><Relationship Id="rId9" Type="http://schemas.openxmlformats.org/officeDocument/2006/relationships/image" Target="../media/image59.png"/></Relationships>
</file>

<file path=ppt/slides/_rels/slide23.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61.wmf"/><Relationship Id="rId5" Type="http://schemas.openxmlformats.org/officeDocument/2006/relationships/oleObject" Target="../embeddings/oleObject33.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35.bin"/></Relationships>
</file>

<file path=ppt/slides/_rels/slide24.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41.bin"/><Relationship Id="rId18" Type="http://schemas.openxmlformats.org/officeDocument/2006/relationships/image" Target="../media/image71.wmf"/><Relationship Id="rId3" Type="http://schemas.openxmlformats.org/officeDocument/2006/relationships/oleObject" Target="../embeddings/oleObject36.bin"/><Relationship Id="rId21" Type="http://schemas.openxmlformats.org/officeDocument/2006/relationships/oleObject" Target="../embeddings/oleObject45.bin"/><Relationship Id="rId7" Type="http://schemas.openxmlformats.org/officeDocument/2006/relationships/oleObject" Target="../embeddings/oleObject38.bin"/><Relationship Id="rId12" Type="http://schemas.openxmlformats.org/officeDocument/2006/relationships/image" Target="../media/image68.wmf"/><Relationship Id="rId17" Type="http://schemas.openxmlformats.org/officeDocument/2006/relationships/oleObject" Target="../embeddings/oleObject43.bin"/><Relationship Id="rId2" Type="http://schemas.openxmlformats.org/officeDocument/2006/relationships/notesSlide" Target="../notesSlides/notesSlide24.xml"/><Relationship Id="rId16" Type="http://schemas.openxmlformats.org/officeDocument/2006/relationships/image" Target="../media/image70.wmf"/><Relationship Id="rId20" Type="http://schemas.openxmlformats.org/officeDocument/2006/relationships/image" Target="../media/image72.wmf"/><Relationship Id="rId1" Type="http://schemas.openxmlformats.org/officeDocument/2006/relationships/slideLayout" Target="../slideLayouts/slideLayout12.xml"/><Relationship Id="rId6" Type="http://schemas.openxmlformats.org/officeDocument/2006/relationships/image" Target="../media/image65.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67.wmf"/><Relationship Id="rId19" Type="http://schemas.openxmlformats.org/officeDocument/2006/relationships/oleObject" Target="../embeddings/oleObject44.bin"/><Relationship Id="rId4" Type="http://schemas.openxmlformats.org/officeDocument/2006/relationships/image" Target="../media/image64.wmf"/><Relationship Id="rId9" Type="http://schemas.openxmlformats.org/officeDocument/2006/relationships/oleObject" Target="../embeddings/oleObject39.bin"/><Relationship Id="rId14" Type="http://schemas.openxmlformats.org/officeDocument/2006/relationships/image" Target="../media/image69.wmf"/><Relationship Id="rId22" Type="http://schemas.openxmlformats.org/officeDocument/2006/relationships/image" Target="../media/image73.wmf"/></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80.emf"/><Relationship Id="rId3" Type="http://schemas.openxmlformats.org/officeDocument/2006/relationships/image" Target="../media/image75.emf"/><Relationship Id="rId7" Type="http://schemas.openxmlformats.org/officeDocument/2006/relationships/image" Target="../media/image79.emf"/><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78.emf"/><Relationship Id="rId5" Type="http://schemas.openxmlformats.org/officeDocument/2006/relationships/image" Target="../media/image77.emf"/><Relationship Id="rId10" Type="http://schemas.openxmlformats.org/officeDocument/2006/relationships/image" Target="../media/image82.emf"/><Relationship Id="rId4" Type="http://schemas.openxmlformats.org/officeDocument/2006/relationships/image" Target="../media/image76.emf"/><Relationship Id="rId9" Type="http://schemas.openxmlformats.org/officeDocument/2006/relationships/image" Target="../media/image81.emf"/></Relationships>
</file>

<file path=ppt/slides/_rels/slide27.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84.wmf"/><Relationship Id="rId5" Type="http://schemas.openxmlformats.org/officeDocument/2006/relationships/oleObject" Target="../embeddings/oleObject47.bin"/><Relationship Id="rId4" Type="http://schemas.openxmlformats.org/officeDocument/2006/relationships/image" Target="../media/image83.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87.wmf"/><Relationship Id="rId5" Type="http://schemas.openxmlformats.org/officeDocument/2006/relationships/oleObject" Target="../embeddings/oleObject50.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52.bin"/></Relationships>
</file>

<file path=ppt/slides/_rels/slide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9"/>
          <p:cNvSpPr>
            <a:spLocks noGrp="1" noChangeArrowheads="1"/>
          </p:cNvSpPr>
          <p:nvPr>
            <p:ph type="ctrTitle"/>
          </p:nvPr>
        </p:nvSpPr>
        <p:spPr>
          <a:xfrm>
            <a:off x="2705217" y="2255837"/>
            <a:ext cx="6111640" cy="9842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gn="ctr" eaLnBrk="1" hangingPunct="1">
              <a:lnSpc>
                <a:spcPct val="150000"/>
              </a:lnSpc>
            </a:pPr>
            <a:r>
              <a:rPr lang="zh-CN" altLang="en-US" sz="2400" dirty="0">
                <a:solidFill>
                  <a:schemeClr val="tx1"/>
                </a:solidFill>
                <a:latin typeface="宋体" panose="02010600030101010101" pitchFamily="2" charset="-122"/>
                <a:ea typeface="宋体" panose="02010600030101010101" pitchFamily="2" charset="-122"/>
              </a:rPr>
              <a:t>生物變異與參考區間</a:t>
            </a:r>
            <a:br>
              <a:rPr lang="en-US" altLang="zh-CN" sz="2400" dirty="0">
                <a:solidFill>
                  <a:schemeClr val="tx1"/>
                </a:solidFill>
                <a:latin typeface="宋体" panose="02010600030101010101" pitchFamily="2" charset="-122"/>
                <a:ea typeface="宋体" panose="02010600030101010101" pitchFamily="2" charset="-122"/>
              </a:rPr>
            </a:br>
            <a:r>
              <a:rPr lang="zh-CN" altLang="en-US" sz="2400" dirty="0">
                <a:solidFill>
                  <a:schemeClr val="tx1"/>
                </a:solidFill>
                <a:latin typeface="宋体" panose="02010600030101010101" pitchFamily="2" charset="-122"/>
                <a:ea typeface="宋体" panose="02010600030101010101" pitchFamily="2" charset="-122"/>
              </a:rPr>
              <a:t>（</a:t>
            </a: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biological variation</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reference interval</a:t>
            </a:r>
            <a:r>
              <a:rPr lang="zh-CN" altLang="en-US" sz="2400" dirty="0">
                <a:solidFill>
                  <a:schemeClr val="tx1"/>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2244847826"/>
      </p:ext>
    </p:extLst>
  </p:cSld>
  <p:clrMapOvr>
    <a:masterClrMapping/>
  </p:clrMapOvr>
  <p:transition advTm="221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grpSp>
        <p:nvGrpSpPr>
          <p:cNvPr id="3" name="组合 2"/>
          <p:cNvGrpSpPr/>
          <p:nvPr/>
        </p:nvGrpSpPr>
        <p:grpSpPr>
          <a:xfrm>
            <a:off x="1198095" y="1147642"/>
            <a:ext cx="9165104" cy="3939538"/>
            <a:chOff x="1198095" y="1147641"/>
            <a:chExt cx="9165104" cy="3939538"/>
          </a:xfrm>
        </p:grpSpPr>
        <p:sp>
          <p:nvSpPr>
            <p:cNvPr id="9" name="Rectangle 14"/>
            <p:cNvSpPr>
              <a:spLocks noChangeArrowheads="1"/>
            </p:cNvSpPr>
            <p:nvPr/>
          </p:nvSpPr>
          <p:spPr bwMode="auto">
            <a:xfrm>
              <a:off x="1198095" y="1147641"/>
              <a:ext cx="916510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人體內很多生物學指標在臨床實驗室的檢測結果都隨著時間在變化，引起這些變化的原因之一是人體的生物學變異；在人的一生中，某些特殊的生理階段會使這些指標發生變化，例如新生兒期、兒童期、青春期、絕經期或者老年期；而引起檢測結果變化的因素主要來自三個方面：分析前變異、分析中的因素和人體本身的生物學變異（稱為個體內生物學變異）；</a:t>
              </a:r>
              <a:endParaRPr lang="zh-CN" altLang="en-US" sz="1100" dirty="0"/>
            </a:p>
          </p:txBody>
        </p:sp>
        <p:sp>
          <p:nvSpPr>
            <p:cNvPr id="14" name="Rectangle 14"/>
            <p:cNvSpPr>
              <a:spLocks noChangeArrowheads="1"/>
            </p:cNvSpPr>
            <p:nvPr/>
          </p:nvSpPr>
          <p:spPr bwMode="auto">
            <a:xfrm>
              <a:off x="1198095" y="1747803"/>
              <a:ext cx="9165104"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通過實驗可獲得平均個體內生物學變異和個體間生物學變異；</a:t>
              </a:r>
              <a:r>
                <a:rPr lang="en-US" altLang="zh-TW" sz="1000" dirty="0"/>
                <a:t>1982</a:t>
              </a:r>
              <a:r>
                <a:rPr lang="zh-TW" altLang="en-US" sz="1100" dirty="0"/>
                <a:t>年，</a:t>
              </a:r>
              <a:r>
                <a:rPr lang="en-US" altLang="zh-TW" sz="1100" i="1" dirty="0">
                  <a:latin typeface="Times New Roman" pitchFamily="18" charset="0"/>
                  <a:cs typeface="Times New Roman" pitchFamily="18" charset="0"/>
                </a:rPr>
                <a:t>John Ross </a:t>
              </a:r>
              <a:r>
                <a:rPr lang="zh-TW" altLang="en-US" sz="1100" dirty="0"/>
                <a:t>在一篇關於精密度估算的評論中將發表的數據進行了編輯整理，列出了研究的時間範圍、個體內（</a:t>
              </a:r>
              <a:r>
                <a:rPr lang="en-US" altLang="zh-TW" sz="1100" i="1" dirty="0">
                  <a:latin typeface="Times New Roman" pitchFamily="18" charset="0"/>
                  <a:cs typeface="Times New Roman" pitchFamily="18" charset="0"/>
                </a:rPr>
                <a:t>CV</a:t>
              </a:r>
              <a:r>
                <a:rPr lang="en-US" altLang="zh-TW" sz="1100" baseline="-25000" dirty="0">
                  <a:latin typeface="Times New Roman" pitchFamily="18" charset="0"/>
                  <a:cs typeface="Times New Roman" pitchFamily="18" charset="0"/>
                </a:rPr>
                <a:t>I</a:t>
              </a:r>
              <a:r>
                <a:rPr lang="zh-TW" altLang="en-US" sz="1100" dirty="0"/>
                <a:t>）、個體間（</a:t>
              </a:r>
              <a:r>
                <a:rPr lang="en-US" altLang="zh-TW" sz="1100" i="1" dirty="0">
                  <a:latin typeface="Times New Roman" pitchFamily="18" charset="0"/>
                  <a:cs typeface="Times New Roman" pitchFamily="18" charset="0"/>
                </a:rPr>
                <a:t>CV</a:t>
              </a:r>
              <a:r>
                <a:rPr lang="en-US" altLang="zh-TW" sz="1100" baseline="-25000" dirty="0">
                  <a:latin typeface="Times New Roman" pitchFamily="18" charset="0"/>
                  <a:cs typeface="Times New Roman" pitchFamily="18" charset="0"/>
                </a:rPr>
                <a:t>G</a:t>
              </a:r>
              <a:r>
                <a:rPr lang="zh-TW" altLang="en-US" sz="1100" dirty="0"/>
                <a:t>）以及其他一些指標，</a:t>
              </a:r>
              <a:r>
                <a:rPr lang="en-US" altLang="zh-TW" sz="1100" i="1" dirty="0" err="1">
                  <a:latin typeface="Times New Roman" pitchFamily="18" charset="0"/>
                  <a:cs typeface="Times New Roman" pitchFamily="18" charset="0"/>
                </a:rPr>
                <a:t>Callum</a:t>
              </a:r>
              <a:r>
                <a:rPr lang="en-US" altLang="zh-TW" sz="1100" i="1" dirty="0">
                  <a:latin typeface="Times New Roman" pitchFamily="18" charset="0"/>
                  <a:cs typeface="Times New Roman" pitchFamily="18" charset="0"/>
                </a:rPr>
                <a:t> Fraser</a:t>
              </a:r>
              <a:r>
                <a:rPr lang="en-US" altLang="zh-TW" sz="1100" dirty="0"/>
                <a:t> </a:t>
              </a:r>
              <a:r>
                <a:rPr lang="zh-TW" altLang="en-US" sz="1100" dirty="0"/>
                <a:t>於</a:t>
              </a:r>
              <a:r>
                <a:rPr lang="en-US" altLang="zh-TW" sz="1000" dirty="0"/>
                <a:t>1988</a:t>
              </a:r>
              <a:r>
                <a:rPr lang="zh-TW" altLang="en-US" sz="1100" dirty="0"/>
                <a:t>年參照此模型將此工作在</a:t>
              </a:r>
              <a:r>
                <a:rPr lang="en-US" altLang="zh-TW" sz="1000" dirty="0"/>
                <a:t>1992</a:t>
              </a:r>
              <a:r>
                <a:rPr lang="zh-TW" altLang="en-US" sz="1100" dirty="0"/>
                <a:t>年進行了更新，</a:t>
              </a:r>
              <a:r>
                <a:rPr lang="en-US" altLang="zh-TW" sz="1100" i="1" dirty="0">
                  <a:latin typeface="Times New Roman" pitchFamily="18" charset="0"/>
                  <a:cs typeface="Times New Roman" pitchFamily="18" charset="0"/>
                </a:rPr>
                <a:t>Xavier </a:t>
              </a:r>
              <a:r>
                <a:rPr lang="en-US" altLang="zh-TW" sz="1100" i="1" dirty="0" err="1">
                  <a:latin typeface="Times New Roman" pitchFamily="18" charset="0"/>
                  <a:cs typeface="Times New Roman" pitchFamily="18" charset="0"/>
                </a:rPr>
                <a:t>Funetes-Arderiu</a:t>
              </a:r>
              <a:r>
                <a:rPr lang="en-US" altLang="zh-TW" sz="1100" dirty="0"/>
                <a:t> </a:t>
              </a:r>
              <a:r>
                <a:rPr lang="zh-TW" altLang="en-US" sz="1100" dirty="0"/>
                <a:t>及其同事</a:t>
              </a:r>
              <a:r>
                <a:rPr lang="en-US" altLang="zh-TW" sz="1000" dirty="0"/>
                <a:t>1997</a:t>
              </a:r>
              <a:r>
                <a:rPr lang="zh-TW" altLang="en-US" sz="1100" dirty="0"/>
                <a:t>年出版了綜合性數據庫總結了中位 </a:t>
              </a:r>
              <a:r>
                <a:rPr lang="en-US" altLang="zh-TW" sz="1100" i="1" dirty="0">
                  <a:latin typeface="Times New Roman" pitchFamily="18" charset="0"/>
                  <a:cs typeface="Times New Roman" pitchFamily="18" charset="0"/>
                </a:rPr>
                <a:t>CV</a:t>
              </a:r>
              <a:r>
                <a:rPr lang="en-US" altLang="zh-TW" sz="1100" baseline="-25000" dirty="0">
                  <a:latin typeface="Times New Roman" pitchFamily="18" charset="0"/>
                  <a:cs typeface="Times New Roman" pitchFamily="18" charset="0"/>
                </a:rPr>
                <a:t>I</a:t>
              </a:r>
              <a:r>
                <a:rPr lang="en-US" altLang="zh-TW" sz="1100" dirty="0"/>
                <a:t> </a:t>
              </a:r>
              <a:r>
                <a:rPr lang="zh-TW" altLang="en-US" sz="1100" dirty="0"/>
                <a:t>和</a:t>
              </a:r>
              <a:r>
                <a:rPr lang="en-US" altLang="zh-TW" sz="1100" dirty="0"/>
                <a:t> </a:t>
              </a:r>
              <a:r>
                <a:rPr lang="en-US" altLang="zh-TW" sz="1100" i="1" dirty="0">
                  <a:latin typeface="Times New Roman" pitchFamily="18" charset="0"/>
                  <a:cs typeface="Times New Roman" pitchFamily="18" charset="0"/>
                </a:rPr>
                <a:t>CV</a:t>
              </a:r>
              <a:r>
                <a:rPr lang="en-US" altLang="zh-TW" sz="1100" baseline="-25000" dirty="0">
                  <a:latin typeface="Times New Roman" pitchFamily="18" charset="0"/>
                  <a:cs typeface="Times New Roman" pitchFamily="18" charset="0"/>
                </a:rPr>
                <a:t>G</a:t>
              </a:r>
              <a:r>
                <a:rPr lang="en-US" altLang="zh-TW" sz="1100" dirty="0">
                  <a:latin typeface="Times New Roman" pitchFamily="18" charset="0"/>
                  <a:cs typeface="Times New Roman" pitchFamily="18" charset="0"/>
                </a:rPr>
                <a:t> </a:t>
              </a:r>
              <a:r>
                <a:rPr lang="zh-TW" altLang="en-US" sz="1100" dirty="0"/>
                <a:t>，西班牙醫學會生物化學與分子病理學分析質量委員會</a:t>
              </a:r>
              <a:r>
                <a:rPr lang="zh-CN" altLang="en-US" sz="1100" dirty="0"/>
                <a:t>（</a:t>
              </a:r>
              <a:r>
                <a:rPr lang="en-US" altLang="zh-TW" sz="1100" i="1" dirty="0">
                  <a:latin typeface="Times New Roman" pitchFamily="18" charset="0"/>
                  <a:cs typeface="Times New Roman" pitchFamily="18" charset="0"/>
                </a:rPr>
                <a:t>SEQC</a:t>
              </a:r>
              <a:r>
                <a:rPr lang="zh-CN" altLang="en-US" sz="1100" dirty="0">
                  <a:latin typeface="Times New Roman" pitchFamily="18" charset="0"/>
                  <a:cs typeface="Times New Roman" pitchFamily="18" charset="0"/>
                </a:rPr>
                <a:t>）</a:t>
              </a:r>
              <a:r>
                <a:rPr lang="zh-TW" altLang="en-US" sz="1100" dirty="0"/>
                <a:t>卡門博士</a:t>
              </a:r>
              <a:r>
                <a:rPr lang="zh-CN" altLang="en-US" sz="1100" dirty="0">
                  <a:latin typeface="Times New Roman" pitchFamily="18" charset="0"/>
                  <a:cs typeface="Times New Roman" pitchFamily="18" charset="0"/>
                </a:rPr>
                <a:t>（</a:t>
              </a:r>
              <a:r>
                <a:rPr lang="en-US" altLang="zh-TW" sz="1100" i="1" dirty="0" err="1">
                  <a:latin typeface="Times New Roman" pitchFamily="18" charset="0"/>
                  <a:cs typeface="Times New Roman" pitchFamily="18" charset="0"/>
                </a:rPr>
                <a:t>Dr.Carmen</a:t>
              </a:r>
              <a:r>
                <a:rPr lang="en-US" altLang="zh-TW" sz="1100" i="1" dirty="0">
                  <a:latin typeface="Times New Roman" pitchFamily="18" charset="0"/>
                  <a:cs typeface="Times New Roman" pitchFamily="18" charset="0"/>
                </a:rPr>
                <a:t> </a:t>
              </a:r>
              <a:r>
                <a:rPr lang="en-US" altLang="zh-TW" sz="1100" i="1" dirty="0" err="1">
                  <a:latin typeface="Times New Roman" pitchFamily="18" charset="0"/>
                  <a:cs typeface="Times New Roman" pitchFamily="18" charset="0"/>
                </a:rPr>
                <a:t>Ricos</a:t>
              </a:r>
              <a:r>
                <a:rPr lang="zh-CN" altLang="en-US" sz="1100" dirty="0">
                  <a:latin typeface="Times New Roman" pitchFamily="18" charset="0"/>
                  <a:cs typeface="Times New Roman" pitchFamily="18" charset="0"/>
                </a:rPr>
                <a:t>）</a:t>
              </a:r>
              <a:r>
                <a:rPr lang="zh-TW" altLang="en-US" sz="1100" dirty="0"/>
                <a:t>及其同事等人維護著一個基於甄選匯總已發表文獻生物變異數據為基礎構建的數據庫，該數據庫每兩年更新一次，最新一次為</a:t>
              </a:r>
              <a:r>
                <a:rPr lang="en-US" altLang="zh-TW" sz="1000" dirty="0"/>
                <a:t>2014</a:t>
              </a:r>
              <a:r>
                <a:rPr lang="zh-TW" altLang="en-US" sz="1100" dirty="0"/>
                <a:t>年更新；</a:t>
              </a:r>
              <a:endParaRPr lang="zh-CN" altLang="en-US" sz="1100" dirty="0"/>
            </a:p>
          </p:txBody>
        </p:sp>
        <p:sp>
          <p:nvSpPr>
            <p:cNvPr id="15" name="Rectangle 14"/>
            <p:cNvSpPr>
              <a:spLocks noChangeArrowheads="1"/>
            </p:cNvSpPr>
            <p:nvPr/>
          </p:nvSpPr>
          <p:spPr bwMode="auto">
            <a:xfrm>
              <a:off x="1198095" y="2686522"/>
              <a:ext cx="916510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通過對這些數據的分析可以制定適當的臨床實驗室質量規範，比如包括：允許的精密度指標、允許的偏倚指標、允許的總誤差，以及方法間的允許偏差、能力驗證計劃（</a:t>
              </a:r>
              <a:r>
                <a:rPr lang="en-US" altLang="zh-TW" sz="1100" i="1" dirty="0">
                  <a:latin typeface="Times New Roman" pitchFamily="18" charset="0"/>
                  <a:cs typeface="Times New Roman" pitchFamily="18" charset="0"/>
                </a:rPr>
                <a:t>PT</a:t>
              </a:r>
              <a:r>
                <a:rPr lang="zh-TW" altLang="en-US" sz="1100" dirty="0"/>
                <a:t>）或室間質量評價</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EQA</a:t>
              </a:r>
              <a:r>
                <a:rPr lang="zh-CN" altLang="en-US" sz="1100" dirty="0">
                  <a:latin typeface="Times New Roman" pitchFamily="18" charset="0"/>
                  <a:cs typeface="Times New Roman" pitchFamily="18" charset="0"/>
                </a:rPr>
                <a:t>）</a:t>
              </a:r>
              <a:r>
                <a:rPr lang="zh-TW" altLang="en-US" sz="1100" dirty="0"/>
                <a:t>標準等；更重要的是，臨床實驗技師有必要在對檢測結果變化的解釋中考慮到生物學變異對結果變化產生的影響；</a:t>
              </a:r>
              <a:endParaRPr lang="zh-CN" altLang="en-US" sz="1100" dirty="0"/>
            </a:p>
          </p:txBody>
        </p:sp>
        <p:sp>
          <p:nvSpPr>
            <p:cNvPr id="16" name="Rectangle 14"/>
            <p:cNvSpPr>
              <a:spLocks noChangeArrowheads="1"/>
            </p:cNvSpPr>
            <p:nvPr/>
          </p:nvSpPr>
          <p:spPr bwMode="auto">
            <a:xfrm>
              <a:off x="1198095" y="3286687"/>
              <a:ext cx="916510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醫學檢驗生物參考區間定義為覆蓋中心</a:t>
              </a:r>
              <a:r>
                <a:rPr lang="en-US" altLang="zh-TW" sz="1000" dirty="0"/>
                <a:t>95%</a:t>
              </a:r>
              <a:r>
                <a:rPr lang="zh-TW" altLang="en-US" sz="1100" dirty="0"/>
                <a:t>的數值的分佈，這些數值來源於對參考人群進行隨機抽樣並進行檢測得到的數據；生物參考區間反映的是健康個體檢驗項目的數值，而決定限是用於評價患者所得到的結果是否應採取治療措施，當沒有更好的方法將健康與患病狀態區分開來的時候，通常使用參考區間作為依據；</a:t>
              </a:r>
              <a:endParaRPr lang="zh-CN" altLang="en-US" sz="1100" dirty="0"/>
            </a:p>
          </p:txBody>
        </p:sp>
        <p:sp>
          <p:nvSpPr>
            <p:cNvPr id="17" name="Rectangle 14"/>
            <p:cNvSpPr>
              <a:spLocks noChangeArrowheads="1"/>
            </p:cNvSpPr>
            <p:nvPr/>
          </p:nvSpPr>
          <p:spPr bwMode="auto">
            <a:xfrm>
              <a:off x="1198095" y="3886852"/>
              <a:ext cx="916510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霍夫曼</a:t>
              </a:r>
              <a:r>
                <a:rPr lang="zh-TW" altLang="en-US"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Hoffman R</a:t>
              </a:r>
              <a:r>
                <a:rPr lang="zh-TW" altLang="en-US" sz="1100" dirty="0">
                  <a:latin typeface="Times New Roman" pitchFamily="18" charset="0"/>
                  <a:cs typeface="Times New Roman" pitchFamily="18" charset="0"/>
                </a:rPr>
                <a:t>）</a:t>
              </a:r>
              <a:r>
                <a:rPr lang="zh-TW" altLang="en-US" sz="1100" dirty="0"/>
                <a:t>在</a:t>
              </a:r>
              <a:r>
                <a:rPr lang="en-US" altLang="zh-TW" sz="1000" dirty="0"/>
                <a:t>1971</a:t>
              </a:r>
              <a:r>
                <a:rPr lang="zh-TW" altLang="en-US" sz="1100" dirty="0"/>
                <a:t>年出版的</a:t>
              </a:r>
              <a:r>
                <a:rPr lang="en-US" altLang="zh-TW" sz="1100" dirty="0"/>
                <a:t>《</a:t>
              </a:r>
              <a:r>
                <a:rPr lang="zh-TW" altLang="en-US" sz="1100" dirty="0"/>
                <a:t>建立臨床實驗室中的質量控制和正常範圍</a:t>
              </a:r>
              <a:r>
                <a:rPr lang="en-US" altLang="zh-TW" sz="1100" dirty="0"/>
                <a:t>》</a:t>
              </a:r>
              <a:r>
                <a:rPr lang="zh-TW" altLang="en-US"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Establishing quality control and normal ranges in the clinical laboratory</a:t>
              </a:r>
              <a:r>
                <a:rPr lang="zh-TW" altLang="en-US" sz="11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1971</a:t>
              </a:r>
              <a:r>
                <a:rPr lang="zh-TW" altLang="en-US" sz="1100" dirty="0">
                  <a:latin typeface="Times New Roman" pitchFamily="18" charset="0"/>
                  <a:cs typeface="Times New Roman" pitchFamily="18" charset="0"/>
                </a:rPr>
                <a:t>）</a:t>
              </a:r>
              <a:r>
                <a:rPr lang="zh-TW" altLang="en-US" sz="1100" dirty="0"/>
                <a:t>詳細說明瞭使用住院患者來建立正常值範圍的方法，他假定健康人群遵循正態或對數正態分佈，用累計分佈的方式利用</a:t>
              </a:r>
              <a:r>
                <a:rPr lang="en-US" altLang="zh-TW" sz="1000" dirty="0"/>
                <a:t>20%</a:t>
              </a:r>
              <a:r>
                <a:rPr lang="zh-TW" altLang="en-US" sz="1000" dirty="0"/>
                <a:t>～</a:t>
              </a:r>
              <a:r>
                <a:rPr lang="en-US" altLang="zh-TW" sz="1000" dirty="0"/>
                <a:t>80%</a:t>
              </a:r>
              <a:r>
                <a:rPr lang="zh-TW" altLang="en-US" sz="1100" dirty="0"/>
                <a:t>之間的數據建立概率密度曲線，並以此推算獲取</a:t>
              </a:r>
              <a:r>
                <a:rPr lang="en-US" altLang="zh-TW" sz="1000" dirty="0"/>
                <a:t>2.5%</a:t>
              </a:r>
              <a:r>
                <a:rPr lang="zh-TW" altLang="en-US" sz="1100" dirty="0"/>
                <a:t>和</a:t>
              </a:r>
              <a:r>
                <a:rPr lang="en-US" altLang="zh-TW" sz="1000" dirty="0"/>
                <a:t>97.5%</a:t>
              </a:r>
              <a:r>
                <a:rPr lang="zh-TW" altLang="en-US" sz="1100" dirty="0"/>
                <a:t>的臨界值；</a:t>
              </a:r>
              <a:endParaRPr lang="zh-CN" altLang="en-US" sz="1100" dirty="0"/>
            </a:p>
          </p:txBody>
        </p:sp>
        <p:sp>
          <p:nvSpPr>
            <p:cNvPr id="18" name="Rectangle 14"/>
            <p:cNvSpPr>
              <a:spLocks noChangeArrowheads="1"/>
            </p:cNvSpPr>
            <p:nvPr/>
          </p:nvSpPr>
          <p:spPr bwMode="auto">
            <a:xfrm>
              <a:off x="1198095" y="4487015"/>
              <a:ext cx="916510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1100" dirty="0"/>
                <a:t>       而參考區間這個定義最初是由 </a:t>
              </a:r>
              <a:r>
                <a:rPr lang="en-US" altLang="zh-TW" sz="1100" i="1" dirty="0">
                  <a:latin typeface="Times New Roman" pitchFamily="18" charset="0"/>
                  <a:cs typeface="Times New Roman" pitchFamily="18" charset="0"/>
                </a:rPr>
                <a:t>IFCC </a:t>
              </a:r>
              <a:r>
                <a:rPr lang="zh-TW" altLang="en-US" sz="1100" dirty="0"/>
                <a:t>提出的，</a:t>
              </a:r>
              <a:r>
                <a:rPr lang="en-US" altLang="zh-TW" sz="1100" i="1" dirty="0">
                  <a:latin typeface="Times New Roman" pitchFamily="18" charset="0"/>
                  <a:cs typeface="Times New Roman" pitchFamily="18" charset="0"/>
                </a:rPr>
                <a:t>CLSI </a:t>
              </a:r>
              <a:r>
                <a:rPr lang="zh-TW" altLang="en-US" sz="1100" dirty="0"/>
                <a:t>在其基礎上進行了歸納總結，</a:t>
              </a:r>
              <a:r>
                <a:rPr lang="en-US" altLang="zh-TW" sz="1000" dirty="0"/>
                <a:t>1979</a:t>
              </a:r>
              <a:r>
                <a:rPr lang="zh-TW" altLang="en-US" sz="1000" dirty="0"/>
                <a:t>～</a:t>
              </a:r>
              <a:r>
                <a:rPr lang="en-US" altLang="zh-TW" sz="1000" dirty="0"/>
                <a:t>1987</a:t>
              </a:r>
              <a:r>
                <a:rPr lang="zh-TW" altLang="en-US" sz="1100" dirty="0"/>
                <a:t>年間，</a:t>
              </a:r>
              <a:r>
                <a:rPr lang="en-US" altLang="zh-TW" sz="1100" i="1" dirty="0">
                  <a:latin typeface="Times New Roman" pitchFamily="18" charset="0"/>
                  <a:cs typeface="Times New Roman" pitchFamily="18" charset="0"/>
                </a:rPr>
                <a:t>IFCC </a:t>
              </a:r>
              <a:r>
                <a:rPr lang="zh-TW" altLang="en-US" sz="1100" dirty="0"/>
                <a:t>發佈了</a:t>
              </a:r>
              <a:r>
                <a:rPr lang="zh-CN" altLang="en-US" sz="1100" dirty="0"/>
                <a:t>六</a:t>
              </a:r>
              <a:r>
                <a:rPr lang="zh-TW" altLang="en-US" sz="1100" dirty="0"/>
                <a:t>個關於參考區間制訂的原理和方法的檔</a:t>
              </a:r>
              <a:r>
                <a:rPr lang="zh-CN" altLang="en-US" sz="1100" dirty="0"/>
                <a:t>，</a:t>
              </a:r>
              <a:r>
                <a:rPr lang="zh-TW" altLang="en-US" sz="1100" dirty="0"/>
                <a:t>成為參考區間制訂的依據，</a:t>
              </a:r>
              <a:r>
                <a:rPr lang="en-US" altLang="zh-TW" sz="1000" dirty="0"/>
                <a:t>1992</a:t>
              </a:r>
              <a:r>
                <a:rPr lang="zh-TW" altLang="en-US" sz="1100" dirty="0"/>
                <a:t>年</a:t>
              </a:r>
              <a:r>
                <a:rPr lang="en-US" altLang="zh-TW" sz="1000" dirty="0"/>
                <a:t>3</a:t>
              </a:r>
              <a:r>
                <a:rPr lang="zh-TW" altLang="en-US" sz="1100" dirty="0"/>
                <a:t>月</a:t>
              </a:r>
              <a:r>
                <a:rPr lang="en-US" altLang="zh-TW" sz="1100" i="1" dirty="0">
                  <a:latin typeface="Times New Roman" pitchFamily="18" charset="0"/>
                  <a:cs typeface="Times New Roman" pitchFamily="18" charset="0"/>
                </a:rPr>
                <a:t>CLSI</a:t>
              </a:r>
              <a:r>
                <a:rPr lang="en-US" altLang="zh-TW" sz="1100" dirty="0"/>
                <a:t> </a:t>
              </a:r>
              <a:r>
                <a:rPr lang="zh-TW" altLang="en-US" sz="1100" dirty="0"/>
                <a:t>發表了關於參考區間制訂的指南檔</a:t>
              </a:r>
              <a:r>
                <a:rPr lang="en-US" altLang="zh-TW" sz="1100" dirty="0"/>
                <a:t>《</a:t>
              </a:r>
              <a:r>
                <a:rPr lang="zh-TW" altLang="en-US" sz="1100" dirty="0"/>
                <a:t>臨床實驗室如何定義和判定參考區間：批准指南</a:t>
              </a:r>
              <a:r>
                <a:rPr lang="en-US" altLang="zh-TW" sz="1100" dirty="0"/>
                <a:t>》</a:t>
              </a:r>
              <a:r>
                <a:rPr lang="zh-TW" altLang="en-US" sz="1100" dirty="0"/>
                <a:t>試行版，</a:t>
              </a:r>
              <a:r>
                <a:rPr lang="en-US" altLang="zh-TW" sz="1000" dirty="0"/>
                <a:t>1995</a:t>
              </a:r>
              <a:r>
                <a:rPr lang="zh-TW" altLang="en-US" sz="1100" dirty="0"/>
                <a:t>年</a:t>
              </a:r>
              <a:r>
                <a:rPr lang="en-US" altLang="zh-TW" sz="1000" dirty="0"/>
                <a:t>6</a:t>
              </a:r>
              <a:r>
                <a:rPr lang="zh-TW" altLang="en-US" sz="1100" dirty="0"/>
                <a:t>月發表了正式版，並於</a:t>
              </a:r>
              <a:r>
                <a:rPr lang="en-US" altLang="zh-TW" sz="1000" dirty="0"/>
                <a:t>2001</a:t>
              </a:r>
              <a:r>
                <a:rPr lang="zh-TW" altLang="en-US" sz="1100" dirty="0"/>
                <a:t>年再次進行了修訂；</a:t>
              </a:r>
              <a:endParaRPr lang="zh-CN" altLang="en-US" sz="11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檢驗結果變異</a:t>
            </a:r>
          </a:p>
        </p:txBody>
      </p:sp>
      <p:grpSp>
        <p:nvGrpSpPr>
          <p:cNvPr id="3" name="组合 2"/>
          <p:cNvGrpSpPr/>
          <p:nvPr/>
        </p:nvGrpSpPr>
        <p:grpSpPr>
          <a:xfrm>
            <a:off x="1295797" y="721814"/>
            <a:ext cx="9184346" cy="4679674"/>
            <a:chOff x="1295797" y="844646"/>
            <a:chExt cx="9184346" cy="4679674"/>
          </a:xfrm>
        </p:grpSpPr>
        <p:pic>
          <p:nvPicPr>
            <p:cNvPr id="2048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799" y="1489378"/>
              <a:ext cx="6910236" cy="2279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95797" y="4132328"/>
              <a:ext cx="9184346" cy="139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4"/>
            <p:cNvSpPr>
              <a:spLocks noChangeArrowheads="1"/>
            </p:cNvSpPr>
            <p:nvPr/>
          </p:nvSpPr>
          <p:spPr bwMode="auto">
            <a:xfrm>
              <a:off x="1295797" y="844646"/>
              <a:ext cx="9184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1200" dirty="0"/>
                <a:t>一、分析前變異</a:t>
              </a:r>
            </a:p>
          </p:txBody>
        </p:sp>
        <p:sp>
          <p:nvSpPr>
            <p:cNvPr id="15" name="Rectangle 14"/>
            <p:cNvSpPr>
              <a:spLocks noChangeArrowheads="1"/>
            </p:cNvSpPr>
            <p:nvPr/>
          </p:nvSpPr>
          <p:spPr bwMode="auto">
            <a:xfrm>
              <a:off x="1295799" y="1277746"/>
              <a:ext cx="660168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900" dirty="0"/>
                <a:t>標本採集前患者準備可能影響的因素</a:t>
              </a:r>
              <a:endParaRPr lang="zh-CN" altLang="en-US" sz="900" dirty="0"/>
            </a:p>
          </p:txBody>
        </p:sp>
        <p:sp>
          <p:nvSpPr>
            <p:cNvPr id="16" name="Rectangle 14"/>
            <p:cNvSpPr>
              <a:spLocks noChangeArrowheads="1"/>
            </p:cNvSpPr>
            <p:nvPr/>
          </p:nvSpPr>
          <p:spPr bwMode="auto">
            <a:xfrm>
              <a:off x="1295799" y="3911730"/>
              <a:ext cx="918434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TW" altLang="en-US" sz="900" dirty="0"/>
                <a:t>標本採集中可能的影響因素</a:t>
              </a:r>
              <a:endParaRPr lang="zh-CN" altLang="en-US" sz="900" dirty="0"/>
            </a:p>
          </p:txBody>
        </p:sp>
      </p:grpSp>
    </p:spTree>
    <p:extLst>
      <p:ext uri="{BB962C8B-B14F-4D97-AF65-F5344CB8AC3E}">
        <p14:creationId xmlns:p14="http://schemas.microsoft.com/office/powerpoint/2010/main" val="2824169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檢驗結果變異</a:t>
            </a:r>
          </a:p>
        </p:txBody>
      </p:sp>
      <p:grpSp>
        <p:nvGrpSpPr>
          <p:cNvPr id="2" name="组合 1"/>
          <p:cNvGrpSpPr/>
          <p:nvPr/>
        </p:nvGrpSpPr>
        <p:grpSpPr>
          <a:xfrm>
            <a:off x="883407" y="704951"/>
            <a:ext cx="9722646" cy="5062669"/>
            <a:chOff x="883407" y="704949"/>
            <a:chExt cx="9722646" cy="5062669"/>
          </a:xfrm>
        </p:grpSpPr>
        <p:pic>
          <p:nvPicPr>
            <p:cNvPr id="2150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1796" y="3222695"/>
              <a:ext cx="3150694" cy="2244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4"/>
            <p:cNvSpPr>
              <a:spLocks noChangeArrowheads="1"/>
            </p:cNvSpPr>
            <p:nvPr/>
          </p:nvSpPr>
          <p:spPr bwMode="auto">
            <a:xfrm>
              <a:off x="883407" y="704949"/>
              <a:ext cx="97226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二、分析過程中產生的變異</a:t>
              </a:r>
            </a:p>
          </p:txBody>
        </p:sp>
        <p:sp>
          <p:nvSpPr>
            <p:cNvPr id="15" name="Rectangle 14"/>
            <p:cNvSpPr>
              <a:spLocks noChangeArrowheads="1"/>
            </p:cNvSpPr>
            <p:nvPr/>
          </p:nvSpPr>
          <p:spPr bwMode="auto">
            <a:xfrm>
              <a:off x="883407" y="1074281"/>
              <a:ext cx="9722641"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測量系統的隨機偏差（精密度）與系統偏差（偏倚）；</a:t>
              </a:r>
            </a:p>
          </p:txBody>
        </p:sp>
        <p:sp>
          <p:nvSpPr>
            <p:cNvPr id="10" name="Rectangle 14"/>
            <p:cNvSpPr>
              <a:spLocks noChangeArrowheads="1"/>
            </p:cNvSpPr>
            <p:nvPr/>
          </p:nvSpPr>
          <p:spPr bwMode="auto">
            <a:xfrm>
              <a:off x="883411" y="1465355"/>
              <a:ext cx="97226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三、生物學變異</a:t>
              </a:r>
            </a:p>
          </p:txBody>
        </p:sp>
        <p:sp>
          <p:nvSpPr>
            <p:cNvPr id="11" name="Rectangle 14"/>
            <p:cNvSpPr>
              <a:spLocks noChangeArrowheads="1"/>
            </p:cNvSpPr>
            <p:nvPr/>
          </p:nvSpPr>
          <p:spPr bwMode="auto">
            <a:xfrm>
              <a:off x="883409" y="1798827"/>
              <a:ext cx="972264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分析物在個體的生命週期內發生著變化，通常根據年齡對參考值進行分層，另外某些分析物有生物學週期或節律可以預測，因此當標本來自不同的生命週期時，所得到系列結果的差異可由生物學週期或節律解釋；</a:t>
              </a:r>
            </a:p>
          </p:txBody>
        </p:sp>
        <p:sp>
          <p:nvSpPr>
            <p:cNvPr id="17" name="Rectangle 14"/>
            <p:cNvSpPr>
              <a:spLocks noChangeArrowheads="1"/>
            </p:cNvSpPr>
            <p:nvPr/>
          </p:nvSpPr>
          <p:spPr bwMode="auto">
            <a:xfrm>
              <a:off x="883409" y="2397509"/>
              <a:ext cx="972264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固有的生物學變異是指在內環境穩態點附近的隨機波動，這種隨機波動稱為個體內生物學變異；</a:t>
              </a:r>
              <a:endParaRPr lang="en-US" altLang="zh-CN" sz="1100" dirty="0"/>
            </a:p>
            <a:p>
              <a:pPr>
                <a:lnSpc>
                  <a:spcPct val="150000"/>
                </a:lnSpc>
              </a:pPr>
              <a:r>
                <a:rPr lang="zh-CN" altLang="en-US" sz="1100" dirty="0"/>
                <a:t>不同個體的內環境穩態點會不同，個體間內環境穩態點的差異稱為個體間生物學變異；</a:t>
              </a:r>
            </a:p>
          </p:txBody>
        </p:sp>
        <p:sp>
          <p:nvSpPr>
            <p:cNvPr id="18" name="Rectangle 14"/>
            <p:cNvSpPr>
              <a:spLocks noChangeArrowheads="1"/>
            </p:cNvSpPr>
            <p:nvPr/>
          </p:nvSpPr>
          <p:spPr bwMode="auto">
            <a:xfrm>
              <a:off x="883412" y="3141111"/>
              <a:ext cx="9722641"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個體內生物學變異的穩健性：</a:t>
              </a:r>
            </a:p>
          </p:txBody>
        </p:sp>
        <p:pic>
          <p:nvPicPr>
            <p:cNvPr id="2150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7476" y="4210149"/>
              <a:ext cx="3652717" cy="1557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71613" y="2389520"/>
              <a:ext cx="2880924" cy="155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06706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生物學變異</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個體內、個體間生物學變異評估</a:t>
            </a:r>
            <a:endParaRPr lang="zh-CN" altLang="en-US" sz="1300" dirty="0">
              <a:solidFill>
                <a:srgbClr val="000000"/>
              </a:solidFill>
              <a:latin typeface="Times New Roman" pitchFamily="18" charset="0"/>
              <a:cs typeface="Times New Roman" pitchFamily="18" charset="0"/>
            </a:endParaRPr>
          </a:p>
        </p:txBody>
      </p:sp>
      <p:grpSp>
        <p:nvGrpSpPr>
          <p:cNvPr id="3" name="组合 2"/>
          <p:cNvGrpSpPr/>
          <p:nvPr/>
        </p:nvGrpSpPr>
        <p:grpSpPr>
          <a:xfrm>
            <a:off x="245688" y="600824"/>
            <a:ext cx="10973422" cy="5220016"/>
            <a:chOff x="245686" y="600824"/>
            <a:chExt cx="10973423" cy="5220016"/>
          </a:xfrm>
        </p:grpSpPr>
        <p:grpSp>
          <p:nvGrpSpPr>
            <p:cNvPr id="2" name="组合 1"/>
            <p:cNvGrpSpPr/>
            <p:nvPr/>
          </p:nvGrpSpPr>
          <p:grpSpPr>
            <a:xfrm>
              <a:off x="245686" y="682713"/>
              <a:ext cx="7762688" cy="5124479"/>
              <a:chOff x="245686" y="682713"/>
              <a:chExt cx="7762688" cy="5124479"/>
            </a:xfrm>
          </p:grpSpPr>
          <p:sp>
            <p:nvSpPr>
              <p:cNvPr id="6" name="Rectangle 14"/>
              <p:cNvSpPr>
                <a:spLocks noChangeArrowheads="1"/>
              </p:cNvSpPr>
              <p:nvPr/>
            </p:nvSpPr>
            <p:spPr bwMode="auto">
              <a:xfrm>
                <a:off x="245689" y="682713"/>
                <a:ext cx="7762685"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以一組</a:t>
                </a:r>
                <a:r>
                  <a:rPr lang="zh-TW" altLang="en-US" sz="1100" dirty="0">
                    <a:latin typeface="Times New Roman" pitchFamily="18" charset="0"/>
                    <a:cs typeface="Times New Roman" pitchFamily="18" charset="0"/>
                  </a:rPr>
                  <a:t>全血五分</a:t>
                </a:r>
                <a:r>
                  <a:rPr lang="zh-CN" altLang="en-US" sz="1100" dirty="0">
                    <a:latin typeface="Times New Roman" pitchFamily="18" charset="0"/>
                    <a:cs typeface="Times New Roman" pitchFamily="18" charset="0"/>
                  </a:rPr>
                  <a:t>群</a:t>
                </a:r>
                <a:r>
                  <a:rPr lang="zh-TW" altLang="en-US" sz="1100" dirty="0">
                    <a:latin typeface="Times New Roman" pitchFamily="18" charset="0"/>
                    <a:cs typeface="Times New Roman" pitchFamily="18" charset="0"/>
                  </a:rPr>
                  <a:t>常規</a:t>
                </a:r>
                <a:r>
                  <a:rPr lang="zh-CN" altLang="en-US" sz="1100" dirty="0">
                    <a:latin typeface="Times New Roman" pitchFamily="18" charset="0"/>
                    <a:cs typeface="Times New Roman" pitchFamily="18" charset="0"/>
                  </a:rPr>
                  <a:t>檢驗項目</a:t>
                </a:r>
                <a:r>
                  <a:rPr lang="zh-TW" altLang="en-US" sz="1100" dirty="0">
                    <a:latin typeface="Times New Roman" pitchFamily="18" charset="0"/>
                    <a:cs typeface="Times New Roman" pitchFamily="18" charset="0"/>
                  </a:rPr>
                  <a:t>生物學變異研究</a:t>
                </a:r>
                <a:r>
                  <a:rPr lang="zh-CN" altLang="en-US" sz="1100" dirty="0">
                    <a:latin typeface="Times New Roman" pitchFamily="18" charset="0"/>
                    <a:cs typeface="Times New Roman" pitchFamily="18" charset="0"/>
                  </a:rPr>
                  <a:t>為例，分別設計天內、天間、長期三組實驗，</a:t>
                </a:r>
                <a:r>
                  <a:rPr lang="zh-TW" altLang="en-US" sz="1100" dirty="0">
                    <a:latin typeface="Times New Roman" pitchFamily="18" charset="0"/>
                    <a:cs typeface="Times New Roman" pitchFamily="18" charset="0"/>
                  </a:rPr>
                  <a:t>每支樣本重複檢測</a:t>
                </a:r>
                <a:r>
                  <a:rPr lang="en-US" altLang="zh-TW" sz="11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次</a:t>
                </a:r>
                <a:r>
                  <a:rPr lang="zh-CN" altLang="en-US" sz="1100" dirty="0">
                    <a:latin typeface="Times New Roman" pitchFamily="18" charset="0"/>
                    <a:cs typeface="Times New Roman" pitchFamily="18" charset="0"/>
                  </a:rPr>
                  <a:t>：</a:t>
                </a:r>
              </a:p>
            </p:txBody>
          </p:sp>
          <p:sp>
            <p:nvSpPr>
              <p:cNvPr id="7" name="Rectangle 14"/>
              <p:cNvSpPr>
                <a:spLocks noChangeArrowheads="1"/>
              </p:cNvSpPr>
              <p:nvPr/>
            </p:nvSpPr>
            <p:spPr bwMode="auto">
              <a:xfrm>
                <a:off x="245688" y="1028960"/>
                <a:ext cx="77626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天內實驗：</a:t>
                </a:r>
                <a:r>
                  <a:rPr lang="zh-TW" altLang="en-US" sz="1100" dirty="0">
                    <a:latin typeface="Times New Roman" pitchFamily="18" charset="0"/>
                    <a:cs typeface="Times New Roman" pitchFamily="18" charset="0"/>
                  </a:rPr>
                  <a:t>當天三個不同時間點 </a:t>
                </a:r>
                <a:r>
                  <a:rPr lang="en-US" altLang="zh-TW" sz="1100" dirty="0">
                    <a:latin typeface="Times New Roman" pitchFamily="18" charset="0"/>
                    <a:cs typeface="Times New Roman" pitchFamily="18" charset="0"/>
                  </a:rPr>
                  <a:t>8:00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11:00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14:00 </a:t>
                </a:r>
                <a:r>
                  <a:rPr lang="zh-TW" altLang="en-US" sz="1100" dirty="0">
                    <a:latin typeface="Times New Roman" pitchFamily="18" charset="0"/>
                    <a:cs typeface="Times New Roman" pitchFamily="18" charset="0"/>
                  </a:rPr>
                  <a:t>進行採血，分別抽取每位研究對象靜脈血</a:t>
                </a:r>
                <a:r>
                  <a:rPr lang="en-US" altLang="zh-TW" sz="11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毫升，自每位志願者共採集</a:t>
                </a:r>
                <a:r>
                  <a:rPr lang="en-US" altLang="zh-TW" sz="1100" dirty="0">
                    <a:latin typeface="Times New Roman" pitchFamily="18" charset="0"/>
                    <a:cs typeface="Times New Roman" pitchFamily="18" charset="0"/>
                  </a:rPr>
                  <a:t>3</a:t>
                </a:r>
                <a:r>
                  <a:rPr lang="zh-TW" altLang="en-US" sz="1100" dirty="0">
                    <a:latin typeface="Times New Roman" pitchFamily="18" charset="0"/>
                    <a:cs typeface="Times New Roman" pitchFamily="18" charset="0"/>
                  </a:rPr>
                  <a:t>支樣本，每次取樣間隔</a:t>
                </a:r>
                <a:r>
                  <a:rPr lang="en-US" altLang="zh-TW" sz="1100" dirty="0">
                    <a:latin typeface="Times New Roman" pitchFamily="18" charset="0"/>
                    <a:cs typeface="Times New Roman" pitchFamily="18" charset="0"/>
                  </a:rPr>
                  <a:t>3</a:t>
                </a:r>
                <a:r>
                  <a:rPr lang="zh-TW" altLang="en-US" sz="1100" dirty="0">
                    <a:latin typeface="Times New Roman" pitchFamily="18" charset="0"/>
                    <a:cs typeface="Times New Roman" pitchFamily="18" charset="0"/>
                  </a:rPr>
                  <a:t>小時；</a:t>
                </a:r>
                <a:endParaRPr lang="zh-CN" altLang="en-US" sz="1100" dirty="0">
                  <a:latin typeface="Times New Roman" pitchFamily="18" charset="0"/>
                  <a:cs typeface="Times New Roman" pitchFamily="18" charset="0"/>
                </a:endParaRPr>
              </a:p>
            </p:txBody>
          </p:sp>
          <p:sp>
            <p:nvSpPr>
              <p:cNvPr id="8" name="Rectangle 14"/>
              <p:cNvSpPr>
                <a:spLocks noChangeArrowheads="1"/>
              </p:cNvSpPr>
              <p:nvPr/>
            </p:nvSpPr>
            <p:spPr bwMode="auto">
              <a:xfrm>
                <a:off x="245688" y="1629125"/>
                <a:ext cx="77626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天間實驗：</a:t>
                </a:r>
                <a:r>
                  <a:rPr lang="zh-TW" altLang="en-US" sz="1100" dirty="0">
                    <a:latin typeface="Times New Roman" pitchFamily="18" charset="0"/>
                    <a:cs typeface="Times New Roman" pitchFamily="18" charset="0"/>
                  </a:rPr>
                  <a:t>每天固定訪視時間</a:t>
                </a:r>
                <a:r>
                  <a:rPr lang="en-US" altLang="zh-TW" sz="1100" dirty="0">
                    <a:latin typeface="Times New Roman" pitchFamily="18" charset="0"/>
                    <a:cs typeface="Times New Roman" pitchFamily="18" charset="0"/>
                  </a:rPr>
                  <a:t>8:00</a:t>
                </a:r>
                <a:r>
                  <a:rPr lang="zh-TW" altLang="en-US" sz="1100" dirty="0">
                    <a:latin typeface="Times New Roman" pitchFamily="18" charset="0"/>
                    <a:cs typeface="Times New Roman" pitchFamily="18" charset="0"/>
                  </a:rPr>
                  <a:t>，分別抽取每位研究對象空腹靜脈血</a:t>
                </a:r>
                <a:r>
                  <a:rPr lang="en-US" altLang="zh-TW" sz="11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毫升，共</a:t>
                </a:r>
                <a:r>
                  <a:rPr lang="en-US" altLang="zh-TW" sz="1100" dirty="0">
                    <a:latin typeface="Times New Roman" pitchFamily="18" charset="0"/>
                    <a:cs typeface="Times New Roman" pitchFamily="18" charset="0"/>
                  </a:rPr>
                  <a:t>5</a:t>
                </a:r>
                <a:r>
                  <a:rPr lang="zh-TW" altLang="en-US" sz="1100" dirty="0">
                    <a:latin typeface="Times New Roman" pitchFamily="18" charset="0"/>
                    <a:cs typeface="Times New Roman" pitchFamily="18" charset="0"/>
                  </a:rPr>
                  <a:t>天，自每位志願者共採集</a:t>
                </a:r>
                <a:r>
                  <a:rPr lang="en-US" altLang="zh-TW" sz="1100" dirty="0">
                    <a:latin typeface="Times New Roman" pitchFamily="18" charset="0"/>
                    <a:cs typeface="Times New Roman" pitchFamily="18" charset="0"/>
                  </a:rPr>
                  <a:t>5</a:t>
                </a:r>
                <a:r>
                  <a:rPr lang="zh-TW" altLang="en-US" sz="1100" dirty="0">
                    <a:latin typeface="Times New Roman" pitchFamily="18" charset="0"/>
                    <a:cs typeface="Times New Roman" pitchFamily="18" charset="0"/>
                  </a:rPr>
                  <a:t>支樣本，每次取樣間隔時間</a:t>
                </a:r>
                <a:r>
                  <a:rPr lang="en-US" altLang="zh-TW" sz="1100" dirty="0">
                    <a:latin typeface="Times New Roman" pitchFamily="18" charset="0"/>
                    <a:cs typeface="Times New Roman" pitchFamily="18" charset="0"/>
                  </a:rPr>
                  <a:t>24</a:t>
                </a:r>
                <a:r>
                  <a:rPr lang="zh-TW" altLang="en-US" sz="1100" dirty="0">
                    <a:latin typeface="Times New Roman" pitchFamily="18" charset="0"/>
                    <a:cs typeface="Times New Roman" pitchFamily="18" charset="0"/>
                  </a:rPr>
                  <a:t>小時；</a:t>
                </a:r>
                <a:endParaRPr lang="zh-CN" altLang="en-US" sz="1100" dirty="0">
                  <a:latin typeface="Times New Roman" pitchFamily="18" charset="0"/>
                  <a:cs typeface="Times New Roman" pitchFamily="18" charset="0"/>
                </a:endParaRPr>
              </a:p>
            </p:txBody>
          </p:sp>
          <p:sp>
            <p:nvSpPr>
              <p:cNvPr id="9" name="Rectangle 14"/>
              <p:cNvSpPr>
                <a:spLocks noChangeArrowheads="1"/>
              </p:cNvSpPr>
              <p:nvPr/>
            </p:nvSpPr>
            <p:spPr bwMode="auto">
              <a:xfrm>
                <a:off x="245688" y="2229288"/>
                <a:ext cx="776268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長期實驗：</a:t>
                </a:r>
                <a:r>
                  <a:rPr lang="zh-TW" altLang="en-US" sz="1100" dirty="0">
                    <a:latin typeface="Times New Roman" pitchFamily="18" charset="0"/>
                    <a:cs typeface="Times New Roman" pitchFamily="18" charset="0"/>
                  </a:rPr>
                  <a:t>實驗持續</a:t>
                </a:r>
                <a:r>
                  <a:rPr lang="en-US" altLang="zh-TW" sz="1100" dirty="0">
                    <a:latin typeface="Times New Roman" pitchFamily="18" charset="0"/>
                    <a:cs typeface="Times New Roman" pitchFamily="18" charset="0"/>
                  </a:rPr>
                  <a:t>6</a:t>
                </a:r>
                <a:r>
                  <a:rPr lang="zh-TW" altLang="en-US" sz="1100" dirty="0">
                    <a:latin typeface="Times New Roman" pitchFamily="18" charset="0"/>
                    <a:cs typeface="Times New Roman" pitchFamily="18" charset="0"/>
                  </a:rPr>
                  <a:t>個月共</a:t>
                </a:r>
                <a:r>
                  <a:rPr lang="en-US" altLang="zh-TW" sz="1100" dirty="0">
                    <a:latin typeface="Times New Roman" pitchFamily="18" charset="0"/>
                    <a:cs typeface="Times New Roman" pitchFamily="18" charset="0"/>
                  </a:rPr>
                  <a:t>6</a:t>
                </a:r>
                <a:r>
                  <a:rPr lang="zh-TW" altLang="en-US" sz="1100" dirty="0">
                    <a:latin typeface="Times New Roman" pitchFamily="18" charset="0"/>
                    <a:cs typeface="Times New Roman" pitchFamily="18" charset="0"/>
                  </a:rPr>
                  <a:t>次訪視，每次訪視時間</a:t>
                </a:r>
                <a:r>
                  <a:rPr lang="en-US" altLang="zh-TW" sz="1100" dirty="0">
                    <a:latin typeface="Times New Roman" pitchFamily="18" charset="0"/>
                    <a:cs typeface="Times New Roman" pitchFamily="18" charset="0"/>
                  </a:rPr>
                  <a:t>7:00~8:00</a:t>
                </a:r>
                <a:r>
                  <a:rPr lang="zh-TW" altLang="en-US" sz="1100" dirty="0">
                    <a:latin typeface="Times New Roman" pitchFamily="18" charset="0"/>
                    <a:cs typeface="Times New Roman" pitchFamily="18" charset="0"/>
                  </a:rPr>
                  <a:t>，第一個月末訪視時進行第一次取樣，分別抽取每位研究對象空腹靜脈血</a:t>
                </a:r>
                <a:r>
                  <a:rPr lang="en-US" altLang="zh-TW" sz="11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毫升，自每位志願者共採集</a:t>
                </a:r>
                <a:r>
                  <a:rPr lang="en-US" altLang="zh-TW" sz="1100" dirty="0">
                    <a:latin typeface="Times New Roman" pitchFamily="18" charset="0"/>
                    <a:cs typeface="Times New Roman" pitchFamily="18" charset="0"/>
                  </a:rPr>
                  <a:t>6</a:t>
                </a:r>
                <a:r>
                  <a:rPr lang="zh-TW" altLang="en-US" sz="1100" dirty="0">
                    <a:latin typeface="Times New Roman" pitchFamily="18" charset="0"/>
                    <a:cs typeface="Times New Roman" pitchFamily="18" charset="0"/>
                  </a:rPr>
                  <a:t>支樣本，每次取樣間隔一個月；</a:t>
                </a:r>
                <a:endParaRPr lang="zh-CN" altLang="en-US" sz="1100" dirty="0">
                  <a:latin typeface="Times New Roman" pitchFamily="18" charset="0"/>
                  <a:cs typeface="Times New Roman" pitchFamily="18" charset="0"/>
                </a:endParaRPr>
              </a:p>
            </p:txBody>
          </p:sp>
          <p:sp>
            <p:nvSpPr>
              <p:cNvPr id="10" name="Rectangle 14"/>
              <p:cNvSpPr>
                <a:spLocks noChangeArrowheads="1"/>
              </p:cNvSpPr>
              <p:nvPr/>
            </p:nvSpPr>
            <p:spPr bwMode="auto">
              <a:xfrm>
                <a:off x="245688" y="2829454"/>
                <a:ext cx="7762686"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TW" sz="1100" dirty="0">
                    <a:latin typeface="Times New Roman" pitchFamily="18" charset="0"/>
                    <a:cs typeface="Times New Roman" pitchFamily="18" charset="0"/>
                  </a:rPr>
                  <a:t>1)</a:t>
                </a:r>
                <a:r>
                  <a:rPr lang="zh-TW" altLang="en-US" sz="1100" dirty="0">
                    <a:latin typeface="Times New Roman" pitchFamily="18" charset="0"/>
                    <a:cs typeface="Times New Roman" pitchFamily="18" charset="0"/>
                  </a:rPr>
                  <a:t>、重複測定方差的離群值檢驗</a:t>
                </a:r>
              </a:p>
              <a:p>
                <a:pPr>
                  <a:lnSpc>
                    <a:spcPct val="150000"/>
                  </a:lnSpc>
                </a:pPr>
                <a:r>
                  <a:rPr lang="zh-TW" altLang="en-US" sz="1100" dirty="0">
                    <a:latin typeface="Times New Roman" pitchFamily="18" charset="0"/>
                    <a:cs typeface="Times New Roman" pitchFamily="18" charset="0"/>
                  </a:rPr>
                  <a:t>使用</a:t>
                </a:r>
                <a:r>
                  <a:rPr lang="en-US" altLang="zh-TW" sz="1100" i="1" dirty="0">
                    <a:latin typeface="Times New Roman" pitchFamily="18" charset="0"/>
                    <a:cs typeface="Times New Roman" pitchFamily="18" charset="0"/>
                  </a:rPr>
                  <a:t>Cochran</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最大方差檢驗法進行多組重複測量值方差的離群數據檢驗，天內實驗納入</a:t>
                </a:r>
                <a:r>
                  <a:rPr lang="en-US" altLang="zh-TW" sz="1100" dirty="0">
                    <a:latin typeface="Times New Roman" pitchFamily="18" charset="0"/>
                    <a:cs typeface="Times New Roman" pitchFamily="18" charset="0"/>
                  </a:rPr>
                  <a:t>60</a:t>
                </a:r>
                <a:r>
                  <a:rPr lang="zh-TW" altLang="en-US" sz="1100" dirty="0">
                    <a:latin typeface="Times New Roman" pitchFamily="18" charset="0"/>
                    <a:cs typeface="Times New Roman" pitchFamily="18" charset="0"/>
                  </a:rPr>
                  <a:t>份樣本（</a:t>
                </a:r>
                <a:r>
                  <a:rPr lang="en-US" altLang="zh-TW" sz="1100" dirty="0">
                    <a:latin typeface="Times New Roman" pitchFamily="18" charset="0"/>
                    <a:cs typeface="Times New Roman" pitchFamily="18" charset="0"/>
                  </a:rPr>
                  <a:t>20</a:t>
                </a:r>
                <a:r>
                  <a:rPr lang="zh-TW" altLang="en-US" sz="1100" dirty="0">
                    <a:latin typeface="Times New Roman" pitchFamily="18" charset="0"/>
                    <a:cs typeface="Times New Roman" pitchFamily="18" charset="0"/>
                  </a:rPr>
                  <a:t>人），天間實驗納入</a:t>
                </a:r>
                <a:r>
                  <a:rPr lang="en-US" altLang="zh-TW" sz="1100" dirty="0">
                    <a:latin typeface="Times New Roman" pitchFamily="18" charset="0"/>
                    <a:cs typeface="Times New Roman" pitchFamily="18" charset="0"/>
                  </a:rPr>
                  <a:t>100</a:t>
                </a:r>
                <a:r>
                  <a:rPr lang="zh-TW" altLang="en-US" sz="1100" dirty="0">
                    <a:latin typeface="Times New Roman" pitchFamily="18" charset="0"/>
                    <a:cs typeface="Times New Roman" pitchFamily="18" charset="0"/>
                  </a:rPr>
                  <a:t>份樣本（</a:t>
                </a:r>
                <a:r>
                  <a:rPr lang="en-US" altLang="zh-TW" sz="1100" dirty="0">
                    <a:latin typeface="Times New Roman" pitchFamily="18" charset="0"/>
                    <a:cs typeface="Times New Roman" pitchFamily="18" charset="0"/>
                  </a:rPr>
                  <a:t>20</a:t>
                </a:r>
                <a:r>
                  <a:rPr lang="zh-TW" altLang="en-US" sz="1100" dirty="0">
                    <a:latin typeface="Times New Roman" pitchFamily="18" charset="0"/>
                    <a:cs typeface="Times New Roman" pitchFamily="18" charset="0"/>
                  </a:rPr>
                  <a:t>人），長期實驗納入</a:t>
                </a:r>
                <a:r>
                  <a:rPr lang="en-US" altLang="zh-TW" sz="1100" dirty="0">
                    <a:latin typeface="Times New Roman" pitchFamily="18" charset="0"/>
                    <a:cs typeface="Times New Roman" pitchFamily="18" charset="0"/>
                  </a:rPr>
                  <a:t>246</a:t>
                </a:r>
                <a:r>
                  <a:rPr lang="zh-TW" altLang="en-US" sz="1100" dirty="0">
                    <a:latin typeface="Times New Roman" pitchFamily="18" charset="0"/>
                    <a:cs typeface="Times New Roman" pitchFamily="18" charset="0"/>
                  </a:rPr>
                  <a:t>份樣本（</a:t>
                </a:r>
                <a:r>
                  <a:rPr lang="en-US" altLang="zh-TW" sz="1100" dirty="0">
                    <a:latin typeface="Times New Roman" pitchFamily="18" charset="0"/>
                    <a:cs typeface="Times New Roman" pitchFamily="18" charset="0"/>
                  </a:rPr>
                  <a:t>41</a:t>
                </a:r>
                <a:r>
                  <a:rPr lang="zh-TW" altLang="en-US" sz="1100" dirty="0">
                    <a:latin typeface="Times New Roman" pitchFamily="18" charset="0"/>
                    <a:cs typeface="Times New Roman" pitchFamily="18" charset="0"/>
                  </a:rPr>
                  <a:t>人）；分別計算這些樣本各項目兩次重複測定結果的方差</a:t>
                </a:r>
                <a:r>
                  <a:rPr lang="en-US" altLang="zh-TW" sz="1100" dirty="0">
                    <a:latin typeface="Times New Roman" pitchFamily="18" charset="0"/>
                    <a:cs typeface="Times New Roman" pitchFamily="18" charset="0"/>
                  </a:rPr>
                  <a:t>S</a:t>
                </a:r>
                <a:r>
                  <a:rPr lang="en-US" altLang="zh-TW" sz="1100" baseline="300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，將每組測定的</a:t>
                </a:r>
                <a:r>
                  <a:rPr lang="en-US" altLang="zh-TW" sz="1100" i="1" dirty="0">
                    <a:latin typeface="Times New Roman" pitchFamily="18" charset="0"/>
                    <a:cs typeface="Times New Roman" pitchFamily="18" charset="0"/>
                  </a:rPr>
                  <a:t>M</a:t>
                </a:r>
                <a:r>
                  <a:rPr lang="zh-TW" altLang="en-US" sz="1100" dirty="0">
                    <a:latin typeface="Times New Roman" pitchFamily="18" charset="0"/>
                    <a:cs typeface="Times New Roman" pitchFamily="18" charset="0"/>
                  </a:rPr>
                  <a:t>個（</a:t>
                </a:r>
                <a:r>
                  <a:rPr lang="en-US" altLang="zh-TW" sz="1100" i="1" dirty="0">
                    <a:latin typeface="Times New Roman" pitchFamily="18" charset="0"/>
                    <a:cs typeface="Times New Roman" pitchFamily="18" charset="0"/>
                  </a:rPr>
                  <a:t>M </a:t>
                </a:r>
                <a:r>
                  <a:rPr lang="en-US" altLang="zh-TW" sz="1100" dirty="0">
                    <a:latin typeface="Times New Roman" pitchFamily="18" charset="0"/>
                    <a:cs typeface="Times New Roman" pitchFamily="18" charset="0"/>
                  </a:rPr>
                  <a:t>=60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100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246</a:t>
                </a:r>
                <a:r>
                  <a:rPr lang="zh-TW" altLang="en-US" sz="1100" dirty="0">
                    <a:latin typeface="Times New Roman" pitchFamily="18" charset="0"/>
                    <a:cs typeface="Times New Roman" pitchFamily="18" charset="0"/>
                  </a:rPr>
                  <a:t>）方差按大小順序排列：</a:t>
                </a:r>
                <a:r>
                  <a:rPr lang="en-US" altLang="zh-TW" sz="1100" i="1" dirty="0">
                    <a:latin typeface="Times New Roman" pitchFamily="18" charset="0"/>
                    <a:cs typeface="Times New Roman" pitchFamily="18" charset="0"/>
                  </a:rPr>
                  <a:t>S</a:t>
                </a:r>
                <a:r>
                  <a:rPr lang="en-US" altLang="zh-TW" sz="1100" baseline="-25000" dirty="0">
                    <a:latin typeface="Times New Roman" pitchFamily="18" charset="0"/>
                    <a:cs typeface="Times New Roman" pitchFamily="18" charset="0"/>
                  </a:rPr>
                  <a:t>1</a:t>
                </a:r>
                <a:r>
                  <a:rPr lang="en-US" altLang="zh-TW" sz="1100" baseline="30000" dirty="0">
                    <a:latin typeface="Times New Roman" pitchFamily="18" charset="0"/>
                    <a:cs typeface="Times New Roman" pitchFamily="18" charset="0"/>
                  </a:rPr>
                  <a:t>2</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S</a:t>
                </a:r>
                <a:r>
                  <a:rPr lang="en-US" altLang="zh-TW" sz="1100" baseline="-25000" dirty="0">
                    <a:latin typeface="Times New Roman" pitchFamily="18" charset="0"/>
                    <a:cs typeface="Times New Roman" pitchFamily="18" charset="0"/>
                  </a:rPr>
                  <a:t>2</a:t>
                </a:r>
                <a:r>
                  <a:rPr lang="en-US" altLang="zh-TW" sz="1100" baseline="30000" dirty="0">
                    <a:latin typeface="Times New Roman" pitchFamily="18" charset="0"/>
                    <a:cs typeface="Times New Roman" pitchFamily="18" charset="0"/>
                  </a:rPr>
                  <a:t>2</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S</a:t>
                </a:r>
                <a:r>
                  <a:rPr lang="en-US" altLang="zh-TW" sz="800" i="1" baseline="-25000" dirty="0">
                    <a:latin typeface="Times New Roman" pitchFamily="18" charset="0"/>
                    <a:cs typeface="Times New Roman" pitchFamily="18" charset="0"/>
                  </a:rPr>
                  <a:t>M</a:t>
                </a:r>
                <a:r>
                  <a:rPr lang="en-US" altLang="zh-TW" sz="1100" baseline="300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，最大值記為 </a:t>
                </a:r>
                <a:r>
                  <a:rPr lang="en-US" altLang="zh-TW" sz="1100" i="1" dirty="0">
                    <a:latin typeface="Times New Roman" pitchFamily="18" charset="0"/>
                    <a:cs typeface="Times New Roman" pitchFamily="18" charset="0"/>
                  </a:rPr>
                  <a:t>S</a:t>
                </a:r>
                <a:r>
                  <a:rPr lang="en-US" altLang="zh-TW" sz="1100" baseline="30000" dirty="0">
                    <a:latin typeface="Times New Roman" pitchFamily="18" charset="0"/>
                    <a:cs typeface="Times New Roman" pitchFamily="18" charset="0"/>
                  </a:rPr>
                  <a:t>2</a:t>
                </a:r>
                <a:r>
                  <a:rPr lang="en-US" altLang="zh-TW" sz="1100" baseline="-25000" dirty="0">
                    <a:latin typeface="Times New Roman" pitchFamily="18" charset="0"/>
                    <a:cs typeface="Times New Roman" pitchFamily="18" charset="0"/>
                  </a:rPr>
                  <a:t>max</a:t>
                </a:r>
                <a:r>
                  <a:rPr lang="zh-TW" altLang="en-US" sz="1100" dirty="0">
                    <a:latin typeface="Times New Roman" pitchFamily="18" charset="0"/>
                    <a:cs typeface="Times New Roman" pitchFamily="18" charset="0"/>
                  </a:rPr>
                  <a:t>，自由度 </a:t>
                </a:r>
                <a:r>
                  <a:rPr lang="en-US" altLang="zh-TW" sz="1100" i="1" dirty="0">
                    <a:latin typeface="Times New Roman" pitchFamily="18" charset="0"/>
                    <a:cs typeface="Times New Roman" pitchFamily="18" charset="0"/>
                  </a:rPr>
                  <a:t>v </a:t>
                </a:r>
                <a:r>
                  <a:rPr lang="zh-TW" altLang="en-US" sz="1100" dirty="0">
                    <a:latin typeface="Times New Roman" pitchFamily="18" charset="0"/>
                    <a:cs typeface="Times New Roman" pitchFamily="18" charset="0"/>
                  </a:rPr>
                  <a:t>均為 </a:t>
                </a:r>
                <a:r>
                  <a:rPr lang="en-US" altLang="zh-TW" sz="1100" dirty="0">
                    <a:latin typeface="Times New Roman" pitchFamily="18" charset="0"/>
                    <a:cs typeface="Times New Roman" pitchFamily="18" charset="0"/>
                  </a:rPr>
                  <a:t>1</a:t>
                </a:r>
                <a:r>
                  <a:rPr lang="zh-TW" altLang="en-US" sz="1100" dirty="0">
                    <a:latin typeface="Times New Roman" pitchFamily="18" charset="0"/>
                    <a:cs typeface="Times New Roman" pitchFamily="18" charset="0"/>
                  </a:rPr>
                  <a:t>，按式 </a:t>
                </a:r>
                <a:r>
                  <a:rPr lang="en-US" altLang="zh-TW" sz="1100" i="1" dirty="0">
                    <a:latin typeface="Times New Roman" pitchFamily="18" charset="0"/>
                    <a:cs typeface="Times New Roman" pitchFamily="18" charset="0"/>
                  </a:rPr>
                  <a:t>c</a:t>
                </a:r>
                <a:r>
                  <a:rPr lang="en-US" altLang="zh-TW" sz="1100" dirty="0">
                    <a:latin typeface="Times New Roman" pitchFamily="18" charset="0"/>
                    <a:cs typeface="Times New Roman" pitchFamily="18" charset="0"/>
                  </a:rPr>
                  <a:t> = </a:t>
                </a:r>
                <a:r>
                  <a:rPr lang="zh-TW" altLang="en-US" sz="1100" dirty="0">
                    <a:latin typeface="Times New Roman" pitchFamily="18" charset="0"/>
                    <a:cs typeface="Times New Roman" pitchFamily="18" charset="0"/>
                  </a:rPr>
                  <a:t> </a:t>
                </a:r>
                <a:r>
                  <a:rPr lang="en-US" altLang="zh-TW" sz="1100" i="1" dirty="0">
                    <a:latin typeface="Times New Roman" pitchFamily="18" charset="0"/>
                    <a:cs typeface="Times New Roman" pitchFamily="18" charset="0"/>
                  </a:rPr>
                  <a:t>S</a:t>
                </a:r>
                <a:r>
                  <a:rPr lang="en-US" altLang="zh-TW" sz="1100" baseline="30000" dirty="0">
                    <a:latin typeface="Times New Roman" pitchFamily="18" charset="0"/>
                    <a:cs typeface="Times New Roman" pitchFamily="18" charset="0"/>
                  </a:rPr>
                  <a:t>2</a:t>
                </a:r>
                <a:r>
                  <a:rPr lang="en-US" altLang="zh-TW" sz="1100" baseline="-25000" dirty="0">
                    <a:latin typeface="Times New Roman" pitchFamily="18" charset="0"/>
                    <a:cs typeface="Times New Roman" pitchFamily="18" charset="0"/>
                  </a:rPr>
                  <a:t>max</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 ∑</a:t>
                </a:r>
                <a:r>
                  <a:rPr lang="en-US" altLang="zh-TW" sz="1000" i="1" baseline="40000" dirty="0" err="1">
                    <a:latin typeface="Times New Roman" pitchFamily="18" charset="0"/>
                    <a:cs typeface="Times New Roman" pitchFamily="18" charset="0"/>
                  </a:rPr>
                  <a:t>M</a:t>
                </a:r>
                <a:r>
                  <a:rPr lang="en-US" altLang="zh-TW" sz="1000" i="1" baseline="-50000" dirty="0" err="1">
                    <a:latin typeface="Times New Roman" pitchFamily="18" charset="0"/>
                    <a:cs typeface="Times New Roman" pitchFamily="18" charset="0"/>
                  </a:rPr>
                  <a:t>i</a:t>
                </a:r>
                <a:r>
                  <a:rPr lang="en-US" altLang="zh-TW" sz="1000" baseline="-50000" dirty="0">
                    <a:latin typeface="Times New Roman" pitchFamily="18" charset="0"/>
                    <a:cs typeface="Times New Roman" pitchFamily="18" charset="0"/>
                  </a:rPr>
                  <a:t>=1</a:t>
                </a:r>
                <a:r>
                  <a:rPr lang="en-US" altLang="zh-TW" sz="1100" dirty="0">
                    <a:latin typeface="Times New Roman" pitchFamily="18" charset="0"/>
                    <a:cs typeface="Times New Roman" pitchFamily="18" charset="0"/>
                  </a:rPr>
                  <a:t> </a:t>
                </a:r>
                <a:r>
                  <a:rPr lang="en-US" altLang="zh-TW" sz="1100" i="1" dirty="0">
                    <a:latin typeface="Times New Roman" pitchFamily="18" charset="0"/>
                    <a:cs typeface="Times New Roman" pitchFamily="18" charset="0"/>
                  </a:rPr>
                  <a:t>S</a:t>
                </a:r>
                <a:r>
                  <a:rPr lang="en-US" altLang="zh-TW" sz="1100" i="1" baseline="-25000" dirty="0">
                    <a:latin typeface="Times New Roman" pitchFamily="18" charset="0"/>
                    <a:cs typeface="Times New Roman" pitchFamily="18" charset="0"/>
                  </a:rPr>
                  <a:t>i</a:t>
                </a:r>
                <a:r>
                  <a:rPr lang="en-US" altLang="zh-TW" sz="1100" baseline="30000" dirty="0">
                    <a:latin typeface="Times New Roman" pitchFamily="18" charset="0"/>
                    <a:cs typeface="Times New Roman" pitchFamily="18" charset="0"/>
                  </a:rPr>
                  <a:t>2</a:t>
                </a:r>
                <a:r>
                  <a:rPr lang="zh-TW" altLang="en-US"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計算統計量 </a:t>
                </a:r>
                <a:r>
                  <a:rPr lang="en-US" altLang="zh-CN" sz="1100" i="1" dirty="0">
                    <a:latin typeface="Times New Roman" pitchFamily="18" charset="0"/>
                    <a:cs typeface="Times New Roman" pitchFamily="18" charset="0"/>
                  </a:rPr>
                  <a:t>C</a:t>
                </a:r>
                <a:r>
                  <a:rPr lang="zh-TW" altLang="en-US" sz="1100" dirty="0">
                    <a:latin typeface="Times New Roman" pitchFamily="18" charset="0"/>
                    <a:cs typeface="Times New Roman" pitchFamily="18" charset="0"/>
                  </a:rPr>
                  <a:t>，根據給定的顯著性水準（</a:t>
                </a:r>
                <a:r>
                  <a:rPr lang="el-GR" altLang="zh-TW" sz="1100" i="1" dirty="0">
                    <a:latin typeface="Times New Roman" pitchFamily="18" charset="0"/>
                    <a:cs typeface="Times New Roman" pitchFamily="18" charset="0"/>
                  </a:rPr>
                  <a:t>α</a:t>
                </a:r>
                <a:r>
                  <a:rPr lang="en-US" altLang="zh-TW" sz="1100" i="1" dirty="0">
                    <a:latin typeface="Times New Roman" pitchFamily="18" charset="0"/>
                    <a:cs typeface="Times New Roman" pitchFamily="18" charset="0"/>
                  </a:rPr>
                  <a:t> </a:t>
                </a:r>
                <a:r>
                  <a:rPr lang="en-US" altLang="zh-TW" sz="1100" dirty="0">
                    <a:latin typeface="Times New Roman" pitchFamily="18" charset="0"/>
                    <a:cs typeface="Times New Roman" pitchFamily="18" charset="0"/>
                  </a:rPr>
                  <a:t>= 0.05</a:t>
                </a:r>
                <a:r>
                  <a:rPr lang="zh-TW" altLang="en-US" sz="1100" dirty="0">
                    <a:latin typeface="Times New Roman" pitchFamily="18" charset="0"/>
                    <a:cs typeface="Times New Roman" pitchFamily="18" charset="0"/>
                  </a:rPr>
                  <a:t>），相應的測定組 </a:t>
                </a:r>
                <a:r>
                  <a:rPr lang="en-US" altLang="zh-TW" sz="1100" i="1" dirty="0">
                    <a:latin typeface="Times New Roman" pitchFamily="18" charset="0"/>
                    <a:cs typeface="Times New Roman" pitchFamily="18" charset="0"/>
                  </a:rPr>
                  <a:t>M</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和自由度 </a:t>
                </a:r>
                <a:r>
                  <a:rPr lang="en-US" altLang="zh-TW" sz="1100" i="1" dirty="0">
                    <a:latin typeface="Times New Roman" pitchFamily="18" charset="0"/>
                    <a:cs typeface="Times New Roman" pitchFamily="18" charset="0"/>
                  </a:rPr>
                  <a:t>v</a:t>
                </a:r>
                <a:r>
                  <a:rPr lang="zh-TW" altLang="en-US" sz="1100" dirty="0">
                    <a:latin typeface="Times New Roman" pitchFamily="18" charset="0"/>
                    <a:cs typeface="Times New Roman" pitchFamily="18" charset="0"/>
                  </a:rPr>
                  <a:t>，查 </a:t>
                </a:r>
                <a:r>
                  <a:rPr lang="en-US" altLang="zh-TW" sz="1100" i="1" dirty="0">
                    <a:latin typeface="Times New Roman" pitchFamily="18" charset="0"/>
                    <a:cs typeface="Times New Roman" pitchFamily="18" charset="0"/>
                  </a:rPr>
                  <a:t>Cochran</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最大方差檢驗臨界值 </a:t>
                </a:r>
                <a:r>
                  <a:rPr lang="en-US" altLang="zh-TW" sz="1100" i="1" dirty="0">
                    <a:latin typeface="Times New Roman" pitchFamily="18" charset="0"/>
                    <a:cs typeface="Times New Roman" pitchFamily="18" charset="0"/>
                  </a:rPr>
                  <a:t>C</a:t>
                </a:r>
                <a:r>
                  <a:rPr lang="en-US" altLang="zh-TW" sz="1100" baseline="-25000" dirty="0">
                    <a:latin typeface="Times New Roman" pitchFamily="18" charset="0"/>
                    <a:cs typeface="Times New Roman" pitchFamily="18" charset="0"/>
                  </a:rPr>
                  <a:t>r</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表得到 </a:t>
                </a:r>
                <a:r>
                  <a:rPr lang="en-US" altLang="zh-TW" sz="1100" i="1" dirty="0">
                    <a:latin typeface="Times New Roman" pitchFamily="18" charset="0"/>
                    <a:cs typeface="Times New Roman" pitchFamily="18" charset="0"/>
                  </a:rPr>
                  <a:t>C</a:t>
                </a:r>
                <a:r>
                  <a:rPr lang="en-US" altLang="zh-TW" sz="1100" baseline="-25000" dirty="0">
                    <a:latin typeface="Times New Roman" pitchFamily="18" charset="0"/>
                    <a:cs typeface="Times New Roman" pitchFamily="18" charset="0"/>
                  </a:rPr>
                  <a:t>0.05</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值，當統計量 </a:t>
                </a:r>
                <a:r>
                  <a:rPr lang="en-US" altLang="zh-CN" sz="1100" i="1" dirty="0">
                    <a:latin typeface="Times New Roman" pitchFamily="18" charset="0"/>
                    <a:cs typeface="Times New Roman" pitchFamily="18" charset="0"/>
                  </a:rPr>
                  <a:t>C</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大於臨界值 </a:t>
                </a:r>
                <a:r>
                  <a:rPr lang="en-US" altLang="zh-TW" sz="1100" i="1" dirty="0">
                    <a:latin typeface="Times New Roman" pitchFamily="18" charset="0"/>
                    <a:cs typeface="Times New Roman" pitchFamily="18" charset="0"/>
                  </a:rPr>
                  <a:t>C</a:t>
                </a:r>
                <a:r>
                  <a:rPr lang="en-US" altLang="zh-TW" sz="1100" baseline="-25000" dirty="0">
                    <a:latin typeface="Times New Roman" pitchFamily="18" charset="0"/>
                    <a:cs typeface="Times New Roman" pitchFamily="18" charset="0"/>
                  </a:rPr>
                  <a:t>0.05</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時，則說明該組數據精密度過低，將所有此</a:t>
                </a:r>
                <a:r>
                  <a:rPr lang="zh-CN" altLang="en-US" sz="1100" dirty="0">
                    <a:latin typeface="Times New Roman" pitchFamily="18" charset="0"/>
                    <a:cs typeface="Times New Roman" pitchFamily="18" charset="0"/>
                  </a:rPr>
                  <a:t>例樣本</a:t>
                </a:r>
                <a:r>
                  <a:rPr lang="zh-TW" altLang="en-US" sz="1100" dirty="0">
                    <a:latin typeface="Times New Roman" pitchFamily="18" charset="0"/>
                    <a:cs typeface="Times New Roman" pitchFamily="18" charset="0"/>
                  </a:rPr>
                  <a:t>相關數據予以剔除；</a:t>
                </a:r>
              </a:p>
            </p:txBody>
          </p:sp>
          <p:sp>
            <p:nvSpPr>
              <p:cNvPr id="11" name="Rectangle 14"/>
              <p:cNvSpPr>
                <a:spLocks noChangeArrowheads="1"/>
              </p:cNvSpPr>
              <p:nvPr/>
            </p:nvSpPr>
            <p:spPr bwMode="auto">
              <a:xfrm>
                <a:off x="245686" y="4445281"/>
                <a:ext cx="7762687"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TW"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個體檢測均值的離群值檢驗</a:t>
                </a:r>
              </a:p>
              <a:p>
                <a:pPr>
                  <a:lnSpc>
                    <a:spcPct val="150000"/>
                  </a:lnSpc>
                </a:pPr>
                <a:r>
                  <a:rPr lang="zh-TW" altLang="en-US" sz="1100" dirty="0">
                    <a:latin typeface="Times New Roman" pitchFamily="18" charset="0"/>
                    <a:cs typeface="Times New Roman" pitchFamily="18" charset="0"/>
                  </a:rPr>
                  <a:t>使用 </a:t>
                </a:r>
                <a:r>
                  <a:rPr lang="en-US" altLang="zh-TW" sz="1100" i="1" dirty="0">
                    <a:latin typeface="Times New Roman" pitchFamily="18" charset="0"/>
                    <a:cs typeface="Times New Roman" pitchFamily="18" charset="0"/>
                  </a:rPr>
                  <a:t>Reed</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準則判斷某個個體的檢測均值是否與其他個體的均值相差很大，將所有志願者的檢測均值按大小排序，分別將天內組、天間組、長期組 </a:t>
                </a:r>
                <a:r>
                  <a:rPr lang="en-US" altLang="zh-TW" sz="1100" i="1" dirty="0">
                    <a:latin typeface="Times New Roman" pitchFamily="18" charset="0"/>
                    <a:cs typeface="Times New Roman" pitchFamily="18" charset="0"/>
                  </a:rPr>
                  <a:t>n</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個研究對象（</a:t>
                </a:r>
                <a:r>
                  <a:rPr lang="en-US" altLang="zh-TW" sz="1100" i="1" dirty="0">
                    <a:latin typeface="Times New Roman" pitchFamily="18" charset="0"/>
                    <a:cs typeface="Times New Roman" pitchFamily="18" charset="0"/>
                  </a:rPr>
                  <a:t>n </a:t>
                </a:r>
                <a:r>
                  <a:rPr lang="en-US" altLang="zh-TW" sz="1100" dirty="0">
                    <a:latin typeface="Times New Roman" pitchFamily="18" charset="0"/>
                    <a:cs typeface="Times New Roman" pitchFamily="18" charset="0"/>
                  </a:rPr>
                  <a:t>=20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20</a:t>
                </a:r>
                <a:r>
                  <a:rPr lang="zh-TW" altLang="en-US" sz="1100" dirty="0">
                    <a:latin typeface="Times New Roman" pitchFamily="18" charset="0"/>
                    <a:cs typeface="Times New Roman" pitchFamily="18" charset="0"/>
                  </a:rPr>
                  <a:t>、</a:t>
                </a:r>
                <a:r>
                  <a:rPr lang="en-US" altLang="zh-TW" sz="1100" dirty="0">
                    <a:latin typeface="Times New Roman" pitchFamily="18" charset="0"/>
                    <a:cs typeface="Times New Roman" pitchFamily="18" charset="0"/>
                  </a:rPr>
                  <a:t>41</a:t>
                </a:r>
                <a:r>
                  <a:rPr lang="zh-TW" altLang="en-US" sz="1100" dirty="0">
                    <a:latin typeface="Times New Roman" pitchFamily="18" charset="0"/>
                    <a:cs typeface="Times New Roman" pitchFamily="18" charset="0"/>
                  </a:rPr>
                  <a:t>）的檢測均值按大小排序：</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1 </a:t>
                </a:r>
                <a:r>
                  <a:rPr lang="en-US" altLang="zh-TW" sz="1100" dirty="0">
                    <a:latin typeface="Times New Roman" pitchFamily="18" charset="0"/>
                    <a:cs typeface="Times New Roman" pitchFamily="18" charset="0"/>
                  </a:rPr>
                  <a:t>,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2 </a:t>
                </a:r>
                <a:r>
                  <a:rPr lang="en-US" altLang="zh-TW" sz="1100" dirty="0">
                    <a:latin typeface="Times New Roman" pitchFamily="18" charset="0"/>
                    <a:cs typeface="Times New Roman" pitchFamily="18" charset="0"/>
                  </a:rPr>
                  <a:t>,…,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n-1</a:t>
                </a:r>
                <a:r>
                  <a:rPr lang="en-US" altLang="zh-TW" sz="800" baseline="-25000" dirty="0">
                    <a:latin typeface="Times New Roman" pitchFamily="18" charset="0"/>
                    <a:cs typeface="Times New Roman" pitchFamily="18" charset="0"/>
                  </a:rPr>
                  <a:t> </a:t>
                </a:r>
                <a:r>
                  <a:rPr lang="en-US" altLang="zh-TW" sz="1100" dirty="0">
                    <a:latin typeface="Times New Roman" pitchFamily="18" charset="0"/>
                    <a:cs typeface="Times New Roman" pitchFamily="18" charset="0"/>
                  </a:rPr>
                  <a:t>, </a:t>
                </a:r>
                <a:r>
                  <a:rPr lang="en-US" altLang="zh-TW" sz="1100" i="1" dirty="0" err="1">
                    <a:latin typeface="Times New Roman" pitchFamily="18" charset="0"/>
                    <a:cs typeface="Times New Roman" pitchFamily="18" charset="0"/>
                  </a:rPr>
                  <a:t>X</a:t>
                </a:r>
                <a:r>
                  <a:rPr lang="en-US" altLang="zh-TW" sz="1100" baseline="-25000" dirty="0" err="1">
                    <a:latin typeface="Times New Roman" pitchFamily="18" charset="0"/>
                    <a:cs typeface="Times New Roman" pitchFamily="18" charset="0"/>
                  </a:rPr>
                  <a:t>n</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，其中 </a:t>
                </a:r>
                <a:r>
                  <a:rPr lang="en-US" altLang="zh-TW" sz="1100" i="1" dirty="0">
                    <a:latin typeface="Times New Roman" pitchFamily="18" charset="0"/>
                    <a:cs typeface="Times New Roman" pitchFamily="18" charset="0"/>
                  </a:rPr>
                  <a:t>R</a:t>
                </a:r>
                <a:r>
                  <a:rPr lang="en-US" altLang="zh-TW" sz="1100" dirty="0">
                    <a:latin typeface="Times New Roman" pitchFamily="18" charset="0"/>
                    <a:cs typeface="Times New Roman" pitchFamily="18" charset="0"/>
                  </a:rPr>
                  <a:t> = </a:t>
                </a:r>
                <a:r>
                  <a:rPr lang="en-US" altLang="zh-TW" sz="1100" i="1" dirty="0" err="1">
                    <a:latin typeface="Times New Roman" pitchFamily="18" charset="0"/>
                    <a:cs typeface="Times New Roman" pitchFamily="18" charset="0"/>
                  </a:rPr>
                  <a:t>X</a:t>
                </a:r>
                <a:r>
                  <a:rPr lang="en-US" altLang="zh-TW" sz="1100" baseline="-25000" dirty="0" err="1">
                    <a:latin typeface="Times New Roman" pitchFamily="18" charset="0"/>
                    <a:cs typeface="Times New Roman" pitchFamily="18" charset="0"/>
                  </a:rPr>
                  <a:t>n</a:t>
                </a:r>
                <a:r>
                  <a:rPr lang="en-US" altLang="zh-TW" sz="1100" dirty="0">
                    <a:latin typeface="Times New Roman" pitchFamily="18" charset="0"/>
                    <a:cs typeface="Times New Roman" pitchFamily="18" charset="0"/>
                  </a:rPr>
                  <a:t> –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1</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D</a:t>
                </a:r>
                <a:r>
                  <a:rPr lang="en-US" altLang="zh-TW" sz="1100" dirty="0">
                    <a:latin typeface="Times New Roman" pitchFamily="18" charset="0"/>
                    <a:cs typeface="Times New Roman" pitchFamily="18" charset="0"/>
                  </a:rPr>
                  <a:t> = </a:t>
                </a:r>
                <a:r>
                  <a:rPr lang="en-US" altLang="zh-TW" sz="1100" i="1" dirty="0" err="1">
                    <a:latin typeface="Times New Roman" pitchFamily="18" charset="0"/>
                    <a:cs typeface="Times New Roman" pitchFamily="18" charset="0"/>
                  </a:rPr>
                  <a:t>X</a:t>
                </a:r>
                <a:r>
                  <a:rPr lang="en-US" altLang="zh-TW" sz="1100" baseline="-25000" dirty="0" err="1">
                    <a:latin typeface="Times New Roman" pitchFamily="18" charset="0"/>
                    <a:cs typeface="Times New Roman" pitchFamily="18" charset="0"/>
                  </a:rPr>
                  <a:t>n</a:t>
                </a:r>
                <a:r>
                  <a:rPr lang="en-US" altLang="zh-TW" sz="1100" dirty="0">
                    <a:latin typeface="Times New Roman" pitchFamily="18" charset="0"/>
                    <a:cs typeface="Times New Roman" pitchFamily="18" charset="0"/>
                  </a:rPr>
                  <a:t> –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n-1</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或 </a:t>
                </a:r>
                <a:r>
                  <a:rPr lang="en-US" altLang="zh-TW" sz="1100" i="1" dirty="0">
                    <a:latin typeface="Times New Roman" pitchFamily="18" charset="0"/>
                    <a:cs typeface="Times New Roman" pitchFamily="18" charset="0"/>
                  </a:rPr>
                  <a:t>D</a:t>
                </a:r>
                <a:r>
                  <a:rPr lang="en-US" altLang="zh-TW" sz="1100" dirty="0">
                    <a:latin typeface="Times New Roman" pitchFamily="18" charset="0"/>
                    <a:cs typeface="Times New Roman" pitchFamily="18" charset="0"/>
                  </a:rPr>
                  <a:t> =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2</a:t>
                </a:r>
                <a:r>
                  <a:rPr lang="en-US" altLang="zh-TW" sz="1100" dirty="0">
                    <a:latin typeface="Times New Roman" pitchFamily="18" charset="0"/>
                    <a:cs typeface="Times New Roman" pitchFamily="18" charset="0"/>
                  </a:rPr>
                  <a:t> –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1</a:t>
                </a:r>
                <a:r>
                  <a:rPr lang="zh-TW" altLang="en-US" sz="1100" dirty="0">
                    <a:latin typeface="Times New Roman" pitchFamily="18" charset="0"/>
                    <a:cs typeface="Times New Roman" pitchFamily="18" charset="0"/>
                  </a:rPr>
                  <a:t>，統計量 </a:t>
                </a:r>
                <a:r>
                  <a:rPr lang="en-US" altLang="zh-TW" sz="1100" i="1" dirty="0">
                    <a:latin typeface="Times New Roman" pitchFamily="18" charset="0"/>
                    <a:cs typeface="Times New Roman" pitchFamily="18" charset="0"/>
                  </a:rPr>
                  <a:t>Q </a:t>
                </a:r>
                <a:r>
                  <a:rPr lang="en-US" altLang="zh-TW" sz="1100" dirty="0">
                    <a:latin typeface="Times New Roman" pitchFamily="18" charset="0"/>
                    <a:cs typeface="Times New Roman" pitchFamily="18" charset="0"/>
                  </a:rPr>
                  <a:t>= </a:t>
                </a:r>
                <a:r>
                  <a:rPr lang="en-US" altLang="zh-TW" sz="1100" i="1" dirty="0">
                    <a:latin typeface="Times New Roman" pitchFamily="18" charset="0"/>
                    <a:cs typeface="Times New Roman" pitchFamily="18" charset="0"/>
                  </a:rPr>
                  <a:t>D</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R</a:t>
                </a:r>
                <a:r>
                  <a:rPr lang="zh-TW" altLang="en-US" sz="1100" dirty="0">
                    <a:latin typeface="Times New Roman" pitchFamily="18" charset="0"/>
                    <a:cs typeface="Times New Roman" pitchFamily="18" charset="0"/>
                  </a:rPr>
                  <a:t>，當極值與相鄰值間的差異大於等於整組數據極差的三分之一時（</a:t>
                </a:r>
                <a:r>
                  <a:rPr lang="en-US" altLang="zh-TW" sz="1000" i="1" dirty="0">
                    <a:latin typeface="Times New Roman" pitchFamily="18" charset="0"/>
                    <a:cs typeface="Times New Roman" pitchFamily="18" charset="0"/>
                  </a:rPr>
                  <a:t>Q</a:t>
                </a:r>
                <a:r>
                  <a:rPr lang="en-US" altLang="zh-TW"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⅓</a:t>
                </a:r>
                <a:r>
                  <a:rPr lang="zh-TW" altLang="en-US" sz="1100" dirty="0">
                    <a:latin typeface="Times New Roman" pitchFamily="18" charset="0"/>
                    <a:cs typeface="Times New Roman" pitchFamily="18" charset="0"/>
                  </a:rPr>
                  <a:t>），認為該值離群，將該個體所有相關數據予以剔除，當分佈的一側出現多個離群值時，選擇絕對值最小的極值代入計算；</a:t>
                </a:r>
              </a:p>
            </p:txBody>
          </p:sp>
        </p:grpSp>
        <p:pic>
          <p:nvPicPr>
            <p:cNvPr id="1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8968" y="600824"/>
              <a:ext cx="1385535" cy="522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68682" y="600824"/>
              <a:ext cx="1750427" cy="522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8400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生物學變異</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個體內、個體間生物學變異評估</a:t>
            </a:r>
            <a:endParaRPr lang="zh-CN" altLang="en-US" sz="1300" dirty="0">
              <a:solidFill>
                <a:srgbClr val="000000"/>
              </a:solidFill>
              <a:latin typeface="Times New Roman" pitchFamily="18" charset="0"/>
              <a:cs typeface="Times New Roman" pitchFamily="18" charset="0"/>
            </a:endParaRPr>
          </a:p>
        </p:txBody>
      </p:sp>
      <p:grpSp>
        <p:nvGrpSpPr>
          <p:cNvPr id="164865" name="组合 164864"/>
          <p:cNvGrpSpPr/>
          <p:nvPr/>
        </p:nvGrpSpPr>
        <p:grpSpPr>
          <a:xfrm>
            <a:off x="323648" y="774763"/>
            <a:ext cx="10931946" cy="5076000"/>
            <a:chOff x="323648" y="774763"/>
            <a:chExt cx="10931945" cy="5076000"/>
          </a:xfrm>
        </p:grpSpPr>
        <p:grpSp>
          <p:nvGrpSpPr>
            <p:cNvPr id="164864" name="组合 164863"/>
            <p:cNvGrpSpPr/>
            <p:nvPr/>
          </p:nvGrpSpPr>
          <p:grpSpPr>
            <a:xfrm>
              <a:off x="323648" y="831537"/>
              <a:ext cx="5364142" cy="4922452"/>
              <a:chOff x="323648" y="831537"/>
              <a:chExt cx="5364142" cy="4922452"/>
            </a:xfrm>
          </p:grpSpPr>
          <p:sp>
            <p:nvSpPr>
              <p:cNvPr id="14" name="Rectangle 14"/>
              <p:cNvSpPr>
                <a:spLocks noChangeArrowheads="1"/>
              </p:cNvSpPr>
              <p:nvPr/>
            </p:nvSpPr>
            <p:spPr bwMode="auto">
              <a:xfrm>
                <a:off x="323650" y="831537"/>
                <a:ext cx="5364138"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一、個體內生物學變異的估計</a:t>
                </a:r>
              </a:p>
            </p:txBody>
          </p:sp>
          <p:grpSp>
            <p:nvGrpSpPr>
              <p:cNvPr id="4" name="组合 3"/>
              <p:cNvGrpSpPr/>
              <p:nvPr/>
            </p:nvGrpSpPr>
            <p:grpSpPr>
              <a:xfrm>
                <a:off x="323649" y="1898650"/>
                <a:ext cx="5349910" cy="482600"/>
                <a:chOff x="355181" y="1898650"/>
                <a:chExt cx="5349910" cy="482600"/>
              </a:xfrm>
            </p:grpSpPr>
            <p:sp>
              <p:nvSpPr>
                <p:cNvPr id="15" name="Rectangle 14"/>
                <p:cNvSpPr>
                  <a:spLocks noChangeArrowheads="1"/>
                </p:cNvSpPr>
                <p:nvPr/>
              </p:nvSpPr>
              <p:spPr bwMode="auto">
                <a:xfrm>
                  <a:off x="355181" y="1953753"/>
                  <a:ext cx="534991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總變異：                                                                    </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j</a:t>
                  </a:r>
                  <a:r>
                    <a:rPr lang="en-US" altLang="zh-CN" sz="1100" dirty="0">
                      <a:latin typeface="Times New Roman" pitchFamily="18" charset="0"/>
                      <a:cs typeface="Times New Roman" pitchFamily="18" charset="0"/>
                    </a:rPr>
                    <a:t> = 3</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5</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6</a:t>
                  </a:r>
                  <a:r>
                    <a:rPr lang="zh-CN" altLang="en-US" sz="1100" dirty="0">
                      <a:latin typeface="Times New Roman" pitchFamily="18" charset="0"/>
                      <a:cs typeface="Times New Roman" pitchFamily="18" charset="0"/>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2001974530"/>
                    </p:ext>
                  </p:extLst>
                </p:nvPr>
              </p:nvGraphicFramePr>
              <p:xfrm>
                <a:off x="1528763" y="1898650"/>
                <a:ext cx="2120900" cy="482600"/>
              </p:xfrm>
              <a:graphic>
                <a:graphicData uri="http://schemas.openxmlformats.org/presentationml/2006/ole">
                  <mc:AlternateContent xmlns:mc="http://schemas.openxmlformats.org/markup-compatibility/2006">
                    <mc:Choice xmlns:v="urn:schemas-microsoft-com:vml" Requires="v">
                      <p:oleObj name="Equation" r:id="rId3" imgW="2120900" imgH="482600" progId="">
                        <p:embed/>
                      </p:oleObj>
                    </mc:Choice>
                    <mc:Fallback>
                      <p:oleObj name="Equation" r:id="rId3" imgW="2120900" imgH="482600" progId="">
                        <p:embed/>
                        <p:pic>
                          <p:nvPicPr>
                            <p:cNvPr id="0" name="Picture 128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8763" y="1898650"/>
                              <a:ext cx="21209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Rectangle 14"/>
              <p:cNvSpPr>
                <a:spLocks noChangeArrowheads="1"/>
              </p:cNvSpPr>
              <p:nvPr/>
            </p:nvSpPr>
            <p:spPr bwMode="auto">
              <a:xfrm>
                <a:off x="323649" y="2489854"/>
                <a:ext cx="534991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通過總變異減去分析過程引入變異來來計算個體內生物學變異；</a:t>
                </a:r>
              </a:p>
            </p:txBody>
          </p:sp>
          <p:sp>
            <p:nvSpPr>
              <p:cNvPr id="17" name="Rectangle 14"/>
              <p:cNvSpPr>
                <a:spLocks noChangeArrowheads="1"/>
              </p:cNvSpPr>
              <p:nvPr/>
            </p:nvSpPr>
            <p:spPr bwMode="auto">
              <a:xfrm>
                <a:off x="323649" y="1360992"/>
                <a:ext cx="534991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1</a:t>
                </a:r>
                <a:r>
                  <a:rPr lang="zh-CN" altLang="en-US" sz="1100" dirty="0">
                    <a:latin typeface="Times New Roman" pitchFamily="18" charset="0"/>
                    <a:cs typeface="Times New Roman" pitchFamily="18" charset="0"/>
                  </a:rPr>
                  <a:t>、個體內變異使用 </a:t>
                </a:r>
                <a:r>
                  <a:rPr lang="en-US" altLang="zh-CN" sz="1100" i="1" dirty="0" err="1">
                    <a:latin typeface="Times New Roman" pitchFamily="18" charset="0"/>
                    <a:cs typeface="Times New Roman" pitchFamily="18" charset="0"/>
                  </a:rPr>
                  <a:t>CV</a:t>
                </a:r>
                <a:r>
                  <a:rPr lang="en-US" altLang="zh-CN" sz="1100" baseline="-25000" dirty="0" err="1">
                    <a:latin typeface="Times New Roman" pitchFamily="18" charset="0"/>
                    <a:cs typeface="Times New Roman" pitchFamily="18" charset="0"/>
                  </a:rPr>
                  <a:t>total</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模型進行估算；</a:t>
                </a:r>
              </a:p>
            </p:txBody>
          </p:sp>
          <p:grpSp>
            <p:nvGrpSpPr>
              <p:cNvPr id="3" name="组合 2"/>
              <p:cNvGrpSpPr/>
              <p:nvPr/>
            </p:nvGrpSpPr>
            <p:grpSpPr>
              <a:xfrm>
                <a:off x="323650" y="3011093"/>
                <a:ext cx="5349909" cy="346249"/>
                <a:chOff x="355182" y="3011093"/>
                <a:chExt cx="5349909" cy="346249"/>
              </a:xfrm>
            </p:grpSpPr>
            <p:sp>
              <p:nvSpPr>
                <p:cNvPr id="19" name="Rectangle 14"/>
                <p:cNvSpPr>
                  <a:spLocks noChangeArrowheads="1"/>
                </p:cNvSpPr>
                <p:nvPr/>
              </p:nvSpPr>
              <p:spPr bwMode="auto">
                <a:xfrm>
                  <a:off x="355182" y="3011093"/>
                  <a:ext cx="534990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個體內生物學變異：                                                       </a:t>
                  </a:r>
                  <a:r>
                    <a:rPr lang="zh-CN" altLang="en-US" sz="1100"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n</a:t>
                  </a:r>
                  <a:r>
                    <a:rPr lang="en-US" altLang="zh-CN" sz="1100" baseline="-25000" dirty="0" err="1">
                      <a:latin typeface="Times New Roman" pitchFamily="18" charset="0"/>
                      <a:cs typeface="Times New Roman" pitchFamily="18" charset="0"/>
                    </a:rPr>
                    <a:t>A</a:t>
                  </a:r>
                  <a:r>
                    <a:rPr lang="en-US" altLang="zh-CN" sz="1100" dirty="0">
                      <a:latin typeface="Times New Roman" pitchFamily="18" charset="0"/>
                      <a:cs typeface="Times New Roman" pitchFamily="18" charset="0"/>
                    </a:rPr>
                    <a:t> = 2</a:t>
                  </a:r>
                  <a:r>
                    <a:rPr lang="zh-CN" altLang="en-US" sz="1100" dirty="0">
                      <a:latin typeface="Times New Roman" pitchFamily="18" charset="0"/>
                      <a:cs typeface="Times New Roman" pitchFamily="18" charset="0"/>
                    </a:rPr>
                    <a:t>）</a:t>
                  </a:r>
                </a:p>
              </p:txBody>
            </p:sp>
            <p:graphicFrame>
              <p:nvGraphicFramePr>
                <p:cNvPr id="18" name="对象 17"/>
                <p:cNvGraphicFramePr>
                  <a:graphicFrameLocks noChangeAspect="1"/>
                </p:cNvGraphicFramePr>
                <p:nvPr>
                  <p:extLst>
                    <p:ext uri="{D42A27DB-BD31-4B8C-83A1-F6EECF244321}">
                      <p14:modId xmlns:p14="http://schemas.microsoft.com/office/powerpoint/2010/main" val="3517156395"/>
                    </p:ext>
                  </p:extLst>
                </p:nvPr>
              </p:nvGraphicFramePr>
              <p:xfrm>
                <a:off x="2178050" y="3054350"/>
                <a:ext cx="1562100" cy="292100"/>
              </p:xfrm>
              <a:graphic>
                <a:graphicData uri="http://schemas.openxmlformats.org/presentationml/2006/ole">
                  <mc:AlternateContent xmlns:mc="http://schemas.openxmlformats.org/markup-compatibility/2006">
                    <mc:Choice xmlns:v="urn:schemas-microsoft-com:vml" Requires="v">
                      <p:oleObj name="Equation" r:id="rId5" imgW="1562100" imgH="292100" progId="">
                        <p:embed/>
                      </p:oleObj>
                    </mc:Choice>
                    <mc:Fallback>
                      <p:oleObj name="Equation" r:id="rId5" imgW="1562100" imgH="292100" progId="">
                        <p:embed/>
                        <p:pic>
                          <p:nvPicPr>
                            <p:cNvPr id="0" name="Picture 128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8050" y="3054350"/>
                              <a:ext cx="15621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Rectangle 14"/>
              <p:cNvSpPr>
                <a:spLocks noChangeArrowheads="1"/>
              </p:cNvSpPr>
              <p:nvPr/>
            </p:nvSpPr>
            <p:spPr bwMode="auto">
              <a:xfrm>
                <a:off x="323648" y="3667336"/>
                <a:ext cx="534990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、個體內變異分佈正態性檢驗：</a:t>
                </a:r>
              </a:p>
            </p:txBody>
          </p:sp>
          <p:sp>
            <p:nvSpPr>
              <p:cNvPr id="21" name="Rectangle 14"/>
              <p:cNvSpPr>
                <a:spLocks noChangeArrowheads="1"/>
              </p:cNvSpPr>
              <p:nvPr/>
            </p:nvSpPr>
            <p:spPr bwMode="auto">
              <a:xfrm>
                <a:off x="323650" y="4553661"/>
                <a:ext cx="536414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3</a:t>
                </a:r>
                <a:r>
                  <a:rPr lang="zh-CN" altLang="en-US" sz="1100" dirty="0">
                    <a:latin typeface="Times New Roman" pitchFamily="18" charset="0"/>
                    <a:cs typeface="Times New Roman" pitchFamily="18" charset="0"/>
                  </a:rPr>
                  <a:t>、個體內變異與性別、年齡、體重指數</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BMI</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等潛在分組因素的相關性分析：</a:t>
                </a:r>
              </a:p>
            </p:txBody>
          </p:sp>
          <p:sp>
            <p:nvSpPr>
              <p:cNvPr id="22" name="Rectangle 14"/>
              <p:cNvSpPr>
                <a:spLocks noChangeArrowheads="1"/>
              </p:cNvSpPr>
              <p:nvPr/>
            </p:nvSpPr>
            <p:spPr bwMode="auto">
              <a:xfrm>
                <a:off x="804036" y="4899909"/>
                <a:ext cx="4883754" cy="85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如果個體內變異呈正太分佈可使用</a:t>
                </a:r>
                <a:r>
                  <a:rPr lang="en-US" altLang="zh-CN" sz="1100" i="1" dirty="0">
                    <a:latin typeface="Times New Roman" pitchFamily="18" charset="0"/>
                    <a:cs typeface="Times New Roman" pitchFamily="18" charset="0"/>
                  </a:rPr>
                  <a:t>Pearson</a:t>
                </a:r>
                <a:r>
                  <a:rPr lang="zh-CN" altLang="en-US" sz="1100" dirty="0">
                    <a:latin typeface="Times New Roman" pitchFamily="18" charset="0"/>
                    <a:cs typeface="Times New Roman" pitchFamily="18" charset="0"/>
                  </a:rPr>
                  <a:t>相關係數來標示與</a:t>
                </a:r>
                <a:r>
                  <a:rPr lang="en-US" altLang="zh-CN" sz="1100" i="1" dirty="0">
                    <a:latin typeface="Times New Roman" pitchFamily="18" charset="0"/>
                    <a:cs typeface="Times New Roman" pitchFamily="18" charset="0"/>
                  </a:rPr>
                  <a:t>BMI</a:t>
                </a:r>
                <a:r>
                  <a:rPr lang="zh-CN" altLang="en-US" sz="1100" dirty="0">
                    <a:latin typeface="Times New Roman" pitchFamily="18" charset="0"/>
                    <a:cs typeface="Times New Roman" pitchFamily="18" charset="0"/>
                  </a:rPr>
                  <a:t>指數的相關程度，如呈非正態分佈可使用</a:t>
                </a:r>
                <a:r>
                  <a:rPr lang="en-US" altLang="zh-CN" sz="1100" i="1" dirty="0">
                    <a:latin typeface="Times New Roman" pitchFamily="18" charset="0"/>
                    <a:cs typeface="Times New Roman" pitchFamily="18" charset="0"/>
                  </a:rPr>
                  <a:t>Spearman</a:t>
                </a:r>
                <a:r>
                  <a:rPr lang="zh-CN" altLang="en-US" sz="1100" dirty="0">
                    <a:latin typeface="Times New Roman" pitchFamily="18" charset="0"/>
                    <a:cs typeface="Times New Roman" pitchFamily="18" charset="0"/>
                  </a:rPr>
                  <a:t>秩相關係數；變量間相關性根據數據分佈的正態與否可使用獨立樣本 </a:t>
                </a:r>
                <a:r>
                  <a:rPr lang="en-US" altLang="zh-CN" sz="1100" i="1" dirty="0">
                    <a:latin typeface="Times New Roman" pitchFamily="18" charset="0"/>
                    <a:cs typeface="Times New Roman" pitchFamily="18" charset="0"/>
                  </a:rPr>
                  <a:t>t </a:t>
                </a:r>
                <a:r>
                  <a:rPr lang="zh-CN" altLang="en-US" sz="1100" dirty="0">
                    <a:latin typeface="Times New Roman" pitchFamily="18" charset="0"/>
                    <a:cs typeface="Times New Roman" pitchFamily="18" charset="0"/>
                  </a:rPr>
                  <a:t>檢驗或</a:t>
                </a:r>
                <a:r>
                  <a:rPr lang="en-US" altLang="zh-CN" sz="1100" i="1" dirty="0">
                    <a:latin typeface="Times New Roman" pitchFamily="18" charset="0"/>
                    <a:cs typeface="Times New Roman" pitchFamily="18" charset="0"/>
                  </a:rPr>
                  <a:t>Mann</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Whitney</a:t>
                </a:r>
                <a:r>
                  <a:rPr lang="zh-CN" altLang="en-US" sz="1100" dirty="0">
                    <a:latin typeface="Times New Roman" pitchFamily="18" charset="0"/>
                    <a:cs typeface="Times New Roman" pitchFamily="18" charset="0"/>
                  </a:rPr>
                  <a:t>檢驗進行組間比較；</a:t>
                </a:r>
              </a:p>
            </p:txBody>
          </p:sp>
          <p:sp>
            <p:nvSpPr>
              <p:cNvPr id="33" name="Rectangle 14"/>
              <p:cNvSpPr>
                <a:spLocks noChangeArrowheads="1"/>
              </p:cNvSpPr>
              <p:nvPr/>
            </p:nvSpPr>
            <p:spPr bwMode="auto">
              <a:xfrm>
                <a:off x="804038" y="4013586"/>
                <a:ext cx="4866532"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CN" altLang="en-US" sz="1100" dirty="0"/>
                  <a:t>如</a:t>
                </a:r>
                <a:r>
                  <a:rPr lang="zh-CN" altLang="en-US" sz="1100" dirty="0">
                    <a:solidFill>
                      <a:srgbClr val="000000"/>
                    </a:solidFill>
                    <a:latin typeface="Times New Roman" pitchFamily="18" charset="0"/>
                    <a:cs typeface="Times New Roman" pitchFamily="18" charset="0"/>
                  </a:rPr>
                  <a:t>小樣本時（</a:t>
                </a:r>
                <a:r>
                  <a:rPr lang="en-US" altLang="zh-CN" sz="1100" i="1" dirty="0">
                    <a:solidFill>
                      <a:srgbClr val="000000"/>
                    </a:solidFill>
                    <a:latin typeface="Times New Roman" pitchFamily="18" charset="0"/>
                    <a:cs typeface="Times New Roman" pitchFamily="18" charset="0"/>
                  </a:rPr>
                  <a:t>M </a:t>
                </a:r>
                <a:r>
                  <a:rPr lang="en-US" altLang="zh-CN" sz="1100" dirty="0">
                    <a:solidFill>
                      <a:srgbClr val="000000"/>
                    </a:solidFill>
                    <a:latin typeface="Times New Roman" pitchFamily="18" charset="0"/>
                    <a:cs typeface="Times New Roman" pitchFamily="18" charset="0"/>
                  </a:rPr>
                  <a:t>&lt; 50</a:t>
                </a:r>
                <a:r>
                  <a:rPr lang="zh-CN" altLang="en-US" sz="1100" dirty="0">
                    <a:solidFill>
                      <a:srgbClr val="000000"/>
                    </a:solidFill>
                    <a:latin typeface="Times New Roman" pitchFamily="18" charset="0"/>
                    <a:cs typeface="Times New Roman" pitchFamily="18" charset="0"/>
                  </a:rPr>
                  <a:t>）可以採用 </a:t>
                </a:r>
                <a:r>
                  <a:rPr lang="en-US" altLang="zh-CN" sz="1100" i="1" dirty="0">
                    <a:solidFill>
                      <a:srgbClr val="000000"/>
                    </a:solidFill>
                    <a:latin typeface="Times New Roman" pitchFamily="18" charset="0"/>
                    <a:cs typeface="Times New Roman" pitchFamily="18" charset="0"/>
                  </a:rPr>
                  <a:t>Shapiro</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Wilk</a:t>
                </a:r>
                <a:r>
                  <a:rPr lang="en-US" altLang="zh-CN"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正態性檢驗</a:t>
                </a:r>
                <a:r>
                  <a:rPr lang="zh-CN" altLang="en-US" sz="1100" dirty="0"/>
                  <a:t>；</a:t>
                </a:r>
              </a:p>
            </p:txBody>
          </p:sp>
        </p:grpSp>
        <p:grpSp>
          <p:nvGrpSpPr>
            <p:cNvPr id="11" name="组合 10"/>
            <p:cNvGrpSpPr/>
            <p:nvPr/>
          </p:nvGrpSpPr>
          <p:grpSpPr>
            <a:xfrm>
              <a:off x="5799534" y="831536"/>
              <a:ext cx="5456059" cy="4942764"/>
              <a:chOff x="5799534" y="831536"/>
              <a:chExt cx="5456059" cy="4942764"/>
            </a:xfrm>
          </p:grpSpPr>
          <p:grpSp>
            <p:nvGrpSpPr>
              <p:cNvPr id="56" name="组合 55"/>
              <p:cNvGrpSpPr/>
              <p:nvPr/>
            </p:nvGrpSpPr>
            <p:grpSpPr>
              <a:xfrm>
                <a:off x="5802673" y="1895475"/>
                <a:ext cx="5452919" cy="482600"/>
                <a:chOff x="355180" y="1899303"/>
                <a:chExt cx="5452919" cy="482600"/>
              </a:xfrm>
            </p:grpSpPr>
            <p:sp>
              <p:nvSpPr>
                <p:cNvPr id="57" name="Rectangle 14"/>
                <p:cNvSpPr>
                  <a:spLocks noChangeArrowheads="1"/>
                </p:cNvSpPr>
                <p:nvPr/>
              </p:nvSpPr>
              <p:spPr bwMode="auto">
                <a:xfrm>
                  <a:off x="355180" y="1953753"/>
                  <a:ext cx="545291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總變異：                                                                  </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j</a:t>
                  </a:r>
                  <a:r>
                    <a:rPr lang="en-US" altLang="zh-CN" sz="1100" dirty="0">
                      <a:latin typeface="Times New Roman" pitchFamily="18" charset="0"/>
                      <a:cs typeface="Times New Roman" pitchFamily="18" charset="0"/>
                    </a:rPr>
                    <a:t> = 3</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5</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6</a:t>
                  </a:r>
                  <a:r>
                    <a:rPr lang="zh-CN" altLang="en-US" sz="1100" dirty="0">
                      <a:latin typeface="Times New Roman" pitchFamily="18" charset="0"/>
                      <a:cs typeface="Times New Roman" pitchFamily="18" charset="0"/>
                    </a:rPr>
                    <a:t>）</a:t>
                  </a:r>
                </a:p>
              </p:txBody>
            </p:sp>
            <p:graphicFrame>
              <p:nvGraphicFramePr>
                <p:cNvPr id="58" name="对象 57"/>
                <p:cNvGraphicFramePr>
                  <a:graphicFrameLocks noChangeAspect="1"/>
                </p:cNvGraphicFramePr>
                <p:nvPr>
                  <p:extLst>
                    <p:ext uri="{D42A27DB-BD31-4B8C-83A1-F6EECF244321}">
                      <p14:modId xmlns:p14="http://schemas.microsoft.com/office/powerpoint/2010/main" val="1646239188"/>
                    </p:ext>
                  </p:extLst>
                </p:nvPr>
              </p:nvGraphicFramePr>
              <p:xfrm>
                <a:off x="1482163" y="1899303"/>
                <a:ext cx="2120900" cy="482600"/>
              </p:xfrm>
              <a:graphic>
                <a:graphicData uri="http://schemas.openxmlformats.org/presentationml/2006/ole">
                  <mc:AlternateContent xmlns:mc="http://schemas.openxmlformats.org/markup-compatibility/2006">
                    <mc:Choice xmlns:v="urn:schemas-microsoft-com:vml" Requires="v">
                      <p:oleObj name="Equation" r:id="rId7" imgW="2120900" imgH="482600" progId="">
                        <p:embed/>
                      </p:oleObj>
                    </mc:Choice>
                    <mc:Fallback>
                      <p:oleObj name="Equation" r:id="rId7" imgW="2120900" imgH="482600" progId="">
                        <p:embed/>
                        <p:pic>
                          <p:nvPicPr>
                            <p:cNvPr id="0" name="Picture 1280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2163" y="1899303"/>
                              <a:ext cx="21209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5" name="Rectangle 14"/>
              <p:cNvSpPr>
                <a:spLocks noChangeArrowheads="1"/>
              </p:cNvSpPr>
              <p:nvPr/>
            </p:nvSpPr>
            <p:spPr bwMode="auto">
              <a:xfrm>
                <a:off x="5799536" y="831536"/>
                <a:ext cx="54560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二、個體間生物學變異的估計</a:t>
                </a:r>
              </a:p>
            </p:txBody>
          </p:sp>
          <p:sp>
            <p:nvSpPr>
              <p:cNvPr id="48" name="Rectangle 14"/>
              <p:cNvSpPr>
                <a:spLocks noChangeArrowheads="1"/>
              </p:cNvSpPr>
              <p:nvPr/>
            </p:nvSpPr>
            <p:spPr bwMode="auto">
              <a:xfrm>
                <a:off x="5799534" y="2489853"/>
                <a:ext cx="545605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通過總變異減去分析過程引入變異和個體內變異來估算個體間生物學變異；</a:t>
                </a:r>
              </a:p>
            </p:txBody>
          </p:sp>
          <p:sp>
            <p:nvSpPr>
              <p:cNvPr id="49" name="Rectangle 14"/>
              <p:cNvSpPr>
                <a:spLocks noChangeArrowheads="1"/>
              </p:cNvSpPr>
              <p:nvPr/>
            </p:nvSpPr>
            <p:spPr bwMode="auto">
              <a:xfrm>
                <a:off x="5799534" y="1360991"/>
                <a:ext cx="545605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1</a:t>
                </a:r>
                <a:r>
                  <a:rPr lang="zh-CN" altLang="en-US" sz="1100" dirty="0">
                    <a:latin typeface="Times New Roman" pitchFamily="18" charset="0"/>
                    <a:cs typeface="Times New Roman" pitchFamily="18" charset="0"/>
                  </a:rPr>
                  <a:t>、個體間變異使用 </a:t>
                </a:r>
                <a:r>
                  <a:rPr lang="en-US" altLang="zh-CN" sz="1100" i="1" dirty="0" err="1">
                    <a:latin typeface="Times New Roman" pitchFamily="18" charset="0"/>
                    <a:cs typeface="Times New Roman" pitchFamily="18" charset="0"/>
                  </a:rPr>
                  <a:t>CV</a:t>
                </a:r>
                <a:r>
                  <a:rPr lang="en-US" altLang="zh-CN" sz="1100" baseline="-25000" dirty="0" err="1">
                    <a:latin typeface="Times New Roman" pitchFamily="18" charset="0"/>
                    <a:cs typeface="Times New Roman" pitchFamily="18" charset="0"/>
                  </a:rPr>
                  <a:t>total</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CV</a:t>
                </a:r>
                <a:r>
                  <a:rPr lang="en-US" altLang="zh-CN" sz="1100" baseline="-25000" dirty="0">
                    <a:latin typeface="Times New Roman" pitchFamily="18" charset="0"/>
                    <a:cs typeface="Times New Roman" pitchFamily="18" charset="0"/>
                  </a:rPr>
                  <a:t>G</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模型進行估算；</a:t>
                </a:r>
              </a:p>
            </p:txBody>
          </p:sp>
          <p:grpSp>
            <p:nvGrpSpPr>
              <p:cNvPr id="6" name="组合 5"/>
              <p:cNvGrpSpPr/>
              <p:nvPr/>
            </p:nvGrpSpPr>
            <p:grpSpPr>
              <a:xfrm>
                <a:off x="5799536" y="3020617"/>
                <a:ext cx="5456057" cy="346249"/>
                <a:chOff x="5736472" y="3020617"/>
                <a:chExt cx="5456057" cy="346249"/>
              </a:xfrm>
            </p:grpSpPr>
            <p:sp>
              <p:nvSpPr>
                <p:cNvPr id="51" name="Rectangle 14"/>
                <p:cNvSpPr>
                  <a:spLocks noChangeArrowheads="1"/>
                </p:cNvSpPr>
                <p:nvPr/>
              </p:nvSpPr>
              <p:spPr bwMode="auto">
                <a:xfrm>
                  <a:off x="5736472" y="3020617"/>
                  <a:ext cx="54560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CN" altLang="en-US" sz="1100" dirty="0"/>
                    <a:t>       個體間生物學變異：                                                             （</a:t>
                  </a:r>
                  <a:r>
                    <a:rPr lang="en-US" altLang="zh-CN" sz="1100" i="1" dirty="0" err="1">
                      <a:solidFill>
                        <a:srgbClr val="000000"/>
                      </a:solidFill>
                      <a:latin typeface="Times New Roman" pitchFamily="18" charset="0"/>
                      <a:cs typeface="Times New Roman" pitchFamily="18" charset="0"/>
                    </a:rPr>
                    <a:t>n</a:t>
                  </a:r>
                  <a:r>
                    <a:rPr lang="en-US" altLang="zh-CN" sz="1100" baseline="-25000" dirty="0" err="1">
                      <a:solidFill>
                        <a:srgbClr val="000000"/>
                      </a:solidFill>
                      <a:latin typeface="Times New Roman" pitchFamily="18" charset="0"/>
                      <a:cs typeface="Times New Roman" pitchFamily="18" charset="0"/>
                    </a:rPr>
                    <a:t>A</a:t>
                  </a:r>
                  <a:r>
                    <a:rPr lang="en-US" altLang="zh-CN" sz="1100" dirty="0">
                      <a:solidFill>
                        <a:srgbClr val="000000"/>
                      </a:solidFill>
                      <a:latin typeface="Times New Roman" pitchFamily="18" charset="0"/>
                      <a:cs typeface="Times New Roman" pitchFamily="18" charset="0"/>
                    </a:rPr>
                    <a:t> = 2</a:t>
                  </a:r>
                  <a:r>
                    <a:rPr lang="zh-CN" altLang="en-US" sz="1100" dirty="0">
                      <a:solidFill>
                        <a:srgbClr val="000000"/>
                      </a:solidFill>
                      <a:latin typeface="Times New Roman" pitchFamily="18" charset="0"/>
                      <a:cs typeface="Times New Roman" pitchFamily="18" charset="0"/>
                    </a:rPr>
                    <a:t>，</a:t>
                  </a:r>
                  <a:r>
                    <a:rPr lang="en-US" altLang="zh-CN" sz="1100" i="1" dirty="0">
                      <a:solidFill>
                        <a:srgbClr val="000000"/>
                      </a:solidFill>
                      <a:latin typeface="Times New Roman" pitchFamily="18" charset="0"/>
                      <a:cs typeface="Times New Roman" pitchFamily="18" charset="0"/>
                    </a:rPr>
                    <a:t>j</a:t>
                  </a:r>
                  <a:r>
                    <a:rPr lang="en-US" altLang="zh-CN" sz="1100" dirty="0">
                      <a:solidFill>
                        <a:srgbClr val="000000"/>
                      </a:solidFill>
                      <a:latin typeface="Times New Roman" pitchFamily="18" charset="0"/>
                      <a:cs typeface="Times New Roman" pitchFamily="18" charset="0"/>
                    </a:rPr>
                    <a:t> = 3</a:t>
                  </a:r>
                  <a:r>
                    <a:rPr lang="zh-CN" altLang="en-US" sz="1100" dirty="0">
                      <a:solidFill>
                        <a:srgbClr val="000000"/>
                      </a:solidFill>
                      <a:latin typeface="Times New Roman" pitchFamily="18" charset="0"/>
                      <a:cs typeface="Times New Roman" pitchFamily="18" charset="0"/>
                    </a:rPr>
                    <a:t>、</a:t>
                  </a:r>
                  <a:r>
                    <a:rPr lang="en-US" altLang="zh-CN" sz="1100" dirty="0">
                      <a:solidFill>
                        <a:srgbClr val="000000"/>
                      </a:solidFill>
                      <a:latin typeface="Times New Roman" pitchFamily="18" charset="0"/>
                      <a:cs typeface="Times New Roman" pitchFamily="18" charset="0"/>
                    </a:rPr>
                    <a:t>5</a:t>
                  </a:r>
                  <a:r>
                    <a:rPr lang="zh-CN" altLang="en-US" sz="1100" dirty="0">
                      <a:solidFill>
                        <a:srgbClr val="000000"/>
                      </a:solidFill>
                      <a:latin typeface="Times New Roman" pitchFamily="18" charset="0"/>
                      <a:cs typeface="Times New Roman" pitchFamily="18" charset="0"/>
                    </a:rPr>
                    <a:t>、</a:t>
                  </a:r>
                  <a:r>
                    <a:rPr lang="en-US" altLang="zh-CN" sz="1100" dirty="0">
                      <a:solidFill>
                        <a:srgbClr val="000000"/>
                      </a:solidFill>
                      <a:latin typeface="Times New Roman" pitchFamily="18" charset="0"/>
                      <a:cs typeface="Times New Roman" pitchFamily="18" charset="0"/>
                    </a:rPr>
                    <a:t>6</a:t>
                  </a:r>
                  <a:r>
                    <a:rPr lang="zh-CN" altLang="en-US" sz="1100" dirty="0">
                      <a:solidFill>
                        <a:srgbClr val="000000"/>
                      </a:solidFill>
                      <a:latin typeface="Times New Roman" pitchFamily="18" charset="0"/>
                      <a:cs typeface="Times New Roman" pitchFamily="18" charset="0"/>
                    </a:rPr>
                    <a:t>）</a:t>
                  </a:r>
                </a:p>
              </p:txBody>
            </p:sp>
            <p:graphicFrame>
              <p:nvGraphicFramePr>
                <p:cNvPr id="50" name="对象 49"/>
                <p:cNvGraphicFramePr>
                  <a:graphicFrameLocks noChangeAspect="1"/>
                </p:cNvGraphicFramePr>
                <p:nvPr>
                  <p:extLst>
                    <p:ext uri="{D42A27DB-BD31-4B8C-83A1-F6EECF244321}">
                      <p14:modId xmlns:p14="http://schemas.microsoft.com/office/powerpoint/2010/main" val="2403608528"/>
                    </p:ext>
                  </p:extLst>
                </p:nvPr>
              </p:nvGraphicFramePr>
              <p:xfrm>
                <a:off x="7399992" y="3044825"/>
                <a:ext cx="2146300" cy="292100"/>
              </p:xfrm>
              <a:graphic>
                <a:graphicData uri="http://schemas.openxmlformats.org/presentationml/2006/ole">
                  <mc:AlternateContent xmlns:mc="http://schemas.openxmlformats.org/markup-compatibility/2006">
                    <mc:Choice xmlns:v="urn:schemas-microsoft-com:vml" Requires="v">
                      <p:oleObj name="Equation" r:id="rId9" imgW="2146300" imgH="292100" progId="">
                        <p:embed/>
                      </p:oleObj>
                    </mc:Choice>
                    <mc:Fallback>
                      <p:oleObj name="Equation" r:id="rId9" imgW="2146300" imgH="292100" progId="">
                        <p:embed/>
                        <p:pic>
                          <p:nvPicPr>
                            <p:cNvPr id="0" name="Picture 1280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99992" y="3044825"/>
                              <a:ext cx="21463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2" name="Rectangle 14"/>
              <p:cNvSpPr>
                <a:spLocks noChangeArrowheads="1"/>
              </p:cNvSpPr>
              <p:nvPr/>
            </p:nvSpPr>
            <p:spPr bwMode="auto">
              <a:xfrm>
                <a:off x="5799534" y="3624069"/>
                <a:ext cx="5441582"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、個體檢測均值分佈正態性檢驗：</a:t>
                </a:r>
              </a:p>
            </p:txBody>
          </p:sp>
          <p:sp>
            <p:nvSpPr>
              <p:cNvPr id="53" name="Rectangle 14"/>
              <p:cNvSpPr>
                <a:spLocks noChangeArrowheads="1"/>
              </p:cNvSpPr>
              <p:nvPr/>
            </p:nvSpPr>
            <p:spPr bwMode="auto">
              <a:xfrm>
                <a:off x="5799535" y="4363000"/>
                <a:ext cx="54560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3</a:t>
                </a:r>
                <a:r>
                  <a:rPr lang="zh-CN" altLang="en-US" sz="1100" dirty="0">
                    <a:latin typeface="Times New Roman" pitchFamily="18" charset="0"/>
                    <a:cs typeface="Times New Roman" pitchFamily="18" charset="0"/>
                  </a:rPr>
                  <a:t>、個體檢測均值與性別、年齡、體重指數</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BMI</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等潛在分組因素的相關性分析：</a:t>
                </a:r>
              </a:p>
            </p:txBody>
          </p:sp>
          <p:sp>
            <p:nvSpPr>
              <p:cNvPr id="54" name="Rectangle 14"/>
              <p:cNvSpPr>
                <a:spLocks noChangeArrowheads="1"/>
              </p:cNvSpPr>
              <p:nvPr/>
            </p:nvSpPr>
            <p:spPr bwMode="auto">
              <a:xfrm>
                <a:off x="6279924" y="4709249"/>
                <a:ext cx="4967438"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如果個體檢測均值與</a:t>
                </a:r>
                <a:r>
                  <a:rPr lang="en-US" altLang="zh-CN" sz="1100" i="1" dirty="0">
                    <a:latin typeface="Times New Roman" pitchFamily="18" charset="0"/>
                    <a:cs typeface="Times New Roman" pitchFamily="18" charset="0"/>
                  </a:rPr>
                  <a:t>BMI</a:t>
                </a:r>
                <a:r>
                  <a:rPr lang="zh-CN" altLang="en-US" sz="1100" dirty="0">
                    <a:latin typeface="Times New Roman" pitchFamily="18" charset="0"/>
                    <a:cs typeface="Times New Roman" pitchFamily="18" charset="0"/>
                  </a:rPr>
                  <a:t>指數相關性分析與個體內變異相似；</a:t>
                </a:r>
              </a:p>
            </p:txBody>
          </p:sp>
          <p:sp>
            <p:nvSpPr>
              <p:cNvPr id="55" name="Rectangle 14"/>
              <p:cNvSpPr>
                <a:spLocks noChangeArrowheads="1"/>
              </p:cNvSpPr>
              <p:nvPr/>
            </p:nvSpPr>
            <p:spPr bwMode="auto">
              <a:xfrm>
                <a:off x="6279924" y="3954258"/>
                <a:ext cx="4949922"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CN" altLang="en-US" sz="1100" dirty="0"/>
                  <a:t>如</a:t>
                </a:r>
                <a:r>
                  <a:rPr lang="zh-CN" altLang="en-US" sz="1100" dirty="0">
                    <a:solidFill>
                      <a:srgbClr val="000000"/>
                    </a:solidFill>
                    <a:latin typeface="Times New Roman" pitchFamily="18" charset="0"/>
                    <a:cs typeface="Times New Roman" pitchFamily="18" charset="0"/>
                  </a:rPr>
                  <a:t>小樣本時（</a:t>
                </a:r>
                <a:r>
                  <a:rPr lang="en-US" altLang="zh-CN" sz="1100" i="1" dirty="0">
                    <a:solidFill>
                      <a:srgbClr val="000000"/>
                    </a:solidFill>
                    <a:latin typeface="Times New Roman" pitchFamily="18" charset="0"/>
                    <a:cs typeface="Times New Roman" pitchFamily="18" charset="0"/>
                  </a:rPr>
                  <a:t>n </a:t>
                </a:r>
                <a:r>
                  <a:rPr lang="en-US" altLang="zh-CN" sz="1100" dirty="0">
                    <a:solidFill>
                      <a:srgbClr val="000000"/>
                    </a:solidFill>
                    <a:latin typeface="Times New Roman" pitchFamily="18" charset="0"/>
                    <a:cs typeface="Times New Roman" pitchFamily="18" charset="0"/>
                  </a:rPr>
                  <a:t>&lt; 50</a:t>
                </a:r>
                <a:r>
                  <a:rPr lang="zh-CN" altLang="en-US" sz="1100" dirty="0">
                    <a:solidFill>
                      <a:srgbClr val="000000"/>
                    </a:solidFill>
                    <a:latin typeface="Times New Roman" pitchFamily="18" charset="0"/>
                    <a:cs typeface="Times New Roman" pitchFamily="18" charset="0"/>
                  </a:rPr>
                  <a:t>）可以採用 </a:t>
                </a:r>
                <a:r>
                  <a:rPr lang="en-US" altLang="zh-CN" sz="1100" i="1" dirty="0">
                    <a:solidFill>
                      <a:srgbClr val="000000"/>
                    </a:solidFill>
                    <a:latin typeface="Times New Roman" pitchFamily="18" charset="0"/>
                    <a:cs typeface="Times New Roman" pitchFamily="18" charset="0"/>
                  </a:rPr>
                  <a:t>Shapiro</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Wilk</a:t>
                </a:r>
                <a:r>
                  <a:rPr lang="en-US" altLang="zh-CN"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正態性檢驗；</a:t>
                </a:r>
                <a:r>
                  <a:rPr lang="zh-CN" altLang="en-US" sz="1100" dirty="0"/>
                  <a:t>；</a:t>
                </a:r>
              </a:p>
            </p:txBody>
          </p:sp>
          <p:sp>
            <p:nvSpPr>
              <p:cNvPr id="59" name="Rectangle 14"/>
              <p:cNvSpPr>
                <a:spLocks noChangeArrowheads="1"/>
              </p:cNvSpPr>
              <p:nvPr/>
            </p:nvSpPr>
            <p:spPr bwMode="auto">
              <a:xfrm>
                <a:off x="5799536" y="5081802"/>
                <a:ext cx="54560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4</a:t>
                </a:r>
                <a:r>
                  <a:rPr lang="zh-CN" altLang="en-US" sz="1100" dirty="0">
                    <a:latin typeface="Times New Roman" pitchFamily="18" charset="0"/>
                    <a:cs typeface="Times New Roman" pitchFamily="18" charset="0"/>
                  </a:rPr>
                  <a:t>、個體檢測均值的趨勢性分析：</a:t>
                </a:r>
              </a:p>
            </p:txBody>
          </p:sp>
          <p:sp>
            <p:nvSpPr>
              <p:cNvPr id="60" name="Rectangle 14"/>
              <p:cNvSpPr>
                <a:spLocks noChangeArrowheads="1"/>
              </p:cNvSpPr>
              <p:nvPr/>
            </p:nvSpPr>
            <p:spPr bwMode="auto">
              <a:xfrm>
                <a:off x="6279924" y="5428051"/>
                <a:ext cx="497566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可使用 </a:t>
                </a:r>
                <a:r>
                  <a:rPr lang="en-US" altLang="zh-CN" sz="1100" i="1" dirty="0">
                    <a:latin typeface="Times New Roman" pitchFamily="18" charset="0"/>
                    <a:cs typeface="Times New Roman" pitchFamily="18" charset="0"/>
                  </a:rPr>
                  <a:t>Friedman-rank </a:t>
                </a:r>
                <a:r>
                  <a:rPr lang="zh-CN" altLang="en-US" sz="1100" dirty="0">
                    <a:latin typeface="Times New Roman" pitchFamily="18" charset="0"/>
                    <a:cs typeface="Times New Roman" pitchFamily="18" charset="0"/>
                  </a:rPr>
                  <a:t>檢驗評估連續檢測結果是否存在趨勢性變化；</a:t>
                </a:r>
              </a:p>
            </p:txBody>
          </p:sp>
        </p:grpSp>
        <p:cxnSp>
          <p:nvCxnSpPr>
            <p:cNvPr id="10" name="直接连接符 9"/>
            <p:cNvCxnSpPr/>
            <p:nvPr/>
          </p:nvCxnSpPr>
          <p:spPr>
            <a:xfrm>
              <a:off x="5668965" y="774763"/>
              <a:ext cx="1" cy="507600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4843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生物學變異</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個體內、個體間生物學變異評估</a:t>
            </a:r>
            <a:endParaRPr lang="zh-CN" altLang="en-US" sz="1300" dirty="0">
              <a:solidFill>
                <a:srgbClr val="000000"/>
              </a:solidFill>
              <a:latin typeface="Times New Roman" pitchFamily="18" charset="0"/>
              <a:cs typeface="Times New Roman" pitchFamily="18" charset="0"/>
            </a:endParaRPr>
          </a:p>
        </p:txBody>
      </p:sp>
      <p:grpSp>
        <p:nvGrpSpPr>
          <p:cNvPr id="2" name="组合 1"/>
          <p:cNvGrpSpPr/>
          <p:nvPr/>
        </p:nvGrpSpPr>
        <p:grpSpPr>
          <a:xfrm>
            <a:off x="1442836" y="676943"/>
            <a:ext cx="8549472" cy="5197942"/>
            <a:chOff x="1442835" y="676942"/>
            <a:chExt cx="8549473" cy="5197942"/>
          </a:xfrm>
        </p:grpSpPr>
        <p:pic>
          <p:nvPicPr>
            <p:cNvPr id="16998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2835" y="709993"/>
              <a:ext cx="8549472" cy="5164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14"/>
            <p:cNvSpPr>
              <a:spLocks noChangeArrowheads="1"/>
            </p:cNvSpPr>
            <p:nvPr/>
          </p:nvSpPr>
          <p:spPr bwMode="auto">
            <a:xfrm>
              <a:off x="5596580" y="676942"/>
              <a:ext cx="439572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血液學檢驗常規項目生物變異的研究</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，吳際，</a:t>
              </a:r>
              <a:r>
                <a:rPr lang="en-US" altLang="zh-CN" sz="1000" dirty="0">
                  <a:latin typeface="Times New Roman" pitchFamily="18" charset="0"/>
                  <a:cs typeface="Times New Roman" pitchFamily="18" charset="0"/>
                </a:rPr>
                <a:t>2013.5</a:t>
              </a:r>
              <a:r>
                <a:rPr lang="zh-CN" altLang="en-US" sz="1000" dirty="0">
                  <a:latin typeface="Times New Roman" pitchFamily="18" charset="0"/>
                  <a:cs typeface="Times New Roman" pitchFamily="18" charset="0"/>
                </a:rPr>
                <a:t>；</a:t>
              </a:r>
            </a:p>
          </p:txBody>
        </p:sp>
      </p:grpSp>
    </p:spTree>
    <p:extLst>
      <p:ext uri="{BB962C8B-B14F-4D97-AF65-F5344CB8AC3E}">
        <p14:creationId xmlns:p14="http://schemas.microsoft.com/office/powerpoint/2010/main" val="3531830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生物學變異</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個體內、個體間生物學變異評估</a:t>
            </a:r>
            <a:endParaRPr lang="zh-CN" altLang="en-US" sz="1300" dirty="0">
              <a:solidFill>
                <a:srgbClr val="000000"/>
              </a:solidFill>
              <a:latin typeface="Times New Roman" pitchFamily="18" charset="0"/>
              <a:cs typeface="Times New Roman" pitchFamily="18" charset="0"/>
            </a:endParaRPr>
          </a:p>
        </p:txBody>
      </p:sp>
      <p:grpSp>
        <p:nvGrpSpPr>
          <p:cNvPr id="5" name="组合 4"/>
          <p:cNvGrpSpPr/>
          <p:nvPr/>
        </p:nvGrpSpPr>
        <p:grpSpPr>
          <a:xfrm>
            <a:off x="410941" y="676942"/>
            <a:ext cx="10698989" cy="5228097"/>
            <a:chOff x="410941" y="676942"/>
            <a:chExt cx="10698989" cy="5228097"/>
          </a:xfrm>
        </p:grpSpPr>
        <p:pic>
          <p:nvPicPr>
            <p:cNvPr id="168970"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941" y="709992"/>
              <a:ext cx="10698989" cy="5195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14"/>
            <p:cNvSpPr>
              <a:spLocks noChangeArrowheads="1"/>
            </p:cNvSpPr>
            <p:nvPr/>
          </p:nvSpPr>
          <p:spPr bwMode="auto">
            <a:xfrm>
              <a:off x="4693184" y="676942"/>
              <a:ext cx="6220783"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血液學檢驗常規項目生物變異的研究</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，吳際，</a:t>
              </a:r>
              <a:r>
                <a:rPr lang="en-US" altLang="zh-CN" sz="1000" dirty="0">
                  <a:latin typeface="Times New Roman" pitchFamily="18" charset="0"/>
                  <a:cs typeface="Times New Roman" pitchFamily="18" charset="0"/>
                </a:rPr>
                <a:t>2013.5</a:t>
              </a:r>
              <a:r>
                <a:rPr lang="zh-CN" altLang="en-US" sz="1000" dirty="0">
                  <a:latin typeface="Times New Roman" pitchFamily="18" charset="0"/>
                  <a:cs typeface="Times New Roman" pitchFamily="18" charset="0"/>
                </a:rPr>
                <a:t>；</a:t>
              </a:r>
            </a:p>
          </p:txBody>
        </p:sp>
      </p:grpSp>
    </p:spTree>
    <p:extLst>
      <p:ext uri="{BB962C8B-B14F-4D97-AF65-F5344CB8AC3E}">
        <p14:creationId xmlns:p14="http://schemas.microsoft.com/office/powerpoint/2010/main" val="412572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8" name="组合 7"/>
          <p:cNvGrpSpPr/>
          <p:nvPr/>
        </p:nvGrpSpPr>
        <p:grpSpPr>
          <a:xfrm>
            <a:off x="951648" y="713916"/>
            <a:ext cx="9939267" cy="4991250"/>
            <a:chOff x="951647" y="740810"/>
            <a:chExt cx="9939268" cy="4991250"/>
          </a:xfrm>
        </p:grpSpPr>
        <p:sp>
          <p:nvSpPr>
            <p:cNvPr id="14" name="Rectangle 14"/>
            <p:cNvSpPr>
              <a:spLocks noChangeArrowheads="1"/>
            </p:cNvSpPr>
            <p:nvPr/>
          </p:nvSpPr>
          <p:spPr bwMode="auto">
            <a:xfrm>
              <a:off x="951647" y="740810"/>
              <a:ext cx="99392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      </a:t>
              </a:r>
              <a:r>
                <a:rPr lang="zh-CN" altLang="en-US" sz="1200" dirty="0"/>
                <a:t>個體內生物學變異</a:t>
              </a:r>
            </a:p>
          </p:txBody>
        </p:sp>
        <p:sp>
          <p:nvSpPr>
            <p:cNvPr id="15" name="Rectangle 14"/>
            <p:cNvSpPr>
              <a:spLocks noChangeArrowheads="1"/>
            </p:cNvSpPr>
            <p:nvPr/>
          </p:nvSpPr>
          <p:spPr bwMode="auto">
            <a:xfrm>
              <a:off x="951647" y="1146814"/>
              <a:ext cx="9939268"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臨床實驗室檢驗結果的固有分析變異包括分析前變異、分析變異和個體內生物學變異，假設這些變異具有隨機性且服從正態分佈，其離散程度用標準差 </a:t>
              </a:r>
              <a:r>
                <a:rPr lang="en-US" altLang="zh-CN" sz="1100" i="1" dirty="0">
                  <a:latin typeface="Times New Roman" pitchFamily="18" charset="0"/>
                  <a:ea typeface="华文彩云" pitchFamily="2" charset="-122"/>
                  <a:cs typeface="Times New Roman" pitchFamily="18" charset="0"/>
                </a:rPr>
                <a:t>S </a:t>
              </a:r>
              <a:r>
                <a:rPr lang="zh-CN" altLang="en-US" sz="1100" dirty="0"/>
                <a:t>表示，則有：</a:t>
              </a:r>
            </a:p>
          </p:txBody>
        </p:sp>
        <p:grpSp>
          <p:nvGrpSpPr>
            <p:cNvPr id="5" name="组合 4"/>
            <p:cNvGrpSpPr/>
            <p:nvPr/>
          </p:nvGrpSpPr>
          <p:grpSpPr>
            <a:xfrm>
              <a:off x="1250277" y="1872604"/>
              <a:ext cx="3267133" cy="3113812"/>
              <a:chOff x="1250277" y="1872604"/>
              <a:chExt cx="3267133" cy="3113812"/>
            </a:xfrm>
          </p:grpSpPr>
          <p:grpSp>
            <p:nvGrpSpPr>
              <p:cNvPr id="4" name="组合 3"/>
              <p:cNvGrpSpPr/>
              <p:nvPr/>
            </p:nvGrpSpPr>
            <p:grpSpPr>
              <a:xfrm>
                <a:off x="1277573" y="2511208"/>
                <a:ext cx="3239837" cy="2475208"/>
                <a:chOff x="1277573" y="2511208"/>
                <a:chExt cx="3239837" cy="2475208"/>
              </a:xfrm>
            </p:grpSpPr>
            <p:sp>
              <p:nvSpPr>
                <p:cNvPr id="16" name="矩形 15"/>
                <p:cNvSpPr>
                  <a:spLocks noChangeArrowheads="1"/>
                </p:cNvSpPr>
                <p:nvPr/>
              </p:nvSpPr>
              <p:spPr bwMode="auto">
                <a:xfrm>
                  <a:off x="1277573" y="3321812"/>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T</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標本總分析變異</a:t>
                  </a:r>
                </a:p>
              </p:txBody>
            </p:sp>
            <p:sp>
              <p:nvSpPr>
                <p:cNvPr id="19" name="矩形 18"/>
                <p:cNvSpPr>
                  <a:spLocks noChangeArrowheads="1"/>
                </p:cNvSpPr>
                <p:nvPr/>
              </p:nvSpPr>
              <p:spPr bwMode="auto">
                <a:xfrm>
                  <a:off x="1277573" y="3788116"/>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P</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分析前變異</a:t>
                  </a:r>
                </a:p>
              </p:txBody>
            </p:sp>
            <p:sp>
              <p:nvSpPr>
                <p:cNvPr id="20" name="矩形 19"/>
                <p:cNvSpPr>
                  <a:spLocks noChangeArrowheads="1"/>
                </p:cNvSpPr>
                <p:nvPr/>
              </p:nvSpPr>
              <p:spPr bwMode="auto">
                <a:xfrm>
                  <a:off x="1277573" y="4254420"/>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21" name="矩形 20"/>
                <p:cNvSpPr>
                  <a:spLocks noChangeArrowheads="1"/>
                </p:cNvSpPr>
                <p:nvPr/>
              </p:nvSpPr>
              <p:spPr bwMode="auto">
                <a:xfrm>
                  <a:off x="1277573" y="4724806"/>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graphicFrame>
              <p:nvGraphicFramePr>
                <p:cNvPr id="22" name="对象 21"/>
                <p:cNvGraphicFramePr>
                  <a:graphicFrameLocks noChangeAspect="1"/>
                </p:cNvGraphicFramePr>
                <p:nvPr>
                  <p:extLst>
                    <p:ext uri="{D42A27DB-BD31-4B8C-83A1-F6EECF244321}">
                      <p14:modId xmlns:p14="http://schemas.microsoft.com/office/powerpoint/2010/main" val="1876485116"/>
                    </p:ext>
                  </p:extLst>
                </p:nvPr>
              </p:nvGraphicFramePr>
              <p:xfrm>
                <a:off x="1277573" y="2511208"/>
                <a:ext cx="2311790" cy="553867"/>
              </p:xfrm>
              <a:graphic>
                <a:graphicData uri="http://schemas.openxmlformats.org/presentationml/2006/ole">
                  <mc:AlternateContent xmlns:mc="http://schemas.openxmlformats.org/markup-compatibility/2006">
                    <mc:Choice xmlns:v="urn:schemas-microsoft-com:vml" Requires="v">
                      <p:oleObj name="Equation" r:id="rId3" imgW="1218671" imgH="291973" progId="">
                        <p:embed/>
                      </p:oleObj>
                    </mc:Choice>
                    <mc:Fallback>
                      <p:oleObj name="Equation" r:id="rId3" imgW="1218671" imgH="291973" progId="">
                        <p:embed/>
                        <p:pic>
                          <p:nvPicPr>
                            <p:cNvPr id="0" name="Picture 74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573" y="2511208"/>
                              <a:ext cx="2311790" cy="553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 name="矩形 10"/>
              <p:cNvSpPr>
                <a:spLocks noChangeArrowheads="1"/>
              </p:cNvSpPr>
              <p:nvPr/>
            </p:nvSpPr>
            <p:spPr bwMode="auto">
              <a:xfrm>
                <a:off x="1250277" y="1872604"/>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同一患者只採一份標本單次檢測的總變異分解：</a:t>
                </a:r>
              </a:p>
            </p:txBody>
          </p:sp>
        </p:grpSp>
        <p:grpSp>
          <p:nvGrpSpPr>
            <p:cNvPr id="7" name="组合 6"/>
            <p:cNvGrpSpPr/>
            <p:nvPr/>
          </p:nvGrpSpPr>
          <p:grpSpPr>
            <a:xfrm>
              <a:off x="5333301" y="1874876"/>
              <a:ext cx="5557614" cy="3716622"/>
              <a:chOff x="5333301" y="1874876"/>
              <a:chExt cx="5557614" cy="3716622"/>
            </a:xfrm>
          </p:grpSpPr>
          <p:sp>
            <p:nvSpPr>
              <p:cNvPr id="29" name="矩形 10"/>
              <p:cNvSpPr>
                <a:spLocks noChangeArrowheads="1"/>
              </p:cNvSpPr>
              <p:nvPr/>
            </p:nvSpPr>
            <p:spPr bwMode="auto">
              <a:xfrm>
                <a:off x="5333301" y="1874876"/>
                <a:ext cx="55576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如果不考慮分析前變異且對同一患者同時採集多份標本進行多次檢測則總變異減少為：</a:t>
                </a:r>
              </a:p>
            </p:txBody>
          </p:sp>
          <p:grpSp>
            <p:nvGrpSpPr>
              <p:cNvPr id="2" name="组合 1"/>
              <p:cNvGrpSpPr/>
              <p:nvPr/>
            </p:nvGrpSpPr>
            <p:grpSpPr>
              <a:xfrm>
                <a:off x="5592078" y="2381980"/>
                <a:ext cx="3254020" cy="3209518"/>
                <a:chOff x="5592078" y="2381980"/>
                <a:chExt cx="3254020" cy="3209518"/>
              </a:xfrm>
            </p:grpSpPr>
            <p:sp>
              <p:nvSpPr>
                <p:cNvPr id="24" name="矩形 23"/>
                <p:cNvSpPr>
                  <a:spLocks noChangeArrowheads="1"/>
                </p:cNvSpPr>
                <p:nvPr/>
              </p:nvSpPr>
              <p:spPr bwMode="auto">
                <a:xfrm>
                  <a:off x="5606262" y="3501508"/>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T</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標本總分析變異</a:t>
                  </a:r>
                </a:p>
              </p:txBody>
            </p:sp>
            <p:sp>
              <p:nvSpPr>
                <p:cNvPr id="25" name="矩形 24"/>
                <p:cNvSpPr>
                  <a:spLocks noChangeArrowheads="1"/>
                </p:cNvSpPr>
                <p:nvPr/>
              </p:nvSpPr>
              <p:spPr bwMode="auto">
                <a:xfrm>
                  <a:off x="5606262" y="3967812"/>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26" name="矩形 25"/>
                <p:cNvSpPr>
                  <a:spLocks noChangeArrowheads="1"/>
                </p:cNvSpPr>
                <p:nvPr/>
              </p:nvSpPr>
              <p:spPr bwMode="auto">
                <a:xfrm>
                  <a:off x="5606262" y="4434116"/>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sp>
              <p:nvSpPr>
                <p:cNvPr id="27" name="矩形 26"/>
                <p:cNvSpPr>
                  <a:spLocks noChangeArrowheads="1"/>
                </p:cNvSpPr>
                <p:nvPr/>
              </p:nvSpPr>
              <p:spPr bwMode="auto">
                <a:xfrm>
                  <a:off x="5606262" y="4904502"/>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n </a:t>
                  </a:r>
                  <a:r>
                    <a:rPr lang="en-US" altLang="zh-CN" sz="1100" baseline="-25000" dirty="0">
                      <a:latin typeface="Times New Roman" pitchFamily="18" charset="0"/>
                      <a:cs typeface="Times New Roman" pitchFamily="18" charset="0"/>
                    </a:rPr>
                    <a:t>1</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重複檢測的次數</a:t>
                  </a:r>
                </a:p>
              </p:txBody>
            </p:sp>
            <p:graphicFrame>
              <p:nvGraphicFramePr>
                <p:cNvPr id="28" name="对象 27"/>
                <p:cNvGraphicFramePr>
                  <a:graphicFrameLocks noChangeAspect="1"/>
                </p:cNvGraphicFramePr>
                <p:nvPr>
                  <p:extLst>
                    <p:ext uri="{D42A27DB-BD31-4B8C-83A1-F6EECF244321}">
                      <p14:modId xmlns:p14="http://schemas.microsoft.com/office/powerpoint/2010/main" val="4194477083"/>
                    </p:ext>
                  </p:extLst>
                </p:nvPr>
              </p:nvGraphicFramePr>
              <p:xfrm>
                <a:off x="5592078" y="2381980"/>
                <a:ext cx="2312988" cy="842962"/>
              </p:xfrm>
              <a:graphic>
                <a:graphicData uri="http://schemas.openxmlformats.org/presentationml/2006/ole">
                  <mc:AlternateContent xmlns:mc="http://schemas.openxmlformats.org/markup-compatibility/2006">
                    <mc:Choice xmlns:v="urn:schemas-microsoft-com:vml" Requires="v">
                      <p:oleObj name="Equation" r:id="rId5" imgW="1218671" imgH="444307" progId="">
                        <p:embed/>
                      </p:oleObj>
                    </mc:Choice>
                    <mc:Fallback>
                      <p:oleObj name="Equation" r:id="rId5" imgW="1218671" imgH="444307" progId="">
                        <p:embed/>
                        <p:pic>
                          <p:nvPicPr>
                            <p:cNvPr id="0" name="Picture 74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2078" y="2381980"/>
                              <a:ext cx="23129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矩形 29"/>
                <p:cNvSpPr>
                  <a:spLocks noChangeArrowheads="1"/>
                </p:cNvSpPr>
                <p:nvPr/>
              </p:nvSpPr>
              <p:spPr bwMode="auto">
                <a:xfrm>
                  <a:off x="5606262" y="5329888"/>
                  <a:ext cx="32398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n </a:t>
                  </a:r>
                  <a:r>
                    <a:rPr lang="en-US" altLang="zh-CN" sz="1100" baseline="-25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對同一患者同時採集的標本份數</a:t>
                  </a:r>
                </a:p>
              </p:txBody>
            </p:sp>
          </p:grpSp>
        </p:grpSp>
        <p:cxnSp>
          <p:nvCxnSpPr>
            <p:cNvPr id="3" name="直接连接符 2"/>
            <p:cNvCxnSpPr/>
            <p:nvPr/>
          </p:nvCxnSpPr>
          <p:spPr>
            <a:xfrm>
              <a:off x="4776716" y="2003409"/>
              <a:ext cx="0" cy="3728651"/>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1334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4" name="组合 3"/>
          <p:cNvGrpSpPr/>
          <p:nvPr/>
        </p:nvGrpSpPr>
        <p:grpSpPr>
          <a:xfrm>
            <a:off x="951648" y="617980"/>
            <a:ext cx="9939267" cy="5243287"/>
            <a:chOff x="951647" y="617978"/>
            <a:chExt cx="9939268" cy="5243287"/>
          </a:xfrm>
        </p:grpSpPr>
        <p:sp>
          <p:nvSpPr>
            <p:cNvPr id="14" name="Rectangle 14"/>
            <p:cNvSpPr>
              <a:spLocks noChangeArrowheads="1"/>
            </p:cNvSpPr>
            <p:nvPr/>
          </p:nvSpPr>
          <p:spPr bwMode="auto">
            <a:xfrm>
              <a:off x="951647" y="617978"/>
              <a:ext cx="99392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      </a:t>
              </a:r>
              <a:r>
                <a:rPr lang="zh-CN" altLang="en-US" sz="1200" dirty="0"/>
                <a:t>個體內生物學變異</a:t>
              </a:r>
            </a:p>
          </p:txBody>
        </p:sp>
        <p:sp>
          <p:nvSpPr>
            <p:cNvPr id="15" name="Rectangle 14"/>
            <p:cNvSpPr>
              <a:spLocks noChangeArrowheads="1"/>
            </p:cNvSpPr>
            <p:nvPr/>
          </p:nvSpPr>
          <p:spPr bwMode="auto">
            <a:xfrm>
              <a:off x="951647" y="969389"/>
              <a:ext cx="9939268"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檢測結果在用於監測時，</a:t>
              </a:r>
              <a:r>
                <a:rPr lang="zh-TW" altLang="en-US" sz="1100" dirty="0"/>
                <a:t>涉及</a:t>
              </a:r>
              <a:r>
                <a:rPr lang="zh-CN" altLang="en-US" sz="1100" dirty="0"/>
                <a:t>對兩個監測結果之間差異的解釋，如兩個結果要有顯著差異，則其數值上的差別要大於其合成的變異，這個合成的差異稱為參考變化值</a:t>
              </a:r>
              <a:r>
                <a:rPr lang="zh-CN" altLang="en-US" sz="1100"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referance</a:t>
              </a:r>
              <a:r>
                <a:rPr lang="en-US" altLang="zh-CN" sz="1100" i="1" dirty="0">
                  <a:latin typeface="Times New Roman" pitchFamily="18" charset="0"/>
                  <a:cs typeface="Times New Roman" pitchFamily="18" charset="0"/>
                </a:rPr>
                <a:t> change value</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RCV</a:t>
              </a:r>
              <a:r>
                <a:rPr lang="zh-CN" altLang="en-US" sz="1100" dirty="0">
                  <a:latin typeface="Times New Roman" pitchFamily="18" charset="0"/>
                  <a:cs typeface="Times New Roman" pitchFamily="18" charset="0"/>
                </a:rPr>
                <a:t>）</a:t>
              </a:r>
              <a:r>
                <a:rPr lang="zh-CN" altLang="en-US" sz="1100" dirty="0"/>
                <a:t>：</a:t>
              </a:r>
            </a:p>
          </p:txBody>
        </p:sp>
        <p:sp>
          <p:nvSpPr>
            <p:cNvPr id="25" name="矩形 24"/>
            <p:cNvSpPr>
              <a:spLocks noChangeArrowheads="1"/>
            </p:cNvSpPr>
            <p:nvPr/>
          </p:nvSpPr>
          <p:spPr bwMode="auto">
            <a:xfrm>
              <a:off x="1498212" y="2671252"/>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26" name="矩形 25"/>
            <p:cNvSpPr>
              <a:spLocks noChangeArrowheads="1"/>
            </p:cNvSpPr>
            <p:nvPr/>
          </p:nvSpPr>
          <p:spPr bwMode="auto">
            <a:xfrm>
              <a:off x="1498212" y="3069316"/>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graphicFrame>
          <p:nvGraphicFramePr>
            <p:cNvPr id="28" name="对象 27"/>
            <p:cNvGraphicFramePr>
              <a:graphicFrameLocks noChangeAspect="1"/>
            </p:cNvGraphicFramePr>
            <p:nvPr>
              <p:extLst>
                <p:ext uri="{D42A27DB-BD31-4B8C-83A1-F6EECF244321}">
                  <p14:modId xmlns:p14="http://schemas.microsoft.com/office/powerpoint/2010/main" val="3865233977"/>
                </p:ext>
              </p:extLst>
            </p:nvPr>
          </p:nvGraphicFramePr>
          <p:xfrm>
            <a:off x="1488610" y="2033984"/>
            <a:ext cx="2806698" cy="485159"/>
          </p:xfrm>
          <a:graphic>
            <a:graphicData uri="http://schemas.openxmlformats.org/presentationml/2006/ole">
              <mc:AlternateContent xmlns:mc="http://schemas.openxmlformats.org/markup-compatibility/2006">
                <mc:Choice xmlns:v="urn:schemas-microsoft-com:vml" Requires="v">
                  <p:oleObj name="Equation" r:id="rId3" imgW="1688367" imgH="291973" progId="">
                    <p:embed/>
                  </p:oleObj>
                </mc:Choice>
                <mc:Fallback>
                  <p:oleObj name="Equation" r:id="rId3" imgW="1688367" imgH="291973" progId="">
                    <p:embed/>
                    <p:pic>
                      <p:nvPicPr>
                        <p:cNvPr id="0" name="Picture 74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610" y="2033984"/>
                          <a:ext cx="2806698" cy="4851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矩形 10"/>
            <p:cNvSpPr>
              <a:spLocks noChangeArrowheads="1"/>
            </p:cNvSpPr>
            <p:nvPr/>
          </p:nvSpPr>
          <p:spPr bwMode="auto">
            <a:xfrm>
              <a:off x="1225253" y="1629212"/>
              <a:ext cx="536661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如果不考慮分析前變異且對同一患者只採集一份標本進行單次檢測則有：</a:t>
              </a:r>
            </a:p>
          </p:txBody>
        </p:sp>
        <p:sp>
          <p:nvSpPr>
            <p:cNvPr id="35" name="矩形 34"/>
            <p:cNvSpPr>
              <a:spLocks noChangeArrowheads="1"/>
            </p:cNvSpPr>
            <p:nvPr/>
          </p:nvSpPr>
          <p:spPr bwMode="auto">
            <a:xfrm>
              <a:off x="1500485" y="4802612"/>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36" name="矩形 35"/>
            <p:cNvSpPr>
              <a:spLocks noChangeArrowheads="1"/>
            </p:cNvSpPr>
            <p:nvPr/>
          </p:nvSpPr>
          <p:spPr bwMode="auto">
            <a:xfrm>
              <a:off x="1500485" y="5214324"/>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graphicFrame>
          <p:nvGraphicFramePr>
            <p:cNvPr id="37" name="对象 36"/>
            <p:cNvGraphicFramePr>
              <a:graphicFrameLocks noChangeAspect="1"/>
            </p:cNvGraphicFramePr>
            <p:nvPr>
              <p:extLst>
                <p:ext uri="{D42A27DB-BD31-4B8C-83A1-F6EECF244321}">
                  <p14:modId xmlns:p14="http://schemas.microsoft.com/office/powerpoint/2010/main" val="383029885"/>
                </p:ext>
              </p:extLst>
            </p:nvPr>
          </p:nvGraphicFramePr>
          <p:xfrm>
            <a:off x="1484486" y="4196559"/>
            <a:ext cx="3688149" cy="495379"/>
          </p:xfrm>
          <a:graphic>
            <a:graphicData uri="http://schemas.openxmlformats.org/presentationml/2006/ole">
              <mc:AlternateContent xmlns:mc="http://schemas.openxmlformats.org/markup-compatibility/2006">
                <mc:Choice xmlns:v="urn:schemas-microsoft-com:vml" Requires="v">
                  <p:oleObj name="Equation" r:id="rId5" imgW="2171700" imgH="292100" progId="">
                    <p:embed/>
                  </p:oleObj>
                </mc:Choice>
                <mc:Fallback>
                  <p:oleObj name="Equation" r:id="rId5" imgW="2171700" imgH="292100" progId="">
                    <p:embed/>
                    <p:pic>
                      <p:nvPicPr>
                        <p:cNvPr id="0" name="Picture 74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4486" y="4196559"/>
                          <a:ext cx="3688149" cy="495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矩形 10"/>
            <p:cNvSpPr>
              <a:spLocks noChangeArrowheads="1"/>
            </p:cNvSpPr>
            <p:nvPr/>
          </p:nvSpPr>
          <p:spPr bwMode="auto">
            <a:xfrm>
              <a:off x="1225253" y="3528556"/>
              <a:ext cx="5366616" cy="56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t>現代分析系統偏倚的改變比固有分析不精密度影響更大，如果可以對偏倚進行定量，用</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bias</a:t>
              </a:r>
              <a:r>
                <a:rPr lang="zh-CN" altLang="en-US" sz="1100" dirty="0"/>
                <a:t>表示，則加入偏倚貢獻的</a:t>
              </a:r>
              <a:r>
                <a:rPr lang="zh-CN" altLang="en-US" sz="1100" dirty="0">
                  <a:latin typeface="Times New Roman" panose="02020603050405020304" pitchFamily="18" charset="0"/>
                  <a:cs typeface="Times New Roman" panose="02020603050405020304" pitchFamily="18" charset="0"/>
                </a:rPr>
                <a:t> </a:t>
              </a:r>
              <a:r>
                <a:rPr lang="en-US" altLang="zh-CN" sz="1100" i="1" dirty="0">
                  <a:latin typeface="Times New Roman" panose="02020603050405020304" pitchFamily="18" charset="0"/>
                  <a:cs typeface="Times New Roman" panose="02020603050405020304" pitchFamily="18" charset="0"/>
                </a:rPr>
                <a:t>RCV</a:t>
              </a:r>
              <a:r>
                <a:rPr lang="en-US" altLang="zh-CN" sz="1100" dirty="0">
                  <a:latin typeface="Times New Roman" panose="02020603050405020304" pitchFamily="18" charset="0"/>
                  <a:cs typeface="Times New Roman" panose="02020603050405020304" pitchFamily="18" charset="0"/>
                </a:rPr>
                <a:t> </a:t>
              </a:r>
              <a:r>
                <a:rPr lang="zh-CN" altLang="en-US" sz="1100" dirty="0"/>
                <a:t>為：</a:t>
              </a:r>
            </a:p>
          </p:txBody>
        </p:sp>
        <p:sp>
          <p:nvSpPr>
            <p:cNvPr id="39" name="矩形 38"/>
            <p:cNvSpPr>
              <a:spLocks noChangeArrowheads="1"/>
            </p:cNvSpPr>
            <p:nvPr/>
          </p:nvSpPr>
          <p:spPr bwMode="auto">
            <a:xfrm>
              <a:off x="1500485" y="5596462"/>
              <a:ext cx="32398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solidFill>
                    <a:srgbClr val="000000"/>
                  </a:solidFill>
                  <a:latin typeface="Times New Roman" pitchFamily="18" charset="0"/>
                  <a:cs typeface="Times New Roman" pitchFamily="18" charset="0"/>
                </a:rPr>
                <a:t>△</a:t>
              </a:r>
              <a:r>
                <a:rPr lang="en-US" altLang="zh-CN" sz="1100" i="1" dirty="0">
                  <a:solidFill>
                    <a:srgbClr val="000000"/>
                  </a:solidFill>
                  <a:latin typeface="Times New Roman" pitchFamily="18" charset="0"/>
                  <a:cs typeface="Times New Roman" pitchFamily="18" charset="0"/>
                </a:rPr>
                <a:t>bias</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兩次檢測結果之間的分析偏倚</a:t>
              </a:r>
            </a:p>
          </p:txBody>
        </p:sp>
        <p:grpSp>
          <p:nvGrpSpPr>
            <p:cNvPr id="2" name="组合 1"/>
            <p:cNvGrpSpPr/>
            <p:nvPr/>
          </p:nvGrpSpPr>
          <p:grpSpPr>
            <a:xfrm>
              <a:off x="6783361" y="1657718"/>
              <a:ext cx="3891710" cy="4203547"/>
              <a:chOff x="6783361" y="1657718"/>
              <a:chExt cx="3891710" cy="4203547"/>
            </a:xfrm>
          </p:grpSpPr>
          <p:pic>
            <p:nvPicPr>
              <p:cNvPr id="24609" name="Picture 3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80997" y="1981199"/>
                <a:ext cx="3794074" cy="388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矩形 10"/>
              <p:cNvSpPr>
                <a:spLocks noChangeArrowheads="1"/>
              </p:cNvSpPr>
              <p:nvPr/>
            </p:nvSpPr>
            <p:spPr bwMode="auto">
              <a:xfrm>
                <a:off x="6783361" y="1657718"/>
                <a:ext cx="38644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900" dirty="0"/>
                  <a:t>以總膽固醇檢測為例說明，</a:t>
                </a:r>
                <a:r>
                  <a:rPr lang="en-US" altLang="zh-TW" sz="800" i="1" dirty="0">
                    <a:latin typeface="Times New Roman" pitchFamily="18" charset="0"/>
                    <a:cs typeface="Times New Roman" pitchFamily="18" charset="0"/>
                  </a:rPr>
                  <a:t>CV</a:t>
                </a:r>
                <a:r>
                  <a:rPr lang="en-US" altLang="zh-TW" sz="800" baseline="-25000" dirty="0">
                    <a:latin typeface="Times New Roman" pitchFamily="18" charset="0"/>
                    <a:cs typeface="Times New Roman" pitchFamily="18" charset="0"/>
                  </a:rPr>
                  <a:t>I</a:t>
                </a:r>
                <a:r>
                  <a:rPr lang="en-US" altLang="zh-TW" sz="800" dirty="0">
                    <a:latin typeface="Times New Roman" pitchFamily="18" charset="0"/>
                    <a:cs typeface="Times New Roman" pitchFamily="18" charset="0"/>
                  </a:rPr>
                  <a:t>=6%</a:t>
                </a:r>
                <a:r>
                  <a:rPr lang="zh-CN" altLang="en-US" sz="800" dirty="0">
                    <a:latin typeface="Times New Roman" pitchFamily="18" charset="0"/>
                    <a:cs typeface="Times New Roman" pitchFamily="18" charset="0"/>
                  </a:rPr>
                  <a:t>、</a:t>
                </a:r>
                <a:r>
                  <a:rPr lang="en-US" altLang="zh-TW" sz="800" i="1" dirty="0">
                    <a:latin typeface="Times New Roman" pitchFamily="18" charset="0"/>
                    <a:cs typeface="Times New Roman" pitchFamily="18" charset="0"/>
                  </a:rPr>
                  <a:t>CV</a:t>
                </a:r>
                <a:r>
                  <a:rPr lang="en-US" altLang="zh-TW" sz="800" baseline="-25000" dirty="0">
                    <a:latin typeface="Times New Roman" pitchFamily="18" charset="0"/>
                    <a:cs typeface="Times New Roman" pitchFamily="18" charset="0"/>
                  </a:rPr>
                  <a:t>A</a:t>
                </a:r>
                <a:r>
                  <a:rPr lang="en-US" altLang="zh-TW" sz="800" dirty="0">
                    <a:latin typeface="Times New Roman" pitchFamily="18" charset="0"/>
                    <a:cs typeface="Times New Roman" pitchFamily="18" charset="0"/>
                  </a:rPr>
                  <a:t>=1.6%</a:t>
                </a:r>
                <a:r>
                  <a:rPr lang="en-US" altLang="zh-TW" sz="900" dirty="0"/>
                  <a:t> </a:t>
                </a:r>
                <a:r>
                  <a:rPr lang="zh-TW" altLang="en-US" sz="900" dirty="0"/>
                  <a:t>時，變化量顯著性概率曲線</a:t>
                </a:r>
                <a:r>
                  <a:rPr lang="zh-CN" altLang="en-US" sz="900" dirty="0"/>
                  <a:t>；</a:t>
                </a:r>
              </a:p>
            </p:txBody>
          </p:sp>
        </p:grpSp>
      </p:grpSp>
    </p:spTree>
    <p:extLst>
      <p:ext uri="{BB962C8B-B14F-4D97-AF65-F5344CB8AC3E}">
        <p14:creationId xmlns:p14="http://schemas.microsoft.com/office/powerpoint/2010/main" val="1145739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7" name="组合 6"/>
          <p:cNvGrpSpPr/>
          <p:nvPr/>
        </p:nvGrpSpPr>
        <p:grpSpPr>
          <a:xfrm>
            <a:off x="1062493" y="707628"/>
            <a:ext cx="9607320" cy="4823584"/>
            <a:chOff x="1053529" y="743488"/>
            <a:chExt cx="9607320" cy="4823584"/>
          </a:xfrm>
        </p:grpSpPr>
        <p:sp>
          <p:nvSpPr>
            <p:cNvPr id="14" name="Rectangle 14"/>
            <p:cNvSpPr>
              <a:spLocks noChangeArrowheads="1"/>
            </p:cNvSpPr>
            <p:nvPr/>
          </p:nvSpPr>
          <p:spPr bwMode="auto">
            <a:xfrm>
              <a:off x="1059228" y="743488"/>
              <a:ext cx="96016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個體內生物學變異</a:t>
              </a:r>
            </a:p>
          </p:txBody>
        </p:sp>
        <p:sp>
          <p:nvSpPr>
            <p:cNvPr id="38" name="矩形 10"/>
            <p:cNvSpPr>
              <a:spLocks noChangeArrowheads="1"/>
            </p:cNvSpPr>
            <p:nvPr/>
          </p:nvSpPr>
          <p:spPr bwMode="auto">
            <a:xfrm>
              <a:off x="1059226" y="1094898"/>
              <a:ext cx="9601623" cy="33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50" dirty="0"/>
                <a:t>同向分析偏倚的存在會抬升參考變化值</a:t>
              </a:r>
              <a:r>
                <a:rPr lang="en-US" altLang="zh-CN" sz="1050" dirty="0"/>
                <a:t>(</a:t>
              </a:r>
              <a:r>
                <a:rPr lang="en-US" altLang="zh-CN" sz="1050" i="1" dirty="0">
                  <a:latin typeface="Times New Roman" pitchFamily="18" charset="0"/>
                  <a:cs typeface="Times New Roman" pitchFamily="18" charset="0"/>
                </a:rPr>
                <a:t>RCV</a:t>
              </a:r>
              <a:r>
                <a:rPr lang="en-US" altLang="zh-CN" sz="1050" dirty="0">
                  <a:latin typeface="Times New Roman" pitchFamily="18" charset="0"/>
                  <a:cs typeface="Times New Roman" pitchFamily="18" charset="0"/>
                </a:rPr>
                <a:t>)</a:t>
              </a:r>
              <a:r>
                <a:rPr lang="zh-CN" altLang="en-US" sz="1050" dirty="0"/>
                <a:t>，提升分析的精密度水準可以減小參考變化值</a:t>
              </a:r>
              <a:r>
                <a:rPr lang="en-US" altLang="zh-CN" sz="1050" dirty="0"/>
                <a:t>(</a:t>
              </a:r>
              <a:r>
                <a:rPr lang="en-US" altLang="zh-CN" sz="1050" i="1" dirty="0">
                  <a:latin typeface="Times New Roman" pitchFamily="18" charset="0"/>
                  <a:cs typeface="Times New Roman" pitchFamily="18" charset="0"/>
                </a:rPr>
                <a:t>RCV</a:t>
              </a:r>
              <a:r>
                <a:rPr lang="en-US" altLang="zh-CN" sz="1050" dirty="0"/>
                <a:t>)</a:t>
              </a:r>
              <a:r>
                <a:rPr lang="zh-CN" altLang="en-US" sz="1050" dirty="0"/>
                <a:t>，通過降低分析不精密度</a:t>
              </a:r>
              <a:r>
                <a:rPr lang="en-US" altLang="zh-CN" sz="1050" dirty="0"/>
                <a:t>(</a:t>
              </a:r>
              <a:r>
                <a:rPr lang="en-US" altLang="zh-CN" sz="1050" i="1" dirty="0">
                  <a:latin typeface="Times New Roman" pitchFamily="18" charset="0"/>
                  <a:cs typeface="Times New Roman" pitchFamily="18" charset="0"/>
                </a:rPr>
                <a:t>CV</a:t>
              </a:r>
              <a:r>
                <a:rPr lang="en-US" altLang="zh-CN" sz="1050" baseline="-25000" dirty="0">
                  <a:latin typeface="Times New Roman" pitchFamily="18" charset="0"/>
                  <a:cs typeface="Times New Roman" pitchFamily="18" charset="0"/>
                </a:rPr>
                <a:t>A</a:t>
              </a:r>
              <a:r>
                <a:rPr lang="en-US" altLang="zh-CN" sz="1050" dirty="0"/>
                <a:t>)</a:t>
              </a:r>
              <a:r>
                <a:rPr lang="zh-CN" altLang="en-US" sz="1050" dirty="0"/>
                <a:t>可以使得與信號相關的噪聲減小；</a:t>
              </a:r>
            </a:p>
          </p:txBody>
        </p:sp>
        <p:grpSp>
          <p:nvGrpSpPr>
            <p:cNvPr id="6" name="组合 5"/>
            <p:cNvGrpSpPr/>
            <p:nvPr/>
          </p:nvGrpSpPr>
          <p:grpSpPr>
            <a:xfrm>
              <a:off x="1053529" y="1500967"/>
              <a:ext cx="4549418" cy="4066105"/>
              <a:chOff x="1053529" y="1536827"/>
              <a:chExt cx="4549418" cy="4066105"/>
            </a:xfrm>
          </p:grpSpPr>
          <p:pic>
            <p:nvPicPr>
              <p:cNvPr id="2560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177" y="1959669"/>
                <a:ext cx="4459769" cy="364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矩形 10"/>
              <p:cNvSpPr>
                <a:spLocks noChangeArrowheads="1"/>
              </p:cNvSpPr>
              <p:nvPr/>
            </p:nvSpPr>
            <p:spPr bwMode="auto">
              <a:xfrm>
                <a:off x="1053529" y="1536827"/>
                <a:ext cx="45494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900" dirty="0"/>
                  <a:t>以總膽固醇為例</a:t>
                </a:r>
                <a:r>
                  <a:rPr lang="zh-CN" altLang="en-US" sz="900" dirty="0"/>
                  <a:t>，</a:t>
                </a:r>
                <a:r>
                  <a:rPr lang="zh-TW" altLang="en-US" sz="900" dirty="0"/>
                  <a:t>假設個體內變異</a:t>
                </a:r>
                <a:r>
                  <a:rPr lang="en-US" altLang="zh-CN" sz="900" i="1" dirty="0">
                    <a:latin typeface="Times New Roman" pitchFamily="18" charset="0"/>
                    <a:cs typeface="Times New Roman" pitchFamily="18" charset="0"/>
                  </a:rPr>
                  <a:t>CV</a:t>
                </a:r>
                <a:r>
                  <a:rPr lang="en-US" altLang="zh-CN" sz="900" baseline="-25000" dirty="0">
                    <a:latin typeface="Times New Roman" pitchFamily="18" charset="0"/>
                    <a:cs typeface="Times New Roman" pitchFamily="18" charset="0"/>
                  </a:rPr>
                  <a:t>I</a:t>
                </a:r>
                <a:r>
                  <a:rPr lang="en-US" altLang="zh-CN" sz="900" dirty="0"/>
                  <a:t>=</a:t>
                </a:r>
                <a:r>
                  <a:rPr lang="en-US" altLang="zh-TW" sz="900" dirty="0"/>
                  <a:t>6%</a:t>
                </a:r>
                <a:r>
                  <a:rPr lang="zh-TW" altLang="en-US" sz="900" dirty="0"/>
                  <a:t>，</a:t>
                </a:r>
                <a:r>
                  <a:rPr lang="zh-CN" altLang="en-US" sz="900" dirty="0"/>
                  <a:t>當分析不精密度</a:t>
                </a:r>
                <a:r>
                  <a:rPr lang="en-US" altLang="zh-CN" sz="900" i="1" dirty="0">
                    <a:latin typeface="Times New Roman" pitchFamily="18" charset="0"/>
                    <a:cs typeface="Times New Roman" pitchFamily="18" charset="0"/>
                  </a:rPr>
                  <a:t>CV</a:t>
                </a:r>
                <a:r>
                  <a:rPr lang="en-US" altLang="zh-CN" sz="900" baseline="-25000" dirty="0">
                    <a:latin typeface="Times New Roman" pitchFamily="18" charset="0"/>
                    <a:cs typeface="Times New Roman" pitchFamily="18" charset="0"/>
                  </a:rPr>
                  <a:t>A</a:t>
                </a:r>
                <a:r>
                  <a:rPr lang="en-US" altLang="zh-CN" sz="900" dirty="0">
                    <a:latin typeface="Times New Roman" pitchFamily="18" charset="0"/>
                    <a:cs typeface="Times New Roman" pitchFamily="18" charset="0"/>
                  </a:rPr>
                  <a:t>=1.5%</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3%</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4.5% </a:t>
                </a:r>
                <a:r>
                  <a:rPr lang="zh-CN" altLang="en-US" sz="900" dirty="0"/>
                  <a:t>時，檢驗結果變化量</a:t>
                </a:r>
                <a:r>
                  <a:rPr lang="zh-TW" altLang="en-US" sz="900" dirty="0"/>
                  <a:t>與顯著性概率</a:t>
                </a:r>
                <a:r>
                  <a:rPr lang="zh-CN" altLang="en-US" sz="900" dirty="0"/>
                  <a:t>；</a:t>
                </a:r>
              </a:p>
            </p:txBody>
          </p:sp>
        </p:grpSp>
        <p:grpSp>
          <p:nvGrpSpPr>
            <p:cNvPr id="5" name="组合 4"/>
            <p:cNvGrpSpPr/>
            <p:nvPr/>
          </p:nvGrpSpPr>
          <p:grpSpPr>
            <a:xfrm>
              <a:off x="5926361" y="1500967"/>
              <a:ext cx="4555188" cy="4066105"/>
              <a:chOff x="5926361" y="1536827"/>
              <a:chExt cx="4555188" cy="4066105"/>
            </a:xfrm>
          </p:grpSpPr>
          <p:pic>
            <p:nvPicPr>
              <p:cNvPr id="1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780" y="1959669"/>
                <a:ext cx="4459769" cy="364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0"/>
              <p:cNvSpPr>
                <a:spLocks noChangeArrowheads="1"/>
              </p:cNvSpPr>
              <p:nvPr/>
            </p:nvSpPr>
            <p:spPr bwMode="auto">
              <a:xfrm>
                <a:off x="5926361" y="1536827"/>
                <a:ext cx="4555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900" dirty="0"/>
                  <a:t>以總膽固醇為例</a:t>
                </a:r>
                <a:r>
                  <a:rPr lang="zh-CN" altLang="en-US" sz="900" dirty="0"/>
                  <a:t>，</a:t>
                </a:r>
                <a:r>
                  <a:rPr lang="zh-TW" altLang="en-US" sz="900" dirty="0"/>
                  <a:t>假設個體內變異</a:t>
                </a:r>
                <a:r>
                  <a:rPr lang="en-US" altLang="zh-CN" sz="900" i="1" dirty="0">
                    <a:latin typeface="Times New Roman" pitchFamily="18" charset="0"/>
                    <a:cs typeface="Times New Roman" pitchFamily="18" charset="0"/>
                  </a:rPr>
                  <a:t>CV</a:t>
                </a:r>
                <a:r>
                  <a:rPr lang="en-US" altLang="zh-CN" sz="900" baseline="-25000" dirty="0">
                    <a:latin typeface="Times New Roman" pitchFamily="18" charset="0"/>
                    <a:cs typeface="Times New Roman" pitchFamily="18" charset="0"/>
                  </a:rPr>
                  <a:t>I</a:t>
                </a:r>
                <a:r>
                  <a:rPr lang="en-US" altLang="zh-CN" sz="900" dirty="0"/>
                  <a:t>=</a:t>
                </a:r>
                <a:r>
                  <a:rPr lang="en-US" altLang="zh-TW" sz="900" dirty="0"/>
                  <a:t>6%</a:t>
                </a:r>
                <a:r>
                  <a:rPr lang="zh-TW" altLang="en-US" sz="900" dirty="0"/>
                  <a:t>，</a:t>
                </a:r>
                <a:r>
                  <a:rPr lang="zh-CN" altLang="en-US" sz="900" dirty="0"/>
                  <a:t>分析不精密度</a:t>
                </a:r>
                <a:r>
                  <a:rPr lang="en-US" altLang="zh-CN" sz="900" i="1" dirty="0">
                    <a:latin typeface="Times New Roman" pitchFamily="18" charset="0"/>
                    <a:cs typeface="Times New Roman" pitchFamily="18" charset="0"/>
                  </a:rPr>
                  <a:t>CV</a:t>
                </a:r>
                <a:r>
                  <a:rPr lang="en-US" altLang="zh-CN" sz="900" baseline="-25000" dirty="0">
                    <a:latin typeface="Times New Roman" pitchFamily="18" charset="0"/>
                    <a:cs typeface="Times New Roman" pitchFamily="18" charset="0"/>
                  </a:rPr>
                  <a:t>A</a:t>
                </a:r>
                <a:r>
                  <a:rPr lang="en-US" altLang="zh-CN" sz="900" dirty="0">
                    <a:latin typeface="Times New Roman" pitchFamily="18" charset="0"/>
                    <a:cs typeface="Times New Roman" pitchFamily="18" charset="0"/>
                  </a:rPr>
                  <a:t>=1.5%</a:t>
                </a:r>
                <a:r>
                  <a:rPr lang="zh-CN" altLang="en-US" sz="900" dirty="0">
                    <a:latin typeface="Times New Roman" pitchFamily="18" charset="0"/>
                    <a:cs typeface="Times New Roman" pitchFamily="18" charset="0"/>
                  </a:rPr>
                  <a:t>，當分析偏倚</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bias</a:t>
                </a:r>
                <a:r>
                  <a:rPr lang="en-US" altLang="zh-CN" sz="900" dirty="0">
                    <a:solidFill>
                      <a:srgbClr val="000000"/>
                    </a:solidFill>
                    <a:latin typeface="Times New Roman" pitchFamily="18" charset="0"/>
                    <a:cs typeface="Times New Roman" pitchFamily="18" charset="0"/>
                  </a:rPr>
                  <a:t>(</a:t>
                </a:r>
                <a:r>
                  <a:rPr lang="en-US" altLang="zh-CN" sz="900" dirty="0">
                    <a:solidFill>
                      <a:srgbClr val="000000"/>
                    </a:solidFill>
                    <a:latin typeface="宋体" pitchFamily="2" charset="-122"/>
                    <a:cs typeface="Times New Roman" pitchFamily="18" charset="0"/>
                  </a:rPr>
                  <a:t>%)</a:t>
                </a:r>
                <a:r>
                  <a:rPr lang="en-US" altLang="zh-CN" sz="900" dirty="0">
                    <a:solidFill>
                      <a:srgbClr val="000000"/>
                    </a:solidFill>
                    <a:latin typeface="Times New Roman" pitchFamily="18" charset="0"/>
                    <a:cs typeface="Times New Roman" pitchFamily="18" charset="0"/>
                  </a:rPr>
                  <a:t>=0.75%</a:t>
                </a:r>
                <a:r>
                  <a:rPr lang="zh-CN" altLang="en-US" sz="900" dirty="0">
                    <a:solidFill>
                      <a:srgbClr val="000000"/>
                    </a:solidFill>
                    <a:latin typeface="Times New Roman" pitchFamily="18" charset="0"/>
                    <a:cs typeface="Times New Roman" pitchFamily="18" charset="0"/>
                  </a:rPr>
                  <a:t>、</a:t>
                </a:r>
                <a:r>
                  <a:rPr lang="en-US" altLang="zh-CN" sz="900" dirty="0">
                    <a:solidFill>
                      <a:srgbClr val="000000"/>
                    </a:solidFill>
                    <a:latin typeface="Times New Roman" pitchFamily="18" charset="0"/>
                    <a:cs typeface="Times New Roman" pitchFamily="18" charset="0"/>
                  </a:rPr>
                  <a:t>1.5%</a:t>
                </a:r>
                <a:r>
                  <a:rPr lang="zh-CN" altLang="en-US" sz="900" dirty="0">
                    <a:solidFill>
                      <a:srgbClr val="000000"/>
                    </a:solidFill>
                    <a:latin typeface="Times New Roman" pitchFamily="18" charset="0"/>
                    <a:cs typeface="Times New Roman" pitchFamily="18" charset="0"/>
                  </a:rPr>
                  <a:t>、</a:t>
                </a:r>
                <a:r>
                  <a:rPr lang="en-US" altLang="zh-CN" sz="900" dirty="0">
                    <a:solidFill>
                      <a:srgbClr val="000000"/>
                    </a:solidFill>
                    <a:latin typeface="Times New Roman" pitchFamily="18" charset="0"/>
                    <a:cs typeface="Times New Roman" pitchFamily="18" charset="0"/>
                  </a:rPr>
                  <a:t>2.25% </a:t>
                </a:r>
                <a:r>
                  <a:rPr lang="zh-CN" altLang="en-US" sz="900" dirty="0">
                    <a:solidFill>
                      <a:srgbClr val="000000"/>
                    </a:solidFill>
                  </a:rPr>
                  <a:t>時</a:t>
                </a:r>
                <a:r>
                  <a:rPr lang="zh-CN" altLang="en-US" sz="900" dirty="0"/>
                  <a:t>，檢驗結果變化量</a:t>
                </a:r>
                <a:r>
                  <a:rPr lang="zh-TW" altLang="en-US" sz="900" dirty="0"/>
                  <a:t>與顯著性概率</a:t>
                </a:r>
                <a:r>
                  <a:rPr lang="zh-CN" altLang="en-US" sz="900" dirty="0"/>
                  <a:t>；</a:t>
                </a:r>
              </a:p>
            </p:txBody>
          </p:sp>
        </p:grpSp>
      </p:grpSp>
    </p:spTree>
    <p:extLst>
      <p:ext uri="{BB962C8B-B14F-4D97-AF65-F5344CB8AC3E}">
        <p14:creationId xmlns:p14="http://schemas.microsoft.com/office/powerpoint/2010/main" val="2024297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4" name="组合 3"/>
          <p:cNvGrpSpPr/>
          <p:nvPr/>
        </p:nvGrpSpPr>
        <p:grpSpPr>
          <a:xfrm>
            <a:off x="853032" y="743490"/>
            <a:ext cx="9939267" cy="4841514"/>
            <a:chOff x="933717" y="725558"/>
            <a:chExt cx="9939268" cy="4841514"/>
          </a:xfrm>
        </p:grpSpPr>
        <p:sp>
          <p:nvSpPr>
            <p:cNvPr id="14" name="Rectangle 14"/>
            <p:cNvSpPr>
              <a:spLocks noChangeArrowheads="1"/>
            </p:cNvSpPr>
            <p:nvPr/>
          </p:nvSpPr>
          <p:spPr bwMode="auto">
            <a:xfrm>
              <a:off x="933717" y="725558"/>
              <a:ext cx="99392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      </a:t>
              </a:r>
              <a:r>
                <a:rPr lang="zh-CN" altLang="en-US" sz="1200" dirty="0"/>
                <a:t>個體內生物學變異</a:t>
              </a:r>
            </a:p>
          </p:txBody>
        </p:sp>
        <p:sp>
          <p:nvSpPr>
            <p:cNvPr id="38" name="矩形 10"/>
            <p:cNvSpPr>
              <a:spLocks noChangeArrowheads="1"/>
            </p:cNvSpPr>
            <p:nvPr/>
          </p:nvSpPr>
          <p:spPr bwMode="auto">
            <a:xfrm>
              <a:off x="933717" y="1076968"/>
              <a:ext cx="9939268" cy="33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050" dirty="0"/>
                <a:t>       同向分析偏倚的存在會抬升參考變化值</a:t>
              </a:r>
              <a:r>
                <a:rPr lang="en-US" altLang="zh-CN" sz="1050" dirty="0"/>
                <a:t>(</a:t>
              </a:r>
              <a:r>
                <a:rPr lang="en-US" altLang="zh-CN" sz="1050" i="1" dirty="0">
                  <a:latin typeface="Times New Roman" pitchFamily="18" charset="0"/>
                  <a:cs typeface="Times New Roman" pitchFamily="18" charset="0"/>
                </a:rPr>
                <a:t>RCV</a:t>
              </a:r>
              <a:r>
                <a:rPr lang="en-US" altLang="zh-CN" sz="1050" dirty="0">
                  <a:latin typeface="Times New Roman" pitchFamily="18" charset="0"/>
                  <a:cs typeface="Times New Roman" pitchFamily="18" charset="0"/>
                </a:rPr>
                <a:t>)</a:t>
              </a:r>
              <a:r>
                <a:rPr lang="zh-CN" altLang="en-US" sz="1050" dirty="0"/>
                <a:t>，提升分析的精密度水準可以減小參考變化值</a:t>
              </a:r>
              <a:r>
                <a:rPr lang="en-US" altLang="zh-CN" sz="1050" dirty="0"/>
                <a:t>(</a:t>
              </a:r>
              <a:r>
                <a:rPr lang="en-US" altLang="zh-CN" sz="1050" i="1" dirty="0">
                  <a:latin typeface="Times New Roman" pitchFamily="18" charset="0"/>
                  <a:cs typeface="Times New Roman" pitchFamily="18" charset="0"/>
                </a:rPr>
                <a:t>RCV</a:t>
              </a:r>
              <a:r>
                <a:rPr lang="en-US" altLang="zh-CN" sz="1050" dirty="0"/>
                <a:t>)</a:t>
              </a:r>
              <a:r>
                <a:rPr lang="zh-CN" altLang="en-US" sz="1050" dirty="0"/>
                <a:t>，通過降低分析不精密度</a:t>
              </a:r>
              <a:r>
                <a:rPr lang="en-US" altLang="zh-CN" sz="1050" dirty="0"/>
                <a:t>(</a:t>
              </a:r>
              <a:r>
                <a:rPr lang="en-US" altLang="zh-CN" sz="1050" i="1" dirty="0">
                  <a:latin typeface="Times New Roman" pitchFamily="18" charset="0"/>
                  <a:cs typeface="Times New Roman" pitchFamily="18" charset="0"/>
                </a:rPr>
                <a:t>CV</a:t>
              </a:r>
              <a:r>
                <a:rPr lang="en-US" altLang="zh-CN" sz="1050" baseline="-25000" dirty="0">
                  <a:latin typeface="Times New Roman" pitchFamily="18" charset="0"/>
                  <a:cs typeface="Times New Roman" pitchFamily="18" charset="0"/>
                </a:rPr>
                <a:t>A</a:t>
              </a:r>
              <a:r>
                <a:rPr lang="en-US" altLang="zh-CN" sz="1050" dirty="0"/>
                <a:t>)</a:t>
              </a:r>
              <a:r>
                <a:rPr lang="zh-CN" altLang="en-US" sz="1050" dirty="0"/>
                <a:t>可以使得與信號相關的噪聲減小；</a:t>
              </a:r>
            </a:p>
          </p:txBody>
        </p:sp>
        <p:grpSp>
          <p:nvGrpSpPr>
            <p:cNvPr id="3" name="组合 2"/>
            <p:cNvGrpSpPr/>
            <p:nvPr/>
          </p:nvGrpSpPr>
          <p:grpSpPr>
            <a:xfrm>
              <a:off x="1234209" y="1500967"/>
              <a:ext cx="4512167" cy="4066105"/>
              <a:chOff x="1234209" y="1500967"/>
              <a:chExt cx="4512167" cy="4066105"/>
            </a:xfrm>
          </p:grpSpPr>
          <p:pic>
            <p:nvPicPr>
              <p:cNvPr id="26645"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3514" y="1923809"/>
                <a:ext cx="4280465" cy="364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矩形 10"/>
              <p:cNvSpPr>
                <a:spLocks noChangeArrowheads="1"/>
              </p:cNvSpPr>
              <p:nvPr/>
            </p:nvSpPr>
            <p:spPr bwMode="auto">
              <a:xfrm>
                <a:off x="1234209" y="1500967"/>
                <a:ext cx="45121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900" dirty="0"/>
                  <a:t>以總膽固醇為例</a:t>
                </a:r>
                <a:r>
                  <a:rPr lang="zh-CN" altLang="en-US" sz="900" dirty="0"/>
                  <a:t>，</a:t>
                </a:r>
                <a:r>
                  <a:rPr lang="zh-TW" altLang="en-US" sz="900" dirty="0"/>
                  <a:t>假設個體內變異</a:t>
                </a:r>
                <a:r>
                  <a:rPr lang="en-US" altLang="zh-CN" sz="900" i="1" dirty="0">
                    <a:latin typeface="Times New Roman" pitchFamily="18" charset="0"/>
                    <a:cs typeface="Times New Roman" pitchFamily="18" charset="0"/>
                  </a:rPr>
                  <a:t>CV</a:t>
                </a:r>
                <a:r>
                  <a:rPr lang="en-US" altLang="zh-CN" sz="900" dirty="0"/>
                  <a:t>=</a:t>
                </a:r>
                <a:r>
                  <a:rPr lang="en-US" altLang="zh-TW" sz="900" dirty="0"/>
                  <a:t>6%</a:t>
                </a:r>
                <a:r>
                  <a:rPr lang="zh-TW" altLang="en-US" sz="900" dirty="0"/>
                  <a:t>，第二次檢測結果升高</a:t>
                </a:r>
                <a:r>
                  <a:rPr lang="en-US" altLang="zh-TW" sz="900" dirty="0"/>
                  <a:t>10%</a:t>
                </a:r>
                <a:r>
                  <a:rPr lang="zh-CN" altLang="en-US" sz="900" dirty="0"/>
                  <a:t>時，</a:t>
                </a:r>
                <a:r>
                  <a:rPr lang="zh-TW" altLang="en-US" sz="900" dirty="0"/>
                  <a:t>分析精密度與顯著性概率曲線</a:t>
                </a:r>
                <a:r>
                  <a:rPr lang="zh-CN" altLang="en-US" sz="900" dirty="0"/>
                  <a:t>；</a:t>
                </a:r>
              </a:p>
            </p:txBody>
          </p:sp>
        </p:grpSp>
        <p:grpSp>
          <p:nvGrpSpPr>
            <p:cNvPr id="2" name="组合 1"/>
            <p:cNvGrpSpPr/>
            <p:nvPr/>
          </p:nvGrpSpPr>
          <p:grpSpPr>
            <a:xfrm>
              <a:off x="6004089" y="1500967"/>
              <a:ext cx="4529440" cy="4066105"/>
              <a:chOff x="6004089" y="1500967"/>
              <a:chExt cx="4529440" cy="4066105"/>
            </a:xfrm>
          </p:grpSpPr>
          <p:pic>
            <p:nvPicPr>
              <p:cNvPr id="26648"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0664" y="1923809"/>
                <a:ext cx="4361146" cy="364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0"/>
              <p:cNvSpPr>
                <a:spLocks noChangeArrowheads="1"/>
              </p:cNvSpPr>
              <p:nvPr/>
            </p:nvSpPr>
            <p:spPr bwMode="auto">
              <a:xfrm>
                <a:off x="6004089" y="1500967"/>
                <a:ext cx="45294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900" dirty="0"/>
                  <a:t>以總膽固醇為例</a:t>
                </a:r>
                <a:r>
                  <a:rPr lang="zh-CN" altLang="en-US" sz="900" dirty="0"/>
                  <a:t>，</a:t>
                </a:r>
                <a:r>
                  <a:rPr lang="zh-TW" altLang="en-US" sz="900" dirty="0"/>
                  <a:t>假設個體內變異</a:t>
                </a:r>
                <a:r>
                  <a:rPr lang="en-US" altLang="zh-CN" sz="900" i="1" dirty="0">
                    <a:latin typeface="Times New Roman" pitchFamily="18" charset="0"/>
                    <a:cs typeface="Times New Roman" pitchFamily="18" charset="0"/>
                  </a:rPr>
                  <a:t>CV</a:t>
                </a:r>
                <a:r>
                  <a:rPr lang="en-US" altLang="zh-CN" sz="900" dirty="0"/>
                  <a:t>=</a:t>
                </a:r>
                <a:r>
                  <a:rPr lang="en-US" altLang="zh-TW" sz="900" dirty="0"/>
                  <a:t>6%</a:t>
                </a:r>
                <a:r>
                  <a:rPr lang="zh-TW" altLang="en-US" sz="900" dirty="0"/>
                  <a:t>，</a:t>
                </a:r>
                <a:r>
                  <a:rPr lang="zh-CN" altLang="en-US" sz="900" dirty="0"/>
                  <a:t>分析精密度</a:t>
                </a:r>
                <a:r>
                  <a:rPr lang="en-US" altLang="zh-CN" sz="900" i="1" dirty="0">
                    <a:latin typeface="Times New Roman" pitchFamily="18" charset="0"/>
                    <a:cs typeface="Times New Roman" pitchFamily="18" charset="0"/>
                  </a:rPr>
                  <a:t>CV</a:t>
                </a:r>
                <a:r>
                  <a:rPr lang="en-US" altLang="zh-CN" sz="900" dirty="0"/>
                  <a:t>=1.5%</a:t>
                </a:r>
                <a:r>
                  <a:rPr lang="zh-CN" altLang="en-US" sz="900" dirty="0"/>
                  <a:t>時，</a:t>
                </a:r>
                <a:r>
                  <a:rPr lang="zh-TW" altLang="en-US" sz="900" dirty="0"/>
                  <a:t>第二次檢測結果升高</a:t>
                </a:r>
                <a:r>
                  <a:rPr lang="en-US" altLang="zh-TW" sz="900" dirty="0"/>
                  <a:t>10%</a:t>
                </a:r>
                <a:r>
                  <a:rPr lang="zh-CN" altLang="en-US" sz="900" dirty="0"/>
                  <a:t>時，</a:t>
                </a:r>
                <a:r>
                  <a:rPr lang="zh-TW" altLang="en-US" sz="900" dirty="0"/>
                  <a:t>分析</a:t>
                </a:r>
                <a:r>
                  <a:rPr lang="zh-CN" altLang="en-US" sz="900" dirty="0"/>
                  <a:t>偏倚</a:t>
                </a:r>
                <a:r>
                  <a:rPr lang="zh-TW" altLang="en-US" sz="900" dirty="0"/>
                  <a:t>與顯著性概率曲線</a:t>
                </a:r>
                <a:r>
                  <a:rPr lang="zh-CN" altLang="en-US" sz="900" dirty="0"/>
                  <a:t>；</a:t>
                </a:r>
              </a:p>
            </p:txBody>
          </p:sp>
        </p:grpSp>
      </p:grpSp>
    </p:spTree>
    <p:extLst>
      <p:ext uri="{BB962C8B-B14F-4D97-AF65-F5344CB8AC3E}">
        <p14:creationId xmlns:p14="http://schemas.microsoft.com/office/powerpoint/2010/main" val="3792029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8" name="组合 7"/>
          <p:cNvGrpSpPr/>
          <p:nvPr/>
        </p:nvGrpSpPr>
        <p:grpSpPr>
          <a:xfrm>
            <a:off x="1050262" y="537293"/>
            <a:ext cx="9581883" cy="5398672"/>
            <a:chOff x="1050262" y="573153"/>
            <a:chExt cx="9581882" cy="5398672"/>
          </a:xfrm>
        </p:grpSpPr>
        <p:sp>
          <p:nvSpPr>
            <p:cNvPr id="14" name="Rectangle 14"/>
            <p:cNvSpPr>
              <a:spLocks noChangeArrowheads="1"/>
            </p:cNvSpPr>
            <p:nvPr/>
          </p:nvSpPr>
          <p:spPr bwMode="auto">
            <a:xfrm>
              <a:off x="1050262" y="573153"/>
              <a:ext cx="95818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      </a:t>
              </a:r>
              <a:r>
                <a:rPr lang="zh-CN" altLang="en-US" sz="1200" dirty="0"/>
                <a:t>個體間生物學變異</a:t>
              </a:r>
            </a:p>
          </p:txBody>
        </p:sp>
        <p:sp>
          <p:nvSpPr>
            <p:cNvPr id="15" name="Rectangle 14"/>
            <p:cNvSpPr>
              <a:spLocks noChangeArrowheads="1"/>
            </p:cNvSpPr>
            <p:nvPr/>
          </p:nvSpPr>
          <p:spPr bwMode="auto">
            <a:xfrm>
              <a:off x="1050262" y="942485"/>
              <a:ext cx="9581882" cy="85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相對於個體內變異</a:t>
              </a:r>
              <a:r>
                <a:rPr lang="zh-TW" altLang="en-US" sz="1100" dirty="0"/>
                <a:t>在內環境穩態點附近的隨機波動，不同個體的內環境穩態點的差異稱為</a:t>
              </a:r>
              <a:r>
                <a:rPr lang="zh-CN" altLang="en-US" sz="1100" dirty="0"/>
                <a:t>個體間</a:t>
              </a:r>
              <a:r>
                <a:rPr lang="zh-TW" altLang="en-US" sz="1100" dirty="0"/>
                <a:t>生物學變異</a:t>
              </a:r>
              <a:r>
                <a:rPr lang="zh-CN" altLang="en-US" sz="1100" dirty="0"/>
                <a:t>，有時也稱為組內變異；如果一個檢驗項目個體間變異比較大，則說明該項目具有較強的個體性；一個檢驗項目個體性顯著與否，對該項目應用於診斷、病例追查、篩查和治療監測等方面的使用價值有很大的影響，通常可以使用個體化指數</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index of individuality</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II</a:t>
              </a:r>
              <a:r>
                <a:rPr lang="zh-CN" altLang="en-US" sz="1100" dirty="0">
                  <a:latin typeface="Times New Roman" pitchFamily="18" charset="0"/>
                  <a:cs typeface="Times New Roman" pitchFamily="18" charset="0"/>
                </a:rPr>
                <a:t>）</a:t>
              </a:r>
              <a:r>
                <a:rPr lang="zh-CN" altLang="en-US" sz="1100" dirty="0"/>
                <a:t>或者可靠性係數</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reliability coefficient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R</a:t>
              </a:r>
              <a:r>
                <a:rPr lang="zh-CN" altLang="en-US" sz="1100" dirty="0">
                  <a:latin typeface="Times New Roman" pitchFamily="18" charset="0"/>
                  <a:cs typeface="Times New Roman" pitchFamily="18" charset="0"/>
                </a:rPr>
                <a:t>）兩個</a:t>
              </a:r>
              <a:r>
                <a:rPr lang="zh-CN" altLang="en-US" sz="1100" dirty="0"/>
                <a:t>指標來評價檢驗項目個體性程度；</a:t>
              </a:r>
            </a:p>
          </p:txBody>
        </p:sp>
        <p:sp>
          <p:nvSpPr>
            <p:cNvPr id="38" name="矩形 10"/>
            <p:cNvSpPr>
              <a:spLocks noChangeArrowheads="1"/>
            </p:cNvSpPr>
            <p:nvPr/>
          </p:nvSpPr>
          <p:spPr bwMode="auto">
            <a:xfrm>
              <a:off x="1050262" y="4829205"/>
              <a:ext cx="9581882" cy="11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900" dirty="0">
                  <a:solidFill>
                    <a:srgbClr val="000000"/>
                  </a:solidFill>
                </a:rPr>
                <a:t>       可靠性係數</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a:t>
              </a:r>
              <a:r>
                <a:rPr lang="zh-CN" altLang="en-US" sz="900" dirty="0"/>
                <a:t>的取值在</a:t>
              </a:r>
              <a:r>
                <a:rPr lang="zh-CN" altLang="en-US" sz="800" dirty="0"/>
                <a:t> </a:t>
              </a:r>
              <a:r>
                <a:rPr lang="en-US" altLang="zh-CN" sz="800" dirty="0"/>
                <a:t>0 </a:t>
              </a:r>
              <a:r>
                <a:rPr lang="zh-CN" altLang="el-GR" sz="700" dirty="0"/>
                <a:t>～</a:t>
              </a:r>
              <a:r>
                <a:rPr lang="en-US" altLang="zh-CN" sz="700" dirty="0"/>
                <a:t> </a:t>
              </a:r>
              <a:r>
                <a:rPr lang="en-US" altLang="zh-CN" sz="800" dirty="0"/>
                <a:t>1 </a:t>
              </a:r>
              <a:r>
                <a:rPr lang="zh-CN" altLang="en-US" sz="900" dirty="0"/>
                <a:t>之間，個體化指數</a:t>
              </a:r>
              <a:r>
                <a:rPr lang="en-US" altLang="zh-CN" sz="900" dirty="0"/>
                <a:t>(</a:t>
              </a:r>
              <a:r>
                <a:rPr lang="en-US" altLang="zh-CN" sz="900" i="1" dirty="0">
                  <a:latin typeface="Times New Roman" pitchFamily="18" charset="0"/>
                  <a:cs typeface="Times New Roman" pitchFamily="18" charset="0"/>
                </a:rPr>
                <a:t>II</a:t>
              </a:r>
              <a:r>
                <a:rPr lang="en-US" altLang="zh-CN" sz="900" dirty="0">
                  <a:latin typeface="Times New Roman" pitchFamily="18" charset="0"/>
                  <a:cs typeface="Times New Roman" pitchFamily="18" charset="0"/>
                </a:rPr>
                <a:t>)</a:t>
              </a:r>
              <a:r>
                <a:rPr lang="zh-CN" altLang="en-US" sz="900" dirty="0"/>
                <a:t>的取值在</a:t>
              </a:r>
              <a:r>
                <a:rPr lang="zh-CN" altLang="en-US" sz="800" dirty="0"/>
                <a:t> </a:t>
              </a:r>
              <a:r>
                <a:rPr lang="en-US" altLang="zh-CN" sz="900" dirty="0"/>
                <a:t>+ </a:t>
              </a:r>
              <a:r>
                <a:rPr lang="zh-CN" altLang="az-Cyrl-AZ" sz="950" dirty="0">
                  <a:latin typeface="Times New Roman" pitchFamily="18" charset="0"/>
                  <a:cs typeface="Times New Roman" pitchFamily="18" charset="0"/>
                </a:rPr>
                <a:t>∞</a:t>
              </a:r>
              <a:r>
                <a:rPr lang="en-US" altLang="zh-CN" sz="950" dirty="0">
                  <a:latin typeface="Times New Roman" pitchFamily="18" charset="0"/>
                  <a:cs typeface="Times New Roman" pitchFamily="18" charset="0"/>
                </a:rPr>
                <a:t> </a:t>
              </a:r>
              <a:r>
                <a:rPr lang="zh-CN" altLang="el-GR" sz="700" dirty="0"/>
                <a:t>～</a:t>
              </a:r>
              <a:r>
                <a:rPr lang="en-US" altLang="zh-CN" sz="700" dirty="0"/>
                <a:t> </a:t>
              </a:r>
              <a:r>
                <a:rPr lang="en-US" altLang="zh-CN" sz="800" dirty="0"/>
                <a:t>0 </a:t>
              </a:r>
              <a:r>
                <a:rPr lang="zh-CN" altLang="en-US" sz="900" dirty="0"/>
                <a:t>之間；若 </a:t>
              </a:r>
              <a:r>
                <a:rPr lang="en-US" altLang="zh-CN" sz="900" i="1" dirty="0">
                  <a:latin typeface="Times New Roman" pitchFamily="18" charset="0"/>
                  <a:cs typeface="Times New Roman" pitchFamily="18" charset="0"/>
                </a:rPr>
                <a:t>R</a:t>
              </a:r>
              <a:r>
                <a:rPr lang="en-US" altLang="zh-CN" sz="900" dirty="0"/>
                <a:t> </a:t>
              </a:r>
              <a:r>
                <a:rPr lang="zh-CN" altLang="en-US" sz="900" dirty="0"/>
                <a:t>值接近</a:t>
              </a:r>
              <a:r>
                <a:rPr lang="en-US" altLang="zh-CN" sz="800" dirty="0"/>
                <a:t>1</a:t>
              </a:r>
              <a:r>
                <a:rPr lang="zh-CN" altLang="en-US" sz="900" dirty="0"/>
                <a:t>，對應的 </a:t>
              </a:r>
              <a:r>
                <a:rPr lang="en-US" altLang="zh-CN" sz="900" i="1" dirty="0">
                  <a:latin typeface="Times New Roman" pitchFamily="18" charset="0"/>
                  <a:cs typeface="Times New Roman" pitchFamily="18" charset="0"/>
                </a:rPr>
                <a:t>II</a:t>
              </a:r>
              <a:r>
                <a:rPr lang="en-US" altLang="zh-CN" sz="900" dirty="0"/>
                <a:t> </a:t>
              </a:r>
              <a:r>
                <a:rPr lang="zh-CN" altLang="en-US" sz="900" dirty="0"/>
                <a:t>值將很低，檢驗項目將有極其顯著的個體性，這意味著該檢驗項目的個體內生物學變異相對較小，個體間生物學變異相對較大，在這種情況下，相對於群體參看區間，單次測定就能對個人的內環境穩態點作出相對可靠的估計，這是因為參考區間通常是根據組內總生物學變異建立，即所謂群體參考區間，如果個體間變異較大，則個人的多次檢測結果之間雖然會有變化，但是這種波動卻不會覆蓋整個參考區間；若 </a:t>
              </a:r>
              <a:r>
                <a:rPr lang="en-US" altLang="zh-CN" sz="900" i="1" dirty="0">
                  <a:latin typeface="Times New Roman" pitchFamily="18" charset="0"/>
                  <a:cs typeface="Times New Roman" pitchFamily="18" charset="0"/>
                </a:rPr>
                <a:t>R</a:t>
              </a:r>
              <a:r>
                <a:rPr lang="en-US" altLang="zh-CN" sz="900" dirty="0"/>
                <a:t> </a:t>
              </a:r>
              <a:r>
                <a:rPr lang="zh-CN" altLang="en-US" sz="900" dirty="0"/>
                <a:t>值接近於</a:t>
              </a:r>
              <a:r>
                <a:rPr lang="en-US" altLang="zh-CN" sz="800" dirty="0"/>
                <a:t>0</a:t>
              </a:r>
              <a:r>
                <a:rPr lang="zh-CN" altLang="en-US" sz="900" dirty="0"/>
                <a:t>，對應的 </a:t>
              </a:r>
              <a:r>
                <a:rPr lang="en-US" altLang="zh-CN" sz="900" i="1" dirty="0">
                  <a:latin typeface="Times New Roman" pitchFamily="18" charset="0"/>
                  <a:cs typeface="Times New Roman" pitchFamily="18" charset="0"/>
                </a:rPr>
                <a:t>II</a:t>
              </a:r>
              <a:r>
                <a:rPr lang="en-US" altLang="zh-CN" sz="900" dirty="0"/>
                <a:t> </a:t>
              </a:r>
              <a:r>
                <a:rPr lang="zh-CN" altLang="en-US" sz="900" dirty="0"/>
                <a:t>值將很高，檢驗項目的個體性不明顯，個體的檢測結果將在其內環境穩態點附近有顯著變化，而不同人內環境穩態點之間的差異卻很小，這意味著單次檢測結果只能粗略的估計該個體的內環境穩態點，多次檢測結果間的變化會很明顯，且會覆蓋大部分的參考區間；可以認為可靠性係數</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a:t>
              </a:r>
              <a:r>
                <a:rPr lang="zh-CN" altLang="en-US" sz="900" dirty="0"/>
                <a:t>與個體化指數</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II</a:t>
              </a:r>
              <a:r>
                <a:rPr lang="en-US" altLang="zh-CN" sz="900" dirty="0">
                  <a:latin typeface="Times New Roman" pitchFamily="18" charset="0"/>
                  <a:cs typeface="Times New Roman" pitchFamily="18" charset="0"/>
                </a:rPr>
                <a:t>)</a:t>
              </a:r>
              <a:r>
                <a:rPr lang="zh-CN" altLang="en-US" sz="900" dirty="0"/>
                <a:t>是等效的，二者都可以給出檢驗項目的個體性資訊；</a:t>
              </a:r>
            </a:p>
          </p:txBody>
        </p:sp>
        <p:grpSp>
          <p:nvGrpSpPr>
            <p:cNvPr id="7" name="组合 6"/>
            <p:cNvGrpSpPr/>
            <p:nvPr/>
          </p:nvGrpSpPr>
          <p:grpSpPr>
            <a:xfrm>
              <a:off x="1987279" y="2005742"/>
              <a:ext cx="8172662" cy="2616131"/>
              <a:chOff x="1296974" y="2211937"/>
              <a:chExt cx="8172662" cy="2616131"/>
            </a:xfrm>
          </p:grpSpPr>
          <p:grpSp>
            <p:nvGrpSpPr>
              <p:cNvPr id="5" name="组合 4"/>
              <p:cNvGrpSpPr/>
              <p:nvPr/>
            </p:nvGrpSpPr>
            <p:grpSpPr>
              <a:xfrm>
                <a:off x="1296974" y="2211937"/>
                <a:ext cx="2961264" cy="2616131"/>
                <a:chOff x="1296974" y="2211937"/>
                <a:chExt cx="2961264" cy="2616131"/>
              </a:xfrm>
            </p:grpSpPr>
            <p:sp>
              <p:nvSpPr>
                <p:cNvPr id="25" name="矩形 24"/>
                <p:cNvSpPr>
                  <a:spLocks noChangeArrowheads="1"/>
                </p:cNvSpPr>
                <p:nvPr/>
              </p:nvSpPr>
              <p:spPr bwMode="auto">
                <a:xfrm>
                  <a:off x="1426494" y="3764982"/>
                  <a:ext cx="283174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26" name="矩形 25"/>
                <p:cNvSpPr>
                  <a:spLocks noChangeArrowheads="1"/>
                </p:cNvSpPr>
                <p:nvPr/>
              </p:nvSpPr>
              <p:spPr bwMode="auto">
                <a:xfrm>
                  <a:off x="1426494" y="4163046"/>
                  <a:ext cx="283174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graphicFrame>
              <p:nvGraphicFramePr>
                <p:cNvPr id="28" name="对象 27"/>
                <p:cNvGraphicFramePr>
                  <a:graphicFrameLocks noChangeAspect="1"/>
                </p:cNvGraphicFramePr>
                <p:nvPr>
                  <p:extLst>
                    <p:ext uri="{D42A27DB-BD31-4B8C-83A1-F6EECF244321}">
                      <p14:modId xmlns:p14="http://schemas.microsoft.com/office/powerpoint/2010/main" val="3577073232"/>
                    </p:ext>
                  </p:extLst>
                </p:nvPr>
              </p:nvGraphicFramePr>
              <p:xfrm>
                <a:off x="1464980" y="2690253"/>
                <a:ext cx="1519238" cy="823912"/>
              </p:xfrm>
              <a:graphic>
                <a:graphicData uri="http://schemas.openxmlformats.org/presentationml/2006/ole">
                  <mc:AlternateContent xmlns:mc="http://schemas.openxmlformats.org/markup-compatibility/2006">
                    <mc:Choice xmlns:v="urn:schemas-microsoft-com:vml" Requires="v">
                      <p:oleObj name="Equation" r:id="rId3" imgW="914400" imgH="495300" progId="">
                        <p:embed/>
                      </p:oleObj>
                    </mc:Choice>
                    <mc:Fallback>
                      <p:oleObj name="Equation" r:id="rId3" imgW="914400" imgH="495300" progId="">
                        <p:embed/>
                        <p:pic>
                          <p:nvPicPr>
                            <p:cNvPr id="0" name="Picture 73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980" y="2690253"/>
                              <a:ext cx="1519238"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矩形 10"/>
                <p:cNvSpPr>
                  <a:spLocks noChangeArrowheads="1"/>
                </p:cNvSpPr>
                <p:nvPr/>
              </p:nvSpPr>
              <p:spPr bwMode="auto">
                <a:xfrm>
                  <a:off x="1296974" y="2211937"/>
                  <a:ext cx="296126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個體化指數</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index of individuality</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II</a:t>
                  </a:r>
                  <a:r>
                    <a:rPr lang="zh-CN" altLang="en-US" sz="1100" dirty="0">
                      <a:latin typeface="Times New Roman" pitchFamily="18" charset="0"/>
                      <a:cs typeface="Times New Roman" pitchFamily="18" charset="0"/>
                    </a:rPr>
                    <a:t>）</a:t>
                  </a:r>
                  <a:r>
                    <a:rPr lang="zh-CN" altLang="en-US" sz="1100" dirty="0"/>
                    <a:t>：</a:t>
                  </a:r>
                </a:p>
              </p:txBody>
            </p:sp>
            <p:sp>
              <p:nvSpPr>
                <p:cNvPr id="19" name="矩形 18"/>
                <p:cNvSpPr>
                  <a:spLocks noChangeArrowheads="1"/>
                </p:cNvSpPr>
                <p:nvPr/>
              </p:nvSpPr>
              <p:spPr bwMode="auto">
                <a:xfrm>
                  <a:off x="1426492" y="4566458"/>
                  <a:ext cx="283174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G</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個體間生物學變異</a:t>
                  </a:r>
                </a:p>
              </p:txBody>
            </p:sp>
          </p:grpSp>
          <p:grpSp>
            <p:nvGrpSpPr>
              <p:cNvPr id="3" name="组合 2"/>
              <p:cNvGrpSpPr/>
              <p:nvPr/>
            </p:nvGrpSpPr>
            <p:grpSpPr>
              <a:xfrm>
                <a:off x="6481476" y="2211937"/>
                <a:ext cx="2988160" cy="2616131"/>
                <a:chOff x="5038111" y="2211937"/>
                <a:chExt cx="2988160" cy="2616131"/>
              </a:xfrm>
            </p:grpSpPr>
            <p:sp>
              <p:nvSpPr>
                <p:cNvPr id="20" name="矩形 19"/>
                <p:cNvSpPr>
                  <a:spLocks noChangeArrowheads="1"/>
                </p:cNvSpPr>
                <p:nvPr/>
              </p:nvSpPr>
              <p:spPr bwMode="auto">
                <a:xfrm>
                  <a:off x="5194526" y="3764982"/>
                  <a:ext cx="28317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測量不精密度</a:t>
                  </a:r>
                </a:p>
              </p:txBody>
            </p:sp>
            <p:sp>
              <p:nvSpPr>
                <p:cNvPr id="21" name="矩形 20"/>
                <p:cNvSpPr>
                  <a:spLocks noChangeArrowheads="1"/>
                </p:cNvSpPr>
                <p:nvPr/>
              </p:nvSpPr>
              <p:spPr bwMode="auto">
                <a:xfrm>
                  <a:off x="5194526" y="4163046"/>
                  <a:ext cx="28317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個體內生物學變異</a:t>
                  </a:r>
                </a:p>
              </p:txBody>
            </p:sp>
            <p:graphicFrame>
              <p:nvGraphicFramePr>
                <p:cNvPr id="22" name="对象 21"/>
                <p:cNvGraphicFramePr>
                  <a:graphicFrameLocks noChangeAspect="1"/>
                </p:cNvGraphicFramePr>
                <p:nvPr>
                  <p:extLst>
                    <p:ext uri="{D42A27DB-BD31-4B8C-83A1-F6EECF244321}">
                      <p14:modId xmlns:p14="http://schemas.microsoft.com/office/powerpoint/2010/main" val="3832802620"/>
                    </p:ext>
                  </p:extLst>
                </p:nvPr>
              </p:nvGraphicFramePr>
              <p:xfrm>
                <a:off x="5191794" y="2731060"/>
                <a:ext cx="1793875" cy="760413"/>
              </p:xfrm>
              <a:graphic>
                <a:graphicData uri="http://schemas.openxmlformats.org/presentationml/2006/ole">
                  <mc:AlternateContent xmlns:mc="http://schemas.openxmlformats.org/markup-compatibility/2006">
                    <mc:Choice xmlns:v="urn:schemas-microsoft-com:vml" Requires="v">
                      <p:oleObj name="Equation" r:id="rId5" imgW="1079500" imgH="457200" progId="">
                        <p:embed/>
                      </p:oleObj>
                    </mc:Choice>
                    <mc:Fallback>
                      <p:oleObj name="Equation" r:id="rId5" imgW="1079500" imgH="457200" progId="">
                        <p:embed/>
                        <p:pic>
                          <p:nvPicPr>
                            <p:cNvPr id="0" name="Picture 73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1794" y="2731060"/>
                              <a:ext cx="1793875"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10"/>
                <p:cNvSpPr>
                  <a:spLocks noChangeArrowheads="1"/>
                </p:cNvSpPr>
                <p:nvPr/>
              </p:nvSpPr>
              <p:spPr bwMode="auto">
                <a:xfrm>
                  <a:off x="5038111" y="2211937"/>
                  <a:ext cx="29881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可靠性係數</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reliability coefficient, R</a:t>
                  </a:r>
                  <a:r>
                    <a:rPr lang="zh-CN" altLang="en-US" sz="1100" dirty="0">
                      <a:latin typeface="Times New Roman" pitchFamily="18" charset="0"/>
                      <a:cs typeface="Times New Roman" pitchFamily="18" charset="0"/>
                    </a:rPr>
                    <a:t>）</a:t>
                  </a:r>
                  <a:r>
                    <a:rPr lang="zh-CN" altLang="en-US" sz="1100" dirty="0"/>
                    <a:t>：</a:t>
                  </a:r>
                </a:p>
              </p:txBody>
            </p:sp>
            <p:sp>
              <p:nvSpPr>
                <p:cNvPr id="24" name="矩形 23"/>
                <p:cNvSpPr>
                  <a:spLocks noChangeArrowheads="1"/>
                </p:cNvSpPr>
                <p:nvPr/>
              </p:nvSpPr>
              <p:spPr bwMode="auto">
                <a:xfrm>
                  <a:off x="5194524" y="4566458"/>
                  <a:ext cx="283174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G</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個體間生物學變異</a:t>
                  </a:r>
                </a:p>
              </p:txBody>
            </p:sp>
          </p:grpSp>
          <p:sp>
            <p:nvSpPr>
              <p:cNvPr id="6" name="左右箭头 5"/>
              <p:cNvSpPr/>
              <p:nvPr/>
            </p:nvSpPr>
            <p:spPr>
              <a:xfrm>
                <a:off x="4572004" y="3236264"/>
                <a:ext cx="824752" cy="358588"/>
              </a:xfrm>
              <a:prstGeom prst="leftRightArrow">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05380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grpSp>
        <p:nvGrpSpPr>
          <p:cNvPr id="24" name="组合 23"/>
          <p:cNvGrpSpPr/>
          <p:nvPr/>
        </p:nvGrpSpPr>
        <p:grpSpPr>
          <a:xfrm>
            <a:off x="1050262" y="437076"/>
            <a:ext cx="9581883" cy="5540209"/>
            <a:chOff x="1050262" y="437074"/>
            <a:chExt cx="9581882" cy="5540209"/>
          </a:xfrm>
        </p:grpSpPr>
        <p:sp>
          <p:nvSpPr>
            <p:cNvPr id="14" name="Rectangle 14"/>
            <p:cNvSpPr>
              <a:spLocks noChangeArrowheads="1"/>
            </p:cNvSpPr>
            <p:nvPr/>
          </p:nvSpPr>
          <p:spPr bwMode="auto">
            <a:xfrm>
              <a:off x="1050262" y="437074"/>
              <a:ext cx="95818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      </a:t>
              </a:r>
              <a:r>
                <a:rPr lang="zh-CN" altLang="en-US" sz="1200" dirty="0"/>
                <a:t>個體間生物學變異</a:t>
              </a:r>
            </a:p>
          </p:txBody>
        </p:sp>
        <p:sp>
          <p:nvSpPr>
            <p:cNvPr id="15" name="Rectangle 14"/>
            <p:cNvSpPr>
              <a:spLocks noChangeArrowheads="1"/>
            </p:cNvSpPr>
            <p:nvPr/>
          </p:nvSpPr>
          <p:spPr bwMode="auto">
            <a:xfrm>
              <a:off x="1050262" y="822852"/>
              <a:ext cx="9581882" cy="567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100" dirty="0"/>
                <a:t>       臨床檢驗一般只取一份標本，只取一份標本的檢測結果中存在固有的分析變異和個體內生物學變異，多次抽樣會減小個體內生物學變異，重複測定可以使分析變異變小，可以利用均值標準誤差的演算法來近似計算在規定的概率下，測定值落在內環境穩態點附近一定範圍內所需的最低樣本量；</a:t>
              </a:r>
            </a:p>
          </p:txBody>
        </p:sp>
        <p:grpSp>
          <p:nvGrpSpPr>
            <p:cNvPr id="21" name="组合 20"/>
            <p:cNvGrpSpPr/>
            <p:nvPr/>
          </p:nvGrpSpPr>
          <p:grpSpPr>
            <a:xfrm>
              <a:off x="2092749" y="1555759"/>
              <a:ext cx="3613421" cy="2372018"/>
              <a:chOff x="2092749" y="1555759"/>
              <a:chExt cx="3613421" cy="2372018"/>
            </a:xfrm>
          </p:grpSpPr>
          <p:sp>
            <p:nvSpPr>
              <p:cNvPr id="29" name="矩形 10"/>
              <p:cNvSpPr>
                <a:spLocks noChangeArrowheads="1"/>
              </p:cNvSpPr>
              <p:nvPr/>
            </p:nvSpPr>
            <p:spPr bwMode="auto">
              <a:xfrm>
                <a:off x="2092749" y="1555759"/>
                <a:ext cx="36134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所需採集最小標本量</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N</a:t>
                </a:r>
                <a:r>
                  <a:rPr lang="zh-CN" altLang="en-US" sz="1100" dirty="0">
                    <a:latin typeface="Times New Roman" pitchFamily="18" charset="0"/>
                    <a:cs typeface="Times New Roman" pitchFamily="18" charset="0"/>
                  </a:rPr>
                  <a:t>）</a:t>
                </a:r>
                <a:r>
                  <a:rPr lang="zh-CN" altLang="en-US" sz="1100" dirty="0"/>
                  <a:t>：</a:t>
                </a:r>
              </a:p>
            </p:txBody>
          </p:sp>
          <p:grpSp>
            <p:nvGrpSpPr>
              <p:cNvPr id="2" name="组合 1"/>
              <p:cNvGrpSpPr/>
              <p:nvPr/>
            </p:nvGrpSpPr>
            <p:grpSpPr>
              <a:xfrm>
                <a:off x="2130211" y="2003877"/>
                <a:ext cx="3483903" cy="1923900"/>
                <a:chOff x="4928233" y="1727421"/>
                <a:chExt cx="3483903" cy="1923900"/>
              </a:xfrm>
            </p:grpSpPr>
            <p:sp>
              <p:nvSpPr>
                <p:cNvPr id="25" name="矩形 24"/>
                <p:cNvSpPr>
                  <a:spLocks noChangeArrowheads="1"/>
                </p:cNvSpPr>
                <p:nvPr/>
              </p:nvSpPr>
              <p:spPr bwMode="auto">
                <a:xfrm>
                  <a:off x="4928235" y="2588235"/>
                  <a:ext cx="34839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   </a:t>
                  </a:r>
                  <a:r>
                    <a:rPr lang="zh-CN" altLang="en-US" sz="950" dirty="0">
                      <a:latin typeface="Times New Roman" pitchFamily="18" charset="0"/>
                      <a:cs typeface="Times New Roman" pitchFamily="18" charset="0"/>
                    </a:rPr>
                    <a:t>測量不精密度</a:t>
                  </a:r>
                </a:p>
              </p:txBody>
            </p:sp>
            <p:sp>
              <p:nvSpPr>
                <p:cNvPr id="26" name="矩形 25"/>
                <p:cNvSpPr>
                  <a:spLocks noChangeArrowheads="1"/>
                </p:cNvSpPr>
                <p:nvPr/>
              </p:nvSpPr>
              <p:spPr bwMode="auto">
                <a:xfrm>
                  <a:off x="4928235" y="2986299"/>
                  <a:ext cx="34839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S </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   </a:t>
                  </a:r>
                  <a:r>
                    <a:rPr lang="zh-CN" altLang="en-US" sz="950" dirty="0">
                      <a:latin typeface="Times New Roman" pitchFamily="18" charset="0"/>
                      <a:cs typeface="Times New Roman" pitchFamily="18" charset="0"/>
                    </a:rPr>
                    <a:t>個體內生物學變異</a:t>
                  </a:r>
                </a:p>
              </p:txBody>
            </p:sp>
            <p:graphicFrame>
              <p:nvGraphicFramePr>
                <p:cNvPr id="28" name="对象 27"/>
                <p:cNvGraphicFramePr>
                  <a:graphicFrameLocks noChangeAspect="1"/>
                </p:cNvGraphicFramePr>
                <p:nvPr>
                  <p:extLst>
                    <p:ext uri="{D42A27DB-BD31-4B8C-83A1-F6EECF244321}">
                      <p14:modId xmlns:p14="http://schemas.microsoft.com/office/powerpoint/2010/main" val="790613884"/>
                    </p:ext>
                  </p:extLst>
                </p:nvPr>
              </p:nvGraphicFramePr>
              <p:xfrm>
                <a:off x="4955178" y="1727421"/>
                <a:ext cx="2298700" cy="696913"/>
              </p:xfrm>
              <a:graphic>
                <a:graphicData uri="http://schemas.openxmlformats.org/presentationml/2006/ole">
                  <mc:AlternateContent xmlns:mc="http://schemas.openxmlformats.org/markup-compatibility/2006">
                    <mc:Choice xmlns:v="urn:schemas-microsoft-com:vml" Requires="v">
                      <p:oleObj name="Equation" r:id="rId3" imgW="1384300" imgH="419100" progId="">
                        <p:embed/>
                      </p:oleObj>
                    </mc:Choice>
                    <mc:Fallback>
                      <p:oleObj name="Equation" r:id="rId3" imgW="1384300" imgH="419100" progId="">
                        <p:embed/>
                        <p:pic>
                          <p:nvPicPr>
                            <p:cNvPr id="0" name="Picture 36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5178" y="1727421"/>
                              <a:ext cx="2298700"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8"/>
                <p:cNvSpPr>
                  <a:spLocks noChangeArrowheads="1"/>
                </p:cNvSpPr>
                <p:nvPr/>
              </p:nvSpPr>
              <p:spPr bwMode="auto">
                <a:xfrm>
                  <a:off x="4928233" y="3389711"/>
                  <a:ext cx="348390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100" i="1" dirty="0">
                      <a:latin typeface="Times New Roman" pitchFamily="18" charset="0"/>
                      <a:cs typeface="Times New Roman" pitchFamily="18" charset="0"/>
                    </a:rPr>
                    <a:t>D</a:t>
                  </a:r>
                  <a:r>
                    <a:rPr lang="en-US" altLang="zh-CN" sz="1100" dirty="0">
                      <a:latin typeface="Times New Roman" pitchFamily="18" charset="0"/>
                      <a:cs typeface="Times New Roman" pitchFamily="18" charset="0"/>
                    </a:rPr>
                    <a:t>    —   </a:t>
                  </a:r>
                  <a:r>
                    <a:rPr lang="zh-CN" altLang="en-US" sz="950" dirty="0">
                      <a:latin typeface="Times New Roman" pitchFamily="18" charset="0"/>
                      <a:cs typeface="Times New Roman" pitchFamily="18" charset="0"/>
                    </a:rPr>
                    <a:t>期望概率下測定值偏離內環境穩態點的距離</a:t>
                  </a:r>
                </a:p>
              </p:txBody>
            </p:sp>
          </p:grpSp>
        </p:grpSp>
        <p:sp>
          <p:nvSpPr>
            <p:cNvPr id="27" name="矩形 10"/>
            <p:cNvSpPr>
              <a:spLocks noChangeArrowheads="1"/>
            </p:cNvSpPr>
            <p:nvPr/>
          </p:nvSpPr>
          <p:spPr bwMode="auto">
            <a:xfrm>
              <a:off x="1050262" y="4198863"/>
              <a:ext cx="958188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900" dirty="0">
                  <a:solidFill>
                    <a:srgbClr val="000000"/>
                  </a:solidFill>
                </a:rPr>
                <a:t>       當一個檢驗項目有明顯的個體性，每個個體所得到的數值只佔參考人群所得數值範圍的一小部分，這意味著一些個體數值會穩定在參考界限附近，這些點在界限以內或以外都有可能，重複檢測那些只超出參考界限一點的「擦邊」結果，重複檢測所得到的結果可能會在參考界限以內；當項目的個體性很小時，個體的數值幾乎會佔據整個參考區間，重複檢測一個真正異常的只超出參考界限一點的「擦邊」結果，重複結果很可能在參考區間以內，而對一個在參考區間以內的結果做重複檢測則還有很大的概率檢出正常</a:t>
              </a:r>
              <a:r>
                <a:rPr lang="zh-CN" altLang="en-US" sz="900" dirty="0"/>
                <a:t>；這意味著在查找和篩檢病例時，即使重複後異常結果變回正常的人仍然不能予以忽視；</a:t>
              </a:r>
            </a:p>
          </p:txBody>
        </p:sp>
        <p:sp>
          <p:nvSpPr>
            <p:cNvPr id="30" name="矩形 10"/>
            <p:cNvSpPr>
              <a:spLocks noChangeArrowheads="1"/>
            </p:cNvSpPr>
            <p:nvPr/>
          </p:nvSpPr>
          <p:spPr bwMode="auto">
            <a:xfrm>
              <a:off x="1050262" y="5053953"/>
              <a:ext cx="958188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900" dirty="0">
                  <a:solidFill>
                    <a:srgbClr val="000000"/>
                  </a:solidFill>
                </a:rPr>
                <a:t>       重複檢查健康人群所出現的異常結果，一般來說不論檢驗項目的個體性如何，重複結果都會落在參考區間內，因為大部分值落在參考區間以內且結果「向均值方向回歸」</a:t>
              </a:r>
              <a:r>
                <a:rPr lang="zh-CN" altLang="en-US" sz="900" dirty="0"/>
                <a:t>；在疾病群體中用重複檢測來「確認」一個異常結果，當檢驗項目個體性很強時，重複結果很可能還是異常，重複檢測祗是浪費資源；當檢驗項目個體性不顯著時，對疾病群體的重複檢測，由於固有的變異分佈形態，重複的結果可能會落在參考界限以內，仍然無法的達到「確認」的目的；因此除非疾病很嚴重，一般情況下對疾病群體以重複檢測來「確認」異常結果只會帶來假像或浪費資源（重複取均值除外）；</a:t>
              </a:r>
            </a:p>
          </p:txBody>
        </p:sp>
        <p:grpSp>
          <p:nvGrpSpPr>
            <p:cNvPr id="23" name="组合 22"/>
            <p:cNvGrpSpPr/>
            <p:nvPr/>
          </p:nvGrpSpPr>
          <p:grpSpPr>
            <a:xfrm>
              <a:off x="6070451" y="1510093"/>
              <a:ext cx="3669296" cy="2621818"/>
              <a:chOff x="6070451" y="1510093"/>
              <a:chExt cx="3669296" cy="2621818"/>
            </a:xfrm>
          </p:grpSpPr>
          <p:sp>
            <p:nvSpPr>
              <p:cNvPr id="16" name="矩形 10"/>
              <p:cNvSpPr>
                <a:spLocks noChangeArrowheads="1"/>
              </p:cNvSpPr>
              <p:nvPr/>
            </p:nvSpPr>
            <p:spPr bwMode="auto">
              <a:xfrm>
                <a:off x="6374250" y="1510093"/>
                <a:ext cx="72401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800" dirty="0">
                    <a:solidFill>
                      <a:srgbClr val="000000"/>
                    </a:solidFill>
                  </a:rPr>
                  <a:t>健康群體</a:t>
                </a:r>
                <a:endParaRPr lang="zh-CN" altLang="en-US" sz="800" dirty="0"/>
              </a:p>
            </p:txBody>
          </p:sp>
          <p:sp>
            <p:nvSpPr>
              <p:cNvPr id="17" name="矩形 10"/>
              <p:cNvSpPr>
                <a:spLocks noChangeArrowheads="1"/>
              </p:cNvSpPr>
              <p:nvPr/>
            </p:nvSpPr>
            <p:spPr bwMode="auto">
              <a:xfrm>
                <a:off x="8734358" y="1510093"/>
                <a:ext cx="6791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800" dirty="0">
                    <a:solidFill>
                      <a:srgbClr val="000000"/>
                    </a:solidFill>
                  </a:rPr>
                  <a:t>疾病群體</a:t>
                </a:r>
                <a:endParaRPr lang="zh-CN" altLang="en-US" sz="800" dirty="0"/>
              </a:p>
            </p:txBody>
          </p:sp>
          <p:grpSp>
            <p:nvGrpSpPr>
              <p:cNvPr id="7" name="组合 6"/>
              <p:cNvGrpSpPr/>
              <p:nvPr/>
            </p:nvGrpSpPr>
            <p:grpSpPr>
              <a:xfrm>
                <a:off x="6070452" y="1882926"/>
                <a:ext cx="3669295" cy="1103059"/>
                <a:chOff x="6070452" y="1882926"/>
                <a:chExt cx="3669295" cy="1103059"/>
              </a:xfrm>
            </p:grpSpPr>
            <p:grpSp>
              <p:nvGrpSpPr>
                <p:cNvPr id="5" name="组合 4"/>
                <p:cNvGrpSpPr/>
                <p:nvPr/>
              </p:nvGrpSpPr>
              <p:grpSpPr>
                <a:xfrm>
                  <a:off x="6070452" y="1882926"/>
                  <a:ext cx="3669295" cy="1103059"/>
                  <a:chOff x="6070452" y="1882926"/>
                  <a:chExt cx="3669295" cy="1103059"/>
                </a:xfrm>
              </p:grpSpPr>
              <p:pic>
                <p:nvPicPr>
                  <p:cNvPr id="29725" name="Picture 2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70452" y="1882927"/>
                    <a:ext cx="1331616" cy="110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24" name="Picture 2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08131" y="1882926"/>
                    <a:ext cx="1331616" cy="110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 name="右箭头 5"/>
                <p:cNvSpPr/>
                <p:nvPr/>
              </p:nvSpPr>
              <p:spPr>
                <a:xfrm>
                  <a:off x="7671166" y="2377306"/>
                  <a:ext cx="423863" cy="114300"/>
                </a:xfrm>
                <a:prstGeom prst="rightArrow">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6070451" y="3028853"/>
                <a:ext cx="3669295" cy="1103058"/>
                <a:chOff x="6070451" y="3028853"/>
                <a:chExt cx="3669295" cy="1103058"/>
              </a:xfrm>
            </p:grpSpPr>
            <p:grpSp>
              <p:nvGrpSpPr>
                <p:cNvPr id="3" name="组合 2"/>
                <p:cNvGrpSpPr/>
                <p:nvPr/>
              </p:nvGrpSpPr>
              <p:grpSpPr>
                <a:xfrm>
                  <a:off x="6070451" y="3028853"/>
                  <a:ext cx="3669295" cy="1103058"/>
                  <a:chOff x="6070451" y="3028853"/>
                  <a:chExt cx="3669295" cy="1103058"/>
                </a:xfrm>
              </p:grpSpPr>
              <p:pic>
                <p:nvPicPr>
                  <p:cNvPr id="29723" name="Picture 2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70451" y="3028853"/>
                    <a:ext cx="1331616" cy="110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22" name="Picture 2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08131" y="3028853"/>
                    <a:ext cx="1331615" cy="110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1" name="右箭头 30"/>
                <p:cNvSpPr/>
                <p:nvPr/>
              </p:nvSpPr>
              <p:spPr>
                <a:xfrm>
                  <a:off x="7671165" y="3523230"/>
                  <a:ext cx="423863" cy="114300"/>
                </a:xfrm>
                <a:prstGeom prst="rightArrow">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箭头连接符 7"/>
              <p:cNvCxnSpPr/>
              <p:nvPr/>
            </p:nvCxnSpPr>
            <p:spPr>
              <a:xfrm>
                <a:off x="7671166" y="1671735"/>
                <a:ext cx="423863" cy="0"/>
              </a:xfrm>
              <a:prstGeom prst="straightConnector1">
                <a:avLst/>
              </a:prstGeom>
              <a:ln w="19050">
                <a:tailEnd type="triangl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181044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06120" y="507968"/>
            <a:ext cx="10047287" cy="5448001"/>
            <a:chOff x="806119" y="507968"/>
            <a:chExt cx="10047288" cy="5448001"/>
          </a:xfrm>
        </p:grpSpPr>
        <p:pic>
          <p:nvPicPr>
            <p:cNvPr id="7" name="Picture 2" descr="C:\Documents and Settings\user\桌面\QQ截图2014081723500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119" y="1323739"/>
              <a:ext cx="10047288" cy="463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5"/>
            <p:cNvSpPr>
              <a:spLocks noChangeArrowheads="1"/>
            </p:cNvSpPr>
            <p:nvPr/>
          </p:nvSpPr>
          <p:spPr bwMode="auto">
            <a:xfrm>
              <a:off x="1118880" y="764961"/>
              <a:ext cx="9403541" cy="6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       </a:t>
              </a:r>
              <a:r>
                <a:rPr lang="en-US" altLang="zh-TW" sz="1100" dirty="0"/>
                <a:t>2</a:t>
              </a:r>
              <a:r>
                <a:rPr lang="zh-CN" altLang="en-US" sz="1100" dirty="0"/>
                <a:t>、</a:t>
              </a:r>
              <a:r>
                <a:rPr lang="zh-TW" altLang="en-US" sz="1100" dirty="0"/>
                <a:t>西班牙醫學會生物化學與分子病理學分析質量委員會</a:t>
              </a:r>
              <a:r>
                <a:rPr lang="en-US" altLang="zh-TW" sz="1000" dirty="0"/>
                <a:t>(</a:t>
              </a:r>
              <a:r>
                <a:rPr lang="en-US" altLang="zh-TW" sz="1000" i="1" dirty="0">
                  <a:latin typeface="Times New Roman" pitchFamily="18" charset="0"/>
                  <a:cs typeface="Times New Roman" pitchFamily="18" charset="0"/>
                </a:rPr>
                <a:t>SEQC</a:t>
              </a:r>
              <a:r>
                <a:rPr lang="en-US" altLang="zh-TW" sz="1000" dirty="0"/>
                <a:t>)</a:t>
              </a:r>
              <a:r>
                <a:rPr lang="zh-CN" altLang="en-US" sz="1100" dirty="0"/>
                <a:t>卡門博士</a:t>
              </a:r>
              <a:r>
                <a:rPr lang="en-US" altLang="zh-CN" sz="1000" dirty="0"/>
                <a:t>(</a:t>
              </a:r>
              <a:r>
                <a:rPr lang="en-US" altLang="zh-TW" sz="1000" i="1" dirty="0" err="1">
                  <a:latin typeface="Times New Roman" pitchFamily="18" charset="0"/>
                  <a:cs typeface="Times New Roman" pitchFamily="18" charset="0"/>
                </a:rPr>
                <a:t>Dr.Carmen</a:t>
              </a:r>
              <a:r>
                <a:rPr lang="en-US" altLang="zh-TW" sz="1000" i="1" dirty="0">
                  <a:latin typeface="Times New Roman" pitchFamily="18" charset="0"/>
                  <a:cs typeface="Times New Roman" pitchFamily="18" charset="0"/>
                </a:rPr>
                <a:t> </a:t>
              </a:r>
              <a:r>
                <a:rPr lang="en-US" altLang="zh-TW" sz="1000" i="1" dirty="0" err="1">
                  <a:latin typeface="Times New Roman" pitchFamily="18" charset="0"/>
                  <a:cs typeface="Times New Roman" pitchFamily="18" charset="0"/>
                </a:rPr>
                <a:t>Ricos</a:t>
              </a:r>
              <a:r>
                <a:rPr lang="en-US" altLang="zh-CN" sz="1000" dirty="0"/>
                <a:t>)</a:t>
              </a:r>
              <a:r>
                <a:rPr lang="zh-CN" altLang="en-US" sz="1100" dirty="0"/>
                <a:t>等人</a:t>
              </a:r>
              <a:r>
                <a:rPr lang="zh-TW" altLang="en-US" sz="1100" dirty="0"/>
                <a:t>維護著一個基於</a:t>
              </a:r>
              <a:r>
                <a:rPr lang="zh-CN" altLang="en-US" sz="1100" dirty="0"/>
                <a:t>甄選匯總</a:t>
              </a:r>
              <a:r>
                <a:rPr lang="zh-TW" altLang="en-US" sz="1100" dirty="0"/>
                <a:t>已發表</a:t>
              </a:r>
              <a:r>
                <a:rPr lang="zh-CN" altLang="en-US" sz="1100" dirty="0"/>
                <a:t>文獻</a:t>
              </a:r>
              <a:r>
                <a:rPr lang="zh-TW" altLang="en-US" sz="1100" dirty="0"/>
                <a:t>生物變異數據為基礎構建的數據庫，可以作為醫學實驗室制定質量規範的參考依據；該數據庫每兩年更新一次，最</a:t>
              </a:r>
              <a:r>
                <a:rPr lang="zh-CN" altLang="en-US" sz="1100" dirty="0"/>
                <a:t>近</a:t>
              </a:r>
              <a:r>
                <a:rPr lang="zh-TW" altLang="en-US" sz="1100" dirty="0"/>
                <a:t>一次為</a:t>
              </a:r>
              <a:r>
                <a:rPr lang="en-US" altLang="zh-TW" sz="1000" dirty="0"/>
                <a:t>2014</a:t>
              </a:r>
              <a:r>
                <a:rPr lang="zh-TW" altLang="en-US" sz="1100" dirty="0"/>
                <a:t>年更新</a:t>
              </a:r>
              <a:r>
                <a:rPr lang="zh-CN" altLang="en-US" sz="1100" dirty="0"/>
                <a:t>，以下為該數據庫的部分示例；</a:t>
              </a:r>
            </a:p>
          </p:txBody>
        </p:sp>
        <p:sp>
          <p:nvSpPr>
            <p:cNvPr id="6" name="Rectangle 5"/>
            <p:cNvSpPr>
              <a:spLocks noChangeArrowheads="1"/>
            </p:cNvSpPr>
            <p:nvPr/>
          </p:nvSpPr>
          <p:spPr bwMode="auto">
            <a:xfrm>
              <a:off x="1118880" y="507968"/>
              <a:ext cx="940354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       </a:t>
              </a:r>
              <a:r>
                <a:rPr lang="en-US" altLang="zh-TW" sz="1100" dirty="0"/>
                <a:t>1</a:t>
              </a:r>
              <a:r>
                <a:rPr lang="zh-CN" altLang="en-US" sz="1100" dirty="0"/>
                <a:t>、全美健康與營養調查數據庫</a:t>
              </a:r>
              <a:r>
                <a:rPr lang="zh-CN" altLang="en-US" sz="1000" dirty="0"/>
                <a:t> </a:t>
              </a:r>
              <a:r>
                <a:rPr lang="en-US" altLang="zh-CN" sz="1000" dirty="0">
                  <a:latin typeface="Times New Roman" pitchFamily="18" charset="0"/>
                  <a:cs typeface="Times New Roman" pitchFamily="18" charset="0"/>
                </a:rPr>
                <a:t>[ </a:t>
              </a:r>
              <a:r>
                <a:rPr lang="en-US" altLang="zh-TW" sz="1000" i="1" dirty="0">
                  <a:latin typeface="Times New Roman" pitchFamily="18" charset="0"/>
                  <a:cs typeface="Times New Roman" pitchFamily="18" charset="0"/>
                </a:rPr>
                <a:t>National Health and Nutrition Examination Survey</a:t>
              </a:r>
              <a:r>
                <a:rPr lang="zh-CN" altLang="en-US"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NHANES</a:t>
              </a:r>
              <a:r>
                <a:rPr lang="en-US" altLang="zh-TW" sz="1000" dirty="0">
                  <a:latin typeface="Times New Roman" pitchFamily="18" charset="0"/>
                  <a:cs typeface="Times New Roman" pitchFamily="18" charset="0"/>
                </a:rPr>
                <a:t> Ⅲ (</a:t>
              </a:r>
              <a:r>
                <a:rPr lang="en-US" altLang="zh-TW" sz="1000" i="1" dirty="0">
                  <a:latin typeface="Times New Roman" pitchFamily="18" charset="0"/>
                  <a:cs typeface="Times New Roman" pitchFamily="18" charset="0"/>
                </a:rPr>
                <a:t>1988</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1994</a:t>
              </a:r>
              <a:r>
                <a:rPr lang="en-US" altLang="zh-TW" sz="1000" dirty="0">
                  <a:latin typeface="Times New Roman" pitchFamily="18" charset="0"/>
                  <a:cs typeface="Times New Roman" pitchFamily="18" charset="0"/>
                </a:rPr>
                <a:t>) ]</a:t>
              </a:r>
              <a:r>
                <a:rPr lang="zh-CN" altLang="en-US" sz="1100" dirty="0"/>
                <a:t>；</a:t>
              </a:r>
              <a:endParaRPr lang="zh-TW" altLang="en-US" sz="1100" dirty="0"/>
            </a:p>
          </p:txBody>
        </p:sp>
      </p:grpSp>
      <p:sp>
        <p:nvSpPr>
          <p:cNvPr id="9" name="标题 1"/>
          <p:cNvSpPr txBox="1">
            <a:spLocks/>
          </p:cNvSpPr>
          <p:nvPr/>
        </p:nvSpPr>
        <p:spPr bwMode="auto">
          <a:xfrm>
            <a:off x="32871" y="16047"/>
            <a:ext cx="8034338"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600" dirty="0">
                <a:ea typeface="楷体_GB2312" pitchFamily="49" charset="-122"/>
              </a:rPr>
              <a:t>生物學變異與參考區間</a:t>
            </a:r>
          </a:p>
        </p:txBody>
      </p:sp>
      <p:sp>
        <p:nvSpPr>
          <p:cNvPr id="10" name="矩形 3"/>
          <p:cNvSpPr>
            <a:spLocks noChangeArrowheads="1"/>
          </p:cNvSpPr>
          <p:nvPr/>
        </p:nvSpPr>
        <p:spPr bwMode="auto">
          <a:xfrm>
            <a:off x="55094" y="351010"/>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生物學變異</a:t>
            </a:r>
          </a:p>
        </p:txBody>
      </p:sp>
    </p:spTree>
    <p:extLst>
      <p:ext uri="{BB962C8B-B14F-4D97-AF65-F5344CB8AC3E}">
        <p14:creationId xmlns:p14="http://schemas.microsoft.com/office/powerpoint/2010/main" val="3936845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參考區間</a:t>
            </a:r>
          </a:p>
        </p:txBody>
      </p:sp>
      <p:grpSp>
        <p:nvGrpSpPr>
          <p:cNvPr id="4" name="组合 3"/>
          <p:cNvGrpSpPr/>
          <p:nvPr/>
        </p:nvGrpSpPr>
        <p:grpSpPr>
          <a:xfrm>
            <a:off x="1375889" y="391905"/>
            <a:ext cx="8805334" cy="5353805"/>
            <a:chOff x="1375888" y="391903"/>
            <a:chExt cx="8805333" cy="5353805"/>
          </a:xfrm>
        </p:grpSpPr>
        <p:sp>
          <p:nvSpPr>
            <p:cNvPr id="51" name="Rectangle 14"/>
            <p:cNvSpPr>
              <a:spLocks noChangeArrowheads="1"/>
            </p:cNvSpPr>
            <p:nvPr/>
          </p:nvSpPr>
          <p:spPr bwMode="auto">
            <a:xfrm>
              <a:off x="1375890" y="1406244"/>
              <a:ext cx="48201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1</a:t>
              </a:r>
              <a:r>
                <a:rPr lang="zh-CN" altLang="en-US" sz="1200" dirty="0"/>
                <a:t>、參考個體</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refernence</a:t>
              </a:r>
              <a:r>
                <a:rPr lang="en-US" altLang="zh-CN" sz="1050" i="1" dirty="0">
                  <a:latin typeface="Times New Roman" pitchFamily="18" charset="0"/>
                  <a:cs typeface="Times New Roman" pitchFamily="18" charset="0"/>
                </a:rPr>
                <a:t> individual</a:t>
              </a:r>
              <a:r>
                <a:rPr lang="en-US" altLang="zh-CN" sz="1050" dirty="0">
                  <a:latin typeface="Times New Roman" pitchFamily="18" charset="0"/>
                  <a:cs typeface="Times New Roman" pitchFamily="18" charset="0"/>
                </a:rPr>
                <a:t>)</a:t>
              </a:r>
              <a:r>
                <a:rPr lang="zh-CN" altLang="en-US" sz="1200" dirty="0"/>
                <a:t>：</a:t>
              </a:r>
              <a:endParaRPr lang="en-US" altLang="zh-CN" sz="1200" dirty="0"/>
            </a:p>
            <a:p>
              <a:pPr>
                <a:lnSpc>
                  <a:spcPct val="150000"/>
                </a:lnSpc>
              </a:pPr>
              <a:r>
                <a:rPr lang="en-US" altLang="zh-CN" sz="1200" dirty="0"/>
                <a:t>     </a:t>
              </a:r>
              <a:r>
                <a:rPr lang="zh-CN" altLang="en-US" sz="1200" dirty="0"/>
                <a:t>指使用特定標準篩選出的用於比較的個體；</a:t>
              </a:r>
            </a:p>
          </p:txBody>
        </p:sp>
        <p:sp>
          <p:nvSpPr>
            <p:cNvPr id="59" name="Rectangle 14"/>
            <p:cNvSpPr>
              <a:spLocks noChangeArrowheads="1"/>
            </p:cNvSpPr>
            <p:nvPr/>
          </p:nvSpPr>
          <p:spPr bwMode="auto">
            <a:xfrm>
              <a:off x="1375893" y="890230"/>
              <a:ext cx="4820190" cy="39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300" dirty="0"/>
                <a:t>基於人群的參考值：</a:t>
              </a:r>
            </a:p>
          </p:txBody>
        </p:sp>
        <p:sp>
          <p:nvSpPr>
            <p:cNvPr id="130" name="Rectangle 14"/>
            <p:cNvSpPr>
              <a:spLocks noChangeArrowheads="1"/>
            </p:cNvSpPr>
            <p:nvPr/>
          </p:nvSpPr>
          <p:spPr bwMode="auto">
            <a:xfrm>
              <a:off x="1375890" y="2052577"/>
              <a:ext cx="48201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2</a:t>
              </a:r>
              <a:r>
                <a:rPr lang="zh-CN" altLang="en-US" sz="1200" dirty="0"/>
                <a:t>、參考人群</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reference population</a:t>
              </a:r>
              <a:r>
                <a:rPr lang="en-US" altLang="zh-CN" sz="1050" dirty="0">
                  <a:latin typeface="Times New Roman" pitchFamily="18" charset="0"/>
                  <a:cs typeface="Times New Roman" pitchFamily="18" charset="0"/>
                </a:rPr>
                <a:t>)</a:t>
              </a:r>
              <a:r>
                <a:rPr lang="zh-CN" altLang="en-US" sz="1200" dirty="0"/>
                <a:t>：</a:t>
              </a:r>
              <a:endParaRPr lang="en-US" altLang="zh-CN" sz="1200" dirty="0"/>
            </a:p>
            <a:p>
              <a:pPr>
                <a:lnSpc>
                  <a:spcPct val="150000"/>
                </a:lnSpc>
              </a:pPr>
              <a:r>
                <a:rPr lang="en-US" altLang="zh-CN" sz="1200" dirty="0"/>
                <a:t>     </a:t>
              </a:r>
              <a:r>
                <a:rPr lang="zh-CN" altLang="en-US" sz="1200" dirty="0"/>
                <a:t>指包括所有可能的參考個體；</a:t>
              </a:r>
            </a:p>
          </p:txBody>
        </p:sp>
        <p:sp>
          <p:nvSpPr>
            <p:cNvPr id="131" name="Rectangle 14"/>
            <p:cNvSpPr>
              <a:spLocks noChangeArrowheads="1"/>
            </p:cNvSpPr>
            <p:nvPr/>
          </p:nvSpPr>
          <p:spPr bwMode="auto">
            <a:xfrm>
              <a:off x="1375892" y="2698907"/>
              <a:ext cx="48201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3</a:t>
              </a:r>
              <a:r>
                <a:rPr lang="zh-CN" altLang="en-US" sz="1200" dirty="0"/>
                <a:t>、參考樣本組</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reference sample group</a:t>
              </a:r>
              <a:r>
                <a:rPr lang="en-US" altLang="zh-CN" sz="1050" dirty="0">
                  <a:latin typeface="Times New Roman" pitchFamily="18" charset="0"/>
                  <a:cs typeface="Times New Roman" pitchFamily="18" charset="0"/>
                </a:rPr>
                <a:t>)</a:t>
              </a:r>
              <a:r>
                <a:rPr lang="zh-CN" altLang="en-US" sz="1200" dirty="0"/>
                <a:t>：</a:t>
              </a:r>
              <a:endParaRPr lang="en-US" altLang="zh-CN" sz="1200" dirty="0"/>
            </a:p>
            <a:p>
              <a:pPr>
                <a:lnSpc>
                  <a:spcPct val="150000"/>
                </a:lnSpc>
              </a:pPr>
              <a:r>
                <a:rPr lang="en-US" altLang="zh-CN" sz="1200" dirty="0"/>
                <a:t>     </a:t>
              </a:r>
              <a:r>
                <a:rPr lang="zh-CN" altLang="en-US" sz="1200" dirty="0"/>
                <a:t>指由擁有足夠數量的參考個體所組成的能代表參考人群抽樣；</a:t>
              </a:r>
            </a:p>
          </p:txBody>
        </p:sp>
        <p:sp>
          <p:nvSpPr>
            <p:cNvPr id="132" name="Rectangle 14"/>
            <p:cNvSpPr>
              <a:spLocks noChangeArrowheads="1"/>
            </p:cNvSpPr>
            <p:nvPr/>
          </p:nvSpPr>
          <p:spPr bwMode="auto">
            <a:xfrm>
              <a:off x="1375888" y="3345238"/>
              <a:ext cx="48201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4</a:t>
              </a:r>
              <a:r>
                <a:rPr lang="zh-CN" altLang="en-US" sz="1200" dirty="0"/>
                <a:t>、參考值</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reference values</a:t>
              </a:r>
              <a:r>
                <a:rPr lang="en-US" altLang="zh-CN" sz="1050" dirty="0">
                  <a:latin typeface="Times New Roman" pitchFamily="18" charset="0"/>
                  <a:cs typeface="Times New Roman" pitchFamily="18" charset="0"/>
                </a:rPr>
                <a:t>)</a:t>
              </a:r>
              <a:r>
                <a:rPr lang="zh-CN" altLang="en-US" sz="1200" dirty="0"/>
                <a:t>：</a:t>
              </a:r>
              <a:endParaRPr lang="en-US" altLang="zh-CN" sz="1200" dirty="0"/>
            </a:p>
            <a:p>
              <a:pPr>
                <a:lnSpc>
                  <a:spcPct val="150000"/>
                </a:lnSpc>
              </a:pPr>
              <a:r>
                <a:rPr lang="en-US" altLang="zh-CN" sz="1200" dirty="0"/>
                <a:t>     </a:t>
              </a:r>
              <a:r>
                <a:rPr lang="zh-CN" altLang="en-US" sz="1200" dirty="0"/>
                <a:t>指包括了某項目所有參考個體的數值。</a:t>
              </a:r>
            </a:p>
          </p:txBody>
        </p:sp>
        <p:sp>
          <p:nvSpPr>
            <p:cNvPr id="133" name="Rectangle 14"/>
            <p:cNvSpPr>
              <a:spLocks noChangeArrowheads="1"/>
            </p:cNvSpPr>
            <p:nvPr/>
          </p:nvSpPr>
          <p:spPr bwMode="auto">
            <a:xfrm>
              <a:off x="1580613" y="4007833"/>
              <a:ext cx="46154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參考值不能確定所有的參考個體，它們將有一個統計學的離散圖，稱為參考分佈</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reference distribution</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a:t>
              </a:r>
              <a:r>
                <a:rPr lang="zh-CN" altLang="en-US" sz="1200" dirty="0"/>
                <a:t>然後計算參考界限</a:t>
              </a:r>
              <a:r>
                <a:rPr lang="zh-CN" altLang="en-US" sz="12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reference limits</a:t>
              </a:r>
              <a:r>
                <a:rPr lang="en-US" altLang="zh-CN" sz="1200" dirty="0">
                  <a:latin typeface="Times New Roman" pitchFamily="18" charset="0"/>
                  <a:cs typeface="Times New Roman" pitchFamily="18" charset="0"/>
                </a:rPr>
                <a:t>)</a:t>
              </a:r>
              <a:r>
                <a:rPr lang="zh-CN" altLang="en-US" sz="1200" dirty="0"/>
                <a:t>，參考值的預設部分小於或等於這些界限，參考界限的上限和下限用於建立參考區間</a:t>
              </a:r>
              <a:r>
                <a:rPr lang="zh-CN" altLang="en-US" sz="105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reference interval</a:t>
              </a:r>
              <a:r>
                <a:rPr lang="en-US" altLang="zh-CN" sz="105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endParaRPr lang="zh-CN" altLang="en-US" sz="1200" dirty="0"/>
            </a:p>
          </p:txBody>
        </p:sp>
        <p:grpSp>
          <p:nvGrpSpPr>
            <p:cNvPr id="3" name="组合 2"/>
            <p:cNvGrpSpPr/>
            <p:nvPr/>
          </p:nvGrpSpPr>
          <p:grpSpPr>
            <a:xfrm>
              <a:off x="6894060" y="391903"/>
              <a:ext cx="3287161" cy="5353805"/>
              <a:chOff x="6894060" y="391903"/>
              <a:chExt cx="3287161" cy="5353805"/>
            </a:xfrm>
          </p:grpSpPr>
          <p:sp>
            <p:nvSpPr>
              <p:cNvPr id="67" name="圆角矩形 66"/>
              <p:cNvSpPr/>
              <p:nvPr/>
            </p:nvSpPr>
            <p:spPr>
              <a:xfrm>
                <a:off x="9049437" y="828801"/>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組成了</a:t>
                </a:r>
              </a:p>
            </p:txBody>
          </p:sp>
          <p:sp>
            <p:nvSpPr>
              <p:cNvPr id="110" name="圆角矩形 109"/>
              <p:cNvSpPr/>
              <p:nvPr/>
            </p:nvSpPr>
            <p:spPr>
              <a:xfrm>
                <a:off x="9049437" y="1648553"/>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a:solidFill>
                      <a:schemeClr val="tx1"/>
                    </a:solidFill>
                  </a:rPr>
                  <a:t>從中選擇出一個</a:t>
                </a:r>
                <a:endParaRPr lang="zh-CN" altLang="en-US" sz="1000" dirty="0">
                  <a:solidFill>
                    <a:schemeClr val="tx1"/>
                  </a:solidFill>
                </a:endParaRPr>
              </a:p>
            </p:txBody>
          </p:sp>
          <p:sp>
            <p:nvSpPr>
              <p:cNvPr id="111" name="圆角矩形 110"/>
              <p:cNvSpPr/>
              <p:nvPr/>
            </p:nvSpPr>
            <p:spPr>
              <a:xfrm>
                <a:off x="9049437" y="2461011"/>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通過它確定</a:t>
                </a:r>
              </a:p>
            </p:txBody>
          </p:sp>
          <p:sp>
            <p:nvSpPr>
              <p:cNvPr id="112" name="圆角矩形 111"/>
              <p:cNvSpPr/>
              <p:nvPr/>
            </p:nvSpPr>
            <p:spPr>
              <a:xfrm>
                <a:off x="9049437" y="3278127"/>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從中觀察出</a:t>
                </a:r>
              </a:p>
            </p:txBody>
          </p:sp>
          <p:sp>
            <p:nvSpPr>
              <p:cNvPr id="113" name="圆角矩形 112"/>
              <p:cNvSpPr/>
              <p:nvPr/>
            </p:nvSpPr>
            <p:spPr>
              <a:xfrm>
                <a:off x="9049437" y="4103369"/>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以它確定</a:t>
                </a:r>
              </a:p>
            </p:txBody>
          </p:sp>
          <p:sp>
            <p:nvSpPr>
              <p:cNvPr id="114" name="圆角矩形 113"/>
              <p:cNvSpPr/>
              <p:nvPr/>
            </p:nvSpPr>
            <p:spPr>
              <a:xfrm>
                <a:off x="9049437" y="4935150"/>
                <a:ext cx="1131784" cy="367638"/>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000" dirty="0">
                    <a:solidFill>
                      <a:schemeClr val="tx1"/>
                    </a:solidFill>
                  </a:rPr>
                  <a:t>就定義了一個</a:t>
                </a:r>
                <a:endParaRPr lang="zh-CN" altLang="en-US" sz="1000" dirty="0">
                  <a:solidFill>
                    <a:schemeClr val="tx1"/>
                  </a:solidFill>
                </a:endParaRPr>
              </a:p>
            </p:txBody>
          </p:sp>
          <p:sp>
            <p:nvSpPr>
              <p:cNvPr id="85" name="弧形 84"/>
              <p:cNvSpPr/>
              <p:nvPr/>
            </p:nvSpPr>
            <p:spPr>
              <a:xfrm>
                <a:off x="7124120" y="645942"/>
                <a:ext cx="1911667" cy="753189"/>
              </a:xfrm>
              <a:prstGeom prst="arc">
                <a:avLst>
                  <a:gd name="adj1" fmla="val 16564068"/>
                  <a:gd name="adj2" fmla="val 5142664"/>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 name="弧形 114"/>
              <p:cNvSpPr/>
              <p:nvPr/>
            </p:nvSpPr>
            <p:spPr>
              <a:xfrm>
                <a:off x="7124119" y="1455777"/>
                <a:ext cx="1911667" cy="753189"/>
              </a:xfrm>
              <a:prstGeom prst="arc">
                <a:avLst>
                  <a:gd name="adj1" fmla="val 16598651"/>
                  <a:gd name="adj2" fmla="val 5073310"/>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 name="弧形 115"/>
              <p:cNvSpPr/>
              <p:nvPr/>
            </p:nvSpPr>
            <p:spPr>
              <a:xfrm>
                <a:off x="7137771" y="2268235"/>
                <a:ext cx="1898014" cy="753189"/>
              </a:xfrm>
              <a:prstGeom prst="arc">
                <a:avLst>
                  <a:gd name="adj1" fmla="val 16557219"/>
                  <a:gd name="adj2" fmla="val 5165277"/>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弧形 116"/>
              <p:cNvSpPr/>
              <p:nvPr/>
            </p:nvSpPr>
            <p:spPr>
              <a:xfrm>
                <a:off x="7148933" y="3085351"/>
                <a:ext cx="1886852" cy="753189"/>
              </a:xfrm>
              <a:prstGeom prst="arc">
                <a:avLst>
                  <a:gd name="adj1" fmla="val 16555863"/>
                  <a:gd name="adj2" fmla="val 5157516"/>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 name="弧形 117"/>
              <p:cNvSpPr/>
              <p:nvPr/>
            </p:nvSpPr>
            <p:spPr>
              <a:xfrm>
                <a:off x="7124119" y="3911067"/>
                <a:ext cx="1911666" cy="753189"/>
              </a:xfrm>
              <a:prstGeom prst="arc">
                <a:avLst>
                  <a:gd name="adj1" fmla="val 16563211"/>
                  <a:gd name="adj2" fmla="val 5118538"/>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 name="弧形 118"/>
              <p:cNvSpPr/>
              <p:nvPr/>
            </p:nvSpPr>
            <p:spPr>
              <a:xfrm>
                <a:off x="7124117" y="4742375"/>
                <a:ext cx="1911667" cy="753189"/>
              </a:xfrm>
              <a:prstGeom prst="arc">
                <a:avLst>
                  <a:gd name="adj1" fmla="val 16596821"/>
                  <a:gd name="adj2" fmla="val 5032881"/>
                </a:avLst>
              </a:prstGeom>
              <a:ln>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箭头连接符 91"/>
              <p:cNvCxnSpPr>
                <a:stCxn id="48" idx="4"/>
                <a:endCxn id="66" idx="0"/>
              </p:cNvCxnSpPr>
              <p:nvPr/>
            </p:nvCxnSpPr>
            <p:spPr>
              <a:xfrm>
                <a:off x="7499413" y="890668"/>
                <a:ext cx="0" cy="28702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8" name="椭圆 47"/>
              <p:cNvSpPr/>
              <p:nvPr/>
            </p:nvSpPr>
            <p:spPr>
              <a:xfrm>
                <a:off x="6894060" y="391903"/>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參考個體</a:t>
                </a:r>
              </a:p>
            </p:txBody>
          </p:sp>
          <p:sp>
            <p:nvSpPr>
              <p:cNvPr id="66" name="椭圆 65"/>
              <p:cNvSpPr/>
              <p:nvPr/>
            </p:nvSpPr>
            <p:spPr>
              <a:xfrm>
                <a:off x="6894060" y="1177691"/>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參考人群</a:t>
                </a:r>
              </a:p>
            </p:txBody>
          </p:sp>
          <p:cxnSp>
            <p:nvCxnSpPr>
              <p:cNvPr id="83" name="直接箭头连接符 82"/>
              <p:cNvCxnSpPr>
                <a:stCxn id="66" idx="4"/>
                <a:endCxn id="84" idx="0"/>
              </p:cNvCxnSpPr>
              <p:nvPr/>
            </p:nvCxnSpPr>
            <p:spPr>
              <a:xfrm>
                <a:off x="7499413" y="1676456"/>
                <a:ext cx="0" cy="31648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6894060" y="1992945"/>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參考樣本組</a:t>
                </a:r>
              </a:p>
            </p:txBody>
          </p:sp>
          <p:cxnSp>
            <p:nvCxnSpPr>
              <p:cNvPr id="86" name="直接箭头连接符 85"/>
              <p:cNvCxnSpPr>
                <a:stCxn id="84" idx="4"/>
                <a:endCxn id="87" idx="0"/>
              </p:cNvCxnSpPr>
              <p:nvPr/>
            </p:nvCxnSpPr>
            <p:spPr>
              <a:xfrm>
                <a:off x="7499413" y="2491709"/>
                <a:ext cx="0" cy="3155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7" name="椭圆 86"/>
              <p:cNvSpPr/>
              <p:nvPr/>
            </p:nvSpPr>
            <p:spPr>
              <a:xfrm>
                <a:off x="6894060" y="2807265"/>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參考值</a:t>
                </a:r>
              </a:p>
            </p:txBody>
          </p:sp>
          <p:cxnSp>
            <p:nvCxnSpPr>
              <p:cNvPr id="88" name="直接箭头连接符 87"/>
              <p:cNvCxnSpPr>
                <a:stCxn id="87" idx="4"/>
                <a:endCxn id="89" idx="0"/>
              </p:cNvCxnSpPr>
              <p:nvPr/>
            </p:nvCxnSpPr>
            <p:spPr>
              <a:xfrm>
                <a:off x="7499413" y="3306030"/>
                <a:ext cx="0" cy="32580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9" name="椭圆 88"/>
              <p:cNvSpPr/>
              <p:nvPr/>
            </p:nvSpPr>
            <p:spPr>
              <a:xfrm>
                <a:off x="6894060" y="3631833"/>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參考分佈</a:t>
                </a:r>
              </a:p>
            </p:txBody>
          </p:sp>
          <p:cxnSp>
            <p:nvCxnSpPr>
              <p:cNvPr id="91" name="直接箭头连接符 90"/>
              <p:cNvCxnSpPr>
                <a:stCxn id="89" idx="4"/>
                <a:endCxn id="107" idx="0"/>
              </p:cNvCxnSpPr>
              <p:nvPr/>
            </p:nvCxnSpPr>
            <p:spPr>
              <a:xfrm>
                <a:off x="7499413" y="4130598"/>
                <a:ext cx="0" cy="3290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a:off x="6894060" y="4459670"/>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參考界限</a:t>
                </a:r>
              </a:p>
            </p:txBody>
          </p:sp>
          <p:cxnSp>
            <p:nvCxnSpPr>
              <p:cNvPr id="108" name="直接箭头连接符 107"/>
              <p:cNvCxnSpPr>
                <a:stCxn id="107" idx="4"/>
                <a:endCxn id="109" idx="0"/>
              </p:cNvCxnSpPr>
              <p:nvPr/>
            </p:nvCxnSpPr>
            <p:spPr>
              <a:xfrm>
                <a:off x="7499413" y="4958435"/>
                <a:ext cx="0" cy="28850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9" name="椭圆 108"/>
              <p:cNvSpPr/>
              <p:nvPr/>
            </p:nvSpPr>
            <p:spPr>
              <a:xfrm>
                <a:off x="6894060" y="5246943"/>
                <a:ext cx="1210706" cy="498765"/>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參考區間</a:t>
                </a:r>
              </a:p>
            </p:txBody>
          </p:sp>
        </p:grpSp>
      </p:grpSp>
    </p:spTree>
    <p:extLst>
      <p:ext uri="{BB962C8B-B14F-4D97-AF65-F5344CB8AC3E}">
        <p14:creationId xmlns:p14="http://schemas.microsoft.com/office/powerpoint/2010/main" val="150037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參考區間</a:t>
            </a:r>
          </a:p>
        </p:txBody>
      </p:sp>
      <p:grpSp>
        <p:nvGrpSpPr>
          <p:cNvPr id="4" name="组合 3"/>
          <p:cNvGrpSpPr/>
          <p:nvPr/>
        </p:nvGrpSpPr>
        <p:grpSpPr>
          <a:xfrm>
            <a:off x="1180833" y="852965"/>
            <a:ext cx="9300652" cy="4477870"/>
            <a:chOff x="1180834" y="852965"/>
            <a:chExt cx="9300652" cy="4477872"/>
          </a:xfrm>
        </p:grpSpPr>
        <p:sp>
          <p:nvSpPr>
            <p:cNvPr id="15365" name="Rectangle 14"/>
            <p:cNvSpPr>
              <a:spLocks noChangeArrowheads="1"/>
            </p:cNvSpPr>
            <p:nvPr/>
          </p:nvSpPr>
          <p:spPr bwMode="auto">
            <a:xfrm>
              <a:off x="1180834" y="852965"/>
              <a:ext cx="93006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對實驗室報告數值的解釋，經常包括檢測結果與以下幾項的比較：</a:t>
              </a:r>
              <a:r>
                <a:rPr lang="en-US" altLang="zh-TW" sz="1200" dirty="0"/>
                <a:t>1</a:t>
              </a:r>
              <a:r>
                <a:rPr lang="zh-TW" altLang="en-US" sz="1200" dirty="0"/>
                <a:t>、基於人群的參考值；</a:t>
              </a:r>
              <a:r>
                <a:rPr lang="en-US" altLang="zh-TW" sz="1200" dirty="0"/>
                <a:t>2</a:t>
              </a:r>
              <a:r>
                <a:rPr lang="zh-TW" altLang="en-US" sz="1200" dirty="0"/>
                <a:t>、當地公認的臨床操作規程；</a:t>
              </a:r>
              <a:r>
                <a:rPr lang="en-US" altLang="zh-TW" sz="1200" dirty="0"/>
                <a:t>3</a:t>
              </a:r>
              <a:r>
                <a:rPr lang="zh-TW" altLang="en-US" sz="1200" dirty="0"/>
                <a:t>、專家組或委員會的建議數值；</a:t>
              </a:r>
              <a:r>
                <a:rPr lang="en-US" altLang="zh-TW" sz="1200" dirty="0"/>
                <a:t>4</a:t>
              </a:r>
              <a:r>
                <a:rPr lang="zh-TW" altLang="en-US" sz="1200" dirty="0"/>
                <a:t>、基於某種結果的數值，比如風險；</a:t>
              </a:r>
              <a:r>
                <a:rPr lang="en-US" altLang="zh-TW" sz="1200" dirty="0"/>
                <a:t>5</a:t>
              </a:r>
              <a:r>
                <a:rPr lang="zh-TW" altLang="en-US" sz="1200" dirty="0"/>
                <a:t>、與參考區間上下限間的聯繫；</a:t>
              </a:r>
              <a:r>
                <a:rPr lang="en-US" altLang="zh-TW" sz="1200" dirty="0"/>
                <a:t>6</a:t>
              </a:r>
              <a:r>
                <a:rPr lang="zh-TW" altLang="en-US" sz="1200" dirty="0"/>
                <a:t>、患者前一次檢驗結果</a:t>
              </a:r>
              <a:r>
                <a:rPr lang="zh-CN" altLang="en-US" sz="1200" dirty="0"/>
                <a:t>；</a:t>
              </a:r>
              <a:endParaRPr lang="zh-CN" altLang="en-US" sz="1000" dirty="0"/>
            </a:p>
          </p:txBody>
        </p:sp>
        <p:sp>
          <p:nvSpPr>
            <p:cNvPr id="9" name="Rectangle 14"/>
            <p:cNvSpPr>
              <a:spLocks noChangeArrowheads="1"/>
            </p:cNvSpPr>
            <p:nvPr/>
          </p:nvSpPr>
          <p:spPr bwMode="auto">
            <a:xfrm>
              <a:off x="1180834" y="1481375"/>
              <a:ext cx="930065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國際臨床化學和檢驗醫學聯合會</a:t>
              </a:r>
              <a:r>
                <a:rPr lang="zh-TW" altLang="en-US"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International Federation of Clinical Chemistry  and Laboratory </a:t>
              </a:r>
              <a:r>
                <a:rPr lang="en-US" altLang="zh-TW" sz="1200" i="1" dirty="0" err="1">
                  <a:latin typeface="Times New Roman" pitchFamily="18" charset="0"/>
                  <a:cs typeface="Times New Roman" pitchFamily="18" charset="0"/>
                </a:rPr>
                <a:t>Medicine</a:t>
              </a:r>
              <a:r>
                <a:rPr lang="en-US" altLang="zh-TW" sz="1200" dirty="0" err="1">
                  <a:latin typeface="Times New Roman" pitchFamily="18" charset="0"/>
                  <a:cs typeface="Times New Roman" pitchFamily="18" charset="0"/>
                </a:rPr>
                <a:t>,</a:t>
              </a:r>
              <a:r>
                <a:rPr lang="en-US" altLang="zh-TW" sz="1200" i="1" dirty="0" err="1">
                  <a:latin typeface="Times New Roman" pitchFamily="18" charset="0"/>
                  <a:cs typeface="Times New Roman" pitchFamily="18" charset="0"/>
                </a:rPr>
                <a:t>IFCC</a:t>
              </a:r>
              <a:r>
                <a:rPr lang="zh-TW" altLang="en-US" sz="1200" dirty="0">
                  <a:latin typeface="Times New Roman" pitchFamily="18" charset="0"/>
                  <a:cs typeface="Times New Roman" pitchFamily="18" charset="0"/>
                </a:rPr>
                <a:t>）</a:t>
              </a:r>
              <a:r>
                <a:rPr lang="zh-TW" altLang="en-US" sz="1200" dirty="0"/>
                <a:t>發表了一個包含六個批准指南的系列檔，其中包括：</a:t>
              </a:r>
              <a:r>
                <a:rPr lang="en-US" altLang="zh-TW" sz="1200" dirty="0"/>
                <a:t>1</a:t>
              </a:r>
              <a:r>
                <a:rPr lang="zh-TW" altLang="en-US" sz="1200" dirty="0"/>
                <a:t>、參考值的概念；</a:t>
              </a:r>
              <a:r>
                <a:rPr lang="en-US" altLang="zh-TW" sz="1200" dirty="0"/>
                <a:t>2</a:t>
              </a:r>
              <a:r>
                <a:rPr lang="zh-TW" altLang="en-US" sz="1200" dirty="0"/>
                <a:t>、建立參考值時的個體篩選；</a:t>
              </a:r>
              <a:r>
                <a:rPr lang="en-US" altLang="zh-TW" sz="1200" dirty="0"/>
                <a:t>3</a:t>
              </a:r>
              <a:r>
                <a:rPr lang="zh-TW" altLang="en-US" sz="1200" dirty="0"/>
                <a:t>、建立參考值時的個體準備和標本採集；</a:t>
              </a:r>
              <a:r>
                <a:rPr lang="en-US" altLang="zh-TW" sz="1200" dirty="0"/>
                <a:t>4</a:t>
              </a:r>
              <a:r>
                <a:rPr lang="zh-TW" altLang="en-US" sz="1200" dirty="0"/>
                <a:t>、在建立、轉換和應用參考值時控制分析性變異；</a:t>
              </a:r>
              <a:r>
                <a:rPr lang="en-US" altLang="zh-TW" sz="1200" dirty="0"/>
                <a:t>5</a:t>
              </a:r>
              <a:r>
                <a:rPr lang="zh-TW" altLang="en-US" sz="1200" dirty="0"/>
                <a:t>、所得參考值的統計處理 </a:t>
              </a:r>
              <a:r>
                <a:rPr lang="en-US" altLang="zh-TW" sz="1200" dirty="0"/>
                <a:t>— </a:t>
              </a:r>
              <a:r>
                <a:rPr lang="zh-TW" altLang="en-US" sz="1200" dirty="0"/>
                <a:t>參考界限的確定；</a:t>
              </a:r>
              <a:r>
                <a:rPr lang="en-US" altLang="zh-TW" sz="1200" dirty="0"/>
                <a:t>6</a:t>
              </a:r>
              <a:r>
                <a:rPr lang="zh-TW" altLang="en-US" sz="1200" dirty="0"/>
                <a:t>、把觀察值（檢驗結果）關聯到參考值</a:t>
              </a:r>
              <a:r>
                <a:rPr lang="zh-CN" altLang="en-US" sz="1200" dirty="0"/>
                <a:t>；</a:t>
              </a:r>
              <a:endParaRPr lang="zh-CN" altLang="en-US" sz="1000" dirty="0"/>
            </a:p>
          </p:txBody>
        </p:sp>
        <p:grpSp>
          <p:nvGrpSpPr>
            <p:cNvPr id="2" name="组合 1"/>
            <p:cNvGrpSpPr/>
            <p:nvPr/>
          </p:nvGrpSpPr>
          <p:grpSpPr>
            <a:xfrm>
              <a:off x="4474668" y="2745513"/>
              <a:ext cx="3779805" cy="2585324"/>
              <a:chOff x="4474668" y="2745513"/>
              <a:chExt cx="3779805" cy="2585324"/>
            </a:xfrm>
          </p:grpSpPr>
          <p:sp>
            <p:nvSpPr>
              <p:cNvPr id="15" name="Rectangle 14"/>
              <p:cNvSpPr>
                <a:spLocks noChangeArrowheads="1"/>
              </p:cNvSpPr>
              <p:nvPr/>
            </p:nvSpPr>
            <p:spPr bwMode="auto">
              <a:xfrm>
                <a:off x="4764829" y="2745513"/>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1</a:t>
                </a:r>
                <a:r>
                  <a:rPr lang="zh-CN" altLang="en-US" sz="1200" dirty="0"/>
                  <a:t>、基於正態分佈參考值的參數估計；</a:t>
                </a:r>
                <a:endParaRPr lang="zh-CN" altLang="en-US" sz="1000" dirty="0"/>
              </a:p>
            </p:txBody>
          </p:sp>
          <p:sp>
            <p:nvSpPr>
              <p:cNvPr id="16" name="Rectangle 14"/>
              <p:cNvSpPr>
                <a:spLocks noChangeArrowheads="1"/>
              </p:cNvSpPr>
              <p:nvPr/>
            </p:nvSpPr>
            <p:spPr bwMode="auto">
              <a:xfrm>
                <a:off x="4764829" y="3114845"/>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2</a:t>
                </a:r>
                <a:r>
                  <a:rPr lang="zh-CN" altLang="en-US" sz="1200" dirty="0"/>
                  <a:t>、非正態分佈參考值的數據轉換；</a:t>
                </a:r>
                <a:endParaRPr lang="zh-CN" altLang="en-US" sz="1000" dirty="0"/>
              </a:p>
            </p:txBody>
          </p:sp>
          <p:sp>
            <p:nvSpPr>
              <p:cNvPr id="17" name="Rectangle 14"/>
              <p:cNvSpPr>
                <a:spLocks noChangeArrowheads="1"/>
              </p:cNvSpPr>
              <p:nvPr/>
            </p:nvSpPr>
            <p:spPr bwMode="auto">
              <a:xfrm>
                <a:off x="4764829" y="3484177"/>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3</a:t>
                </a:r>
                <a:r>
                  <a:rPr lang="zh-CN" altLang="en-US" sz="1200" dirty="0"/>
                  <a:t>、基於參考值秩的非參數估計；</a:t>
                </a:r>
                <a:endParaRPr lang="zh-CN" altLang="en-US" sz="1000" dirty="0"/>
              </a:p>
            </p:txBody>
          </p:sp>
          <p:sp>
            <p:nvSpPr>
              <p:cNvPr id="19" name="Rectangle 14"/>
              <p:cNvSpPr>
                <a:spLocks noChangeArrowheads="1"/>
              </p:cNvSpPr>
              <p:nvPr/>
            </p:nvSpPr>
            <p:spPr bwMode="auto">
              <a:xfrm>
                <a:off x="4764830" y="3853509"/>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4</a:t>
                </a:r>
                <a:r>
                  <a:rPr lang="zh-CN" altLang="en-US" sz="1200" dirty="0"/>
                  <a:t>、參考界限的置信區間；</a:t>
                </a:r>
                <a:endParaRPr lang="en-US" altLang="zh-CN" sz="1200" dirty="0"/>
              </a:p>
            </p:txBody>
          </p:sp>
          <p:sp>
            <p:nvSpPr>
              <p:cNvPr id="20" name="Rectangle 14"/>
              <p:cNvSpPr>
                <a:spLocks noChangeArrowheads="1"/>
              </p:cNvSpPr>
              <p:nvPr/>
            </p:nvSpPr>
            <p:spPr bwMode="auto">
              <a:xfrm>
                <a:off x="4764830" y="4222841"/>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5</a:t>
                </a:r>
                <a:r>
                  <a:rPr lang="zh-CN" altLang="en-US" sz="1200" dirty="0"/>
                  <a:t>、參考值的離群值檢測；</a:t>
                </a:r>
                <a:endParaRPr lang="en-US" altLang="zh-CN" sz="1200" dirty="0"/>
              </a:p>
            </p:txBody>
          </p:sp>
          <p:sp>
            <p:nvSpPr>
              <p:cNvPr id="21" name="Rectangle 14"/>
              <p:cNvSpPr>
                <a:spLocks noChangeArrowheads="1"/>
              </p:cNvSpPr>
              <p:nvPr/>
            </p:nvSpPr>
            <p:spPr bwMode="auto">
              <a:xfrm>
                <a:off x="4764830" y="4592173"/>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6</a:t>
                </a:r>
                <a:r>
                  <a:rPr lang="zh-CN" altLang="en-US" sz="1200" dirty="0"/>
                  <a:t>、參考區間分組；</a:t>
                </a:r>
                <a:endParaRPr lang="en-US" altLang="zh-CN" sz="1200" dirty="0"/>
              </a:p>
            </p:txBody>
          </p:sp>
          <p:sp>
            <p:nvSpPr>
              <p:cNvPr id="22" name="Rectangle 14"/>
              <p:cNvSpPr>
                <a:spLocks noChangeArrowheads="1"/>
              </p:cNvSpPr>
              <p:nvPr/>
            </p:nvSpPr>
            <p:spPr bwMode="auto">
              <a:xfrm>
                <a:off x="4764830" y="4961505"/>
                <a:ext cx="34896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dirty="0"/>
                  <a:t>7</a:t>
                </a:r>
                <a:r>
                  <a:rPr lang="zh-CN" altLang="en-US" sz="1200" dirty="0"/>
                  <a:t>、參考區間轉換；</a:t>
                </a:r>
              </a:p>
            </p:txBody>
          </p:sp>
          <p:cxnSp>
            <p:nvCxnSpPr>
              <p:cNvPr id="10" name="直接连接符 9"/>
              <p:cNvCxnSpPr>
                <a:endCxn id="15" idx="1"/>
              </p:cNvCxnSpPr>
              <p:nvPr/>
            </p:nvCxnSpPr>
            <p:spPr>
              <a:xfrm>
                <a:off x="4474668" y="2927973"/>
                <a:ext cx="290161"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7" idx="1"/>
              </p:cNvCxnSpPr>
              <p:nvPr/>
            </p:nvCxnSpPr>
            <p:spPr>
              <a:xfrm>
                <a:off x="4474668" y="3666637"/>
                <a:ext cx="290161"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9" idx="1"/>
              </p:cNvCxnSpPr>
              <p:nvPr/>
            </p:nvCxnSpPr>
            <p:spPr>
              <a:xfrm>
                <a:off x="4474668" y="4035969"/>
                <a:ext cx="290162" cy="2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20" idx="1"/>
              </p:cNvCxnSpPr>
              <p:nvPr/>
            </p:nvCxnSpPr>
            <p:spPr>
              <a:xfrm>
                <a:off x="4474668" y="4405301"/>
                <a:ext cx="290162"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1" idx="1"/>
              </p:cNvCxnSpPr>
              <p:nvPr/>
            </p:nvCxnSpPr>
            <p:spPr>
              <a:xfrm>
                <a:off x="4474670" y="4774633"/>
                <a:ext cx="290160"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6" idx="1"/>
              </p:cNvCxnSpPr>
              <p:nvPr/>
            </p:nvCxnSpPr>
            <p:spPr>
              <a:xfrm>
                <a:off x="4474668" y="3297305"/>
                <a:ext cx="290161"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2" idx="1"/>
              </p:cNvCxnSpPr>
              <p:nvPr/>
            </p:nvCxnSpPr>
            <p:spPr>
              <a:xfrm>
                <a:off x="4474668" y="5143965"/>
                <a:ext cx="290162" cy="2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60" name="直接连接符 15359"/>
              <p:cNvCxnSpPr/>
              <p:nvPr/>
            </p:nvCxnSpPr>
            <p:spPr>
              <a:xfrm>
                <a:off x="4474668" y="2927973"/>
                <a:ext cx="0" cy="2215992"/>
              </a:xfrm>
              <a:prstGeom prst="line">
                <a:avLst/>
              </a:prstGeom>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47293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參考區間</a:t>
            </a:r>
          </a:p>
        </p:txBody>
      </p:sp>
      <p:grpSp>
        <p:nvGrpSpPr>
          <p:cNvPr id="3" name="组合 2"/>
          <p:cNvGrpSpPr/>
          <p:nvPr/>
        </p:nvGrpSpPr>
        <p:grpSpPr>
          <a:xfrm>
            <a:off x="1180833" y="852965"/>
            <a:ext cx="9300652" cy="4448876"/>
            <a:chOff x="1180834" y="852965"/>
            <a:chExt cx="9300652" cy="4448876"/>
          </a:xfrm>
        </p:grpSpPr>
        <p:sp>
          <p:nvSpPr>
            <p:cNvPr id="15365" name="Rectangle 14"/>
            <p:cNvSpPr>
              <a:spLocks noChangeArrowheads="1"/>
            </p:cNvSpPr>
            <p:nvPr/>
          </p:nvSpPr>
          <p:spPr bwMode="auto">
            <a:xfrm>
              <a:off x="1180834" y="852965"/>
              <a:ext cx="93006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對實驗室報告數值的解釋，經常包括檢測結果與以下幾項的比較：</a:t>
              </a:r>
              <a:r>
                <a:rPr lang="en-US" altLang="zh-TW" sz="1200" dirty="0"/>
                <a:t>1</a:t>
              </a:r>
              <a:r>
                <a:rPr lang="zh-TW" altLang="en-US" sz="1200" dirty="0"/>
                <a:t>、基於人群的參考值；</a:t>
              </a:r>
              <a:r>
                <a:rPr lang="en-US" altLang="zh-TW" sz="1200" dirty="0"/>
                <a:t>2</a:t>
              </a:r>
              <a:r>
                <a:rPr lang="zh-TW" altLang="en-US" sz="1200" dirty="0"/>
                <a:t>、當地公認的臨床操作規程；</a:t>
              </a:r>
              <a:r>
                <a:rPr lang="en-US" altLang="zh-TW" sz="1200" dirty="0"/>
                <a:t>3</a:t>
              </a:r>
              <a:r>
                <a:rPr lang="zh-TW" altLang="en-US" sz="1200" dirty="0"/>
                <a:t>、專家組或委員會的建議數值；</a:t>
              </a:r>
              <a:r>
                <a:rPr lang="en-US" altLang="zh-TW" sz="1200" dirty="0"/>
                <a:t>4</a:t>
              </a:r>
              <a:r>
                <a:rPr lang="zh-TW" altLang="en-US" sz="1200" dirty="0"/>
                <a:t>、基於某種結果的數值，比如風險；</a:t>
              </a:r>
              <a:r>
                <a:rPr lang="en-US" altLang="zh-TW" sz="1200" dirty="0"/>
                <a:t>5</a:t>
              </a:r>
              <a:r>
                <a:rPr lang="zh-TW" altLang="en-US" sz="1200" dirty="0"/>
                <a:t>、與參考區間上下限間的聯繫；</a:t>
              </a:r>
              <a:r>
                <a:rPr lang="en-US" altLang="zh-TW" sz="1200" dirty="0"/>
                <a:t>6</a:t>
              </a:r>
              <a:r>
                <a:rPr lang="zh-TW" altLang="en-US" sz="1200" dirty="0"/>
                <a:t>、患者前一次檢驗結果</a:t>
              </a:r>
              <a:r>
                <a:rPr lang="zh-CN" altLang="en-US" sz="1200" dirty="0"/>
                <a:t>；</a:t>
              </a:r>
              <a:endParaRPr lang="zh-CN" altLang="en-US" sz="1000" dirty="0"/>
            </a:p>
          </p:txBody>
        </p:sp>
        <p:sp>
          <p:nvSpPr>
            <p:cNvPr id="9" name="Rectangle 14"/>
            <p:cNvSpPr>
              <a:spLocks noChangeArrowheads="1"/>
            </p:cNvSpPr>
            <p:nvPr/>
          </p:nvSpPr>
          <p:spPr bwMode="auto">
            <a:xfrm>
              <a:off x="1180834" y="1481375"/>
              <a:ext cx="930065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國際臨床化學和檢驗醫學聯合會</a:t>
              </a:r>
              <a:r>
                <a:rPr lang="zh-TW" altLang="en-US"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International Federation of Clinical Chemistry  and Laboratory </a:t>
              </a:r>
              <a:r>
                <a:rPr lang="en-US" altLang="zh-TW" sz="1200" i="1" dirty="0" err="1">
                  <a:latin typeface="Times New Roman" pitchFamily="18" charset="0"/>
                  <a:cs typeface="Times New Roman" pitchFamily="18" charset="0"/>
                </a:rPr>
                <a:t>Medicine</a:t>
              </a:r>
              <a:r>
                <a:rPr lang="en-US" altLang="zh-TW" sz="1200" dirty="0" err="1">
                  <a:latin typeface="Times New Roman" pitchFamily="18" charset="0"/>
                  <a:cs typeface="Times New Roman" pitchFamily="18" charset="0"/>
                </a:rPr>
                <a:t>,</a:t>
              </a:r>
              <a:r>
                <a:rPr lang="en-US" altLang="zh-TW" sz="1200" i="1" dirty="0" err="1">
                  <a:latin typeface="Times New Roman" pitchFamily="18" charset="0"/>
                  <a:cs typeface="Times New Roman" pitchFamily="18" charset="0"/>
                </a:rPr>
                <a:t>IFCC</a:t>
              </a:r>
              <a:r>
                <a:rPr lang="zh-TW" altLang="en-US" sz="1200" dirty="0">
                  <a:latin typeface="Times New Roman" pitchFamily="18" charset="0"/>
                  <a:cs typeface="Times New Roman" pitchFamily="18" charset="0"/>
                </a:rPr>
                <a:t>）</a:t>
              </a:r>
              <a:r>
                <a:rPr lang="zh-TW" altLang="en-US" sz="1200" dirty="0"/>
                <a:t>發表了一個包含六個批准指南的系列檔，其中包括：</a:t>
              </a:r>
              <a:r>
                <a:rPr lang="en-US" altLang="zh-TW" sz="1200" dirty="0"/>
                <a:t>1</a:t>
              </a:r>
              <a:r>
                <a:rPr lang="zh-TW" altLang="en-US" sz="1200" dirty="0"/>
                <a:t>、參考值的概念；</a:t>
              </a:r>
              <a:r>
                <a:rPr lang="en-US" altLang="zh-TW" sz="1200" dirty="0"/>
                <a:t>2</a:t>
              </a:r>
              <a:r>
                <a:rPr lang="zh-TW" altLang="en-US" sz="1200" dirty="0"/>
                <a:t>、建立參考值時的個體篩選；</a:t>
              </a:r>
              <a:r>
                <a:rPr lang="en-US" altLang="zh-TW" sz="1200" dirty="0"/>
                <a:t>3</a:t>
              </a:r>
              <a:r>
                <a:rPr lang="zh-TW" altLang="en-US" sz="1200" dirty="0"/>
                <a:t>、建立參考值時的個體準備和標本採集；</a:t>
              </a:r>
              <a:r>
                <a:rPr lang="en-US" altLang="zh-TW" sz="1200" dirty="0"/>
                <a:t>4</a:t>
              </a:r>
              <a:r>
                <a:rPr lang="zh-TW" altLang="en-US" sz="1200" dirty="0"/>
                <a:t>、在建立、轉換和應用參考值時控制分析性變異；</a:t>
              </a:r>
              <a:r>
                <a:rPr lang="en-US" altLang="zh-TW" sz="1200" dirty="0"/>
                <a:t>5</a:t>
              </a:r>
              <a:r>
                <a:rPr lang="zh-TW" altLang="en-US" sz="1200" dirty="0"/>
                <a:t>、所得參考值的統計處理 </a:t>
              </a:r>
              <a:r>
                <a:rPr lang="en-US" altLang="zh-TW" sz="1200" dirty="0"/>
                <a:t>— </a:t>
              </a:r>
              <a:r>
                <a:rPr lang="zh-TW" altLang="en-US" sz="1200" dirty="0"/>
                <a:t>參考界限的確定；</a:t>
              </a:r>
              <a:r>
                <a:rPr lang="en-US" altLang="zh-TW" sz="1200" dirty="0"/>
                <a:t>6</a:t>
              </a:r>
              <a:r>
                <a:rPr lang="zh-TW" altLang="en-US" sz="1200" dirty="0"/>
                <a:t>、把觀察值（檢驗結果）關聯到參考值</a:t>
              </a:r>
              <a:r>
                <a:rPr lang="zh-CN" altLang="en-US" sz="1200" dirty="0"/>
                <a:t>；</a:t>
              </a:r>
              <a:endParaRPr lang="zh-CN" altLang="en-US" sz="1000" dirty="0"/>
            </a:p>
          </p:txBody>
        </p:sp>
        <p:graphicFrame>
          <p:nvGraphicFramePr>
            <p:cNvPr id="2" name="图示 1"/>
            <p:cNvGraphicFramePr/>
            <p:nvPr>
              <p:extLst>
                <p:ext uri="{D42A27DB-BD31-4B8C-83A1-F6EECF244321}">
                  <p14:modId xmlns:p14="http://schemas.microsoft.com/office/powerpoint/2010/main" val="3128898936"/>
                </p:ext>
              </p:extLst>
            </p:nvPr>
          </p:nvGraphicFramePr>
          <p:xfrm>
            <a:off x="3654514" y="2694948"/>
            <a:ext cx="4298789" cy="2606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spTree>
    <p:extLst>
      <p:ext uri="{BB962C8B-B14F-4D97-AF65-F5344CB8AC3E}">
        <p14:creationId xmlns:p14="http://schemas.microsoft.com/office/powerpoint/2010/main" val="1350072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基於正態分佈參考值的參數估計</a:t>
            </a:r>
            <a:endParaRPr lang="zh-CN" altLang="en-US" sz="1300" dirty="0">
              <a:solidFill>
                <a:srgbClr val="000000"/>
              </a:solidFill>
              <a:latin typeface="Times New Roman" pitchFamily="18" charset="0"/>
              <a:cs typeface="Times New Roman" pitchFamily="18" charset="0"/>
            </a:endParaRPr>
          </a:p>
        </p:txBody>
      </p:sp>
      <p:grpSp>
        <p:nvGrpSpPr>
          <p:cNvPr id="5" name="组合 4"/>
          <p:cNvGrpSpPr/>
          <p:nvPr/>
        </p:nvGrpSpPr>
        <p:grpSpPr>
          <a:xfrm>
            <a:off x="1127044" y="702714"/>
            <a:ext cx="9300652" cy="4871522"/>
            <a:chOff x="1127044" y="702714"/>
            <a:chExt cx="9300652" cy="4871522"/>
          </a:xfrm>
        </p:grpSpPr>
        <p:sp>
          <p:nvSpPr>
            <p:cNvPr id="30" name="Rectangle 14"/>
            <p:cNvSpPr>
              <a:spLocks noChangeArrowheads="1"/>
            </p:cNvSpPr>
            <p:nvPr/>
          </p:nvSpPr>
          <p:spPr bwMode="auto">
            <a:xfrm>
              <a:off x="1127044" y="1972290"/>
              <a:ext cx="93006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假設 </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1</a:t>
              </a:r>
              <a:r>
                <a:rPr lang="en-US" altLang="zh-TW" sz="1200" dirty="0">
                  <a:solidFill>
                    <a:srgbClr val="000000"/>
                  </a:solidFill>
                  <a:latin typeface="宋体" pitchFamily="2" charset="-122"/>
                  <a:cs typeface="Times New Roman" pitchFamily="18" charset="0"/>
                </a:rPr>
                <a:t>,</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2</a:t>
              </a:r>
              <a:r>
                <a:rPr lang="en-US" altLang="zh-TW" sz="1200" dirty="0">
                  <a:solidFill>
                    <a:srgbClr val="000000"/>
                  </a:solidFill>
                  <a:latin typeface="宋体" pitchFamily="2" charset="-122"/>
                  <a:cs typeface="Times New Roman" pitchFamily="18" charset="0"/>
                </a:rPr>
                <a:t>,…,</a:t>
              </a:r>
              <a:r>
                <a:rPr lang="en-US" altLang="zh-TW" sz="1200" i="1" dirty="0" err="1">
                  <a:solidFill>
                    <a:srgbClr val="000000"/>
                  </a:solidFill>
                  <a:latin typeface="Times New Roman" pitchFamily="18" charset="0"/>
                  <a:cs typeface="Times New Roman" pitchFamily="18" charset="0"/>
                </a:rPr>
                <a:t>X</a:t>
              </a:r>
              <a:r>
                <a:rPr lang="en-US" altLang="zh-TW" sz="1200" baseline="-25000" dirty="0" err="1">
                  <a:solidFill>
                    <a:srgbClr val="000000"/>
                  </a:solidFill>
                  <a:latin typeface="Times New Roman" pitchFamily="18" charset="0"/>
                  <a:cs typeface="Times New Roman" pitchFamily="18" charset="0"/>
                </a:rPr>
                <a:t>n</a:t>
              </a:r>
              <a:r>
                <a:rPr lang="zh-CN" altLang="en-US" sz="1200" dirty="0"/>
                <a:t> 來自於一個原始分佈為正態分佈的參考人群的總體並組成了一個隨機參考樣本組，分佈的總體均值 </a:t>
              </a:r>
              <a:r>
                <a:rPr lang="el-GR" altLang="zh-CN" sz="1200" i="1" dirty="0">
                  <a:latin typeface="Times New Roman" pitchFamily="18" charset="0"/>
                  <a:cs typeface="Times New Roman" pitchFamily="18" charset="0"/>
                </a:rPr>
                <a:t>μ</a:t>
              </a:r>
              <a:r>
                <a:rPr lang="en-US" altLang="zh-CN" sz="1200" dirty="0"/>
                <a:t> </a:t>
              </a:r>
              <a:r>
                <a:rPr lang="zh-CN" altLang="en-US" sz="1200" dirty="0"/>
                <a:t>和總體方差 </a:t>
              </a:r>
              <a:r>
                <a:rPr lang="el-GR" altLang="zh-CN" sz="1200" i="1" dirty="0">
                  <a:latin typeface="Times New Roman" pitchFamily="18" charset="0"/>
                  <a:cs typeface="Times New Roman" pitchFamily="18" charset="0"/>
                </a:rPr>
                <a:t>σ</a:t>
              </a:r>
              <a:r>
                <a:rPr lang="en-US" altLang="zh-CN" sz="1200" baseline="30000" dirty="0"/>
                <a:t>2</a:t>
              </a:r>
              <a:r>
                <a:rPr lang="en-US" altLang="zh-CN" sz="1200" dirty="0"/>
                <a:t> </a:t>
              </a:r>
              <a:r>
                <a:rPr lang="zh-CN" altLang="en-US" sz="1200" dirty="0"/>
                <a:t>均未知，即 </a:t>
              </a:r>
              <a:r>
                <a:rPr lang="en-US" altLang="zh-TW" sz="1200" i="1" dirty="0">
                  <a:solidFill>
                    <a:srgbClr val="000000"/>
                  </a:solidFill>
                  <a:latin typeface="Times New Roman" pitchFamily="18" charset="0"/>
                  <a:cs typeface="Times New Roman" pitchFamily="18" charset="0"/>
                </a:rPr>
                <a:t>X</a:t>
              </a:r>
              <a:r>
                <a:rPr lang="en-US" altLang="zh-CN" sz="1200" baseline="-25000" dirty="0">
                  <a:solidFill>
                    <a:srgbClr val="000000"/>
                  </a:solidFill>
                  <a:latin typeface="Times New Roman" pitchFamily="18" charset="0"/>
                  <a:cs typeface="Times New Roman" pitchFamily="18" charset="0"/>
                </a:rPr>
                <a:t>i</a:t>
              </a:r>
              <a:r>
                <a:rPr lang="en-US" altLang="zh-TW" sz="1200" baseline="-25000" dirty="0">
                  <a:solidFill>
                    <a:srgbClr val="000000"/>
                  </a:solidFill>
                  <a:latin typeface="Times New Roman" pitchFamily="18" charset="0"/>
                  <a:cs typeface="Times New Roman" pitchFamily="18" charset="0"/>
                </a:rPr>
                <a:t> </a:t>
              </a:r>
              <a:r>
                <a:rPr lang="zh-TW" altLang="en-US" sz="10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TW" sz="1200" dirty="0">
                  <a:latin typeface="Times New Roman" pitchFamily="18" charset="0"/>
                  <a:cs typeface="Times New Roman" pitchFamily="18" charset="0"/>
                </a:rPr>
                <a:t>( </a:t>
              </a:r>
              <a:r>
                <a:rPr lang="el-GR" altLang="zh-CN" sz="1200" i="1" dirty="0">
                  <a:latin typeface="Times New Roman" pitchFamily="18" charset="0"/>
                  <a:cs typeface="Times New Roman" pitchFamily="18" charset="0"/>
                </a:rPr>
                <a:t>μ</a:t>
              </a:r>
              <a:r>
                <a:rPr lang="en-US" altLang="zh-CN" sz="1200" dirty="0"/>
                <a:t>,</a:t>
              </a:r>
              <a:r>
                <a:rPr lang="el-GR" altLang="zh-CN" sz="1200" i="1" dirty="0">
                  <a:latin typeface="Times New Roman" pitchFamily="18" charset="0"/>
                  <a:cs typeface="Times New Roman" pitchFamily="18" charset="0"/>
                </a:rPr>
                <a:t>σ</a:t>
              </a:r>
              <a:r>
                <a:rPr lang="en-US" altLang="zh-CN" sz="1200" baseline="30000" dirty="0"/>
                <a:t>2</a:t>
              </a:r>
              <a:r>
                <a:rPr lang="en-US" altLang="zh-CN" sz="1200" dirty="0"/>
                <a:t> </a:t>
              </a:r>
              <a:r>
                <a:rPr lang="en-US" altLang="zh-TW"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i</a:t>
              </a:r>
              <a:r>
                <a:rPr lang="en-US" altLang="zh-TW" sz="1200" i="1" dirty="0">
                  <a:latin typeface="Times New Roman" pitchFamily="18" charset="0"/>
                  <a:cs typeface="Times New Roman" pitchFamily="18" charset="0"/>
                </a:rPr>
                <a:t> </a:t>
              </a:r>
              <a:r>
                <a:rPr lang="en-US" altLang="zh-TW" sz="1200" dirty="0">
                  <a:latin typeface="Times New Roman" pitchFamily="18" charset="0"/>
                  <a:cs typeface="Times New Roman" pitchFamily="18" charset="0"/>
                </a:rPr>
                <a:t>= </a:t>
              </a:r>
              <a:r>
                <a:rPr lang="en-US" altLang="zh-TW" sz="1000" i="1" dirty="0">
                  <a:latin typeface="Times New Roman" pitchFamily="18" charset="0"/>
                  <a:cs typeface="Times New Roman" pitchFamily="18" charset="0"/>
                </a:rPr>
                <a:t>1</a:t>
              </a:r>
              <a:r>
                <a:rPr lang="en-US" altLang="zh-TW" sz="1200" dirty="0">
                  <a:solidFill>
                    <a:srgbClr val="000000"/>
                  </a:solidFill>
                  <a:latin typeface="宋体" pitchFamily="2" charset="-122"/>
                  <a:cs typeface="Times New Roman" pitchFamily="18" charset="0"/>
                </a:rPr>
                <a:t>,…,</a:t>
              </a:r>
              <a:r>
                <a:rPr lang="en-US" altLang="zh-TW" sz="1200" i="1" dirty="0">
                  <a:solidFill>
                    <a:srgbClr val="000000"/>
                  </a:solidFill>
                  <a:latin typeface="宋体" pitchFamily="2" charset="-122"/>
                  <a:cs typeface="Times New Roman" pitchFamily="18" charset="0"/>
                </a:rPr>
                <a:t>n</a:t>
              </a:r>
              <a:r>
                <a:rPr lang="en-US" altLang="zh-TW" sz="1200" dirty="0">
                  <a:solidFill>
                    <a:srgbClr val="000000"/>
                  </a:solidFill>
                  <a:latin typeface="宋体" pitchFamily="2" charset="-122"/>
                  <a:cs typeface="Times New Roman" pitchFamily="18" charset="0"/>
                </a:rPr>
                <a:t> </a:t>
              </a:r>
              <a:r>
                <a:rPr lang="zh-CN" altLang="en-US" sz="1200" dirty="0">
                  <a:solidFill>
                    <a:srgbClr val="000000"/>
                  </a:solidFill>
                  <a:latin typeface="宋体" pitchFamily="2" charset="-122"/>
                  <a:cs typeface="Times New Roman" pitchFamily="18" charset="0"/>
                </a:rPr>
                <a:t>，假設 </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n+1</a:t>
              </a:r>
              <a:r>
                <a:rPr lang="zh-CN" altLang="en-US" sz="1200" dirty="0">
                  <a:solidFill>
                    <a:srgbClr val="000000"/>
                  </a:solidFill>
                </a:rPr>
                <a:t> 為來自同一總體並獨立於該隨機樣本，那麼基於正態分佈的理論可得到如下結果：</a:t>
              </a:r>
              <a:endParaRPr lang="en-US" altLang="zh-CN" sz="1200" dirty="0">
                <a:solidFill>
                  <a:srgbClr val="000000"/>
                </a:solidFill>
              </a:endParaRPr>
            </a:p>
          </p:txBody>
        </p:sp>
        <p:grpSp>
          <p:nvGrpSpPr>
            <p:cNvPr id="14" name="组合 13"/>
            <p:cNvGrpSpPr/>
            <p:nvPr/>
          </p:nvGrpSpPr>
          <p:grpSpPr>
            <a:xfrm>
              <a:off x="2064538" y="2824999"/>
              <a:ext cx="7411472" cy="979961"/>
              <a:chOff x="2064538" y="2950509"/>
              <a:chExt cx="7411472" cy="979961"/>
            </a:xfrm>
          </p:grpSpPr>
          <p:graphicFrame>
            <p:nvGraphicFramePr>
              <p:cNvPr id="32" name="对象 31"/>
              <p:cNvGraphicFramePr>
                <a:graphicFrameLocks noChangeAspect="1"/>
              </p:cNvGraphicFramePr>
              <p:nvPr>
                <p:extLst>
                  <p:ext uri="{D42A27DB-BD31-4B8C-83A1-F6EECF244321}">
                    <p14:modId xmlns:p14="http://schemas.microsoft.com/office/powerpoint/2010/main" val="3206998138"/>
                  </p:ext>
                </p:extLst>
              </p:nvPr>
            </p:nvGraphicFramePr>
            <p:xfrm>
              <a:off x="2089553" y="2989453"/>
              <a:ext cx="1117600" cy="431800"/>
            </p:xfrm>
            <a:graphic>
              <a:graphicData uri="http://schemas.openxmlformats.org/presentationml/2006/ole">
                <mc:AlternateContent xmlns:mc="http://schemas.openxmlformats.org/markup-compatibility/2006">
                  <mc:Choice xmlns:v="urn:schemas-microsoft-com:vml" Requires="v">
                    <p:oleObj name="Equation" r:id="rId3" imgW="1117600" imgH="431800" progId="">
                      <p:embed/>
                    </p:oleObj>
                  </mc:Choice>
                  <mc:Fallback>
                    <p:oleObj name="Equation" r:id="rId3" imgW="1117600" imgH="431800" progId="">
                      <p:embed/>
                      <p:pic>
                        <p:nvPicPr>
                          <p:cNvPr id="0" name="Picture 599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9553" y="2989453"/>
                            <a:ext cx="11176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1589118489"/>
                  </p:ext>
                </p:extLst>
              </p:nvPr>
            </p:nvGraphicFramePr>
            <p:xfrm>
              <a:off x="2064538" y="3536770"/>
              <a:ext cx="1168400" cy="393700"/>
            </p:xfrm>
            <a:graphic>
              <a:graphicData uri="http://schemas.openxmlformats.org/presentationml/2006/ole">
                <mc:AlternateContent xmlns:mc="http://schemas.openxmlformats.org/markup-compatibility/2006">
                  <mc:Choice xmlns:v="urn:schemas-microsoft-com:vml" Requires="v">
                    <p:oleObj name="Equation" r:id="rId5" imgW="1167893" imgH="393529" progId="">
                      <p:embed/>
                    </p:oleObj>
                  </mc:Choice>
                  <mc:Fallback>
                    <p:oleObj name="Equation" r:id="rId5" imgW="1167893" imgH="393529" progId="">
                      <p:embed/>
                      <p:pic>
                        <p:nvPicPr>
                          <p:cNvPr id="0" name="Picture 599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4538" y="3536770"/>
                            <a:ext cx="11684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15419607"/>
                  </p:ext>
                </p:extLst>
              </p:nvPr>
            </p:nvGraphicFramePr>
            <p:xfrm>
              <a:off x="4170827" y="3208570"/>
              <a:ext cx="1473200" cy="431800"/>
            </p:xfrm>
            <a:graphic>
              <a:graphicData uri="http://schemas.openxmlformats.org/presentationml/2006/ole">
                <mc:AlternateContent xmlns:mc="http://schemas.openxmlformats.org/markup-compatibility/2006">
                  <mc:Choice xmlns:v="urn:schemas-microsoft-com:vml" Requires="v">
                    <p:oleObj name="Equation" r:id="rId7" imgW="1473200" imgH="431800" progId="">
                      <p:embed/>
                    </p:oleObj>
                  </mc:Choice>
                  <mc:Fallback>
                    <p:oleObj name="Equation" r:id="rId7" imgW="1473200" imgH="431800" progId="">
                      <p:embed/>
                      <p:pic>
                        <p:nvPicPr>
                          <p:cNvPr id="0" name="Picture 599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0827" y="3208570"/>
                            <a:ext cx="14732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2279495660"/>
                  </p:ext>
                </p:extLst>
              </p:nvPr>
            </p:nvGraphicFramePr>
            <p:xfrm>
              <a:off x="6329347" y="3205208"/>
              <a:ext cx="1371600" cy="546100"/>
            </p:xfrm>
            <a:graphic>
              <a:graphicData uri="http://schemas.openxmlformats.org/presentationml/2006/ole">
                <mc:AlternateContent xmlns:mc="http://schemas.openxmlformats.org/markup-compatibility/2006">
                  <mc:Choice xmlns:v="urn:schemas-microsoft-com:vml" Requires="v">
                    <p:oleObj name="Equation" r:id="rId9" imgW="1371600" imgH="546100" progId="">
                      <p:embed/>
                    </p:oleObj>
                  </mc:Choice>
                  <mc:Fallback>
                    <p:oleObj name="Equation" r:id="rId9" imgW="1371600" imgH="546100" progId="">
                      <p:embed/>
                      <p:pic>
                        <p:nvPicPr>
                          <p:cNvPr id="0" name="Picture 5990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9347" y="3205208"/>
                            <a:ext cx="13716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68857886"/>
                  </p:ext>
                </p:extLst>
              </p:nvPr>
            </p:nvGraphicFramePr>
            <p:xfrm>
              <a:off x="8383810" y="3205208"/>
              <a:ext cx="1092200" cy="546100"/>
            </p:xfrm>
            <a:graphic>
              <a:graphicData uri="http://schemas.openxmlformats.org/presentationml/2006/ole">
                <mc:AlternateContent xmlns:mc="http://schemas.openxmlformats.org/markup-compatibility/2006">
                  <mc:Choice xmlns:v="urn:schemas-microsoft-com:vml" Requires="v">
                    <p:oleObj name="Equation" r:id="rId11" imgW="1091726" imgH="545863" progId="">
                      <p:embed/>
                    </p:oleObj>
                  </mc:Choice>
                  <mc:Fallback>
                    <p:oleObj name="Equation" r:id="rId11" imgW="1091726" imgH="545863" progId="">
                      <p:embed/>
                      <p:pic>
                        <p:nvPicPr>
                          <p:cNvPr id="0" name="Picture 5990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3810" y="3205208"/>
                            <a:ext cx="109220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右大括号 9"/>
              <p:cNvSpPr/>
              <p:nvPr/>
            </p:nvSpPr>
            <p:spPr>
              <a:xfrm>
                <a:off x="3384032" y="2950509"/>
                <a:ext cx="116541" cy="9475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右箭头 10"/>
              <p:cNvSpPr/>
              <p:nvPr/>
            </p:nvSpPr>
            <p:spPr>
              <a:xfrm>
                <a:off x="3657591" y="3361764"/>
                <a:ext cx="286870" cy="125507"/>
              </a:xfrm>
              <a:prstGeom prst="right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右箭头 36"/>
              <p:cNvSpPr/>
              <p:nvPr/>
            </p:nvSpPr>
            <p:spPr>
              <a:xfrm>
                <a:off x="5866143" y="3361765"/>
                <a:ext cx="286870" cy="125507"/>
              </a:xfrm>
              <a:prstGeom prst="right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右箭头 37"/>
              <p:cNvSpPr/>
              <p:nvPr/>
            </p:nvSpPr>
            <p:spPr>
              <a:xfrm>
                <a:off x="7908553" y="3361763"/>
                <a:ext cx="286870" cy="125507"/>
              </a:xfrm>
              <a:prstGeom prst="right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p:cNvGrpSpPr/>
            <p:nvPr/>
          </p:nvGrpSpPr>
          <p:grpSpPr>
            <a:xfrm>
              <a:off x="1127044" y="4479638"/>
              <a:ext cx="9300652" cy="1094598"/>
              <a:chOff x="1127044" y="4605148"/>
              <a:chExt cx="9300652" cy="1094598"/>
            </a:xfrm>
          </p:grpSpPr>
          <p:sp>
            <p:nvSpPr>
              <p:cNvPr id="40" name="Rectangle 14"/>
              <p:cNvSpPr>
                <a:spLocks noChangeArrowheads="1"/>
              </p:cNvSpPr>
              <p:nvPr/>
            </p:nvSpPr>
            <p:spPr bwMode="auto">
              <a:xfrm>
                <a:off x="1127044" y="4954874"/>
                <a:ext cx="9300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則根據 </a:t>
                </a:r>
                <a:r>
                  <a:rPr lang="en-US" altLang="zh-CN" sz="1200" i="1" dirty="0">
                    <a:latin typeface="Times New Roman" pitchFamily="18" charset="0"/>
                    <a:cs typeface="Times New Roman" pitchFamily="18" charset="0"/>
                  </a:rPr>
                  <a:t>t </a:t>
                </a:r>
                <a:r>
                  <a:rPr lang="zh-CN" altLang="en-US" sz="1200" dirty="0"/>
                  <a:t>分佈的特點</a:t>
                </a:r>
                <a:r>
                  <a:rPr lang="zh-CN" altLang="en-US" sz="1200" dirty="0">
                    <a:solidFill>
                      <a:srgbClr val="000000"/>
                    </a:solidFill>
                    <a:latin typeface="宋体" pitchFamily="2" charset="-122"/>
                    <a:cs typeface="Times New Roman" pitchFamily="18" charset="0"/>
                  </a:rPr>
                  <a:t> </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n+1</a:t>
                </a:r>
                <a:r>
                  <a:rPr lang="zh-CN" altLang="en-US" sz="1200" dirty="0">
                    <a:solidFill>
                      <a:srgbClr val="000000"/>
                    </a:solidFill>
                  </a:rPr>
                  <a:t> 的</a:t>
                </a:r>
                <a:r>
                  <a:rPr lang="en-US" altLang="zh-CN" sz="1000" dirty="0">
                    <a:solidFill>
                      <a:srgbClr val="000000"/>
                    </a:solidFill>
                  </a:rPr>
                  <a:t>95%(</a:t>
                </a:r>
                <a:r>
                  <a:rPr lang="el-GR" altLang="zh-CN" sz="1200" i="1" dirty="0">
                    <a:solidFill>
                      <a:srgbClr val="000000"/>
                    </a:solidFill>
                    <a:latin typeface="Times New Roman" pitchFamily="18" charset="0"/>
                    <a:cs typeface="Times New Roman" pitchFamily="18" charset="0"/>
                  </a:rPr>
                  <a:t>α</a:t>
                </a:r>
                <a:r>
                  <a:rPr lang="en-US" altLang="zh-CN" sz="12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0.05</a:t>
                </a:r>
                <a:r>
                  <a:rPr lang="en-US" altLang="zh-CN" sz="1000" dirty="0">
                    <a:solidFill>
                      <a:srgbClr val="000000"/>
                    </a:solidFill>
                  </a:rPr>
                  <a:t>)</a:t>
                </a:r>
                <a:r>
                  <a:rPr lang="zh-CN" altLang="en-US" sz="1200" dirty="0">
                    <a:solidFill>
                      <a:srgbClr val="000000"/>
                    </a:solidFill>
                  </a:rPr>
                  <a:t>的參考區間為：</a:t>
                </a:r>
                <a:endParaRPr lang="en-US" altLang="zh-CN" sz="1200" dirty="0">
                  <a:solidFill>
                    <a:srgbClr val="000000"/>
                  </a:solidFill>
                </a:endParaRPr>
              </a:p>
            </p:txBody>
          </p:sp>
          <p:graphicFrame>
            <p:nvGraphicFramePr>
              <p:cNvPr id="46" name="对象 45"/>
              <p:cNvGraphicFramePr>
                <a:graphicFrameLocks noChangeAspect="1"/>
              </p:cNvGraphicFramePr>
              <p:nvPr>
                <p:extLst>
                  <p:ext uri="{D42A27DB-BD31-4B8C-83A1-F6EECF244321}">
                    <p14:modId xmlns:p14="http://schemas.microsoft.com/office/powerpoint/2010/main" val="7868617"/>
                  </p:ext>
                </p:extLst>
              </p:nvPr>
            </p:nvGraphicFramePr>
            <p:xfrm>
              <a:off x="5396117" y="4937223"/>
              <a:ext cx="1130300" cy="444500"/>
            </p:xfrm>
            <a:graphic>
              <a:graphicData uri="http://schemas.openxmlformats.org/presentationml/2006/ole">
                <mc:AlternateContent xmlns:mc="http://schemas.openxmlformats.org/markup-compatibility/2006">
                  <mc:Choice xmlns:v="urn:schemas-microsoft-com:vml" Requires="v">
                    <p:oleObj name="Equation" r:id="rId13" imgW="1129810" imgH="444307" progId="">
                      <p:embed/>
                    </p:oleObj>
                  </mc:Choice>
                  <mc:Fallback>
                    <p:oleObj name="Equation" r:id="rId13" imgW="1129810" imgH="444307" progId="">
                      <p:embed/>
                      <p:pic>
                        <p:nvPicPr>
                          <p:cNvPr id="0" name="Picture 5990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96117" y="4937223"/>
                            <a:ext cx="11303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对象 46"/>
              <p:cNvGraphicFramePr>
                <a:graphicFrameLocks noChangeAspect="1"/>
              </p:cNvGraphicFramePr>
              <p:nvPr>
                <p:extLst>
                  <p:ext uri="{D42A27DB-BD31-4B8C-83A1-F6EECF244321}">
                    <p14:modId xmlns:p14="http://schemas.microsoft.com/office/powerpoint/2010/main" val="4082058251"/>
                  </p:ext>
                </p:extLst>
              </p:nvPr>
            </p:nvGraphicFramePr>
            <p:xfrm>
              <a:off x="7964523" y="4605148"/>
              <a:ext cx="1638300" cy="444500"/>
            </p:xfrm>
            <a:graphic>
              <a:graphicData uri="http://schemas.openxmlformats.org/presentationml/2006/ole">
                <mc:AlternateContent xmlns:mc="http://schemas.openxmlformats.org/markup-compatibility/2006">
                  <mc:Choice xmlns:v="urn:schemas-microsoft-com:vml" Requires="v">
                    <p:oleObj name="Equation" r:id="rId15" imgW="1637589" imgH="444307" progId="">
                      <p:embed/>
                    </p:oleObj>
                  </mc:Choice>
                  <mc:Fallback>
                    <p:oleObj name="Equation" r:id="rId15" imgW="1637589" imgH="444307" progId="">
                      <p:embed/>
                      <p:pic>
                        <p:nvPicPr>
                          <p:cNvPr id="0" name="Picture 5990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64523" y="4605148"/>
                            <a:ext cx="16383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左大括号 48"/>
              <p:cNvSpPr/>
              <p:nvPr/>
            </p:nvSpPr>
            <p:spPr>
              <a:xfrm>
                <a:off x="7654800" y="4698679"/>
                <a:ext cx="116541" cy="9475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左右箭头 49"/>
              <p:cNvSpPr/>
              <p:nvPr/>
            </p:nvSpPr>
            <p:spPr>
              <a:xfrm>
                <a:off x="6944880" y="5109934"/>
                <a:ext cx="286870" cy="125507"/>
              </a:xfrm>
              <a:prstGeom prst="leftRight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2" name="对象 51"/>
              <p:cNvGraphicFramePr>
                <a:graphicFrameLocks noChangeAspect="1"/>
              </p:cNvGraphicFramePr>
              <p:nvPr>
                <p:extLst>
                  <p:ext uri="{D42A27DB-BD31-4B8C-83A1-F6EECF244321}">
                    <p14:modId xmlns:p14="http://schemas.microsoft.com/office/powerpoint/2010/main" val="852830362"/>
                  </p:ext>
                </p:extLst>
              </p:nvPr>
            </p:nvGraphicFramePr>
            <p:xfrm>
              <a:off x="7962920" y="5255246"/>
              <a:ext cx="1638300" cy="444500"/>
            </p:xfrm>
            <a:graphic>
              <a:graphicData uri="http://schemas.openxmlformats.org/presentationml/2006/ole">
                <mc:AlternateContent xmlns:mc="http://schemas.openxmlformats.org/markup-compatibility/2006">
                  <mc:Choice xmlns:v="urn:schemas-microsoft-com:vml" Requires="v">
                    <p:oleObj name="Equation" r:id="rId17" imgW="1637589" imgH="444307" progId="">
                      <p:embed/>
                    </p:oleObj>
                  </mc:Choice>
                  <mc:Fallback>
                    <p:oleObj name="Equation" r:id="rId17" imgW="1637589" imgH="444307" progId="">
                      <p:embed/>
                      <p:pic>
                        <p:nvPicPr>
                          <p:cNvPr id="0" name="Picture 5990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962920" y="5255246"/>
                            <a:ext cx="16383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组合 3"/>
            <p:cNvGrpSpPr/>
            <p:nvPr/>
          </p:nvGrpSpPr>
          <p:grpSpPr>
            <a:xfrm>
              <a:off x="1127044" y="702714"/>
              <a:ext cx="9300652" cy="1269578"/>
              <a:chOff x="1127044" y="702714"/>
              <a:chExt cx="9300652" cy="1269578"/>
            </a:xfrm>
          </p:grpSpPr>
          <p:sp>
            <p:nvSpPr>
              <p:cNvPr id="15365" name="Rectangle 14"/>
              <p:cNvSpPr>
                <a:spLocks noChangeArrowheads="1"/>
              </p:cNvSpPr>
              <p:nvPr/>
            </p:nvSpPr>
            <p:spPr bwMode="auto">
              <a:xfrm>
                <a:off x="1127044" y="702714"/>
                <a:ext cx="9300652" cy="126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如果參考值原始分佈為正態分佈，假設有</a:t>
                </a:r>
                <a:r>
                  <a:rPr lang="en-US" altLang="zh-CN" sz="1200" i="1" dirty="0">
                    <a:latin typeface="Times New Roman" pitchFamily="18" charset="0"/>
                    <a:cs typeface="Times New Roman" pitchFamily="18" charset="0"/>
                  </a:rPr>
                  <a:t>n</a:t>
                </a:r>
                <a:r>
                  <a:rPr lang="zh-CN" altLang="en-US" sz="1200" dirty="0"/>
                  <a:t>個獨立的隨機變量樣本來自這一總體，其累積概率分佈函數為 </a:t>
                </a:r>
                <a:r>
                  <a:rPr lang="en-US" altLang="zh-CN" sz="1200" i="1" dirty="0">
                    <a:latin typeface="Times New Roman" pitchFamily="18" charset="0"/>
                    <a:cs typeface="Times New Roman" pitchFamily="18" charset="0"/>
                  </a:rPr>
                  <a:t>F</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a:t>
                </a:r>
                <a:r>
                  <a:rPr lang="zh-CN" altLang="en-US" sz="1200" dirty="0"/>
                  <a:t>，概率密度函數為 </a:t>
                </a:r>
                <a:r>
                  <a:rPr lang="en-US" altLang="zh-CN" sz="1200" i="1" dirty="0">
                    <a:latin typeface="Times New Roman" pitchFamily="18" charset="0"/>
                    <a:cs typeface="Times New Roman" pitchFamily="18" charset="0"/>
                  </a:rPr>
                  <a:t>f</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a:t>
                </a:r>
                <a:r>
                  <a:rPr lang="zh-CN" altLang="en-US" sz="1200" dirty="0"/>
                  <a:t>，且 </a:t>
                </a:r>
                <a:r>
                  <a:rPr lang="en-US" altLang="zh-TW" sz="1200" i="1" dirty="0">
                    <a:solidFill>
                      <a:srgbClr val="000000"/>
                    </a:solidFill>
                    <a:latin typeface="Times New Roman" pitchFamily="18" charset="0"/>
                    <a:cs typeface="Times New Roman" pitchFamily="18" charset="0"/>
                  </a:rPr>
                  <a:t>  </a:t>
                </a:r>
                <a:r>
                  <a:rPr lang="en-US" altLang="zh-TW" sz="1200" dirty="0">
                    <a:solidFill>
                      <a:srgbClr val="000000"/>
                    </a:solidFill>
                    <a:latin typeface="Times New Roman" pitchFamily="18" charset="0"/>
                    <a:cs typeface="Times New Roman" pitchFamily="18" charset="0"/>
                  </a:rPr>
                  <a:t> = (</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1</a:t>
                </a:r>
                <a:r>
                  <a:rPr lang="en-US" altLang="zh-TW" sz="1200" dirty="0">
                    <a:solidFill>
                      <a:srgbClr val="000000"/>
                    </a:solidFill>
                    <a:latin typeface="宋体" pitchFamily="2" charset="-122"/>
                    <a:cs typeface="Times New Roman" pitchFamily="18" charset="0"/>
                  </a:rPr>
                  <a:t>,</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2</a:t>
                </a:r>
                <a:r>
                  <a:rPr lang="en-US" altLang="zh-TW" sz="1200" dirty="0">
                    <a:solidFill>
                      <a:srgbClr val="000000"/>
                    </a:solidFill>
                    <a:latin typeface="宋体" pitchFamily="2" charset="-122"/>
                    <a:cs typeface="Times New Roman" pitchFamily="18" charset="0"/>
                  </a:rPr>
                  <a:t>,…,</a:t>
                </a:r>
                <a:r>
                  <a:rPr lang="en-US" altLang="zh-TW" sz="1200" i="1" dirty="0" err="1">
                    <a:solidFill>
                      <a:srgbClr val="000000"/>
                    </a:solidFill>
                    <a:latin typeface="Times New Roman" pitchFamily="18" charset="0"/>
                    <a:cs typeface="Times New Roman" pitchFamily="18" charset="0"/>
                  </a:rPr>
                  <a:t>X</a:t>
                </a:r>
                <a:r>
                  <a:rPr lang="en-US" altLang="zh-TW" sz="1200" baseline="-25000" dirty="0" err="1">
                    <a:solidFill>
                      <a:srgbClr val="000000"/>
                    </a:solidFill>
                    <a:latin typeface="Times New Roman" pitchFamily="18" charset="0"/>
                    <a:cs typeface="Times New Roman" pitchFamily="18" charset="0"/>
                  </a:rPr>
                  <a:t>n</a:t>
                </a:r>
                <a:r>
                  <a:rPr lang="en-US" altLang="zh-TW" sz="1200" dirty="0">
                    <a:solidFill>
                      <a:srgbClr val="000000"/>
                    </a:solidFill>
                    <a:latin typeface="Times New Roman" pitchFamily="18" charset="0"/>
                    <a:cs typeface="Times New Roman" pitchFamily="18" charset="0"/>
                  </a:rPr>
                  <a:t>)</a:t>
                </a:r>
                <a:r>
                  <a:rPr lang="en-US" altLang="zh-TW" sz="1500" dirty="0">
                    <a:solidFill>
                      <a:srgbClr val="000000"/>
                    </a:solidFill>
                    <a:latin typeface="Times New Roman" pitchFamily="18" charset="0"/>
                    <a:cs typeface="Times New Roman" pitchFamily="18" charset="0"/>
                  </a:rPr>
                  <a:t> </a:t>
                </a:r>
                <a:r>
                  <a:rPr lang="zh-TW" altLang="en-US" sz="10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 </a:t>
                </a:r>
                <a:r>
                  <a:rPr lang="en-US" altLang="zh-TW" sz="1200" i="1" dirty="0">
                    <a:latin typeface="Times New Roman" pitchFamily="18" charset="0"/>
                    <a:cs typeface="Times New Roman" pitchFamily="18" charset="0"/>
                  </a:rPr>
                  <a:t>F</a:t>
                </a:r>
                <a:r>
                  <a:rPr lang="en-US" altLang="zh-TW"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X</a:t>
                </a:r>
                <a:r>
                  <a:rPr lang="en-US" altLang="zh-TW" sz="1200" dirty="0">
                    <a:latin typeface="Times New Roman" pitchFamily="18" charset="0"/>
                    <a:cs typeface="Times New Roman" pitchFamily="18" charset="0"/>
                  </a:rPr>
                  <a:t>)</a:t>
                </a:r>
                <a:r>
                  <a:rPr lang="zh-CN" altLang="en-US" sz="1200" dirty="0"/>
                  <a:t>；建立在這個參考樣本基礎上的參考區間定義為         、       ，        </a:t>
                </a:r>
                <a:r>
                  <a:rPr lang="zh-CN" altLang="en-US" sz="1200" dirty="0">
                    <a:latin typeface="Times New Roman" pitchFamily="18" charset="0"/>
                    <a:cs typeface="Times New Roman" pitchFamily="18" charset="0"/>
                  </a:rPr>
                  <a:t>和          </a:t>
                </a:r>
                <a:r>
                  <a:rPr lang="zh-CN" altLang="en-US" sz="1200" dirty="0"/>
                  <a:t>分別是參考區間的下限和上限；如果 </a:t>
                </a:r>
                <a:r>
                  <a:rPr lang="en-US" altLang="zh-TW" sz="1200" i="1" dirty="0">
                    <a:solidFill>
                      <a:srgbClr val="000000"/>
                    </a:solidFill>
                    <a:latin typeface="Times New Roman" pitchFamily="18" charset="0"/>
                    <a:cs typeface="Times New Roman" pitchFamily="18" charset="0"/>
                  </a:rPr>
                  <a:t>X</a:t>
                </a:r>
                <a:r>
                  <a:rPr lang="en-US" altLang="zh-TW" sz="1200" baseline="-25000" dirty="0">
                    <a:solidFill>
                      <a:srgbClr val="000000"/>
                    </a:solidFill>
                    <a:latin typeface="Times New Roman" pitchFamily="18" charset="0"/>
                    <a:cs typeface="Times New Roman" pitchFamily="18" charset="0"/>
                  </a:rPr>
                  <a:t>n+1</a:t>
                </a:r>
                <a:r>
                  <a:rPr lang="en-US" altLang="zh-TW" sz="12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是來自同一總體的另一獨立隨機變量，令：                                                      ，通常將參考區間取 </a:t>
                </a:r>
                <a:r>
                  <a:rPr lang="el-GR" altLang="zh-CN" sz="1200" i="1" dirty="0">
                    <a:solidFill>
                      <a:srgbClr val="000000"/>
                    </a:solidFill>
                    <a:latin typeface="Times New Roman" pitchFamily="18" charset="0"/>
                    <a:cs typeface="Times New Roman" pitchFamily="18" charset="0"/>
                  </a:rPr>
                  <a:t>α</a:t>
                </a:r>
                <a:r>
                  <a:rPr lang="en-US" altLang="zh-CN" sz="1200" dirty="0">
                    <a:solidFill>
                      <a:srgbClr val="000000"/>
                    </a:solidFill>
                    <a:latin typeface="Times New Roman" pitchFamily="18" charset="0"/>
                    <a:cs typeface="Times New Roman" pitchFamily="18" charset="0"/>
                  </a:rPr>
                  <a:t> = 5%</a:t>
                </a:r>
                <a:r>
                  <a:rPr lang="zh-CN" altLang="en-US" sz="1200" dirty="0">
                    <a:solidFill>
                      <a:srgbClr val="000000"/>
                    </a:solidFill>
                    <a:latin typeface="Times New Roman" pitchFamily="18" charset="0"/>
                    <a:cs typeface="Times New Roman" pitchFamily="18" charset="0"/>
                  </a:rPr>
                  <a:t>，假設參考區間為均值兩側等距對稱，則</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和</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rPr>
                  <a:t>分別是上限和下限 </a:t>
                </a:r>
                <a:r>
                  <a:rPr lang="el-GR" altLang="zh-CN" sz="1200" dirty="0">
                    <a:solidFill>
                      <a:srgbClr val="000000"/>
                    </a:solidFill>
                    <a:latin typeface="Times New Roman" pitchFamily="18" charset="0"/>
                    <a:cs typeface="Times New Roman" pitchFamily="18" charset="0"/>
                  </a:rPr>
                  <a:t>α</a:t>
                </a:r>
                <a:r>
                  <a:rPr lang="en-US" altLang="zh-CN" sz="1200" dirty="0">
                    <a:solidFill>
                      <a:srgbClr val="000000"/>
                    </a:solidFill>
                    <a:latin typeface="Times New Roman" pitchFamily="18" charset="0"/>
                    <a:cs typeface="Times New Roman" pitchFamily="18" charset="0"/>
                  </a:rPr>
                  <a:t>/2 </a:t>
                </a:r>
                <a:r>
                  <a:rPr lang="zh-CN" altLang="en-US" sz="1200" dirty="0">
                    <a:solidFill>
                      <a:srgbClr val="000000"/>
                    </a:solidFill>
                    <a:latin typeface="Times New Roman" pitchFamily="18" charset="0"/>
                    <a:cs typeface="Times New Roman" pitchFamily="18" charset="0"/>
                  </a:rPr>
                  <a:t>的估計值；</a:t>
                </a:r>
                <a:endParaRPr lang="zh-CN" altLang="en-US" sz="1200" dirty="0"/>
              </a:p>
            </p:txBody>
          </p:sp>
          <p:graphicFrame>
            <p:nvGraphicFramePr>
              <p:cNvPr id="41" name="对象 40"/>
              <p:cNvGraphicFramePr>
                <a:graphicFrameLocks noChangeAspect="1"/>
              </p:cNvGraphicFramePr>
              <p:nvPr>
                <p:extLst>
                  <p:ext uri="{D42A27DB-BD31-4B8C-83A1-F6EECF244321}">
                    <p14:modId xmlns:p14="http://schemas.microsoft.com/office/powerpoint/2010/main" val="1977048828"/>
                  </p:ext>
                </p:extLst>
              </p:nvPr>
            </p:nvGraphicFramePr>
            <p:xfrm>
              <a:off x="1377288" y="1113196"/>
              <a:ext cx="152400" cy="203200"/>
            </p:xfrm>
            <a:graphic>
              <a:graphicData uri="http://schemas.openxmlformats.org/presentationml/2006/ole">
                <mc:AlternateContent xmlns:mc="http://schemas.openxmlformats.org/markup-compatibility/2006">
                  <mc:Choice xmlns:v="urn:schemas-microsoft-com:vml" Requires="v">
                    <p:oleObj name="公式" r:id="rId19" imgW="152268" imgH="203024" progId="Equation.3">
                      <p:embed/>
                    </p:oleObj>
                  </mc:Choice>
                  <mc:Fallback>
                    <p:oleObj name="公式" r:id="rId19" imgW="152268" imgH="203024" progId="Equation.3">
                      <p:embed/>
                      <p:pic>
                        <p:nvPicPr>
                          <p:cNvPr id="0" name="Picture 5990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77288" y="1113196"/>
                            <a:ext cx="1524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23185370"/>
                  </p:ext>
                </p:extLst>
              </p:nvPr>
            </p:nvGraphicFramePr>
            <p:xfrm>
              <a:off x="4730779" y="1390313"/>
              <a:ext cx="2057400" cy="304800"/>
            </p:xfrm>
            <a:graphic>
              <a:graphicData uri="http://schemas.openxmlformats.org/presentationml/2006/ole">
                <mc:AlternateContent xmlns:mc="http://schemas.openxmlformats.org/markup-compatibility/2006">
                  <mc:Choice xmlns:v="urn:schemas-microsoft-com:vml" Requires="v">
                    <p:oleObj name="Equation" r:id="rId21" imgW="2057400" imgH="304800" progId="">
                      <p:embed/>
                    </p:oleObj>
                  </mc:Choice>
                  <mc:Fallback>
                    <p:oleObj name="Equation" r:id="rId21" imgW="2057400" imgH="304800" progId="">
                      <p:embed/>
                      <p:pic>
                        <p:nvPicPr>
                          <p:cNvPr id="0" name="Picture 5990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30779" y="1390313"/>
                            <a:ext cx="2057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227109264"/>
                  </p:ext>
                </p:extLst>
              </p:nvPr>
            </p:nvGraphicFramePr>
            <p:xfrm>
              <a:off x="2998364" y="1690689"/>
              <a:ext cx="330200" cy="210813"/>
            </p:xfrm>
            <a:graphic>
              <a:graphicData uri="http://schemas.openxmlformats.org/presentationml/2006/ole">
                <mc:AlternateContent xmlns:mc="http://schemas.openxmlformats.org/markup-compatibility/2006">
                  <mc:Choice xmlns:v="urn:schemas-microsoft-com:vml" Requires="v">
                    <p:oleObj name="公式" r:id="rId23" imgW="330057" imgH="241195" progId="Equation.3">
                      <p:embed/>
                    </p:oleObj>
                  </mc:Choice>
                  <mc:Fallback>
                    <p:oleObj name="公式" r:id="rId23" imgW="330057" imgH="241195" progId="Equation.3">
                      <p:embed/>
                      <p:pic>
                        <p:nvPicPr>
                          <p:cNvPr id="0" name="Picture 5991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98364" y="1690689"/>
                            <a:ext cx="330200" cy="21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1386134200"/>
                  </p:ext>
                </p:extLst>
              </p:nvPr>
            </p:nvGraphicFramePr>
            <p:xfrm>
              <a:off x="2483456" y="1690686"/>
              <a:ext cx="317500" cy="211460"/>
            </p:xfrm>
            <a:graphic>
              <a:graphicData uri="http://schemas.openxmlformats.org/presentationml/2006/ole">
                <mc:AlternateContent xmlns:mc="http://schemas.openxmlformats.org/markup-compatibility/2006">
                  <mc:Choice xmlns:v="urn:schemas-microsoft-com:vml" Requires="v">
                    <p:oleObj name="公式" r:id="rId25" imgW="317225" imgH="241091" progId="Equation.3">
                      <p:embed/>
                    </p:oleObj>
                  </mc:Choice>
                  <mc:Fallback>
                    <p:oleObj name="公式" r:id="rId25" imgW="317225" imgH="241091" progId="Equation.3">
                      <p:embed/>
                      <p:pic>
                        <p:nvPicPr>
                          <p:cNvPr id="0" name="Picture 599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83456" y="1690686"/>
                            <a:ext cx="317500" cy="211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3338497890"/>
                  </p:ext>
                </p:extLst>
              </p:nvPr>
            </p:nvGraphicFramePr>
            <p:xfrm>
              <a:off x="6736749" y="1130807"/>
              <a:ext cx="330200" cy="210813"/>
            </p:xfrm>
            <a:graphic>
              <a:graphicData uri="http://schemas.openxmlformats.org/presentationml/2006/ole">
                <mc:AlternateContent xmlns:mc="http://schemas.openxmlformats.org/markup-compatibility/2006">
                  <mc:Choice xmlns:v="urn:schemas-microsoft-com:vml" Requires="v">
                    <p:oleObj name="公式" r:id="rId23" imgW="330057" imgH="241195" progId="Equation.3">
                      <p:embed/>
                    </p:oleObj>
                  </mc:Choice>
                  <mc:Fallback>
                    <p:oleObj name="公式" r:id="rId23" imgW="330057" imgH="241195" progId="Equation.3">
                      <p:embed/>
                      <p:pic>
                        <p:nvPicPr>
                          <p:cNvPr id="0" name="Picture 599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736749" y="1130807"/>
                            <a:ext cx="330200" cy="21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3331720566"/>
                  </p:ext>
                </p:extLst>
              </p:nvPr>
            </p:nvGraphicFramePr>
            <p:xfrm>
              <a:off x="6294568" y="1130804"/>
              <a:ext cx="317500" cy="211460"/>
            </p:xfrm>
            <a:graphic>
              <a:graphicData uri="http://schemas.openxmlformats.org/presentationml/2006/ole">
                <mc:AlternateContent xmlns:mc="http://schemas.openxmlformats.org/markup-compatibility/2006">
                  <mc:Choice xmlns:v="urn:schemas-microsoft-com:vml" Requires="v">
                    <p:oleObj name="公式" r:id="rId25" imgW="317225" imgH="241091" progId="Equation.3">
                      <p:embed/>
                    </p:oleObj>
                  </mc:Choice>
                  <mc:Fallback>
                    <p:oleObj name="公式" r:id="rId25" imgW="317225" imgH="241091" progId="Equation.3">
                      <p:embed/>
                      <p:pic>
                        <p:nvPicPr>
                          <p:cNvPr id="0" name="Picture 599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294568" y="1130804"/>
                            <a:ext cx="317500" cy="211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对象 53"/>
              <p:cNvGraphicFramePr>
                <a:graphicFrameLocks noChangeAspect="1"/>
              </p:cNvGraphicFramePr>
              <p:nvPr>
                <p:extLst>
                  <p:ext uri="{D42A27DB-BD31-4B8C-83A1-F6EECF244321}">
                    <p14:modId xmlns:p14="http://schemas.microsoft.com/office/powerpoint/2010/main" val="1480011444"/>
                  </p:ext>
                </p:extLst>
              </p:nvPr>
            </p:nvGraphicFramePr>
            <p:xfrm>
              <a:off x="7767006" y="1126044"/>
              <a:ext cx="330200" cy="210813"/>
            </p:xfrm>
            <a:graphic>
              <a:graphicData uri="http://schemas.openxmlformats.org/presentationml/2006/ole">
                <mc:AlternateContent xmlns:mc="http://schemas.openxmlformats.org/markup-compatibility/2006">
                  <mc:Choice xmlns:v="urn:schemas-microsoft-com:vml" Requires="v">
                    <p:oleObj name="公式" r:id="rId23" imgW="330057" imgH="241195" progId="Equation.3">
                      <p:embed/>
                    </p:oleObj>
                  </mc:Choice>
                  <mc:Fallback>
                    <p:oleObj name="公式" r:id="rId23" imgW="330057" imgH="241195" progId="Equation.3">
                      <p:embed/>
                      <p:pic>
                        <p:nvPicPr>
                          <p:cNvPr id="0" name="Picture 599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767006" y="1126044"/>
                            <a:ext cx="330200" cy="21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对象 54"/>
              <p:cNvGraphicFramePr>
                <a:graphicFrameLocks noChangeAspect="1"/>
              </p:cNvGraphicFramePr>
              <p:nvPr>
                <p:extLst>
                  <p:ext uri="{D42A27DB-BD31-4B8C-83A1-F6EECF244321}">
                    <p14:modId xmlns:p14="http://schemas.microsoft.com/office/powerpoint/2010/main" val="3044438561"/>
                  </p:ext>
                </p:extLst>
              </p:nvPr>
            </p:nvGraphicFramePr>
            <p:xfrm>
              <a:off x="7242572" y="1126041"/>
              <a:ext cx="317500" cy="211460"/>
            </p:xfrm>
            <a:graphic>
              <a:graphicData uri="http://schemas.openxmlformats.org/presentationml/2006/ole">
                <mc:AlternateContent xmlns:mc="http://schemas.openxmlformats.org/markup-compatibility/2006">
                  <mc:Choice xmlns:v="urn:schemas-microsoft-com:vml" Requires="v">
                    <p:oleObj name="公式" r:id="rId27" imgW="317225" imgH="241091" progId="Equation.3">
                      <p:embed/>
                    </p:oleObj>
                  </mc:Choice>
                  <mc:Fallback>
                    <p:oleObj name="公式" r:id="rId27" imgW="317225" imgH="241091" progId="Equation.3">
                      <p:embed/>
                      <p:pic>
                        <p:nvPicPr>
                          <p:cNvPr id="0" name="Picture 599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242572" y="1126041"/>
                            <a:ext cx="317500" cy="211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p:cNvGrpSpPr/>
            <p:nvPr/>
          </p:nvGrpSpPr>
          <p:grpSpPr>
            <a:xfrm>
              <a:off x="1127044" y="3985294"/>
              <a:ext cx="9300652" cy="369332"/>
              <a:chOff x="1127044" y="3985294"/>
              <a:chExt cx="9300652" cy="369332"/>
            </a:xfrm>
          </p:grpSpPr>
          <p:sp>
            <p:nvSpPr>
              <p:cNvPr id="31" name="Rectangle 14"/>
              <p:cNvSpPr>
                <a:spLocks noChangeArrowheads="1"/>
              </p:cNvSpPr>
              <p:nvPr/>
            </p:nvSpPr>
            <p:spPr bwMode="auto">
              <a:xfrm>
                <a:off x="1127044" y="3985294"/>
                <a:ext cx="9300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en-US" altLang="zh-CN" sz="1200" i="1" dirty="0">
                    <a:latin typeface="Times New Roman" pitchFamily="18" charset="0"/>
                    <a:cs typeface="Times New Roman" pitchFamily="18" charset="0"/>
                  </a:rPr>
                  <a:t>S</a:t>
                </a:r>
                <a:r>
                  <a:rPr lang="zh-CN" altLang="en-US" sz="1200" dirty="0"/>
                  <a:t> 為由參考樣本組得到參考值的標準差，</a:t>
                </a:r>
                <a:r>
                  <a:rPr lang="en-US" altLang="zh-CN" sz="1200" i="1" dirty="0">
                    <a:latin typeface="Times New Roman" pitchFamily="18" charset="0"/>
                    <a:cs typeface="Times New Roman" pitchFamily="18" charset="0"/>
                  </a:rPr>
                  <a:t>t</a:t>
                </a:r>
                <a:r>
                  <a:rPr lang="en-US" altLang="zh-CN" sz="1200" baseline="-25000" dirty="0"/>
                  <a:t>n-</a:t>
                </a:r>
                <a:r>
                  <a:rPr lang="en-US" altLang="zh-CN" sz="1100" baseline="-25000" dirty="0"/>
                  <a:t>1</a:t>
                </a:r>
                <a:r>
                  <a:rPr lang="en-US" altLang="zh-CN" sz="1200" dirty="0"/>
                  <a:t> </a:t>
                </a:r>
                <a:r>
                  <a:rPr lang="zh-CN" altLang="en-US" sz="1200" dirty="0"/>
                  <a:t>指自由度為 </a:t>
                </a:r>
                <a:r>
                  <a:rPr lang="en-US" altLang="zh-CN" sz="1200" i="1" dirty="0">
                    <a:latin typeface="Times New Roman" pitchFamily="18" charset="0"/>
                    <a:cs typeface="Times New Roman" pitchFamily="18" charset="0"/>
                  </a:rPr>
                  <a:t>n </a:t>
                </a:r>
                <a:r>
                  <a:rPr lang="en-US" altLang="zh-CN" sz="12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1</a:t>
                </a:r>
                <a:r>
                  <a:rPr lang="en-US" altLang="zh-CN" sz="1200" dirty="0"/>
                  <a:t> </a:t>
                </a:r>
                <a:r>
                  <a:rPr lang="zh-CN" altLang="en-US" sz="1200" dirty="0"/>
                  <a:t>的 </a:t>
                </a:r>
                <a:r>
                  <a:rPr lang="en-US" altLang="zh-CN" sz="1200" i="1" dirty="0">
                    <a:latin typeface="Times New Roman" pitchFamily="18" charset="0"/>
                    <a:cs typeface="Times New Roman" pitchFamily="18" charset="0"/>
                  </a:rPr>
                  <a:t>t</a:t>
                </a:r>
                <a:r>
                  <a:rPr lang="en-US" altLang="zh-CN" sz="1200" dirty="0"/>
                  <a:t> </a:t>
                </a:r>
                <a:r>
                  <a:rPr lang="zh-CN" altLang="en-US" sz="1200" dirty="0"/>
                  <a:t>分佈，   為由參考樣本組得到參考值的均值；</a:t>
                </a:r>
                <a:endParaRPr lang="en-US" altLang="zh-CN" sz="1200" dirty="0">
                  <a:solidFill>
                    <a:srgbClr val="00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42658379"/>
                  </p:ext>
                </p:extLst>
              </p:nvPr>
            </p:nvGraphicFramePr>
            <p:xfrm>
              <a:off x="6245226" y="4075113"/>
              <a:ext cx="165100" cy="190500"/>
            </p:xfrm>
            <a:graphic>
              <a:graphicData uri="http://schemas.openxmlformats.org/presentationml/2006/ole">
                <mc:AlternateContent xmlns:mc="http://schemas.openxmlformats.org/markup-compatibility/2006">
                  <mc:Choice xmlns:v="urn:schemas-microsoft-com:vml" Requires="v">
                    <p:oleObj name="公式" r:id="rId28" imgW="164957" imgH="190335" progId="Equation.3">
                      <p:embed/>
                    </p:oleObj>
                  </mc:Choice>
                  <mc:Fallback>
                    <p:oleObj name="公式" r:id="rId28" imgW="164957" imgH="190335" progId="Equation.3">
                      <p:embed/>
                      <p:pic>
                        <p:nvPicPr>
                          <p:cNvPr id="0" name="Picture 5991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245226" y="4075113"/>
                            <a:ext cx="1651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extLst>
      <p:ext uri="{BB962C8B-B14F-4D97-AF65-F5344CB8AC3E}">
        <p14:creationId xmlns:p14="http://schemas.microsoft.com/office/powerpoint/2010/main" val="2435625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非正態分佈參考值的數據轉換</a:t>
            </a:r>
            <a:endParaRPr lang="zh-CN" altLang="en-US" sz="1300" dirty="0">
              <a:solidFill>
                <a:srgbClr val="000000"/>
              </a:solidFill>
              <a:latin typeface="Times New Roman" pitchFamily="18" charset="0"/>
              <a:cs typeface="Times New Roman" pitchFamily="18" charset="0"/>
            </a:endParaRPr>
          </a:p>
        </p:txBody>
      </p:sp>
      <p:grpSp>
        <p:nvGrpSpPr>
          <p:cNvPr id="6" name="组合 5"/>
          <p:cNvGrpSpPr/>
          <p:nvPr/>
        </p:nvGrpSpPr>
        <p:grpSpPr>
          <a:xfrm>
            <a:off x="1606835" y="812923"/>
            <a:ext cx="8509994" cy="4882100"/>
            <a:chOff x="1700803" y="793871"/>
            <a:chExt cx="8509995" cy="4882100"/>
          </a:xfrm>
        </p:grpSpPr>
        <p:sp>
          <p:nvSpPr>
            <p:cNvPr id="30" name="Rectangle 14"/>
            <p:cNvSpPr>
              <a:spLocks noChangeArrowheads="1"/>
            </p:cNvSpPr>
            <p:nvPr/>
          </p:nvSpPr>
          <p:spPr bwMode="auto">
            <a:xfrm>
              <a:off x="1700805" y="793871"/>
              <a:ext cx="8509993" cy="88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真實的參考值及參考分佈常常不服從正態分佈，可以採取適當的數據轉換手段，使轉換後的參考值呈現出近似正態分佈的特徵，然後再進行基於近似正態分佈的轉換後的參考值的參考區間界限估計，最後再將估計出的轉換後的參考區間界限使用反函數的方法轉換為參考值的原始單位；</a:t>
              </a:r>
              <a:endParaRPr lang="en-US" altLang="zh-CN" sz="1200" dirty="0">
                <a:solidFill>
                  <a:srgbClr val="000000"/>
                </a:solidFill>
              </a:endParaRPr>
            </a:p>
          </p:txBody>
        </p:sp>
        <p:sp>
          <p:nvSpPr>
            <p:cNvPr id="39" name="Rectangle 14"/>
            <p:cNvSpPr>
              <a:spLocks noChangeArrowheads="1"/>
            </p:cNvSpPr>
            <p:nvPr/>
          </p:nvSpPr>
          <p:spPr bwMode="auto">
            <a:xfrm>
              <a:off x="1700804" y="1671469"/>
              <a:ext cx="85099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常見的數據轉換方法有：線性變換、倒數變換、對數變換、反正弦變換、平方根變換、</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的冪變換、指數變換等；</a:t>
              </a:r>
              <a:endParaRPr lang="en-US" altLang="zh-CN" sz="1200" dirty="0">
                <a:solidFill>
                  <a:srgbClr val="000000"/>
                </a:solidFill>
              </a:endParaRPr>
            </a:p>
          </p:txBody>
        </p:sp>
        <p:sp>
          <p:nvSpPr>
            <p:cNvPr id="41" name="Rectangle 14"/>
            <p:cNvSpPr>
              <a:spLocks noChangeArrowheads="1"/>
            </p:cNvSpPr>
            <p:nvPr/>
          </p:nvSpPr>
          <p:spPr bwMode="auto">
            <a:xfrm>
              <a:off x="1700804" y="2001814"/>
              <a:ext cx="83665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其中線性變換不會改變分佈的形態，比較常用的通常為</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的冪變換；</a:t>
              </a:r>
              <a:endParaRPr lang="en-US" altLang="zh-CN" sz="1200" dirty="0">
                <a:solidFill>
                  <a:srgbClr val="000000"/>
                </a:solidFill>
              </a:endParaRPr>
            </a:p>
          </p:txBody>
        </p:sp>
        <p:grpSp>
          <p:nvGrpSpPr>
            <p:cNvPr id="2" name="组合 1"/>
            <p:cNvGrpSpPr/>
            <p:nvPr/>
          </p:nvGrpSpPr>
          <p:grpSpPr>
            <a:xfrm>
              <a:off x="1700804" y="3805885"/>
              <a:ext cx="8509993" cy="561975"/>
              <a:chOff x="1700804" y="3850710"/>
              <a:chExt cx="8509993" cy="561975"/>
            </a:xfrm>
          </p:grpSpPr>
          <p:sp>
            <p:nvSpPr>
              <p:cNvPr id="45" name="Rectangle 14"/>
              <p:cNvSpPr>
                <a:spLocks noChangeArrowheads="1"/>
              </p:cNvSpPr>
              <p:nvPr/>
            </p:nvSpPr>
            <p:spPr bwMode="auto">
              <a:xfrm>
                <a:off x="1700804" y="3938205"/>
                <a:ext cx="85099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冪轉換的反函數：</a:t>
                </a:r>
                <a:endParaRPr lang="en-US" altLang="zh-CN" sz="1200" dirty="0">
                  <a:solidFill>
                    <a:srgbClr val="000000"/>
                  </a:solidFill>
                </a:endParaRPr>
              </a:p>
            </p:txBody>
          </p:sp>
          <p:graphicFrame>
            <p:nvGraphicFramePr>
              <p:cNvPr id="48" name="Object 12"/>
              <p:cNvGraphicFramePr>
                <a:graphicFrameLocks noChangeAspect="1"/>
              </p:cNvGraphicFramePr>
              <p:nvPr>
                <p:extLst>
                  <p:ext uri="{D42A27DB-BD31-4B8C-83A1-F6EECF244321}">
                    <p14:modId xmlns:p14="http://schemas.microsoft.com/office/powerpoint/2010/main" val="3721228543"/>
                  </p:ext>
                </p:extLst>
              </p:nvPr>
            </p:nvGraphicFramePr>
            <p:xfrm>
              <a:off x="4994480" y="3850710"/>
              <a:ext cx="1709738" cy="561975"/>
            </p:xfrm>
            <a:graphic>
              <a:graphicData uri="http://schemas.openxmlformats.org/presentationml/2006/ole">
                <mc:AlternateContent xmlns:mc="http://schemas.openxmlformats.org/markup-compatibility/2006">
                  <mc:Choice xmlns:v="urn:schemas-microsoft-com:vml" Requires="v">
                    <p:oleObj name="Equation" r:id="rId3" imgW="1625600" imgH="533400" progId="">
                      <p:embed/>
                    </p:oleObj>
                  </mc:Choice>
                  <mc:Fallback>
                    <p:oleObj name="Equation" r:id="rId3" imgW="1625600" imgH="533400" progId="">
                      <p:embed/>
                      <p:pic>
                        <p:nvPicPr>
                          <p:cNvPr id="0" name="Picture 7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4480" y="3850710"/>
                            <a:ext cx="1709738"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p:cNvGrpSpPr/>
            <p:nvPr/>
          </p:nvGrpSpPr>
          <p:grpSpPr>
            <a:xfrm>
              <a:off x="1700804" y="2625818"/>
              <a:ext cx="8509993" cy="722312"/>
              <a:chOff x="1700804" y="2670643"/>
              <a:chExt cx="8509993" cy="722312"/>
            </a:xfrm>
          </p:grpSpPr>
          <p:graphicFrame>
            <p:nvGraphicFramePr>
              <p:cNvPr id="42" name="Object 12"/>
              <p:cNvGraphicFramePr>
                <a:graphicFrameLocks noChangeAspect="1"/>
              </p:cNvGraphicFramePr>
              <p:nvPr>
                <p:extLst>
                  <p:ext uri="{D42A27DB-BD31-4B8C-83A1-F6EECF244321}">
                    <p14:modId xmlns:p14="http://schemas.microsoft.com/office/powerpoint/2010/main" val="877351639"/>
                  </p:ext>
                </p:extLst>
              </p:nvPr>
            </p:nvGraphicFramePr>
            <p:xfrm>
              <a:off x="4992915" y="2670643"/>
              <a:ext cx="1576388" cy="722312"/>
            </p:xfrm>
            <a:graphic>
              <a:graphicData uri="http://schemas.openxmlformats.org/presentationml/2006/ole">
                <mc:AlternateContent xmlns:mc="http://schemas.openxmlformats.org/markup-compatibility/2006">
                  <mc:Choice xmlns:v="urn:schemas-microsoft-com:vml" Requires="v">
                    <p:oleObj name="Equation" r:id="rId5" imgW="1498600" imgH="685800" progId="">
                      <p:embed/>
                    </p:oleObj>
                  </mc:Choice>
                  <mc:Fallback>
                    <p:oleObj name="Equation" r:id="rId5" imgW="1498600" imgH="685800" progId="">
                      <p:embed/>
                      <p:pic>
                        <p:nvPicPr>
                          <p:cNvPr id="0" name="Picture 7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2915" y="2670643"/>
                            <a:ext cx="1576388" cy="72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Rectangle 14"/>
              <p:cNvSpPr>
                <a:spLocks noChangeArrowheads="1"/>
              </p:cNvSpPr>
              <p:nvPr/>
            </p:nvSpPr>
            <p:spPr bwMode="auto">
              <a:xfrm>
                <a:off x="1700804" y="2846291"/>
                <a:ext cx="85099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以</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的冪轉換為例：</a:t>
                </a:r>
                <a:endParaRPr lang="en-US" altLang="zh-CN" sz="1200" dirty="0">
                  <a:solidFill>
                    <a:srgbClr val="000000"/>
                  </a:solidFill>
                </a:endParaRPr>
              </a:p>
            </p:txBody>
          </p:sp>
        </p:grpSp>
        <p:sp>
          <p:nvSpPr>
            <p:cNvPr id="55" name="Rectangle 14"/>
            <p:cNvSpPr>
              <a:spLocks noChangeArrowheads="1"/>
            </p:cNvSpPr>
            <p:nvPr/>
          </p:nvSpPr>
          <p:spPr bwMode="auto">
            <a:xfrm>
              <a:off x="1700805" y="4660308"/>
              <a:ext cx="85099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的冪轉換有兩個參數 </a:t>
              </a:r>
              <a:r>
                <a:rPr lang="el-GR" altLang="zh-CN" sz="1200" dirty="0">
                  <a:latin typeface="Times New Roman" pitchFamily="18" charset="0"/>
                  <a:cs typeface="Times New Roman" pitchFamily="18" charset="0"/>
                </a:rPr>
                <a:t>λ</a:t>
              </a:r>
              <a:r>
                <a:rPr lang="en-US" altLang="zh-CN" sz="1200" dirty="0"/>
                <a:t> </a:t>
              </a:r>
              <a:r>
                <a:rPr lang="zh-CN" altLang="en-US" sz="1200" dirty="0"/>
                <a:t>和 </a:t>
              </a:r>
              <a:r>
                <a:rPr lang="en-US" altLang="zh-CN" sz="1200" i="1" dirty="0">
                  <a:latin typeface="Times New Roman" pitchFamily="18" charset="0"/>
                  <a:cs typeface="Times New Roman" pitchFamily="18" charset="0"/>
                </a:rPr>
                <a:t>c</a:t>
              </a:r>
              <a:r>
                <a:rPr lang="en-US" altLang="zh-CN" sz="1200" dirty="0"/>
                <a:t> </a:t>
              </a:r>
              <a:r>
                <a:rPr lang="zh-CN" altLang="en-US" sz="1200" dirty="0"/>
                <a:t>，進行數據轉換時，需要得到 </a:t>
              </a:r>
              <a:r>
                <a:rPr lang="el-GR" altLang="zh-CN" sz="1200" dirty="0">
                  <a:solidFill>
                    <a:srgbClr val="000000"/>
                  </a:solidFill>
                  <a:latin typeface="Times New Roman" pitchFamily="18" charset="0"/>
                  <a:cs typeface="Times New Roman" pitchFamily="18" charset="0"/>
                </a:rPr>
                <a:t>λ</a:t>
              </a:r>
              <a:r>
                <a:rPr lang="en-US" altLang="zh-CN" sz="1200" dirty="0">
                  <a:solidFill>
                    <a:srgbClr val="000000"/>
                  </a:solidFill>
                </a:rPr>
                <a:t> </a:t>
              </a:r>
              <a:r>
                <a:rPr lang="zh-CN" altLang="en-US" sz="1200" dirty="0">
                  <a:solidFill>
                    <a:srgbClr val="000000"/>
                  </a:solidFill>
                </a:rPr>
                <a:t>和 </a:t>
              </a:r>
              <a:r>
                <a:rPr lang="en-US" altLang="zh-CN" sz="1200" i="1" dirty="0">
                  <a:solidFill>
                    <a:srgbClr val="000000"/>
                  </a:solidFill>
                  <a:latin typeface="Times New Roman" pitchFamily="18" charset="0"/>
                  <a:cs typeface="Times New Roman" pitchFamily="18" charset="0"/>
                </a:rPr>
                <a:t>c</a:t>
              </a:r>
              <a:r>
                <a:rPr lang="en-US" altLang="zh-CN" sz="1200" dirty="0">
                  <a:solidFill>
                    <a:srgbClr val="000000"/>
                  </a:solidFill>
                </a:rPr>
                <a:t> </a:t>
              </a:r>
              <a:r>
                <a:rPr lang="zh-CN" altLang="en-US" sz="1200" dirty="0"/>
                <a:t>的估計值，可以使用最大似然法完成參考值原始數據的轉換；另外需要注意，</a:t>
              </a:r>
              <a:r>
                <a:rPr lang="en-US" altLang="zh-CN" sz="1200" dirty="0">
                  <a:latin typeface="Times New Roman" pitchFamily="18" charset="0"/>
                  <a:cs typeface="Times New Roman" pitchFamily="18" charset="0"/>
                </a:rPr>
                <a:t>Box</a:t>
              </a:r>
              <a:r>
                <a:rPr lang="en-US" altLang="zh-CN" sz="1200" dirty="0"/>
                <a:t>-</a:t>
              </a:r>
              <a:r>
                <a:rPr lang="en-US" altLang="zh-CN" sz="1200" dirty="0">
                  <a:latin typeface="Times New Roman" pitchFamily="18" charset="0"/>
                  <a:cs typeface="Times New Roman" pitchFamily="18" charset="0"/>
                </a:rPr>
                <a:t>Cox</a:t>
              </a:r>
              <a:r>
                <a:rPr lang="zh-CN" altLang="en-US" sz="1200" dirty="0"/>
                <a:t>冪轉換法要求參考值不能為負；</a:t>
              </a:r>
              <a:endParaRPr lang="en-US" altLang="zh-CN" sz="1200" dirty="0">
                <a:solidFill>
                  <a:srgbClr val="000000"/>
                </a:solidFill>
              </a:endParaRPr>
            </a:p>
          </p:txBody>
        </p:sp>
        <p:sp>
          <p:nvSpPr>
            <p:cNvPr id="56" name="Rectangle 14"/>
            <p:cNvSpPr>
              <a:spLocks noChangeArrowheads="1"/>
            </p:cNvSpPr>
            <p:nvPr/>
          </p:nvSpPr>
          <p:spPr bwMode="auto">
            <a:xfrm>
              <a:off x="1700803" y="5306639"/>
              <a:ext cx="85099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參考值分佈正態性的檢驗通常可以使用：擬合優度檢驗，偏度係數、峰度係數等進行描述；</a:t>
              </a:r>
              <a:endParaRPr lang="en-US" altLang="zh-CN" sz="1200" dirty="0">
                <a:solidFill>
                  <a:srgbClr val="000000"/>
                </a:solidFill>
              </a:endParaRPr>
            </a:p>
          </p:txBody>
        </p:sp>
      </p:grpSp>
    </p:spTree>
    <p:extLst>
      <p:ext uri="{BB962C8B-B14F-4D97-AF65-F5344CB8AC3E}">
        <p14:creationId xmlns:p14="http://schemas.microsoft.com/office/powerpoint/2010/main" val="3706113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基於參考值秩的非參數估計</a:t>
            </a:r>
            <a:endParaRPr lang="zh-CN" altLang="en-US" sz="1300" dirty="0">
              <a:solidFill>
                <a:srgbClr val="000000"/>
              </a:solidFill>
              <a:latin typeface="Times New Roman" pitchFamily="18" charset="0"/>
              <a:cs typeface="Times New Roman" pitchFamily="18" charset="0"/>
            </a:endParaRPr>
          </a:p>
        </p:txBody>
      </p:sp>
      <p:sp>
        <p:nvSpPr>
          <p:cNvPr id="195587" name="Rectangle 21"/>
          <p:cNvSpPr>
            <a:spLocks noChangeArrowheads="1"/>
          </p:cNvSpPr>
          <p:nvPr/>
        </p:nvSpPr>
        <p:spPr bwMode="auto">
          <a:xfrm>
            <a:off x="3" y="-295463"/>
            <a:ext cx="18473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nSpc>
                <a:spcPct val="180000"/>
              </a:lnSpc>
            </a:pPr>
            <a:endParaRPr lang="zh-CN" altLang="en-US"/>
          </a:p>
        </p:txBody>
      </p:sp>
      <p:grpSp>
        <p:nvGrpSpPr>
          <p:cNvPr id="2" name="组合 1"/>
          <p:cNvGrpSpPr/>
          <p:nvPr/>
        </p:nvGrpSpPr>
        <p:grpSpPr>
          <a:xfrm>
            <a:off x="284140" y="625821"/>
            <a:ext cx="11223421" cy="5283360"/>
            <a:chOff x="284140" y="625821"/>
            <a:chExt cx="11223421" cy="5283360"/>
          </a:xfrm>
        </p:grpSpPr>
        <p:sp>
          <p:nvSpPr>
            <p:cNvPr id="24" name="Rectangle 4"/>
            <p:cNvSpPr>
              <a:spLocks noChangeArrowheads="1"/>
            </p:cNvSpPr>
            <p:nvPr/>
          </p:nvSpPr>
          <p:spPr bwMode="auto">
            <a:xfrm>
              <a:off x="284140" y="4773934"/>
              <a:ext cx="112234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latin typeface="Times New Roman" pitchFamily="18" charset="0"/>
                  <a:cs typeface="Times New Roman" pitchFamily="18" charset="0"/>
                </a:rPr>
                <a:t>設母體 </a:t>
              </a:r>
              <a:r>
                <a:rPr lang="en-US" altLang="zh-TW" sz="1200" i="1" dirty="0">
                  <a:solidFill>
                    <a:schemeClr val="tx1"/>
                  </a:solidFill>
                  <a:latin typeface="Times New Roman" pitchFamily="18" charset="0"/>
                  <a:cs typeface="Times New Roman" pitchFamily="18" charset="0"/>
                </a:rPr>
                <a:t>ζ</a:t>
              </a:r>
              <a:r>
                <a:rPr lang="en-US" altLang="zh-TW" sz="1200" dirty="0">
                  <a:solidFill>
                    <a:schemeClr val="tx1"/>
                  </a:solidFill>
                  <a:latin typeface="Times New Roman" pitchFamily="18" charset="0"/>
                  <a:cs typeface="Times New Roman" pitchFamily="18" charset="0"/>
                </a:rPr>
                <a:t> </a:t>
              </a:r>
              <a:r>
                <a:rPr lang="zh-TW" altLang="en-US" sz="1200" dirty="0">
                  <a:solidFill>
                    <a:schemeClr val="tx1"/>
                  </a:solidFill>
                  <a:latin typeface="Times New Roman" pitchFamily="18" charset="0"/>
                  <a:cs typeface="Times New Roman" pitchFamily="18" charset="0"/>
                </a:rPr>
                <a:t>有密度函數 </a:t>
              </a:r>
              <a:r>
                <a:rPr lang="en-US" altLang="zh-TW" sz="1200" i="1" dirty="0">
                  <a:solidFill>
                    <a:schemeClr val="tx1"/>
                  </a:solidFill>
                  <a:latin typeface="Times New Roman" pitchFamily="18" charset="0"/>
                  <a:cs typeface="Times New Roman" pitchFamily="18" charset="0"/>
                </a:rPr>
                <a:t>f</a:t>
              </a:r>
              <a:r>
                <a:rPr lang="en-US" altLang="zh-TW" sz="1200" dirty="0">
                  <a:solidFill>
                    <a:schemeClr val="tx1"/>
                  </a:solidFill>
                  <a:latin typeface="Times New Roman" pitchFamily="18" charset="0"/>
                  <a:cs typeface="Times New Roman" pitchFamily="18" charset="0"/>
                </a:rPr>
                <a:t>(x) </a:t>
              </a:r>
              <a:r>
                <a:rPr lang="zh-TW" altLang="en-US" sz="1200" dirty="0">
                  <a:solidFill>
                    <a:schemeClr val="tx1"/>
                  </a:solidFill>
                  <a:latin typeface="Times New Roman" pitchFamily="18" charset="0"/>
                  <a:cs typeface="Times New Roman" pitchFamily="18" charset="0"/>
                </a:rPr>
                <a:t>＞ </a:t>
              </a:r>
              <a:r>
                <a:rPr lang="en-US" altLang="zh-TW" sz="1200" dirty="0">
                  <a:solidFill>
                    <a:schemeClr val="tx1"/>
                  </a:solidFill>
                  <a:latin typeface="Times New Roman" pitchFamily="18" charset="0"/>
                  <a:cs typeface="Times New Roman" pitchFamily="18" charset="0"/>
                </a:rPr>
                <a:t>0, </a:t>
              </a:r>
              <a:r>
                <a:rPr lang="en-US" altLang="zh-TW" sz="1200" i="1" dirty="0">
                  <a:solidFill>
                    <a:schemeClr val="tx1"/>
                  </a:solidFill>
                  <a:latin typeface="Times New Roman" pitchFamily="18" charset="0"/>
                  <a:cs typeface="Times New Roman" pitchFamily="18" charset="0"/>
                </a:rPr>
                <a:t>a</a:t>
              </a:r>
              <a:r>
                <a:rPr lang="en-US" altLang="zh-TW" sz="1200" dirty="0">
                  <a:solidFill>
                    <a:schemeClr val="tx1"/>
                  </a:solidFill>
                  <a:latin typeface="Times New Roman" pitchFamily="18" charset="0"/>
                  <a:cs typeface="Times New Roman" pitchFamily="18" charset="0"/>
                </a:rPr>
                <a:t> ≤ </a:t>
              </a:r>
              <a:r>
                <a:rPr lang="en-US" altLang="zh-TW" sz="1200" i="1" dirty="0">
                  <a:solidFill>
                    <a:schemeClr val="tx1"/>
                  </a:solidFill>
                  <a:latin typeface="Times New Roman" pitchFamily="18" charset="0"/>
                  <a:cs typeface="Times New Roman" pitchFamily="18" charset="0"/>
                </a:rPr>
                <a:t>x</a:t>
              </a:r>
              <a:r>
                <a:rPr lang="en-US" altLang="zh-TW" sz="1200" dirty="0">
                  <a:solidFill>
                    <a:schemeClr val="tx1"/>
                  </a:solidFill>
                  <a:latin typeface="Times New Roman" pitchFamily="18" charset="0"/>
                  <a:cs typeface="Times New Roman" pitchFamily="18" charset="0"/>
                </a:rPr>
                <a:t> ≤ </a:t>
              </a:r>
              <a:r>
                <a:rPr lang="en-US" altLang="zh-TW" sz="1200" i="1" dirty="0">
                  <a:solidFill>
                    <a:schemeClr val="tx1"/>
                  </a:solidFill>
                  <a:latin typeface="Times New Roman" pitchFamily="18" charset="0"/>
                  <a:cs typeface="Times New Roman" pitchFamily="18" charset="0"/>
                </a:rPr>
                <a:t>b</a:t>
              </a:r>
              <a:r>
                <a:rPr lang="en-US" altLang="zh-TW" sz="1200" dirty="0">
                  <a:solidFill>
                    <a:schemeClr val="tx1"/>
                  </a:solidFill>
                  <a:latin typeface="Times New Roman" pitchFamily="18" charset="0"/>
                  <a:cs typeface="Times New Roman" pitchFamily="18" charset="0"/>
                </a:rPr>
                <a:t> (</a:t>
              </a:r>
              <a:r>
                <a:rPr lang="zh-TW" altLang="en-US" sz="1200" dirty="0">
                  <a:solidFill>
                    <a:schemeClr val="tx1"/>
                  </a:solidFill>
                  <a:latin typeface="Times New Roman" pitchFamily="18" charset="0"/>
                  <a:cs typeface="Times New Roman" pitchFamily="18" charset="0"/>
                </a:rPr>
                <a:t>可設 </a:t>
              </a:r>
              <a:r>
                <a:rPr lang="en-US" altLang="zh-TW" sz="1200" i="1" dirty="0">
                  <a:solidFill>
                    <a:schemeClr val="tx1"/>
                  </a:solidFill>
                  <a:latin typeface="Times New Roman" pitchFamily="18" charset="0"/>
                  <a:cs typeface="Times New Roman" pitchFamily="18" charset="0"/>
                </a:rPr>
                <a:t>a</a:t>
              </a:r>
              <a:r>
                <a:rPr lang="en-US" altLang="zh-TW" sz="1200" dirty="0">
                  <a:solidFill>
                    <a:schemeClr val="tx1"/>
                  </a:solidFill>
                  <a:latin typeface="Times New Roman" pitchFamily="18" charset="0"/>
                  <a:cs typeface="Times New Roman" pitchFamily="18" charset="0"/>
                </a:rPr>
                <a:t> = -∞</a:t>
              </a:r>
              <a:r>
                <a:rPr lang="zh-CN" altLang="en-US" sz="1200" dirty="0">
                  <a:solidFill>
                    <a:schemeClr val="tx1"/>
                  </a:solidFill>
                  <a:latin typeface="Times New Roman" pitchFamily="18" charset="0"/>
                  <a:cs typeface="Times New Roman" pitchFamily="18" charset="0"/>
                </a:rPr>
                <a:t>，</a:t>
              </a:r>
              <a:r>
                <a:rPr lang="en-US" altLang="zh-TW" sz="1200" i="1" dirty="0">
                  <a:solidFill>
                    <a:schemeClr val="tx1"/>
                  </a:solidFill>
                  <a:latin typeface="Times New Roman" pitchFamily="18" charset="0"/>
                  <a:cs typeface="Times New Roman" pitchFamily="18" charset="0"/>
                </a:rPr>
                <a:t>b</a:t>
              </a:r>
              <a:r>
                <a:rPr lang="en-US" altLang="zh-TW" sz="1200" dirty="0">
                  <a:solidFill>
                    <a:schemeClr val="tx1"/>
                  </a:solidFill>
                  <a:latin typeface="Times New Roman" pitchFamily="18" charset="0"/>
                  <a:cs typeface="Times New Roman" pitchFamily="18" charset="0"/>
                </a:rPr>
                <a:t> = +∞)  </a:t>
              </a:r>
              <a:r>
                <a:rPr lang="zh-TW" altLang="en-US" sz="1200" dirty="0">
                  <a:solidFill>
                    <a:schemeClr val="tx1"/>
                  </a:solidFill>
                  <a:latin typeface="Times New Roman" pitchFamily="18" charset="0"/>
                  <a:cs typeface="Times New Roman" pitchFamily="18" charset="0"/>
                </a:rPr>
                <a:t>和 分佈函數 </a:t>
              </a:r>
              <a:r>
                <a:rPr lang="en-US" altLang="zh-TW" sz="1200" i="1" dirty="0">
                  <a:solidFill>
                    <a:schemeClr val="tx1"/>
                  </a:solidFill>
                  <a:latin typeface="Times New Roman" pitchFamily="18" charset="0"/>
                  <a:cs typeface="Times New Roman" pitchFamily="18" charset="0"/>
                </a:rPr>
                <a:t>F</a:t>
              </a:r>
              <a:r>
                <a:rPr lang="en-US" altLang="zh-TW" sz="1200" dirty="0">
                  <a:solidFill>
                    <a:schemeClr val="tx1"/>
                  </a:solidFill>
                  <a:latin typeface="Times New Roman" pitchFamily="18" charset="0"/>
                  <a:cs typeface="Times New Roman" pitchFamily="18" charset="0"/>
                </a:rPr>
                <a:t>(x) </a:t>
              </a:r>
              <a:r>
                <a:rPr lang="zh-TW" altLang="en-US" sz="1200" dirty="0">
                  <a:solidFill>
                    <a:schemeClr val="tx1"/>
                  </a:solidFill>
                  <a:latin typeface="Times New Roman" pitchFamily="18" charset="0"/>
                  <a:cs typeface="Times New Roman" pitchFamily="18" charset="0"/>
                </a:rPr>
                <a:t>，且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1</a:t>
              </a:r>
              <a:r>
                <a:rPr lang="en-US" altLang="zh-TW" sz="1200" dirty="0">
                  <a:solidFill>
                    <a:schemeClr val="tx1"/>
                  </a:solidFill>
                  <a:latin typeface="Times New Roman" pitchFamily="18" charset="0"/>
                  <a:cs typeface="Times New Roman" pitchFamily="18" charset="0"/>
                </a:rPr>
                <a:t>,</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2</a:t>
              </a:r>
              <a:r>
                <a:rPr lang="en-US" altLang="zh-TW" sz="1200" dirty="0">
                  <a:solidFill>
                    <a:schemeClr val="tx1"/>
                  </a:solidFill>
                  <a:latin typeface="Times New Roman" pitchFamily="18" charset="0"/>
                  <a:cs typeface="Times New Roman" pitchFamily="18" charset="0"/>
                </a:rPr>
                <a:t>,…,</a:t>
              </a:r>
              <a:r>
                <a:rPr lang="en-US" altLang="zh-TW" sz="1200" i="1" dirty="0" err="1">
                  <a:solidFill>
                    <a:schemeClr val="tx1"/>
                  </a:solidFill>
                  <a:latin typeface="Times New Roman" pitchFamily="18" charset="0"/>
                  <a:cs typeface="Times New Roman" pitchFamily="18" charset="0"/>
                </a:rPr>
                <a:t>ζ</a:t>
              </a:r>
              <a:r>
                <a:rPr lang="en-US" altLang="zh-TW" sz="1200" baseline="-25000" dirty="0" err="1">
                  <a:solidFill>
                    <a:schemeClr val="tx1"/>
                  </a:solidFill>
                  <a:latin typeface="Times New Roman" pitchFamily="18" charset="0"/>
                  <a:cs typeface="Times New Roman" pitchFamily="18" charset="0"/>
                </a:rPr>
                <a:t>n</a:t>
              </a:r>
              <a:r>
                <a:rPr lang="en-US" altLang="zh-TW" sz="1200" dirty="0">
                  <a:solidFill>
                    <a:schemeClr val="tx1"/>
                  </a:solidFill>
                  <a:latin typeface="Times New Roman" pitchFamily="18" charset="0"/>
                  <a:cs typeface="Times New Roman" pitchFamily="18" charset="0"/>
                </a:rPr>
                <a:t> </a:t>
              </a:r>
              <a:r>
                <a:rPr lang="zh-TW" altLang="en-US" sz="1200" dirty="0">
                  <a:solidFill>
                    <a:schemeClr val="tx1"/>
                  </a:solidFill>
                  <a:latin typeface="Times New Roman" pitchFamily="18" charset="0"/>
                  <a:cs typeface="Times New Roman" pitchFamily="18" charset="0"/>
                </a:rPr>
                <a:t>為取自這一母體的一個子樣，則 ∀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a:t>
              </a:r>
              <a:r>
                <a:rPr lang="en-US" altLang="zh-TW" sz="1200" baseline="-25000" dirty="0" err="1">
                  <a:solidFill>
                    <a:schemeClr val="tx1"/>
                  </a:solidFill>
                  <a:latin typeface="Times New Roman" pitchFamily="18" charset="0"/>
                  <a:cs typeface="Times New Roman" pitchFamily="18" charset="0"/>
                </a:rPr>
                <a:t>i</a:t>
              </a:r>
              <a:r>
                <a:rPr lang="en-US" altLang="zh-TW" sz="1200" baseline="-25000" dirty="0">
                  <a:solidFill>
                    <a:schemeClr val="tx1"/>
                  </a:solidFill>
                  <a:latin typeface="Times New Roman" pitchFamily="18" charset="0"/>
                  <a:cs typeface="Times New Roman" pitchFamily="18" charset="0"/>
                </a:rPr>
                <a:t>)</a:t>
              </a:r>
              <a:r>
                <a:rPr lang="en-US" altLang="zh-TW" sz="1200" dirty="0">
                  <a:solidFill>
                    <a:schemeClr val="tx1"/>
                  </a:solidFill>
                  <a:latin typeface="Times New Roman" pitchFamily="18" charset="0"/>
                  <a:cs typeface="Times New Roman" pitchFamily="18" charset="0"/>
                </a:rPr>
                <a:t> </a:t>
              </a:r>
              <a:r>
                <a:rPr lang="zh-TW" altLang="en-US" sz="1200" dirty="0">
                  <a:solidFill>
                    <a:schemeClr val="tx1"/>
                  </a:solidFill>
                  <a:latin typeface="Times New Roman" pitchFamily="18" charset="0"/>
                  <a:cs typeface="Times New Roman" pitchFamily="18" charset="0"/>
                </a:rPr>
                <a:t>＜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(j)</a:t>
              </a:r>
              <a:r>
                <a:rPr lang="zh-TW" altLang="en-US" sz="1200" dirty="0">
                  <a:solidFill>
                    <a:schemeClr val="tx1"/>
                  </a:solidFill>
                  <a:latin typeface="Times New Roman" pitchFamily="18" charset="0"/>
                  <a:cs typeface="Times New Roman" pitchFamily="18" charset="0"/>
                </a:rPr>
                <a:t> 的</a:t>
              </a:r>
              <a:r>
                <a:rPr lang="zh-CN" altLang="en-US" sz="1200" dirty="0">
                  <a:solidFill>
                    <a:schemeClr val="tx1"/>
                  </a:solidFill>
                  <a:latin typeface="Times New Roman" pitchFamily="18" charset="0"/>
                  <a:cs typeface="Times New Roman" pitchFamily="18" charset="0"/>
                </a:rPr>
                <a:t>聯合</a:t>
              </a:r>
              <a:r>
                <a:rPr lang="zh-TW" altLang="en-US" sz="1200" dirty="0">
                  <a:solidFill>
                    <a:schemeClr val="tx1"/>
                  </a:solidFill>
                  <a:latin typeface="Times New Roman" pitchFamily="18" charset="0"/>
                  <a:cs typeface="Times New Roman" pitchFamily="18" charset="0"/>
                </a:rPr>
                <a:t>密度函數為：</a:t>
              </a:r>
              <a:endParaRPr lang="en-US" altLang="zh-CN" sz="1200" dirty="0">
                <a:solidFill>
                  <a:schemeClr val="tx1"/>
                </a:solidFill>
                <a:latin typeface="Times New Roman" pitchFamily="18" charset="0"/>
                <a:cs typeface="Times New Roman" pitchFamily="18" charset="0"/>
              </a:endParaRPr>
            </a:p>
          </p:txBody>
        </p:sp>
        <p:graphicFrame>
          <p:nvGraphicFramePr>
            <p:cNvPr id="154630" name="Object 6"/>
            <p:cNvGraphicFramePr>
              <a:graphicFrameLocks noChangeAspect="1"/>
            </p:cNvGraphicFramePr>
            <p:nvPr>
              <p:extLst>
                <p:ext uri="{D42A27DB-BD31-4B8C-83A1-F6EECF244321}">
                  <p14:modId xmlns:p14="http://schemas.microsoft.com/office/powerpoint/2010/main" val="2289593165"/>
                </p:ext>
              </p:extLst>
            </p:nvPr>
          </p:nvGraphicFramePr>
          <p:xfrm>
            <a:off x="581703" y="5184807"/>
            <a:ext cx="8257503" cy="724374"/>
          </p:xfrm>
          <a:graphic>
            <a:graphicData uri="http://schemas.openxmlformats.org/presentationml/2006/ole">
              <mc:AlternateContent xmlns:mc="http://schemas.openxmlformats.org/markup-compatibility/2006">
                <mc:Choice xmlns:v="urn:schemas-microsoft-com:vml" Requires="v">
                  <p:oleObj name="Equation" r:id="rId3" imgW="6388100" imgH="685800" progId="">
                    <p:embed/>
                  </p:oleObj>
                </mc:Choice>
                <mc:Fallback>
                  <p:oleObj name="Equation" r:id="rId3" imgW="6388100" imgH="685800" progId="">
                    <p:embed/>
                    <p:pic>
                      <p:nvPicPr>
                        <p:cNvPr id="0" name="Picture 10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703" y="5184807"/>
                          <a:ext cx="8257503" cy="724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5589" name="Rectangle 4"/>
            <p:cNvSpPr>
              <a:spLocks noChangeArrowheads="1"/>
            </p:cNvSpPr>
            <p:nvPr/>
          </p:nvSpPr>
          <p:spPr bwMode="auto">
            <a:xfrm>
              <a:off x="284142" y="625821"/>
              <a:ext cx="112234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rPr>
                <a:t>次序統計量的定義：</a:t>
              </a:r>
              <a:endParaRPr lang="en-US" altLang="zh-CN" sz="1200" dirty="0">
                <a:solidFill>
                  <a:schemeClr val="tx1"/>
                </a:solidFill>
              </a:endParaRPr>
            </a:p>
          </p:txBody>
        </p:sp>
        <p:sp>
          <p:nvSpPr>
            <p:cNvPr id="195590" name="Rectangle 4"/>
            <p:cNvSpPr>
              <a:spLocks noChangeArrowheads="1"/>
            </p:cNvSpPr>
            <p:nvPr/>
          </p:nvSpPr>
          <p:spPr bwMode="auto">
            <a:xfrm>
              <a:off x="284144" y="904568"/>
              <a:ext cx="112234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rPr>
                <a:t>設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1</a:t>
              </a:r>
              <a:r>
                <a:rPr lang="en-US" altLang="zh-TW" sz="1200" dirty="0">
                  <a:solidFill>
                    <a:schemeClr val="tx1"/>
                  </a:solidFill>
                  <a:latin typeface="Times New Roman" pitchFamily="18" charset="0"/>
                  <a:cs typeface="Times New Roman" pitchFamily="18" charset="0"/>
                </a:rPr>
                <a:t>,</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2</a:t>
              </a:r>
              <a:r>
                <a:rPr lang="en-US" altLang="zh-TW" sz="1200" dirty="0">
                  <a:solidFill>
                    <a:schemeClr val="tx1"/>
                  </a:solidFill>
                  <a:latin typeface="Times New Roman" pitchFamily="18" charset="0"/>
                  <a:cs typeface="Times New Roman" pitchFamily="18" charset="0"/>
                </a:rPr>
                <a:t>,…,</a:t>
              </a:r>
              <a:r>
                <a:rPr lang="en-US" altLang="zh-TW" sz="1200" i="1" dirty="0" err="1">
                  <a:solidFill>
                    <a:schemeClr val="tx1"/>
                  </a:solidFill>
                  <a:latin typeface="Times New Roman" pitchFamily="18" charset="0"/>
                  <a:cs typeface="Times New Roman" pitchFamily="18" charset="0"/>
                </a:rPr>
                <a:t>ζ</a:t>
              </a:r>
              <a:r>
                <a:rPr lang="en-US" altLang="zh-TW" sz="1200" baseline="-25000" dirty="0" err="1">
                  <a:solidFill>
                    <a:schemeClr val="tx1"/>
                  </a:solidFill>
                  <a:latin typeface="Times New Roman" pitchFamily="18" charset="0"/>
                  <a:cs typeface="Times New Roman" pitchFamily="18" charset="0"/>
                </a:rPr>
                <a:t>n</a:t>
              </a:r>
              <a:r>
                <a:rPr lang="en-US" altLang="zh-TW" sz="1200" dirty="0">
                  <a:solidFill>
                    <a:schemeClr val="tx1"/>
                  </a:solidFill>
                </a:rPr>
                <a:t> </a:t>
              </a:r>
              <a:r>
                <a:rPr lang="zh-TW" altLang="en-US" sz="1200" dirty="0">
                  <a:solidFill>
                    <a:schemeClr val="tx1"/>
                  </a:solidFill>
                </a:rPr>
                <a:t>為取自分佈函數為 </a:t>
              </a:r>
              <a:r>
                <a:rPr lang="en-US" altLang="zh-TW" sz="1200" i="1" dirty="0">
                  <a:solidFill>
                    <a:schemeClr val="tx1"/>
                  </a:solidFill>
                  <a:latin typeface="Times New Roman" pitchFamily="18" charset="0"/>
                  <a:cs typeface="Times New Roman" pitchFamily="18" charset="0"/>
                </a:rPr>
                <a:t>F</a:t>
              </a:r>
              <a:r>
                <a:rPr lang="en-US" altLang="zh-TW" sz="1200" dirty="0">
                  <a:solidFill>
                    <a:schemeClr val="tx1"/>
                  </a:solidFill>
                  <a:latin typeface="Times New Roman" pitchFamily="18" charset="0"/>
                  <a:cs typeface="Times New Roman" pitchFamily="18" charset="0"/>
                </a:rPr>
                <a:t>(x)</a:t>
              </a:r>
              <a:r>
                <a:rPr lang="en-US" altLang="zh-TW" sz="1200" dirty="0">
                  <a:solidFill>
                    <a:schemeClr val="tx1"/>
                  </a:solidFill>
                </a:rPr>
                <a:t> </a:t>
              </a:r>
              <a:r>
                <a:rPr lang="zh-TW" altLang="en-US" sz="1200" dirty="0">
                  <a:solidFill>
                    <a:schemeClr val="tx1"/>
                  </a:solidFill>
                </a:rPr>
                <a:t>的母體 </a:t>
              </a:r>
              <a:r>
                <a:rPr lang="en-US" altLang="zh-TW" sz="1200" i="1" dirty="0">
                  <a:solidFill>
                    <a:schemeClr val="tx1"/>
                  </a:solidFill>
                  <a:latin typeface="Times New Roman" pitchFamily="18" charset="0"/>
                  <a:cs typeface="Times New Roman" pitchFamily="18" charset="0"/>
                </a:rPr>
                <a:t>ζ</a:t>
              </a:r>
              <a:r>
                <a:rPr lang="en-US" altLang="zh-TW" sz="1200" dirty="0">
                  <a:solidFill>
                    <a:schemeClr val="tx1"/>
                  </a:solidFill>
                </a:rPr>
                <a:t> </a:t>
              </a:r>
              <a:r>
                <a:rPr lang="zh-TW" altLang="en-US" sz="1200" dirty="0">
                  <a:solidFill>
                    <a:schemeClr val="tx1"/>
                  </a:solidFill>
                </a:rPr>
                <a:t>的一個子樣，</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1</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2</a:t>
              </a:r>
              <a:r>
                <a:rPr lang="en-US" altLang="zh-TW" sz="1200" i="1" dirty="0">
                  <a:solidFill>
                    <a:schemeClr val="tx1"/>
                  </a:solidFill>
                  <a:latin typeface="Times New Roman" pitchFamily="18" charset="0"/>
                  <a:cs typeface="Times New Roman" pitchFamily="18" charset="0"/>
                </a:rPr>
                <a:t>,…,</a:t>
              </a:r>
              <a:r>
                <a:rPr lang="en-US" altLang="zh-TW" sz="1200" i="1" dirty="0" err="1">
                  <a:solidFill>
                    <a:schemeClr val="tx1"/>
                  </a:solidFill>
                  <a:latin typeface="Times New Roman" pitchFamily="18" charset="0"/>
                  <a:cs typeface="Times New Roman" pitchFamily="18" charset="0"/>
                </a:rPr>
                <a:t>x</a:t>
              </a:r>
              <a:r>
                <a:rPr lang="en-US" altLang="zh-TW" sz="1200" i="1" baseline="-25000" dirty="0" err="1">
                  <a:solidFill>
                    <a:schemeClr val="tx1"/>
                  </a:solidFill>
                  <a:latin typeface="Times New Roman" pitchFamily="18" charset="0"/>
                  <a:cs typeface="Times New Roman" pitchFamily="18" charset="0"/>
                </a:rPr>
                <a:t>n</a:t>
              </a:r>
              <a:r>
                <a:rPr lang="en-US" altLang="zh-TW" sz="1200" dirty="0">
                  <a:solidFill>
                    <a:schemeClr val="tx1"/>
                  </a:solidFill>
                </a:rPr>
                <a:t> </a:t>
              </a:r>
              <a:r>
                <a:rPr lang="zh-TW" altLang="en-US" sz="1200" dirty="0">
                  <a:solidFill>
                    <a:schemeClr val="tx1"/>
                  </a:solidFill>
                </a:rPr>
                <a:t>表示這個子樣的一組觀測值，這些觀測值由小到大用 </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(1)</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(2)</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(n)</a:t>
              </a:r>
              <a:r>
                <a:rPr lang="en-US" altLang="zh-TW" sz="1200" dirty="0">
                  <a:solidFill>
                    <a:schemeClr val="tx1"/>
                  </a:solidFill>
                </a:rPr>
                <a:t> </a:t>
              </a:r>
              <a:r>
                <a:rPr lang="zh-TW" altLang="en-US" sz="1200" dirty="0">
                  <a:solidFill>
                    <a:schemeClr val="tx1"/>
                  </a:solidFill>
                </a:rPr>
                <a:t>表示，即 </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(1)</a:t>
              </a:r>
              <a:r>
                <a:rPr lang="en-US" altLang="zh-TW" sz="1200" dirty="0">
                  <a:solidFill>
                    <a:schemeClr val="tx1"/>
                  </a:solidFill>
                </a:rPr>
                <a:t> ≤ </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(2)</a:t>
              </a:r>
              <a:r>
                <a:rPr lang="en-US" altLang="zh-TW" sz="1200" dirty="0">
                  <a:solidFill>
                    <a:schemeClr val="tx1"/>
                  </a:solidFill>
                </a:rPr>
                <a:t> ≤</a:t>
              </a:r>
              <a:r>
                <a:rPr lang="en-US" altLang="zh-TW" sz="1200" i="1" dirty="0">
                  <a:latin typeface="Times New Roman" pitchFamily="18" charset="0"/>
                  <a:cs typeface="Times New Roman" pitchFamily="18" charset="0"/>
                </a:rPr>
                <a:t>,…,</a:t>
              </a:r>
              <a:r>
                <a:rPr lang="en-US" altLang="zh-TW" sz="1200" dirty="0">
                  <a:solidFill>
                    <a:schemeClr val="tx1"/>
                  </a:solidFill>
                </a:rPr>
                <a:t>≤ </a:t>
              </a:r>
              <a:r>
                <a:rPr lang="en-US" altLang="zh-TW" sz="1200" i="1" dirty="0">
                  <a:solidFill>
                    <a:schemeClr val="tx1"/>
                  </a:solidFill>
                  <a:latin typeface="Times New Roman" pitchFamily="18" charset="0"/>
                  <a:cs typeface="Times New Roman" pitchFamily="18" charset="0"/>
                </a:rPr>
                <a:t>x</a:t>
              </a:r>
              <a:r>
                <a:rPr lang="en-US" altLang="zh-TW" sz="1200" baseline="-25000" dirty="0">
                  <a:solidFill>
                    <a:schemeClr val="tx1"/>
                  </a:solidFill>
                  <a:latin typeface="Times New Roman" pitchFamily="18" charset="0"/>
                  <a:cs typeface="Times New Roman" pitchFamily="18" charset="0"/>
                </a:rPr>
                <a:t>(n)</a:t>
              </a:r>
              <a:r>
                <a:rPr lang="en-US" altLang="zh-TW" sz="1200" dirty="0">
                  <a:solidFill>
                    <a:schemeClr val="tx1"/>
                  </a:solidFill>
                </a:rPr>
                <a:t> </a:t>
              </a:r>
              <a:r>
                <a:rPr lang="zh-CN" altLang="en-US" sz="1200" dirty="0"/>
                <a:t>，若 </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a:t>
              </a:r>
              <a:r>
                <a:rPr lang="en-US" altLang="zh-CN" sz="1200" baseline="-25000" dirty="0" err="1">
                  <a:latin typeface="Times New Roman" pitchFamily="18" charset="0"/>
                  <a:cs typeface="Times New Roman" pitchFamily="18" charset="0"/>
                </a:rPr>
                <a:t>i</a:t>
              </a:r>
              <a:r>
                <a:rPr lang="en-US" altLang="zh-CN" sz="1200" baseline="-25000" dirty="0">
                  <a:latin typeface="Times New Roman" pitchFamily="18" charset="0"/>
                  <a:cs typeface="Times New Roman" pitchFamily="18" charset="0"/>
                </a:rPr>
                <a:t>)</a:t>
              </a:r>
              <a:r>
                <a:rPr lang="en-US" altLang="zh-CN" sz="1200" dirty="0"/>
                <a:t> = </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(j)</a:t>
              </a:r>
              <a:r>
                <a:rPr lang="en-US" altLang="zh-CN" sz="1200" dirty="0"/>
                <a:t> </a:t>
              </a:r>
              <a:r>
                <a:rPr lang="zh-CN" altLang="en-US" sz="1200" dirty="0"/>
                <a:t>，則它們的次序可任意安排；</a:t>
              </a:r>
            </a:p>
          </p:txBody>
        </p:sp>
        <p:sp>
          <p:nvSpPr>
            <p:cNvPr id="195592" name="Rectangle 4"/>
            <p:cNvSpPr>
              <a:spLocks noChangeArrowheads="1"/>
            </p:cNvSpPr>
            <p:nvPr/>
          </p:nvSpPr>
          <p:spPr bwMode="auto">
            <a:xfrm>
              <a:off x="284143" y="1484056"/>
              <a:ext cx="112234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rPr>
                <a:t>第</a:t>
              </a:r>
              <a:r>
                <a:rPr lang="zh-TW" altLang="en-US" sz="1200" dirty="0">
                  <a:solidFill>
                    <a:schemeClr val="tx1"/>
                  </a:solidFill>
                  <a:latin typeface="Times New Roman" pitchFamily="18" charset="0"/>
                  <a:cs typeface="Times New Roman" pitchFamily="18" charset="0"/>
                </a:rPr>
                <a:t> </a:t>
              </a:r>
              <a:r>
                <a:rPr lang="en-US" altLang="zh-TW" sz="1200" i="1" dirty="0" err="1">
                  <a:solidFill>
                    <a:schemeClr val="tx1"/>
                  </a:solidFill>
                  <a:latin typeface="Times New Roman" pitchFamily="18" charset="0"/>
                  <a:cs typeface="Times New Roman" pitchFamily="18" charset="0"/>
                </a:rPr>
                <a:t>i</a:t>
              </a:r>
              <a:r>
                <a:rPr lang="en-US" altLang="zh-TW" sz="1200" dirty="0">
                  <a:solidFill>
                    <a:schemeClr val="tx1"/>
                  </a:solidFill>
                  <a:latin typeface="Times New Roman" pitchFamily="18" charset="0"/>
                  <a:cs typeface="Times New Roman" pitchFamily="18" charset="0"/>
                </a:rPr>
                <a:t> </a:t>
              </a:r>
              <a:r>
                <a:rPr lang="zh-TW" altLang="en-US" sz="1200" dirty="0">
                  <a:solidFill>
                    <a:schemeClr val="tx1"/>
                  </a:solidFill>
                </a:rPr>
                <a:t>個次序統計量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a:t>
              </a:r>
              <a:r>
                <a:rPr lang="en-US" altLang="zh-TW" sz="1200" baseline="-25000" dirty="0" err="1">
                  <a:solidFill>
                    <a:schemeClr val="tx1"/>
                  </a:solidFill>
                  <a:latin typeface="Times New Roman" pitchFamily="18" charset="0"/>
                  <a:cs typeface="Times New Roman" pitchFamily="18" charset="0"/>
                </a:rPr>
                <a:t>i</a:t>
              </a:r>
              <a:r>
                <a:rPr lang="en-US" altLang="zh-TW" sz="1200" baseline="-25000" dirty="0">
                  <a:solidFill>
                    <a:schemeClr val="tx1"/>
                  </a:solidFill>
                  <a:latin typeface="Times New Roman" pitchFamily="18" charset="0"/>
                  <a:cs typeface="Times New Roman" pitchFamily="18" charset="0"/>
                </a:rPr>
                <a:t>)</a:t>
              </a:r>
              <a:r>
                <a:rPr lang="en-US" altLang="zh-TW" sz="1200" dirty="0">
                  <a:solidFill>
                    <a:schemeClr val="tx1"/>
                  </a:solidFill>
                </a:rPr>
                <a:t> </a:t>
              </a:r>
              <a:r>
                <a:rPr lang="zh-TW" altLang="en-US" sz="1200" dirty="0">
                  <a:solidFill>
                    <a:schemeClr val="tx1"/>
                  </a:solidFill>
                </a:rPr>
                <a:t>是子樣 </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1</a:t>
              </a:r>
              <a:r>
                <a:rPr lang="en-US" altLang="zh-TW" sz="1200" dirty="0">
                  <a:solidFill>
                    <a:schemeClr val="tx1"/>
                  </a:solidFill>
                  <a:latin typeface="Times New Roman" pitchFamily="18" charset="0"/>
                  <a:cs typeface="Times New Roman" pitchFamily="18" charset="0"/>
                </a:rPr>
                <a:t>,</a:t>
              </a:r>
              <a:r>
                <a:rPr lang="en-US"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2</a:t>
              </a:r>
              <a:r>
                <a:rPr lang="en-US" altLang="zh-TW" sz="1200" dirty="0">
                  <a:solidFill>
                    <a:schemeClr val="tx1"/>
                  </a:solidFill>
                  <a:latin typeface="Times New Roman" pitchFamily="18" charset="0"/>
                  <a:cs typeface="Times New Roman" pitchFamily="18" charset="0"/>
                </a:rPr>
                <a:t>,…,</a:t>
              </a:r>
              <a:r>
                <a:rPr lang="en-US" altLang="zh-TW" sz="1200" i="1" dirty="0" err="1">
                  <a:solidFill>
                    <a:schemeClr val="tx1"/>
                  </a:solidFill>
                  <a:latin typeface="Times New Roman" pitchFamily="18" charset="0"/>
                  <a:cs typeface="Times New Roman" pitchFamily="18" charset="0"/>
                </a:rPr>
                <a:t>ζ</a:t>
              </a:r>
              <a:r>
                <a:rPr lang="en-US" altLang="zh-TW" sz="1200" baseline="-25000" dirty="0" err="1">
                  <a:solidFill>
                    <a:schemeClr val="tx1"/>
                  </a:solidFill>
                  <a:latin typeface="Times New Roman" pitchFamily="18" charset="0"/>
                  <a:cs typeface="Times New Roman" pitchFamily="18" charset="0"/>
                </a:rPr>
                <a:t>n</a:t>
              </a:r>
              <a:r>
                <a:rPr lang="en-US" altLang="zh-TW" sz="1200" dirty="0">
                  <a:solidFill>
                    <a:schemeClr val="tx1"/>
                  </a:solidFill>
                </a:rPr>
                <a:t> </a:t>
              </a:r>
              <a:r>
                <a:rPr lang="zh-TW" altLang="en-US" sz="1200" dirty="0">
                  <a:solidFill>
                    <a:schemeClr val="tx1"/>
                  </a:solidFill>
                </a:rPr>
                <a:t>的一個函數，它總是取一組觀測值中第 </a:t>
              </a:r>
              <a:r>
                <a:rPr lang="en-US" altLang="zh-CN" sz="1200" i="1" dirty="0" err="1">
                  <a:solidFill>
                    <a:schemeClr val="tx1"/>
                  </a:solidFill>
                  <a:latin typeface="Times New Roman" pitchFamily="18" charset="0"/>
                  <a:cs typeface="Times New Roman" pitchFamily="18" charset="0"/>
                </a:rPr>
                <a:t>i</a:t>
              </a:r>
              <a:r>
                <a:rPr lang="en-US" altLang="zh-TW" sz="1200" i="1" dirty="0">
                  <a:solidFill>
                    <a:schemeClr val="tx1"/>
                  </a:solidFill>
                  <a:latin typeface="Times New Roman" pitchFamily="18" charset="0"/>
                  <a:cs typeface="Times New Roman" pitchFamily="18" charset="0"/>
                </a:rPr>
                <a:t> </a:t>
              </a:r>
              <a:r>
                <a:rPr lang="zh-TW" altLang="en-US" sz="1200" dirty="0">
                  <a:solidFill>
                    <a:schemeClr val="tx1"/>
                  </a:solidFill>
                </a:rPr>
                <a:t>個小的數為觀測值</a:t>
              </a:r>
              <a:r>
                <a:rPr lang="zh-CN" altLang="en-US" sz="1200" dirty="0">
                  <a:solidFill>
                    <a:schemeClr val="tx1"/>
                  </a:solidFill>
                </a:rPr>
                <a:t>；</a:t>
              </a:r>
              <a:endParaRPr lang="en-US" altLang="zh-CN" sz="1200" dirty="0">
                <a:solidFill>
                  <a:schemeClr val="tx1"/>
                </a:solidFill>
              </a:endParaRPr>
            </a:p>
          </p:txBody>
        </p:sp>
        <p:sp>
          <p:nvSpPr>
            <p:cNvPr id="195593" name="Rectangle 4"/>
            <p:cNvSpPr>
              <a:spLocks noChangeArrowheads="1"/>
            </p:cNvSpPr>
            <p:nvPr/>
          </p:nvSpPr>
          <p:spPr bwMode="auto">
            <a:xfrm>
              <a:off x="284143" y="1786235"/>
              <a:ext cx="112234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l-GR" altLang="zh-TW" sz="1200" i="1" dirty="0">
                  <a:solidFill>
                    <a:schemeClr val="tx1"/>
                  </a:solidFill>
                  <a:latin typeface="Times New Roman" pitchFamily="18" charset="0"/>
                  <a:cs typeface="Times New Roman" pitchFamily="18" charset="0"/>
                </a:rPr>
                <a:t>ζ</a:t>
              </a:r>
              <a:r>
                <a:rPr lang="el-GR" altLang="zh-TW" sz="1200" baseline="-25000" dirty="0">
                  <a:solidFill>
                    <a:schemeClr val="tx1"/>
                  </a:solidFill>
                  <a:latin typeface="Times New Roman" pitchFamily="18" charset="0"/>
                  <a:cs typeface="Times New Roman" pitchFamily="18" charset="0"/>
                </a:rPr>
                <a:t>1</a:t>
              </a:r>
              <a:r>
                <a:rPr lang="el-GR" altLang="zh-TW" sz="1200" dirty="0">
                  <a:solidFill>
                    <a:schemeClr val="tx1"/>
                  </a:solidFill>
                  <a:latin typeface="Times New Roman" pitchFamily="18" charset="0"/>
                  <a:cs typeface="Times New Roman" pitchFamily="18" charset="0"/>
                </a:rPr>
                <a:t>,</a:t>
              </a:r>
              <a:r>
                <a:rPr lang="el-GR" altLang="zh-TW" sz="1200" i="1" dirty="0">
                  <a:solidFill>
                    <a:schemeClr val="tx1"/>
                  </a:solidFill>
                  <a:latin typeface="Times New Roman" pitchFamily="18" charset="0"/>
                  <a:cs typeface="Times New Roman" pitchFamily="18" charset="0"/>
                </a:rPr>
                <a:t>ζ</a:t>
              </a:r>
              <a:r>
                <a:rPr lang="el-GR" altLang="zh-TW" sz="1200" baseline="-25000" dirty="0">
                  <a:solidFill>
                    <a:schemeClr val="tx1"/>
                  </a:solidFill>
                  <a:latin typeface="Times New Roman" pitchFamily="18" charset="0"/>
                  <a:cs typeface="Times New Roman" pitchFamily="18" charset="0"/>
                </a:rPr>
                <a:t>2</a:t>
              </a:r>
              <a:r>
                <a:rPr lang="el-GR" altLang="zh-TW" sz="1200" dirty="0">
                  <a:solidFill>
                    <a:schemeClr val="tx1"/>
                  </a:solidFill>
                  <a:latin typeface="Times New Roman" pitchFamily="18" charset="0"/>
                  <a:cs typeface="Times New Roman" pitchFamily="18" charset="0"/>
                </a:rPr>
                <a:t>,…,</a:t>
              </a:r>
              <a:r>
                <a:rPr lang="el-GR" altLang="zh-TW" sz="1200" i="1" dirty="0">
                  <a:solidFill>
                    <a:schemeClr val="tx1"/>
                  </a:solidFill>
                  <a:latin typeface="Times New Roman" pitchFamily="18" charset="0"/>
                  <a:cs typeface="Times New Roman" pitchFamily="18" charset="0"/>
                </a:rPr>
                <a:t>ζ</a:t>
              </a:r>
              <a:r>
                <a:rPr lang="en-US" altLang="zh-TW" sz="1200" baseline="-25000" dirty="0">
                  <a:solidFill>
                    <a:schemeClr val="tx1"/>
                  </a:solidFill>
                  <a:latin typeface="Times New Roman" pitchFamily="18" charset="0"/>
                  <a:cs typeface="Times New Roman" pitchFamily="18" charset="0"/>
                </a:rPr>
                <a:t>n</a:t>
              </a:r>
              <a:r>
                <a:rPr lang="en-US" altLang="zh-TW" sz="1200" dirty="0">
                  <a:solidFill>
                    <a:schemeClr val="tx1"/>
                  </a:solidFill>
                </a:rPr>
                <a:t>  →  </a:t>
              </a:r>
              <a:r>
                <a:rPr lang="el-GR" altLang="zh-TW" sz="1200" i="1" dirty="0">
                  <a:solidFill>
                    <a:schemeClr val="tx1"/>
                  </a:solidFill>
                  <a:latin typeface="Times New Roman" pitchFamily="18" charset="0"/>
                  <a:cs typeface="Times New Roman" pitchFamily="18" charset="0"/>
                </a:rPr>
                <a:t>ζ</a:t>
              </a:r>
              <a:r>
                <a:rPr lang="el-GR" altLang="zh-TW" sz="1200" baseline="-25000" dirty="0">
                  <a:solidFill>
                    <a:schemeClr val="tx1"/>
                  </a:solidFill>
                  <a:latin typeface="Times New Roman" pitchFamily="18" charset="0"/>
                  <a:cs typeface="Times New Roman" pitchFamily="18" charset="0"/>
                </a:rPr>
                <a:t>(1)</a:t>
              </a:r>
              <a:r>
                <a:rPr lang="en-US" altLang="zh-TW" sz="1200" dirty="0">
                  <a:solidFill>
                    <a:schemeClr val="tx1"/>
                  </a:solidFill>
                </a:rPr>
                <a:t> </a:t>
              </a:r>
              <a:r>
                <a:rPr lang="el-GR" altLang="zh-TW" sz="1200" dirty="0">
                  <a:solidFill>
                    <a:schemeClr val="tx1"/>
                  </a:solidFill>
                </a:rPr>
                <a:t>≤</a:t>
              </a:r>
              <a:r>
                <a:rPr lang="en-US" altLang="zh-TW" sz="1200" dirty="0">
                  <a:solidFill>
                    <a:schemeClr val="tx1"/>
                  </a:solidFill>
                </a:rPr>
                <a:t> </a:t>
              </a:r>
              <a:r>
                <a:rPr lang="el-GR" altLang="zh-TW" sz="1200" i="1" dirty="0">
                  <a:solidFill>
                    <a:schemeClr val="tx1"/>
                  </a:solidFill>
                  <a:latin typeface="Times New Roman" pitchFamily="18" charset="0"/>
                  <a:cs typeface="Times New Roman" pitchFamily="18" charset="0"/>
                </a:rPr>
                <a:t>ζ</a:t>
              </a:r>
              <a:r>
                <a:rPr lang="el-GR" altLang="zh-TW" sz="1200" baseline="-25000" dirty="0">
                  <a:solidFill>
                    <a:schemeClr val="tx1"/>
                  </a:solidFill>
                  <a:latin typeface="Times New Roman" pitchFamily="18" charset="0"/>
                  <a:cs typeface="Times New Roman" pitchFamily="18" charset="0"/>
                </a:rPr>
                <a:t>(2)</a:t>
              </a:r>
              <a:r>
                <a:rPr lang="en-US" altLang="zh-TW" sz="1200" dirty="0">
                  <a:solidFill>
                    <a:schemeClr val="tx1"/>
                  </a:solidFill>
                </a:rPr>
                <a:t> </a:t>
              </a:r>
              <a:r>
                <a:rPr lang="el-GR" altLang="zh-TW" sz="1200" dirty="0">
                  <a:solidFill>
                    <a:schemeClr val="tx1"/>
                  </a:solidFill>
                </a:rPr>
                <a:t>≤…≤</a:t>
              </a:r>
              <a:r>
                <a:rPr lang="en-US" altLang="zh-TW" sz="1200" dirty="0">
                  <a:solidFill>
                    <a:schemeClr val="tx1"/>
                  </a:solidFill>
                </a:rPr>
                <a:t> </a:t>
              </a:r>
              <a:r>
                <a:rPr lang="el-GR" altLang="zh-TW" sz="1200" i="1" dirty="0">
                  <a:solidFill>
                    <a:schemeClr val="tx1"/>
                  </a:solidFill>
                  <a:latin typeface="Times New Roman" pitchFamily="18" charset="0"/>
                  <a:cs typeface="Times New Roman" pitchFamily="18" charset="0"/>
                </a:rPr>
                <a:t>ζ</a:t>
              </a:r>
              <a:r>
                <a:rPr lang="el-GR" altLang="zh-TW" sz="1200" baseline="-25000" dirty="0">
                  <a:solidFill>
                    <a:schemeClr val="tx1"/>
                  </a:solidFill>
                  <a:latin typeface="Times New Roman" pitchFamily="18" charset="0"/>
                  <a:cs typeface="Times New Roman" pitchFamily="18" charset="0"/>
                </a:rPr>
                <a:t>(</a:t>
              </a:r>
              <a:r>
                <a:rPr lang="en-US" altLang="zh-TW" sz="1200" baseline="-25000" dirty="0">
                  <a:solidFill>
                    <a:schemeClr val="tx1"/>
                  </a:solidFill>
                  <a:latin typeface="Times New Roman" pitchFamily="18" charset="0"/>
                  <a:cs typeface="Times New Roman" pitchFamily="18" charset="0"/>
                </a:rPr>
                <a:t>n)</a:t>
              </a:r>
              <a:r>
                <a:rPr lang="zh-TW" altLang="en-US" sz="1200" dirty="0">
                  <a:solidFill>
                    <a:schemeClr val="tx1"/>
                  </a:solidFill>
                </a:rPr>
                <a:t> </a:t>
              </a:r>
              <a:r>
                <a:rPr lang="zh-CN" altLang="en-US" sz="1200" dirty="0">
                  <a:solidFill>
                    <a:schemeClr val="tx1"/>
                  </a:solidFill>
                </a:rPr>
                <a:t>；</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1</a:t>
              </a:r>
              <a:r>
                <a:rPr lang="pt-BR" altLang="zh-CN" sz="1200" dirty="0">
                  <a:latin typeface="Times New Roman" pitchFamily="18" charset="0"/>
                  <a:cs typeface="Times New Roman" pitchFamily="18" charset="0"/>
                </a:rPr>
                <a:t>,</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2</a:t>
              </a:r>
              <a:r>
                <a:rPr lang="pt-BR" altLang="zh-CN" sz="1200" dirty="0">
                  <a:latin typeface="Times New Roman" pitchFamily="18" charset="0"/>
                  <a:cs typeface="Times New Roman" pitchFamily="18" charset="0"/>
                </a:rPr>
                <a:t>,…,</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n</a:t>
              </a:r>
              <a:r>
                <a:rPr lang="pt-BR" altLang="zh-CN" sz="1200" dirty="0"/>
                <a:t>  </a:t>
              </a:r>
              <a:r>
                <a:rPr lang="en-US" altLang="zh-TW" sz="1200" dirty="0"/>
                <a:t>→</a:t>
              </a:r>
              <a:r>
                <a:rPr lang="pt-BR" altLang="zh-CN" sz="1200" dirty="0"/>
                <a:t>  </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(1)</a:t>
              </a:r>
              <a:r>
                <a:rPr lang="pt-BR" altLang="zh-CN" sz="1200" dirty="0"/>
                <a:t> ≤ </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(2)</a:t>
              </a:r>
              <a:r>
                <a:rPr lang="pt-BR" altLang="zh-CN" sz="1200" dirty="0"/>
                <a:t> ≤…≤ </a:t>
              </a:r>
              <a:r>
                <a:rPr lang="pt-BR" altLang="zh-CN" sz="1200" i="1" dirty="0">
                  <a:latin typeface="Times New Roman" pitchFamily="18" charset="0"/>
                  <a:cs typeface="Times New Roman" pitchFamily="18" charset="0"/>
                </a:rPr>
                <a:t>x</a:t>
              </a:r>
              <a:r>
                <a:rPr lang="pt-BR" altLang="zh-CN" sz="1200" baseline="-25000" dirty="0">
                  <a:latin typeface="Times New Roman" pitchFamily="18" charset="0"/>
                  <a:cs typeface="Times New Roman" pitchFamily="18" charset="0"/>
                </a:rPr>
                <a:t>(n)</a:t>
              </a:r>
              <a:r>
                <a:rPr lang="pt-BR" altLang="zh-CN" sz="1200" dirty="0"/>
                <a:t> </a:t>
              </a:r>
              <a:r>
                <a:rPr lang="zh-CN" altLang="en-US" sz="1200" dirty="0"/>
                <a:t>；</a:t>
              </a:r>
              <a:r>
                <a:rPr lang="zh-TW" altLang="en-US" sz="1200" dirty="0"/>
                <a:t>其中 </a:t>
              </a:r>
              <a:r>
                <a:rPr lang="en-US" altLang="zh-TW" sz="1200" i="1" dirty="0">
                  <a:latin typeface="Times New Roman" pitchFamily="18" charset="0"/>
                  <a:cs typeface="Times New Roman" pitchFamily="18" charset="0"/>
                </a:rPr>
                <a:t>ζ</a:t>
              </a:r>
              <a:r>
                <a:rPr lang="en-US" altLang="zh-TW" sz="1200" baseline="-25000" dirty="0">
                  <a:latin typeface="Times New Roman" pitchFamily="18" charset="0"/>
                  <a:cs typeface="Times New Roman" pitchFamily="18" charset="0"/>
                </a:rPr>
                <a:t>(1)</a:t>
              </a:r>
              <a:r>
                <a:rPr lang="en-US" altLang="zh-TW" sz="1200" dirty="0"/>
                <a:t> </a:t>
              </a:r>
              <a:r>
                <a:rPr lang="zh-TW" altLang="en-US" sz="1200" dirty="0"/>
                <a:t>稱為最小次序統計量，</a:t>
              </a:r>
              <a:r>
                <a:rPr lang="en-US" altLang="zh-TW" sz="1200" i="1" dirty="0">
                  <a:latin typeface="Times New Roman" pitchFamily="18" charset="0"/>
                  <a:cs typeface="Times New Roman" pitchFamily="18" charset="0"/>
                </a:rPr>
                <a:t>ζ</a:t>
              </a:r>
              <a:r>
                <a:rPr lang="en-US" altLang="zh-TW" sz="1200" baseline="-25000" dirty="0">
                  <a:latin typeface="Times New Roman" pitchFamily="18" charset="0"/>
                  <a:cs typeface="Times New Roman" pitchFamily="18" charset="0"/>
                </a:rPr>
                <a:t>(n)</a:t>
              </a:r>
              <a:r>
                <a:rPr lang="en-US" altLang="zh-TW" sz="1200" dirty="0"/>
                <a:t> </a:t>
              </a:r>
              <a:r>
                <a:rPr lang="zh-TW" altLang="en-US" sz="1200" dirty="0"/>
                <a:t>稱為最大次序統計量</a:t>
              </a:r>
              <a:r>
                <a:rPr lang="zh-CN" altLang="en-US" sz="1200" dirty="0"/>
                <a:t>；</a:t>
              </a:r>
              <a:endParaRPr lang="en-US" altLang="zh-CN" sz="1200" dirty="0"/>
            </a:p>
          </p:txBody>
        </p:sp>
        <p:sp>
          <p:nvSpPr>
            <p:cNvPr id="19" name="Rectangle 4"/>
            <p:cNvSpPr>
              <a:spLocks noChangeArrowheads="1"/>
            </p:cNvSpPr>
            <p:nvPr/>
          </p:nvSpPr>
          <p:spPr bwMode="auto">
            <a:xfrm>
              <a:off x="284142" y="2155340"/>
              <a:ext cx="112234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rPr>
                <a:t>次序統計量的分佈：</a:t>
              </a:r>
              <a:endParaRPr lang="en-US" altLang="zh-CN" sz="1200" dirty="0">
                <a:solidFill>
                  <a:schemeClr val="tx1"/>
                </a:solidFill>
              </a:endParaRPr>
            </a:p>
          </p:txBody>
        </p:sp>
        <p:sp>
          <p:nvSpPr>
            <p:cNvPr id="20" name="Rectangle 4"/>
            <p:cNvSpPr>
              <a:spLocks noChangeArrowheads="1"/>
            </p:cNvSpPr>
            <p:nvPr/>
          </p:nvSpPr>
          <p:spPr bwMode="auto">
            <a:xfrm>
              <a:off x="284140" y="2424125"/>
              <a:ext cx="112234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rPr>
                <a:t>設母體 </a:t>
              </a:r>
              <a:r>
                <a:rPr lang="en-US" altLang="zh-TW" sz="1200" i="1" dirty="0">
                  <a:solidFill>
                    <a:schemeClr val="tx1"/>
                  </a:solidFill>
                </a:rPr>
                <a:t>ζ</a:t>
              </a:r>
              <a:r>
                <a:rPr lang="en-US" altLang="zh-TW" sz="1200" dirty="0">
                  <a:solidFill>
                    <a:schemeClr val="tx1"/>
                  </a:solidFill>
                </a:rPr>
                <a:t> </a:t>
              </a:r>
              <a:r>
                <a:rPr lang="zh-TW" altLang="en-US" sz="1200" dirty="0">
                  <a:solidFill>
                    <a:schemeClr val="tx1"/>
                  </a:solidFill>
                </a:rPr>
                <a:t>有密度函數 </a:t>
              </a:r>
              <a:r>
                <a:rPr lang="en-US" altLang="zh-TW" sz="1200" i="1" dirty="0">
                  <a:solidFill>
                    <a:schemeClr val="tx1"/>
                  </a:solidFill>
                  <a:latin typeface="Times New Roman" pitchFamily="18" charset="0"/>
                  <a:cs typeface="Times New Roman" pitchFamily="18" charset="0"/>
                </a:rPr>
                <a:t>f</a:t>
              </a:r>
              <a:r>
                <a:rPr lang="en-US" altLang="zh-TW" sz="1200" dirty="0">
                  <a:solidFill>
                    <a:schemeClr val="tx1"/>
                  </a:solidFill>
                  <a:latin typeface="Times New Roman" pitchFamily="18" charset="0"/>
                  <a:cs typeface="Times New Roman" pitchFamily="18" charset="0"/>
                </a:rPr>
                <a:t>(x)</a:t>
              </a:r>
              <a:r>
                <a:rPr lang="en-US" altLang="zh-TW" sz="1200" dirty="0">
                  <a:solidFill>
                    <a:schemeClr val="tx1"/>
                  </a:solidFill>
                </a:rPr>
                <a:t> </a:t>
              </a:r>
              <a:r>
                <a:rPr lang="zh-TW" altLang="en-US" sz="1200" dirty="0">
                  <a:solidFill>
                    <a:schemeClr val="tx1"/>
                  </a:solidFill>
                </a:rPr>
                <a:t>＞ </a:t>
              </a:r>
              <a:r>
                <a:rPr lang="en-US" altLang="zh-TW" sz="1200" dirty="0">
                  <a:solidFill>
                    <a:schemeClr val="tx1"/>
                  </a:solidFill>
                </a:rPr>
                <a:t>0, </a:t>
              </a:r>
              <a:r>
                <a:rPr lang="en-US" altLang="zh-TW" sz="1200" i="1" dirty="0">
                  <a:solidFill>
                    <a:schemeClr val="tx1"/>
                  </a:solidFill>
                  <a:latin typeface="Times New Roman" pitchFamily="18" charset="0"/>
                  <a:cs typeface="Times New Roman" pitchFamily="18" charset="0"/>
                </a:rPr>
                <a:t>a</a:t>
              </a:r>
              <a:r>
                <a:rPr lang="en-US" altLang="zh-TW" sz="1200" dirty="0">
                  <a:solidFill>
                    <a:schemeClr val="tx1"/>
                  </a:solidFill>
                </a:rPr>
                <a:t> ≤ </a:t>
              </a:r>
              <a:r>
                <a:rPr lang="en-US" altLang="zh-TW" sz="1200" i="1" dirty="0">
                  <a:solidFill>
                    <a:schemeClr val="tx1"/>
                  </a:solidFill>
                  <a:latin typeface="Times New Roman" pitchFamily="18" charset="0"/>
                  <a:cs typeface="Times New Roman" pitchFamily="18" charset="0"/>
                </a:rPr>
                <a:t>x</a:t>
              </a:r>
              <a:r>
                <a:rPr lang="en-US" altLang="zh-TW" sz="1200" dirty="0">
                  <a:solidFill>
                    <a:schemeClr val="tx1"/>
                  </a:solidFill>
                </a:rPr>
                <a:t> ≤ </a:t>
              </a:r>
              <a:r>
                <a:rPr lang="en-US" altLang="zh-TW" sz="1200" i="1" dirty="0">
                  <a:solidFill>
                    <a:schemeClr val="tx1"/>
                  </a:solidFill>
                  <a:latin typeface="Times New Roman" pitchFamily="18" charset="0"/>
                  <a:cs typeface="Times New Roman" pitchFamily="18" charset="0"/>
                </a:rPr>
                <a:t>b</a:t>
              </a:r>
              <a:r>
                <a:rPr lang="en-US" altLang="zh-TW" sz="1200" dirty="0">
                  <a:solidFill>
                    <a:schemeClr val="tx1"/>
                  </a:solidFill>
                </a:rPr>
                <a:t> (</a:t>
              </a:r>
              <a:r>
                <a:rPr lang="zh-TW" altLang="en-US" sz="1200" dirty="0">
                  <a:solidFill>
                    <a:schemeClr val="tx1"/>
                  </a:solidFill>
                </a:rPr>
                <a:t>可設 </a:t>
              </a:r>
              <a:r>
                <a:rPr lang="en-US" altLang="zh-TW" sz="1200" i="1" dirty="0">
                  <a:solidFill>
                    <a:schemeClr val="tx1"/>
                  </a:solidFill>
                  <a:latin typeface="Times New Roman" pitchFamily="18" charset="0"/>
                  <a:cs typeface="Times New Roman" pitchFamily="18" charset="0"/>
                </a:rPr>
                <a:t>a</a:t>
              </a:r>
              <a:r>
                <a:rPr lang="en-US" altLang="zh-TW" sz="1200" dirty="0">
                  <a:solidFill>
                    <a:schemeClr val="tx1"/>
                  </a:solidFill>
                </a:rPr>
                <a:t> = -</a:t>
              </a:r>
              <a:r>
                <a:rPr lang="en-US" altLang="zh-TW" sz="1200" dirty="0">
                  <a:solidFill>
                    <a:schemeClr val="tx1"/>
                  </a:solidFill>
                  <a:latin typeface="Times New Roman" pitchFamily="18" charset="0"/>
                  <a:cs typeface="Times New Roman" pitchFamily="18" charset="0"/>
                </a:rPr>
                <a:t>∞</a:t>
              </a:r>
              <a:r>
                <a:rPr lang="zh-CN" altLang="en-US" sz="1200" dirty="0">
                  <a:solidFill>
                    <a:schemeClr val="tx1"/>
                  </a:solidFill>
                </a:rPr>
                <a:t>，</a:t>
              </a:r>
              <a:r>
                <a:rPr lang="en-US" altLang="zh-TW" sz="1200" i="1" dirty="0">
                  <a:solidFill>
                    <a:schemeClr val="tx1"/>
                  </a:solidFill>
                  <a:latin typeface="Times New Roman" pitchFamily="18" charset="0"/>
                  <a:cs typeface="Times New Roman" pitchFamily="18" charset="0"/>
                </a:rPr>
                <a:t>b</a:t>
              </a:r>
              <a:r>
                <a:rPr lang="en-US" altLang="zh-TW" sz="1200" dirty="0">
                  <a:solidFill>
                    <a:schemeClr val="tx1"/>
                  </a:solidFill>
                </a:rPr>
                <a:t> = +</a:t>
              </a:r>
              <a:r>
                <a:rPr lang="en-US" altLang="zh-TW" sz="1200" dirty="0">
                  <a:solidFill>
                    <a:schemeClr val="tx1"/>
                  </a:solidFill>
                  <a:latin typeface="Times New Roman" pitchFamily="18" charset="0"/>
                  <a:cs typeface="Times New Roman" pitchFamily="18" charset="0"/>
                </a:rPr>
                <a:t>∞</a:t>
              </a:r>
              <a:r>
                <a:rPr lang="en-US" altLang="zh-TW" sz="1200" dirty="0">
                  <a:solidFill>
                    <a:schemeClr val="tx1"/>
                  </a:solidFill>
                </a:rPr>
                <a:t>)  </a:t>
              </a:r>
              <a:r>
                <a:rPr lang="zh-TW" altLang="en-US" sz="1200" dirty="0">
                  <a:solidFill>
                    <a:schemeClr val="tx1"/>
                  </a:solidFill>
                </a:rPr>
                <a:t>和 分佈函數 </a:t>
              </a:r>
              <a:r>
                <a:rPr lang="en-US" altLang="zh-TW" sz="1200" i="1" dirty="0">
                  <a:solidFill>
                    <a:schemeClr val="tx1"/>
                  </a:solidFill>
                  <a:latin typeface="Times New Roman" pitchFamily="18" charset="0"/>
                  <a:cs typeface="Times New Roman" pitchFamily="18" charset="0"/>
                </a:rPr>
                <a:t>F</a:t>
              </a:r>
              <a:r>
                <a:rPr lang="en-US" altLang="zh-TW" sz="1200" dirty="0">
                  <a:solidFill>
                    <a:schemeClr val="tx1"/>
                  </a:solidFill>
                  <a:latin typeface="Times New Roman" pitchFamily="18" charset="0"/>
                  <a:cs typeface="Times New Roman" pitchFamily="18" charset="0"/>
                </a:rPr>
                <a:t>(x)</a:t>
              </a:r>
              <a:r>
                <a:rPr lang="en-US" altLang="zh-TW" sz="1200" dirty="0">
                  <a:solidFill>
                    <a:schemeClr val="tx1"/>
                  </a:solidFill>
                </a:rPr>
                <a:t> </a:t>
              </a:r>
              <a:r>
                <a:rPr lang="zh-TW" altLang="en-US" sz="1200" dirty="0">
                  <a:solidFill>
                    <a:schemeClr val="tx1"/>
                  </a:solidFill>
                </a:rPr>
                <a:t>，且 </a:t>
              </a:r>
              <a:r>
                <a:rPr lang="en-US" altLang="zh-TW" sz="1200" i="1" dirty="0">
                  <a:solidFill>
                    <a:schemeClr val="tx1"/>
                  </a:solidFill>
                </a:rPr>
                <a:t>ζ</a:t>
              </a:r>
              <a:r>
                <a:rPr lang="en-US" altLang="zh-TW" sz="1200" baseline="-25000" dirty="0">
                  <a:solidFill>
                    <a:schemeClr val="tx1"/>
                  </a:solidFill>
                </a:rPr>
                <a:t>1</a:t>
              </a:r>
              <a:r>
                <a:rPr lang="en-US" altLang="zh-TW" sz="1200" dirty="0">
                  <a:solidFill>
                    <a:schemeClr val="tx1"/>
                  </a:solidFill>
                </a:rPr>
                <a:t>,</a:t>
              </a:r>
              <a:r>
                <a:rPr lang="en-US" altLang="zh-TW" sz="1200" i="1" dirty="0">
                  <a:solidFill>
                    <a:schemeClr val="tx1"/>
                  </a:solidFill>
                </a:rPr>
                <a:t>ζ</a:t>
              </a:r>
              <a:r>
                <a:rPr lang="en-US" altLang="zh-TW" sz="1200" baseline="-25000" dirty="0">
                  <a:solidFill>
                    <a:schemeClr val="tx1"/>
                  </a:solidFill>
                </a:rPr>
                <a:t>2</a:t>
              </a:r>
              <a:r>
                <a:rPr lang="en-US" altLang="zh-TW" sz="1200" dirty="0">
                  <a:solidFill>
                    <a:schemeClr val="tx1"/>
                  </a:solidFill>
                </a:rPr>
                <a:t>,…,</a:t>
              </a:r>
              <a:r>
                <a:rPr lang="en-US" altLang="zh-TW" sz="1200" i="1" dirty="0" err="1">
                  <a:solidFill>
                    <a:schemeClr val="tx1"/>
                  </a:solidFill>
                </a:rPr>
                <a:t>ζ</a:t>
              </a:r>
              <a:r>
                <a:rPr lang="en-US" altLang="zh-TW" sz="1200" baseline="-25000" dirty="0" err="1">
                  <a:solidFill>
                    <a:schemeClr val="tx1"/>
                  </a:solidFill>
                </a:rPr>
                <a:t>n</a:t>
              </a:r>
              <a:r>
                <a:rPr lang="en-US" altLang="zh-TW" sz="1200" dirty="0">
                  <a:solidFill>
                    <a:schemeClr val="tx1"/>
                  </a:solidFill>
                </a:rPr>
                <a:t> </a:t>
              </a:r>
              <a:r>
                <a:rPr lang="zh-TW" altLang="en-US" sz="1200" dirty="0">
                  <a:solidFill>
                    <a:schemeClr val="tx1"/>
                  </a:solidFill>
                </a:rPr>
                <a:t>為取自這一母體的一個子樣，則 </a:t>
              </a:r>
              <a:r>
                <a:rPr lang="en-US" altLang="zh-TW" sz="1200" i="1" dirty="0">
                  <a:solidFill>
                    <a:schemeClr val="tx1"/>
                  </a:solidFill>
                </a:rPr>
                <a:t>ζ</a:t>
              </a:r>
              <a:r>
                <a:rPr lang="en-US" altLang="zh-TW" sz="1200" baseline="-25000" dirty="0">
                  <a:solidFill>
                    <a:schemeClr val="tx1"/>
                  </a:solidFill>
                </a:rPr>
                <a:t>(</a:t>
              </a:r>
              <a:r>
                <a:rPr lang="en-US" altLang="zh-TW" sz="1200" baseline="-25000" dirty="0" err="1">
                  <a:solidFill>
                    <a:schemeClr val="tx1"/>
                  </a:solidFill>
                </a:rPr>
                <a:t>i</a:t>
              </a:r>
              <a:r>
                <a:rPr lang="en-US" altLang="zh-TW" sz="1200" baseline="-25000" dirty="0">
                  <a:solidFill>
                    <a:schemeClr val="tx1"/>
                  </a:solidFill>
                </a:rPr>
                <a:t>)</a:t>
              </a:r>
              <a:r>
                <a:rPr lang="en-US" altLang="zh-TW" sz="1200" dirty="0">
                  <a:solidFill>
                    <a:schemeClr val="tx1"/>
                  </a:solidFill>
                </a:rPr>
                <a:t> </a:t>
              </a:r>
              <a:r>
                <a:rPr lang="zh-TW" altLang="en-US" sz="1200" dirty="0">
                  <a:solidFill>
                    <a:schemeClr val="tx1"/>
                  </a:solidFill>
                </a:rPr>
                <a:t>的密度函數和分佈函數分別為：</a:t>
              </a:r>
              <a:endParaRPr lang="en-US" altLang="zh-CN" sz="1200" dirty="0">
                <a:solidFill>
                  <a:schemeClr val="tx1"/>
                </a:solidFill>
              </a:endParaRPr>
            </a:p>
          </p:txBody>
        </p:sp>
        <p:graphicFrame>
          <p:nvGraphicFramePr>
            <p:cNvPr id="154628" name="Object 4"/>
            <p:cNvGraphicFramePr>
              <a:graphicFrameLocks noChangeAspect="1"/>
            </p:cNvGraphicFramePr>
            <p:nvPr>
              <p:extLst>
                <p:ext uri="{D42A27DB-BD31-4B8C-83A1-F6EECF244321}">
                  <p14:modId xmlns:p14="http://schemas.microsoft.com/office/powerpoint/2010/main" val="352387792"/>
                </p:ext>
              </p:extLst>
            </p:nvPr>
          </p:nvGraphicFramePr>
          <p:xfrm>
            <a:off x="574672" y="2859570"/>
            <a:ext cx="7564594" cy="806759"/>
          </p:xfrm>
          <a:graphic>
            <a:graphicData uri="http://schemas.openxmlformats.org/presentationml/2006/ole">
              <mc:AlternateContent xmlns:mc="http://schemas.openxmlformats.org/markup-compatibility/2006">
                <mc:Choice xmlns:v="urn:schemas-microsoft-com:vml" Requires="v">
                  <p:oleObj name="Equation" r:id="rId5" imgW="5194300" imgH="685800" progId="">
                    <p:embed/>
                  </p:oleObj>
                </mc:Choice>
                <mc:Fallback>
                  <p:oleObj name="Equation" r:id="rId5" imgW="5194300" imgH="685800" progId="">
                    <p:embed/>
                    <p:pic>
                      <p:nvPicPr>
                        <p:cNvPr id="0" name="Picture 10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672" y="2859570"/>
                          <a:ext cx="7564594" cy="8067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4629" name="Object 5"/>
            <p:cNvGraphicFramePr>
              <a:graphicFrameLocks noChangeAspect="1"/>
            </p:cNvGraphicFramePr>
            <p:nvPr>
              <p:extLst>
                <p:ext uri="{D42A27DB-BD31-4B8C-83A1-F6EECF244321}">
                  <p14:modId xmlns:p14="http://schemas.microsoft.com/office/powerpoint/2010/main" val="3013198684"/>
                </p:ext>
              </p:extLst>
            </p:nvPr>
          </p:nvGraphicFramePr>
          <p:xfrm>
            <a:off x="579435" y="3751243"/>
            <a:ext cx="7766280" cy="715753"/>
          </p:xfrm>
          <a:graphic>
            <a:graphicData uri="http://schemas.openxmlformats.org/presentationml/2006/ole">
              <mc:AlternateContent xmlns:mc="http://schemas.openxmlformats.org/markup-compatibility/2006">
                <mc:Choice xmlns:v="urn:schemas-microsoft-com:vml" Requires="v">
                  <p:oleObj name="Equation" r:id="rId7" imgW="5626100" imgH="711200" progId="">
                    <p:embed/>
                  </p:oleObj>
                </mc:Choice>
                <mc:Fallback>
                  <p:oleObj name="Equation" r:id="rId7" imgW="5626100" imgH="711200" progId="">
                    <p:embed/>
                    <p:pic>
                      <p:nvPicPr>
                        <p:cNvPr id="0" name="Picture 10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435" y="3751243"/>
                          <a:ext cx="7766280" cy="7157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4"/>
            <p:cNvSpPr>
              <a:spLocks noChangeArrowheads="1"/>
            </p:cNvSpPr>
            <p:nvPr/>
          </p:nvSpPr>
          <p:spPr bwMode="auto">
            <a:xfrm>
              <a:off x="284140" y="4499076"/>
              <a:ext cx="112234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200" dirty="0">
                  <a:solidFill>
                    <a:schemeClr val="tx1"/>
                  </a:solidFill>
                  <a:latin typeface="Times New Roman" pitchFamily="18" charset="0"/>
                  <a:cs typeface="Times New Roman" pitchFamily="18" charset="0"/>
                </a:rPr>
                <a:t>次序統計量的</a:t>
              </a:r>
              <a:r>
                <a:rPr lang="zh-CN" altLang="en-US" sz="1200" dirty="0">
                  <a:solidFill>
                    <a:schemeClr val="tx1"/>
                  </a:solidFill>
                  <a:latin typeface="Times New Roman" pitchFamily="18" charset="0"/>
                  <a:cs typeface="Times New Roman" pitchFamily="18" charset="0"/>
                </a:rPr>
                <a:t>聯合</a:t>
              </a:r>
              <a:r>
                <a:rPr lang="zh-TW" altLang="en-US" sz="1200" dirty="0">
                  <a:solidFill>
                    <a:schemeClr val="tx1"/>
                  </a:solidFill>
                  <a:latin typeface="Times New Roman" pitchFamily="18" charset="0"/>
                  <a:cs typeface="Times New Roman" pitchFamily="18" charset="0"/>
                </a:rPr>
                <a:t>分佈：</a:t>
              </a:r>
              <a:endParaRPr lang="en-US" altLang="zh-CN" sz="1200" dirty="0">
                <a:solidFill>
                  <a:schemeClr val="tx1"/>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3331289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221" name="Picture 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226" y="3089032"/>
            <a:ext cx="8794658" cy="2790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223" name="Picture 9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3225" y="3089033"/>
            <a:ext cx="8794658" cy="2790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8659" name="Rectangle 21"/>
          <p:cNvSpPr>
            <a:spLocks noChangeArrowheads="1"/>
          </p:cNvSpPr>
          <p:nvPr/>
        </p:nvSpPr>
        <p:spPr bwMode="auto">
          <a:xfrm>
            <a:off x="3" y="-295463"/>
            <a:ext cx="18473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nSpc>
                <a:spcPct val="180000"/>
              </a:lnSpc>
            </a:pPr>
            <a:endParaRPr lang="zh-CN" altLang="en-US"/>
          </a:p>
        </p:txBody>
      </p:sp>
      <p:pic>
        <p:nvPicPr>
          <p:cNvPr id="198662"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1873" y="2049617"/>
            <a:ext cx="8664745" cy="810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403225" y="219077"/>
            <a:ext cx="10777538" cy="5745163"/>
            <a:chOff x="403225" y="219075"/>
            <a:chExt cx="10777538" cy="5745163"/>
          </a:xfrm>
        </p:grpSpPr>
        <p:pic>
          <p:nvPicPr>
            <p:cNvPr id="198661"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294033" y="219075"/>
              <a:ext cx="1886730" cy="574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03225" y="659339"/>
              <a:ext cx="8889908" cy="1292662"/>
              <a:chOff x="403225" y="659339"/>
              <a:chExt cx="8889908" cy="1292662"/>
            </a:xfrm>
          </p:grpSpPr>
          <p:sp>
            <p:nvSpPr>
              <p:cNvPr id="198665" name="Rectangle 4"/>
              <p:cNvSpPr>
                <a:spLocks noChangeArrowheads="1"/>
              </p:cNvSpPr>
              <p:nvPr/>
            </p:nvSpPr>
            <p:spPr bwMode="auto">
              <a:xfrm>
                <a:off x="403225" y="659339"/>
                <a:ext cx="8889908"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50000"/>
                  </a:lnSpc>
                </a:pPr>
                <a:r>
                  <a:rPr lang="zh-TW" altLang="en-US" sz="1300" dirty="0">
                    <a:solidFill>
                      <a:schemeClr val="tx1"/>
                    </a:solidFill>
                    <a:latin typeface="Times New Roman" pitchFamily="18" charset="0"/>
                    <a:cs typeface="Times New Roman" pitchFamily="18" charset="0"/>
                  </a:rPr>
                  <a:t>       以下例說明</a:t>
                </a:r>
                <a:r>
                  <a:rPr lang="zh-CN" altLang="en-US" sz="1300" dirty="0">
                    <a:solidFill>
                      <a:schemeClr val="tx1"/>
                    </a:solidFill>
                    <a:latin typeface="Times New Roman" pitchFamily="18" charset="0"/>
                    <a:cs typeface="Times New Roman" pitchFamily="18" charset="0"/>
                  </a:rPr>
                  <a:t>抽樣中母體</a:t>
                </a:r>
                <a:r>
                  <a:rPr lang="zh-TW" altLang="en-US" sz="1300" dirty="0">
                    <a:solidFill>
                      <a:schemeClr val="tx1"/>
                    </a:solidFill>
                    <a:latin typeface="Times New Roman" pitchFamily="18" charset="0"/>
                    <a:cs typeface="Times New Roman" pitchFamily="18" charset="0"/>
                  </a:rPr>
                  <a:t>次序統計量的分佈密度，設母體 </a:t>
                </a:r>
                <a:r>
                  <a:rPr lang="en-US" altLang="zh-TW" sz="1300" i="1" dirty="0">
                    <a:solidFill>
                      <a:schemeClr val="tx1"/>
                    </a:solidFill>
                    <a:latin typeface="Times New Roman" pitchFamily="18" charset="0"/>
                    <a:cs typeface="Times New Roman" pitchFamily="18" charset="0"/>
                  </a:rPr>
                  <a:t>X</a:t>
                </a:r>
                <a:r>
                  <a:rPr lang="en-US" altLang="zh-TW" sz="1300" dirty="0">
                    <a:solidFill>
                      <a:schemeClr val="tx1"/>
                    </a:solidFill>
                    <a:latin typeface="Times New Roman" pitchFamily="18" charset="0"/>
                    <a:cs typeface="Times New Roman" pitchFamily="18" charset="0"/>
                  </a:rPr>
                  <a:t> </a:t>
                </a:r>
                <a:r>
                  <a:rPr lang="zh-TW" altLang="en-US" sz="1300" dirty="0">
                    <a:solidFill>
                      <a:schemeClr val="tx1"/>
                    </a:solidFill>
                    <a:latin typeface="Times New Roman" pitchFamily="18" charset="0"/>
                    <a:cs typeface="Times New Roman" pitchFamily="18" charset="0"/>
                  </a:rPr>
                  <a:t>的分佈為僅取 </a:t>
                </a:r>
                <a:r>
                  <a:rPr lang="en-US" altLang="zh-TW" sz="1300" dirty="0">
                    <a:solidFill>
                      <a:schemeClr val="tx1"/>
                    </a:solidFill>
                    <a:latin typeface="Times New Roman" pitchFamily="18" charset="0"/>
                    <a:cs typeface="Times New Roman" pitchFamily="18" charset="0"/>
                  </a:rPr>
                  <a:t>[0,1,2,3,4,5,6,7,8,9,10] </a:t>
                </a:r>
                <a:r>
                  <a:rPr lang="zh-TW" altLang="en-US" sz="1300" dirty="0">
                    <a:solidFill>
                      <a:schemeClr val="tx1"/>
                    </a:solidFill>
                    <a:latin typeface="Times New Roman" pitchFamily="18" charset="0"/>
                    <a:cs typeface="Times New Roman" pitchFamily="18" charset="0"/>
                  </a:rPr>
                  <a:t>的離散分佈</a:t>
                </a:r>
                <a:r>
                  <a:rPr lang="en-US" altLang="zh-TW" sz="1300" dirty="0">
                    <a:solidFill>
                      <a:schemeClr val="tx1"/>
                    </a:solidFill>
                    <a:latin typeface="Times New Roman" pitchFamily="18" charset="0"/>
                    <a:cs typeface="Times New Roman" pitchFamily="18" charset="0"/>
                  </a:rPr>
                  <a:t>(</a:t>
                </a:r>
                <a:r>
                  <a:rPr lang="zh-TW" altLang="en-US" sz="1300" dirty="0">
                    <a:solidFill>
                      <a:schemeClr val="tx1"/>
                    </a:solidFill>
                    <a:latin typeface="Times New Roman" pitchFamily="18" charset="0"/>
                    <a:cs typeface="Times New Roman" pitchFamily="18" charset="0"/>
                  </a:rPr>
                  <a:t>如下表</a:t>
                </a:r>
                <a:r>
                  <a:rPr lang="en-US" altLang="zh-TW" sz="1300" dirty="0">
                    <a:solidFill>
                      <a:schemeClr val="tx1"/>
                    </a:solidFill>
                    <a:latin typeface="Times New Roman" pitchFamily="18" charset="0"/>
                    <a:cs typeface="Times New Roman" pitchFamily="18" charset="0"/>
                  </a:rPr>
                  <a:t>)</a:t>
                </a:r>
                <a:r>
                  <a:rPr lang="zh-CN" altLang="en-US" sz="1300" dirty="0">
                    <a:solidFill>
                      <a:schemeClr val="tx1"/>
                    </a:solidFill>
                    <a:latin typeface="Times New Roman" pitchFamily="18" charset="0"/>
                    <a:cs typeface="Times New Roman" pitchFamily="18" charset="0"/>
                  </a:rPr>
                  <a:t>，則其每個次序統計量的取值概率都相同為      </a:t>
                </a:r>
                <a:r>
                  <a:rPr lang="en-US" altLang="zh-CN" sz="1300" dirty="0">
                    <a:solidFill>
                      <a:schemeClr val="tx1"/>
                    </a:solidFill>
                    <a:latin typeface="Times New Roman" pitchFamily="18" charset="0"/>
                    <a:cs typeface="Times New Roman" pitchFamily="18" charset="0"/>
                  </a:rPr>
                  <a:t>≈ 9.1% </a:t>
                </a:r>
                <a:r>
                  <a:rPr lang="zh-TW" altLang="en-US" sz="1300" dirty="0">
                    <a:solidFill>
                      <a:schemeClr val="tx1"/>
                    </a:solidFill>
                    <a:latin typeface="Times New Roman" pitchFamily="18" charset="0"/>
                    <a:cs typeface="Times New Roman" pitchFamily="18" charset="0"/>
                  </a:rPr>
                  <a:t>，現從中抽取容量為 </a:t>
                </a:r>
                <a:r>
                  <a:rPr lang="en-US" altLang="zh-TW" sz="1300" dirty="0">
                    <a:solidFill>
                      <a:schemeClr val="tx1"/>
                    </a:solidFill>
                    <a:latin typeface="Times New Roman" pitchFamily="18" charset="0"/>
                    <a:cs typeface="Times New Roman" pitchFamily="18" charset="0"/>
                  </a:rPr>
                  <a:t>5 </a:t>
                </a:r>
                <a:r>
                  <a:rPr lang="zh-TW" altLang="en-US" sz="1300" dirty="0">
                    <a:solidFill>
                      <a:schemeClr val="tx1"/>
                    </a:solidFill>
                    <a:latin typeface="Times New Roman" pitchFamily="18" charset="0"/>
                    <a:cs typeface="Times New Roman" pitchFamily="18" charset="0"/>
                  </a:rPr>
                  <a:t>的樣本，其一切可能取值有 </a:t>
                </a:r>
                <a:r>
                  <a:rPr lang="en-US" altLang="zh-TW" sz="1300" dirty="0">
                    <a:solidFill>
                      <a:schemeClr val="tx1"/>
                    </a:solidFill>
                    <a:latin typeface="Times New Roman" pitchFamily="18" charset="0"/>
                    <a:cs typeface="Times New Roman" pitchFamily="18" charset="0"/>
                  </a:rPr>
                  <a:t>11</a:t>
                </a:r>
                <a:r>
                  <a:rPr lang="en-US" altLang="zh-TW" sz="1300" baseline="50000" dirty="0">
                    <a:solidFill>
                      <a:schemeClr val="tx1"/>
                    </a:solidFill>
                    <a:latin typeface="Times New Roman" pitchFamily="18" charset="0"/>
                    <a:cs typeface="Times New Roman" pitchFamily="18" charset="0"/>
                  </a:rPr>
                  <a:t>5</a:t>
                </a:r>
                <a:r>
                  <a:rPr lang="en-US" altLang="zh-TW" sz="1300" dirty="0">
                    <a:solidFill>
                      <a:schemeClr val="tx1"/>
                    </a:solidFill>
                    <a:latin typeface="Times New Roman" pitchFamily="18" charset="0"/>
                    <a:cs typeface="Times New Roman" pitchFamily="18" charset="0"/>
                  </a:rPr>
                  <a:t> </a:t>
                </a:r>
                <a:r>
                  <a:rPr lang="zh-TW" altLang="en-US" sz="1300" dirty="0">
                    <a:solidFill>
                      <a:schemeClr val="tx1"/>
                    </a:solidFill>
                    <a:latin typeface="Times New Roman" pitchFamily="18" charset="0"/>
                    <a:cs typeface="Times New Roman" pitchFamily="18" charset="0"/>
                  </a:rPr>
                  <a:t>種，遍歷它們及由它們所構成的</a:t>
                </a:r>
                <a:r>
                  <a:rPr lang="zh-CN" altLang="en-US" sz="1300" dirty="0">
                    <a:solidFill>
                      <a:schemeClr val="tx1"/>
                    </a:solidFill>
                    <a:latin typeface="Times New Roman" pitchFamily="18" charset="0"/>
                    <a:cs typeface="Times New Roman" pitchFamily="18" charset="0"/>
                  </a:rPr>
                  <a:t>次</a:t>
                </a:r>
                <a:r>
                  <a:rPr lang="zh-TW" altLang="en-US" sz="1300" dirty="0">
                    <a:solidFill>
                      <a:schemeClr val="tx1"/>
                    </a:solidFill>
                    <a:latin typeface="Times New Roman" pitchFamily="18" charset="0"/>
                    <a:cs typeface="Times New Roman" pitchFamily="18" charset="0"/>
                  </a:rPr>
                  <a:t>序統計量 </a:t>
                </a:r>
                <a:r>
                  <a:rPr lang="en-US" altLang="zh-TW" sz="1300" i="1" dirty="0">
                    <a:solidFill>
                      <a:schemeClr val="tx1"/>
                    </a:solidFill>
                    <a:latin typeface="Times New Roman" pitchFamily="18" charset="0"/>
                    <a:cs typeface="Times New Roman" pitchFamily="18" charset="0"/>
                  </a:rPr>
                  <a:t>X</a:t>
                </a:r>
                <a:r>
                  <a:rPr lang="en-US" altLang="zh-TW" sz="1300" baseline="-25000" dirty="0">
                    <a:solidFill>
                      <a:schemeClr val="tx1"/>
                    </a:solidFill>
                    <a:latin typeface="Times New Roman" pitchFamily="18" charset="0"/>
                    <a:cs typeface="Times New Roman" pitchFamily="18" charset="0"/>
                  </a:rPr>
                  <a:t>(1) </a:t>
                </a:r>
                <a:r>
                  <a:rPr lang="en-US" altLang="zh-TW" sz="1300" dirty="0">
                    <a:solidFill>
                      <a:schemeClr val="tx1"/>
                    </a:solidFill>
                    <a:latin typeface="Times New Roman" pitchFamily="18" charset="0"/>
                    <a:cs typeface="Times New Roman" pitchFamily="18" charset="0"/>
                  </a:rPr>
                  <a:t>, </a:t>
                </a:r>
                <a:r>
                  <a:rPr lang="en-US" altLang="zh-TW" sz="1300" i="1" dirty="0">
                    <a:solidFill>
                      <a:schemeClr val="tx1"/>
                    </a:solidFill>
                    <a:latin typeface="Times New Roman" pitchFamily="18" charset="0"/>
                    <a:cs typeface="Times New Roman" pitchFamily="18" charset="0"/>
                  </a:rPr>
                  <a:t>X</a:t>
                </a:r>
                <a:r>
                  <a:rPr lang="en-US" altLang="zh-TW" sz="1300" baseline="-25000" dirty="0">
                    <a:solidFill>
                      <a:schemeClr val="tx1"/>
                    </a:solidFill>
                    <a:latin typeface="Times New Roman" pitchFamily="18" charset="0"/>
                    <a:cs typeface="Times New Roman" pitchFamily="18" charset="0"/>
                  </a:rPr>
                  <a:t>(2) </a:t>
                </a:r>
                <a:r>
                  <a:rPr lang="en-US" altLang="zh-TW" sz="1300" dirty="0">
                    <a:solidFill>
                      <a:schemeClr val="tx1"/>
                    </a:solidFill>
                    <a:latin typeface="Times New Roman" pitchFamily="18" charset="0"/>
                    <a:cs typeface="Times New Roman" pitchFamily="18" charset="0"/>
                  </a:rPr>
                  <a:t>,…, </a:t>
                </a:r>
                <a:r>
                  <a:rPr lang="en-US" altLang="zh-TW" sz="1300" i="1" dirty="0">
                    <a:solidFill>
                      <a:schemeClr val="tx1"/>
                    </a:solidFill>
                    <a:latin typeface="Times New Roman" pitchFamily="18" charset="0"/>
                    <a:cs typeface="Times New Roman" pitchFamily="18" charset="0"/>
                  </a:rPr>
                  <a:t>X</a:t>
                </a:r>
                <a:r>
                  <a:rPr lang="en-US" altLang="zh-TW" sz="1300" baseline="-25000" dirty="0">
                    <a:solidFill>
                      <a:schemeClr val="tx1"/>
                    </a:solidFill>
                    <a:latin typeface="Times New Roman" pitchFamily="18" charset="0"/>
                    <a:cs typeface="Times New Roman" pitchFamily="18" charset="0"/>
                  </a:rPr>
                  <a:t>(11)</a:t>
                </a:r>
                <a:r>
                  <a:rPr lang="en-US" altLang="zh-TW" sz="1300" dirty="0">
                    <a:solidFill>
                      <a:schemeClr val="tx1"/>
                    </a:solidFill>
                    <a:latin typeface="Times New Roman" pitchFamily="18" charset="0"/>
                    <a:cs typeface="Times New Roman" pitchFamily="18" charset="0"/>
                  </a:rPr>
                  <a:t> </a:t>
                </a:r>
                <a:r>
                  <a:rPr lang="zh-TW" altLang="en-US" sz="1300" dirty="0">
                    <a:solidFill>
                      <a:schemeClr val="tx1"/>
                    </a:solidFill>
                    <a:latin typeface="Times New Roman" pitchFamily="18" charset="0"/>
                    <a:cs typeface="Times New Roman" pitchFamily="18" charset="0"/>
                  </a:rPr>
                  <a:t>的一切可能取值，可發現在所抽取</a:t>
                </a:r>
                <a:r>
                  <a:rPr lang="zh-CN" altLang="en-US" sz="1300" dirty="0">
                    <a:solidFill>
                      <a:schemeClr val="tx1"/>
                    </a:solidFill>
                    <a:latin typeface="Times New Roman" pitchFamily="18" charset="0"/>
                    <a:cs typeface="Times New Roman" pitchFamily="18" charset="0"/>
                  </a:rPr>
                  <a:t>容量為</a:t>
                </a:r>
                <a:r>
                  <a:rPr lang="zh-TW" altLang="en-US" sz="1300" dirty="0">
                    <a:solidFill>
                      <a:schemeClr val="tx1"/>
                    </a:solidFill>
                    <a:latin typeface="Times New Roman" pitchFamily="18" charset="0"/>
                    <a:cs typeface="Times New Roman" pitchFamily="18" charset="0"/>
                  </a:rPr>
                  <a:t> </a:t>
                </a:r>
                <a:r>
                  <a:rPr lang="en-US" altLang="zh-TW" sz="1300" dirty="0">
                    <a:solidFill>
                      <a:schemeClr val="tx1"/>
                    </a:solidFill>
                    <a:latin typeface="Times New Roman" pitchFamily="18" charset="0"/>
                    <a:cs typeface="Times New Roman" pitchFamily="18" charset="0"/>
                  </a:rPr>
                  <a:t>A</a:t>
                </a:r>
                <a:r>
                  <a:rPr lang="en-US" altLang="zh-TW" sz="1300" baseline="-25000" dirty="0">
                    <a:solidFill>
                      <a:schemeClr val="tx1"/>
                    </a:solidFill>
                    <a:latin typeface="Times New Roman" pitchFamily="18" charset="0"/>
                    <a:cs typeface="Times New Roman" pitchFamily="18" charset="0"/>
                  </a:rPr>
                  <a:t>1</a:t>
                </a:r>
                <a:r>
                  <a:rPr lang="en-US" altLang="zh-TW" sz="1300" dirty="0">
                    <a:solidFill>
                      <a:schemeClr val="tx1"/>
                    </a:solidFill>
                    <a:latin typeface="Times New Roman" pitchFamily="18" charset="0"/>
                    <a:cs typeface="Times New Roman" pitchFamily="18" charset="0"/>
                  </a:rPr>
                  <a:t>, A</a:t>
                </a:r>
                <a:r>
                  <a:rPr lang="en-US" altLang="zh-TW" sz="1300" baseline="-25000" dirty="0">
                    <a:solidFill>
                      <a:schemeClr val="tx1"/>
                    </a:solidFill>
                    <a:latin typeface="Times New Roman" pitchFamily="18" charset="0"/>
                    <a:cs typeface="Times New Roman" pitchFamily="18" charset="0"/>
                  </a:rPr>
                  <a:t>2</a:t>
                </a:r>
                <a:r>
                  <a:rPr lang="en-US" altLang="zh-TW" sz="1300" dirty="0">
                    <a:solidFill>
                      <a:schemeClr val="tx1"/>
                    </a:solidFill>
                    <a:latin typeface="Times New Roman" pitchFamily="18" charset="0"/>
                    <a:cs typeface="Times New Roman" pitchFamily="18" charset="0"/>
                  </a:rPr>
                  <a:t>, A</a:t>
                </a:r>
                <a:r>
                  <a:rPr lang="en-US" altLang="zh-TW" sz="1300" baseline="-25000" dirty="0">
                    <a:solidFill>
                      <a:schemeClr val="tx1"/>
                    </a:solidFill>
                    <a:latin typeface="Times New Roman" pitchFamily="18" charset="0"/>
                    <a:cs typeface="Times New Roman" pitchFamily="18" charset="0"/>
                  </a:rPr>
                  <a:t>3</a:t>
                </a:r>
                <a:r>
                  <a:rPr lang="en-US" altLang="zh-TW" sz="1300" dirty="0">
                    <a:solidFill>
                      <a:schemeClr val="tx1"/>
                    </a:solidFill>
                    <a:latin typeface="Times New Roman" pitchFamily="18" charset="0"/>
                    <a:cs typeface="Times New Roman" pitchFamily="18" charset="0"/>
                  </a:rPr>
                  <a:t>, A</a:t>
                </a:r>
                <a:r>
                  <a:rPr lang="en-US" altLang="zh-TW" sz="1300" baseline="-25000" dirty="0">
                    <a:solidFill>
                      <a:schemeClr val="tx1"/>
                    </a:solidFill>
                    <a:latin typeface="Times New Roman" pitchFamily="18" charset="0"/>
                    <a:cs typeface="Times New Roman" pitchFamily="18" charset="0"/>
                  </a:rPr>
                  <a:t>4</a:t>
                </a:r>
                <a:r>
                  <a:rPr lang="en-US" altLang="zh-TW" sz="1300" dirty="0">
                    <a:solidFill>
                      <a:schemeClr val="tx1"/>
                    </a:solidFill>
                    <a:latin typeface="Times New Roman" pitchFamily="18" charset="0"/>
                    <a:cs typeface="Times New Roman" pitchFamily="18" charset="0"/>
                  </a:rPr>
                  <a:t>, A</a:t>
                </a:r>
                <a:r>
                  <a:rPr lang="en-US" altLang="zh-TW" sz="1300" baseline="-25000" dirty="0">
                    <a:solidFill>
                      <a:schemeClr val="tx1"/>
                    </a:solidFill>
                    <a:latin typeface="Times New Roman" pitchFamily="18" charset="0"/>
                    <a:cs typeface="Times New Roman" pitchFamily="18" charset="0"/>
                  </a:rPr>
                  <a:t>5</a:t>
                </a:r>
                <a:r>
                  <a:rPr lang="zh-TW" altLang="en-US" sz="1300" dirty="0">
                    <a:solidFill>
                      <a:schemeClr val="tx1"/>
                    </a:solidFill>
                    <a:latin typeface="Times New Roman" pitchFamily="18" charset="0"/>
                    <a:cs typeface="Times New Roman" pitchFamily="18" charset="0"/>
                  </a:rPr>
                  <a:t> </a:t>
                </a:r>
                <a:r>
                  <a:rPr lang="zh-CN" altLang="en-US" sz="1300" dirty="0">
                    <a:solidFill>
                      <a:schemeClr val="tx1"/>
                    </a:solidFill>
                    <a:latin typeface="Times New Roman" pitchFamily="18" charset="0"/>
                    <a:cs typeface="Times New Roman" pitchFamily="18" charset="0"/>
                  </a:rPr>
                  <a:t>的</a:t>
                </a:r>
                <a:r>
                  <a:rPr lang="zh-TW" altLang="en-US" sz="1300" dirty="0">
                    <a:solidFill>
                      <a:schemeClr val="tx1"/>
                    </a:solidFill>
                    <a:latin typeface="Times New Roman" pitchFamily="18" charset="0"/>
                    <a:cs typeface="Times New Roman" pitchFamily="18" charset="0"/>
                  </a:rPr>
                  <a:t>樣本中分佈頻數是不同的，它們遵循如上述公式所示規律</a:t>
                </a:r>
                <a:r>
                  <a:rPr lang="zh-CN" altLang="en-US" sz="1300" dirty="0">
                    <a:solidFill>
                      <a:schemeClr val="tx1"/>
                    </a:solidFill>
                    <a:latin typeface="Times New Roman" pitchFamily="18" charset="0"/>
                    <a:cs typeface="Times New Roman" pitchFamily="18" charset="0"/>
                  </a:rPr>
                  <a:t>，有如下分佈</a:t>
                </a:r>
                <a:r>
                  <a:rPr lang="zh-TW" altLang="en-US" sz="1300" dirty="0">
                    <a:solidFill>
                      <a:schemeClr val="tx1"/>
                    </a:solidFill>
                    <a:latin typeface="Times New Roman" pitchFamily="18" charset="0"/>
                    <a:cs typeface="Times New Roman" pitchFamily="18" charset="0"/>
                  </a:rPr>
                  <a:t>。</a:t>
                </a:r>
                <a:endParaRPr lang="en-US" altLang="zh-CN" sz="1300" i="1" dirty="0">
                  <a:solidFill>
                    <a:schemeClr val="tx1"/>
                  </a:solidFill>
                  <a:latin typeface="Times New Roman" pitchFamily="18" charset="0"/>
                  <a:cs typeface="Times New Roman" pitchFamily="18" charset="0"/>
                </a:endParaRPr>
              </a:p>
            </p:txBody>
          </p:sp>
          <p:graphicFrame>
            <p:nvGraphicFramePr>
              <p:cNvPr id="198666" name="对象 8"/>
              <p:cNvGraphicFramePr>
                <a:graphicFrameLocks noChangeAspect="1"/>
              </p:cNvGraphicFramePr>
              <p:nvPr>
                <p:extLst>
                  <p:ext uri="{D42A27DB-BD31-4B8C-83A1-F6EECF244321}">
                    <p14:modId xmlns:p14="http://schemas.microsoft.com/office/powerpoint/2010/main" val="4004908877"/>
                  </p:ext>
                </p:extLst>
              </p:nvPr>
            </p:nvGraphicFramePr>
            <p:xfrm>
              <a:off x="3502368" y="995853"/>
              <a:ext cx="224068" cy="336273"/>
            </p:xfrm>
            <a:graphic>
              <a:graphicData uri="http://schemas.openxmlformats.org/presentationml/2006/ole">
                <mc:AlternateContent xmlns:mc="http://schemas.openxmlformats.org/markup-compatibility/2006">
                  <mc:Choice xmlns:v="urn:schemas-microsoft-com:vml" Requires="v">
                    <p:oleObj name="Equation" r:id="rId7" imgW="152334" imgH="228501" progId="">
                      <p:embed/>
                    </p:oleObj>
                  </mc:Choice>
                  <mc:Fallback>
                    <p:oleObj name="Equation" r:id="rId7" imgW="152334" imgH="228501" progId="">
                      <p:embed/>
                      <p:pic>
                        <p:nvPicPr>
                          <p:cNvPr id="0" name="Picture 34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2368" y="995853"/>
                            <a:ext cx="224068" cy="336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21"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03225" y="3089033"/>
              <a:ext cx="8794657" cy="279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Rectangle 3"/>
          <p:cNvSpPr>
            <a:spLocks noChangeArrowheads="1"/>
          </p:cNvSpPr>
          <p:nvPr/>
        </p:nvSpPr>
        <p:spPr bwMode="auto">
          <a:xfrm>
            <a:off x="47170" y="29329"/>
            <a:ext cx="4419599" cy="338554"/>
          </a:xfrm>
          <a:prstGeom prst="rect">
            <a:avLst/>
          </a:prstGeom>
          <a:noFill/>
          <a:ln>
            <a:noFill/>
          </a:ln>
          <a:effectLst/>
        </p:spPr>
        <p:txBody>
          <a:bodyPr anchor="ctr">
            <a:spAutoFit/>
          </a:bodyPr>
          <a:lstStyle/>
          <a:p>
            <a:pPr>
              <a:defRPr/>
            </a:pPr>
            <a:r>
              <a:rPr lang="zh-TW" altLang="en-US" sz="1600" kern="0" dirty="0">
                <a:solidFill>
                  <a:srgbClr val="C7000B"/>
                </a:solidFill>
                <a:latin typeface="Arial"/>
                <a:cs typeface="+mj-cs"/>
              </a:rPr>
              <a:t>生物學變異與參考區間</a:t>
            </a:r>
          </a:p>
        </p:txBody>
      </p:sp>
      <p:sp>
        <p:nvSpPr>
          <p:cNvPr id="14" name="矩形 3"/>
          <p:cNvSpPr>
            <a:spLocks noChangeArrowheads="1"/>
          </p:cNvSpPr>
          <p:nvPr/>
        </p:nvSpPr>
        <p:spPr bwMode="auto">
          <a:xfrm>
            <a:off x="39597" y="302666"/>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基於參考值秩的非參數估計</a:t>
            </a:r>
            <a:endParaRPr lang="zh-CN" altLang="en-US" sz="13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4802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基於參考值秩的非參數估計</a:t>
            </a:r>
            <a:endParaRPr lang="zh-CN" altLang="en-US" sz="1300" dirty="0">
              <a:solidFill>
                <a:srgbClr val="000000"/>
              </a:solidFill>
              <a:latin typeface="Times New Roman" pitchFamily="18" charset="0"/>
              <a:cs typeface="Times New Roman" pitchFamily="18" charset="0"/>
            </a:endParaRPr>
          </a:p>
        </p:txBody>
      </p:sp>
      <p:grpSp>
        <p:nvGrpSpPr>
          <p:cNvPr id="4" name="组合 3"/>
          <p:cNvGrpSpPr/>
          <p:nvPr/>
        </p:nvGrpSpPr>
        <p:grpSpPr>
          <a:xfrm>
            <a:off x="1458963" y="748242"/>
            <a:ext cx="8889940" cy="4982488"/>
            <a:chOff x="1444450" y="748242"/>
            <a:chExt cx="8889940" cy="4982488"/>
          </a:xfrm>
        </p:grpSpPr>
        <p:sp>
          <p:nvSpPr>
            <p:cNvPr id="39" name="Rectangle 14"/>
            <p:cNvSpPr>
              <a:spLocks noChangeArrowheads="1"/>
            </p:cNvSpPr>
            <p:nvPr/>
          </p:nvSpPr>
          <p:spPr bwMode="auto">
            <a:xfrm>
              <a:off x="1444454" y="1117574"/>
              <a:ext cx="8889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樣本百分位數的估計沒有統一的或約定俗成的定義形式，</a:t>
              </a:r>
              <a:r>
                <a:rPr lang="en-US" altLang="zh-CN" sz="1100" i="1" dirty="0">
                  <a:latin typeface="Times New Roman" pitchFamily="18" charset="0"/>
                  <a:cs typeface="Times New Roman" pitchFamily="18" charset="0"/>
                </a:rPr>
                <a:t>SAS</a:t>
              </a:r>
              <a:r>
                <a:rPr lang="en-US" altLang="zh-CN" sz="1200" dirty="0"/>
                <a:t> </a:t>
              </a:r>
              <a:r>
                <a:rPr lang="zh-CN" altLang="en-US" sz="1200" dirty="0"/>
                <a:t>統計軟件對 </a:t>
              </a:r>
              <a:r>
                <a:rPr lang="en-US" altLang="zh-CN" sz="1200" i="1" dirty="0">
                  <a:latin typeface="Times New Roman" pitchFamily="18" charset="0"/>
                  <a:cs typeface="Times New Roman" pitchFamily="18" charset="0"/>
                </a:rPr>
                <a:t>P</a:t>
              </a:r>
              <a:r>
                <a:rPr lang="en-US" altLang="zh-CN" sz="1200" dirty="0"/>
                <a:t> </a:t>
              </a:r>
              <a:r>
                <a:rPr lang="zh-CN" altLang="en-US" sz="1200" dirty="0"/>
                <a:t>百分位數的估計值給出了五種定義；</a:t>
              </a:r>
              <a:endParaRPr lang="en-US" altLang="zh-CN" sz="1200" dirty="0"/>
            </a:p>
          </p:txBody>
        </p:sp>
        <p:sp>
          <p:nvSpPr>
            <p:cNvPr id="11" name="Rectangle 14"/>
            <p:cNvSpPr>
              <a:spLocks noChangeArrowheads="1"/>
            </p:cNvSpPr>
            <p:nvPr/>
          </p:nvSpPr>
          <p:spPr bwMode="auto">
            <a:xfrm>
              <a:off x="1444459" y="748242"/>
              <a:ext cx="8889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若第 </a:t>
              </a:r>
              <a:r>
                <a:rPr lang="en-US" altLang="zh-CN" sz="1200" i="1" dirty="0">
                  <a:latin typeface="Times New Roman" pitchFamily="18" charset="0"/>
                  <a:cs typeface="Times New Roman" pitchFamily="18" charset="0"/>
                </a:rPr>
                <a:t>P</a:t>
              </a:r>
              <a:r>
                <a:rPr lang="en-US" altLang="zh-CN" sz="1200" dirty="0"/>
                <a:t> </a:t>
              </a:r>
              <a:r>
                <a:rPr lang="zh-CN" altLang="en-US" sz="1200" dirty="0"/>
                <a:t>百分位數或者第 </a:t>
              </a:r>
              <a:r>
                <a:rPr lang="en-US" altLang="zh-CN" sz="1200" i="1" dirty="0">
                  <a:latin typeface="Times New Roman" pitchFamily="18" charset="0"/>
                  <a:cs typeface="Times New Roman" pitchFamily="18" charset="0"/>
                </a:rPr>
                <a:t>P</a:t>
              </a:r>
              <a:r>
                <a:rPr lang="en-US" altLang="zh-CN" sz="1200" dirty="0"/>
                <a:t> </a:t>
              </a:r>
              <a:r>
                <a:rPr lang="zh-CN" altLang="en-US" sz="1200" dirty="0"/>
                <a:t>百分位數的估計值 </a:t>
              </a:r>
              <a:r>
                <a:rPr lang="en-US" altLang="zh-CN" sz="1200" i="1" dirty="0">
                  <a:latin typeface="Times New Roman" pitchFamily="18" charset="0"/>
                  <a:cs typeface="Times New Roman" pitchFamily="18" charset="0"/>
                </a:rPr>
                <a:t>F</a:t>
              </a:r>
              <a:r>
                <a:rPr lang="en-US" altLang="zh-CN" sz="1200" baseline="30000" dirty="0"/>
                <a:t>-1</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a:t>
              </a:r>
              <a:r>
                <a:rPr lang="zh-CN" altLang="en-US" sz="1200" dirty="0"/>
                <a:t> 為 </a:t>
              </a:r>
              <a:r>
                <a:rPr lang="en-US" altLang="zh-CN" sz="1200" i="1" dirty="0" err="1">
                  <a:latin typeface="Times New Roman" pitchFamily="18" charset="0"/>
                  <a:cs typeface="Times New Roman" pitchFamily="18" charset="0"/>
                </a:rPr>
                <a:t>X</a:t>
              </a:r>
              <a:r>
                <a:rPr lang="en-US" altLang="zh-TW" sz="1200" i="1" baseline="-25000" dirty="0" err="1">
                  <a:latin typeface="Times New Roman" pitchFamily="18" charset="0"/>
                  <a:cs typeface="Times New Roman" pitchFamily="18" charset="0"/>
                </a:rPr>
                <a:t>ζ</a:t>
              </a:r>
              <a:r>
                <a:rPr lang="en-US" altLang="zh-TW" sz="1200" i="1" dirty="0"/>
                <a:t> </a:t>
              </a:r>
              <a:r>
                <a:rPr lang="zh-CN" altLang="en-US" sz="1200" dirty="0"/>
                <a:t>，則 </a:t>
              </a:r>
              <a:r>
                <a:rPr lang="en-US" altLang="zh-TW" sz="1200" i="1" dirty="0">
                  <a:latin typeface="Times New Roman" pitchFamily="18" charset="0"/>
                  <a:cs typeface="Times New Roman" pitchFamily="18" charset="0"/>
                </a:rPr>
                <a:t>ζ</a:t>
              </a:r>
              <a:r>
                <a:rPr lang="en-US" altLang="zh-TW" sz="1200" dirty="0"/>
                <a:t> </a:t>
              </a:r>
              <a:r>
                <a:rPr lang="zh-CN" altLang="en-US" sz="1200" dirty="0"/>
                <a:t>近似等於 </a:t>
              </a:r>
              <a:r>
                <a:rPr lang="en-US" altLang="zh-CN" sz="1200" i="1" dirty="0" err="1">
                  <a:latin typeface="Times New Roman" pitchFamily="18" charset="0"/>
                  <a:cs typeface="Times New Roman" pitchFamily="18" charset="0"/>
                </a:rPr>
                <a:t>n</a:t>
              </a:r>
              <a:r>
                <a:rPr lang="en-US" altLang="zh-CN" sz="1000" dirty="0" err="1">
                  <a:latin typeface="Times New Roman" pitchFamily="18" charset="0"/>
                  <a:cs typeface="Times New Roman" pitchFamily="18" charset="0"/>
                </a:rPr>
                <a:t>×</a:t>
              </a:r>
              <a:r>
                <a:rPr lang="en-US" altLang="zh-CN" sz="1000" i="1" dirty="0" err="1">
                  <a:latin typeface="Times New Roman" pitchFamily="18" charset="0"/>
                  <a:cs typeface="Times New Roman" pitchFamily="18" charset="0"/>
                </a:rPr>
                <a:t>P</a:t>
              </a:r>
              <a:r>
                <a:rPr lang="en-US" altLang="zh-CN" sz="1200" dirty="0"/>
                <a:t> </a:t>
              </a:r>
              <a:r>
                <a:rPr lang="zh-CN" altLang="en-US" sz="1200" dirty="0"/>
                <a:t>，當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a:t>
              </a:r>
              <a:r>
                <a:rPr lang="en-US" altLang="zh-CN" sz="1200" dirty="0"/>
                <a:t> </a:t>
              </a:r>
              <a:r>
                <a:rPr lang="zh-CN" altLang="en-US" sz="1200" dirty="0"/>
                <a:t>時，</a:t>
              </a:r>
              <a:r>
                <a:rPr lang="en-US" altLang="zh-TW" sz="1200" i="1" dirty="0">
                  <a:latin typeface="Times New Roman" pitchFamily="18" charset="0"/>
                  <a:cs typeface="Times New Roman" pitchFamily="18" charset="0"/>
                </a:rPr>
                <a:t>ζ</a:t>
              </a:r>
              <a:r>
                <a:rPr lang="en-US" altLang="zh-TW"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n </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 </a:t>
              </a:r>
              <a:r>
                <a:rPr lang="zh-CN" altLang="en-US" sz="1200" dirty="0"/>
                <a:t>；</a:t>
              </a:r>
              <a:endParaRPr lang="en-US" altLang="zh-CN" sz="1200" dirty="0"/>
            </a:p>
          </p:txBody>
        </p:sp>
        <p:sp>
          <p:nvSpPr>
            <p:cNvPr id="17" name="Rectangle 14"/>
            <p:cNvSpPr>
              <a:spLocks noChangeArrowheads="1"/>
            </p:cNvSpPr>
            <p:nvPr/>
          </p:nvSpPr>
          <p:spPr bwMode="auto">
            <a:xfrm>
              <a:off x="1444452" y="3474427"/>
              <a:ext cx="88899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假設取</a:t>
              </a:r>
              <a:r>
                <a:rPr lang="en-US" altLang="zh-CN" sz="1100" dirty="0"/>
                <a:t>120</a:t>
              </a:r>
              <a:r>
                <a:rPr lang="zh-CN" altLang="en-US" sz="1200" dirty="0"/>
                <a:t>例參考值，</a:t>
              </a:r>
              <a:r>
                <a:rPr lang="zh-CN" altLang="en-US" sz="1200" dirty="0">
                  <a:solidFill>
                    <a:srgbClr val="000000"/>
                  </a:solidFill>
                  <a:latin typeface="Times New Roman" pitchFamily="18" charset="0"/>
                  <a:cs typeface="Times New Roman" pitchFamily="18" charset="0"/>
                </a:rPr>
                <a:t>計算包含 </a:t>
              </a:r>
              <a:r>
                <a:rPr lang="en-US" altLang="zh-CN" sz="1200" dirty="0">
                  <a:solidFill>
                    <a:srgbClr val="000000"/>
                  </a:solidFill>
                  <a:latin typeface="Times New Roman" pitchFamily="18" charset="0"/>
                  <a:cs typeface="Times New Roman" pitchFamily="18" charset="0"/>
                </a:rPr>
                <a:t>95%(</a:t>
              </a:r>
              <a:r>
                <a:rPr lang="el-GR" altLang="zh-CN" sz="1200" i="1" dirty="0">
                  <a:solidFill>
                    <a:srgbClr val="000000"/>
                  </a:solidFill>
                  <a:latin typeface="Times New Roman" pitchFamily="18" charset="0"/>
                  <a:ea typeface="宋体"/>
                  <a:cs typeface="Times New Roman" pitchFamily="18" charset="0"/>
                </a:rPr>
                <a:t>α</a:t>
              </a:r>
              <a:r>
                <a:rPr lang="en-US" altLang="zh-CN" sz="1200" dirty="0">
                  <a:solidFill>
                    <a:srgbClr val="000000"/>
                  </a:solidFill>
                  <a:latin typeface="Times New Roman" pitchFamily="18" charset="0"/>
                  <a:cs typeface="Times New Roman" pitchFamily="18" charset="0"/>
                </a:rPr>
                <a:t>=</a:t>
              </a:r>
              <a:r>
                <a:rPr lang="en-US" altLang="zh-CN" sz="1100" dirty="0">
                  <a:solidFill>
                    <a:srgbClr val="000000"/>
                  </a:solidFill>
                  <a:latin typeface="Times New Roman" pitchFamily="18" charset="0"/>
                  <a:cs typeface="Times New Roman" pitchFamily="18" charset="0"/>
                </a:rPr>
                <a:t>5%</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的參考區間，則上、下限分別應為 </a:t>
              </a:r>
              <a:r>
                <a:rPr lang="en-US" altLang="zh-CN" sz="1100" dirty="0"/>
                <a:t>2.5% </a:t>
              </a:r>
              <a:r>
                <a:rPr lang="zh-CN" altLang="en-US" sz="1200" dirty="0"/>
                <a:t>和 </a:t>
              </a:r>
              <a:r>
                <a:rPr lang="en-US" altLang="zh-CN" sz="1100" dirty="0"/>
                <a:t>97.5% </a:t>
              </a:r>
              <a:r>
                <a:rPr lang="zh-CN" altLang="en-US" sz="1100" dirty="0"/>
                <a:t>百</a:t>
              </a:r>
              <a:r>
                <a:rPr lang="zh-CN" altLang="en-US" sz="1200" dirty="0"/>
                <a:t>分位數的估計值；若</a:t>
              </a:r>
              <a:r>
                <a:rPr lang="zh-CN" altLang="en-US" sz="1200" dirty="0">
                  <a:solidFill>
                    <a:srgbClr val="000000"/>
                  </a:solidFill>
                </a:rPr>
                <a:t>以 定義五</a:t>
              </a:r>
              <a:r>
                <a:rPr lang="en-US" altLang="zh-CN" sz="1200" dirty="0">
                  <a:solidFill>
                    <a:srgbClr val="000000"/>
                  </a:solidFill>
                </a:rPr>
                <a:t> </a:t>
              </a:r>
              <a:r>
                <a:rPr lang="zh-CN" altLang="en-US" sz="1200" dirty="0">
                  <a:solidFill>
                    <a:srgbClr val="000000"/>
                  </a:solidFill>
                </a:rPr>
                <a:t>的形式為例，則 </a:t>
              </a:r>
              <a:r>
                <a:rPr lang="en-US" altLang="zh-CN" sz="1100" dirty="0">
                  <a:solidFill>
                    <a:srgbClr val="000000"/>
                  </a:solidFill>
                </a:rPr>
                <a:t>2.5% </a:t>
              </a:r>
              <a:r>
                <a:rPr lang="zh-CN" altLang="en-US" sz="1200" dirty="0">
                  <a:solidFill>
                    <a:srgbClr val="000000"/>
                  </a:solidFill>
                </a:rPr>
                <a:t>和 </a:t>
              </a:r>
              <a:r>
                <a:rPr lang="en-US" altLang="zh-CN" sz="1100" dirty="0">
                  <a:solidFill>
                    <a:srgbClr val="000000"/>
                  </a:solidFill>
                </a:rPr>
                <a:t>97.5% </a:t>
              </a:r>
              <a:r>
                <a:rPr lang="zh-CN" altLang="en-US" sz="1100" dirty="0">
                  <a:solidFill>
                    <a:srgbClr val="000000"/>
                  </a:solidFill>
                </a:rPr>
                <a:t>百</a:t>
              </a:r>
              <a:r>
                <a:rPr lang="zh-CN" altLang="en-US" sz="1200" dirty="0">
                  <a:solidFill>
                    <a:srgbClr val="000000"/>
                  </a:solidFill>
                </a:rPr>
                <a:t>分位數的估計值分別為：</a:t>
              </a:r>
              <a:endParaRPr lang="en-US" altLang="zh-CN" sz="1200" dirty="0"/>
            </a:p>
          </p:txBody>
        </p:sp>
        <p:grpSp>
          <p:nvGrpSpPr>
            <p:cNvPr id="3" name="组合 2"/>
            <p:cNvGrpSpPr/>
            <p:nvPr/>
          </p:nvGrpSpPr>
          <p:grpSpPr>
            <a:xfrm>
              <a:off x="1444459" y="1762815"/>
              <a:ext cx="8889927" cy="558800"/>
              <a:chOff x="1650045" y="1762815"/>
              <a:chExt cx="8889927" cy="558800"/>
            </a:xfrm>
          </p:grpSpPr>
          <p:sp>
            <p:nvSpPr>
              <p:cNvPr id="14" name="Rectangle 14"/>
              <p:cNvSpPr>
                <a:spLocks noChangeArrowheads="1"/>
              </p:cNvSpPr>
              <p:nvPr/>
            </p:nvSpPr>
            <p:spPr bwMode="auto">
              <a:xfrm>
                <a:off x="1650045" y="1830661"/>
                <a:ext cx="88899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TW" altLang="en-US" sz="1200" dirty="0"/>
                  <a:t>       </a:t>
                </a:r>
                <a:r>
                  <a:rPr lang="zh-CN" altLang="en-US" sz="1200" dirty="0"/>
                  <a:t>定義 四</a:t>
                </a:r>
                <a:r>
                  <a:rPr lang="en-US" altLang="zh-CN" sz="1200" dirty="0"/>
                  <a:t> </a:t>
                </a:r>
                <a:r>
                  <a:rPr lang="zh-CN" altLang="en-US" sz="1200" dirty="0"/>
                  <a:t>：                                                                         ，  </a:t>
                </a:r>
                <a:r>
                  <a:rPr lang="zh-CN" altLang="en-US" sz="1200" dirty="0">
                    <a:solidFill>
                      <a:srgbClr val="000000"/>
                    </a:solidFill>
                  </a:rPr>
                  <a:t>其中</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j+r</a:t>
                </a:r>
                <a:r>
                  <a:rPr lang="en-US" altLang="zh-CN" sz="1200" dirty="0">
                    <a:solidFill>
                      <a:srgbClr val="000000"/>
                    </a:solidFill>
                  </a:rPr>
                  <a:t> </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n</a:t>
                </a:r>
                <a:r>
                  <a:rPr lang="en-US" altLang="zh-CN" sz="1000" dirty="0" err="1">
                    <a:solidFill>
                      <a:srgbClr val="000000"/>
                    </a:solidFill>
                    <a:latin typeface="Times New Roman" pitchFamily="18" charset="0"/>
                    <a:cs typeface="Times New Roman" pitchFamily="18" charset="0"/>
                  </a:rPr>
                  <a:t>×</a:t>
                </a:r>
                <a:r>
                  <a:rPr lang="en-US" altLang="zh-CN" sz="1000" i="1" dirty="0" err="1">
                    <a:solidFill>
                      <a:srgbClr val="000000"/>
                    </a:solidFill>
                    <a:latin typeface="Times New Roman" pitchFamily="18" charset="0"/>
                    <a:cs typeface="Times New Roman" pitchFamily="18" charset="0"/>
                  </a:rPr>
                  <a:t>P</a:t>
                </a:r>
                <a:r>
                  <a:rPr lang="en-US" altLang="zh-CN" sz="1200" dirty="0">
                    <a:solidFill>
                      <a:srgbClr val="000000"/>
                    </a:solidFill>
                  </a:rPr>
                  <a:t> </a:t>
                </a:r>
                <a:r>
                  <a:rPr lang="zh-CN" altLang="en-US" sz="1200" dirty="0">
                    <a:solidFill>
                      <a:srgbClr val="000000"/>
                    </a:solidFill>
                  </a:rPr>
                  <a:t>，</a:t>
                </a:r>
                <a:r>
                  <a:rPr lang="en-US" altLang="zh-CN" sz="1200" i="1" dirty="0">
                    <a:solidFill>
                      <a:srgbClr val="000000"/>
                    </a:solidFill>
                    <a:latin typeface="Times New Roman" pitchFamily="18" charset="0"/>
                    <a:cs typeface="Times New Roman" pitchFamily="18" charset="0"/>
                  </a:rPr>
                  <a:t>j</a:t>
                </a:r>
                <a:r>
                  <a:rPr lang="en-US" altLang="zh-CN" sz="1200" dirty="0">
                    <a:solidFill>
                      <a:srgbClr val="000000"/>
                    </a:solidFill>
                  </a:rPr>
                  <a:t> </a:t>
                </a:r>
                <a:r>
                  <a:rPr lang="zh-CN" altLang="en-US" sz="1200" dirty="0">
                    <a:solidFill>
                      <a:srgbClr val="000000"/>
                    </a:solidFill>
                  </a:rPr>
                  <a:t>為</a:t>
                </a:r>
                <a:r>
                  <a:rPr lang="en-US" altLang="zh-CN" sz="1200" dirty="0">
                    <a:solidFill>
                      <a:srgbClr val="000000"/>
                    </a:solidFill>
                  </a:rPr>
                  <a:t> </a:t>
                </a:r>
                <a:r>
                  <a:rPr lang="en-US" altLang="zh-CN" sz="1200" i="1" dirty="0" err="1">
                    <a:solidFill>
                      <a:srgbClr val="000000"/>
                    </a:solidFill>
                    <a:latin typeface="Times New Roman" pitchFamily="18" charset="0"/>
                    <a:cs typeface="Times New Roman" pitchFamily="18" charset="0"/>
                  </a:rPr>
                  <a:t>n</a:t>
                </a:r>
                <a:r>
                  <a:rPr lang="en-US" altLang="zh-CN" sz="1000" dirty="0" err="1">
                    <a:solidFill>
                      <a:srgbClr val="000000"/>
                    </a:solidFill>
                    <a:latin typeface="Times New Roman" pitchFamily="18" charset="0"/>
                    <a:cs typeface="Times New Roman" pitchFamily="18" charset="0"/>
                  </a:rPr>
                  <a:t>×</a:t>
                </a:r>
                <a:r>
                  <a:rPr lang="en-US" altLang="zh-CN" sz="1000" i="1" dirty="0" err="1">
                    <a:solidFill>
                      <a:srgbClr val="000000"/>
                    </a:solidFill>
                    <a:latin typeface="Times New Roman" pitchFamily="18" charset="0"/>
                    <a:cs typeface="Times New Roman" pitchFamily="18" charset="0"/>
                  </a:rPr>
                  <a:t>P</a:t>
                </a:r>
                <a:r>
                  <a:rPr lang="en-US" altLang="zh-CN" sz="1000" i="1" dirty="0">
                    <a:solidFill>
                      <a:srgbClr val="000000"/>
                    </a:solidFill>
                    <a:latin typeface="Times New Roman" pitchFamily="18" charset="0"/>
                    <a:cs typeface="Times New Roman" pitchFamily="18" charset="0"/>
                  </a:rPr>
                  <a:t> </a:t>
                </a:r>
                <a:r>
                  <a:rPr lang="zh-CN" altLang="en-US" sz="1200" dirty="0">
                    <a:solidFill>
                      <a:srgbClr val="000000"/>
                    </a:solidFill>
                  </a:rPr>
                  <a:t>的整數部分，</a:t>
                </a:r>
                <a:r>
                  <a:rPr lang="en-US" altLang="zh-CN" sz="1200" i="1" dirty="0">
                    <a:solidFill>
                      <a:srgbClr val="000000"/>
                    </a:solidFill>
                    <a:latin typeface="Times New Roman" pitchFamily="18" charset="0"/>
                    <a:cs typeface="Times New Roman" pitchFamily="18" charset="0"/>
                  </a:rPr>
                  <a:t>r</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為</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n</a:t>
                </a:r>
                <a:r>
                  <a:rPr lang="en-US" altLang="zh-CN" sz="1000" dirty="0" err="1">
                    <a:solidFill>
                      <a:srgbClr val="000000"/>
                    </a:solidFill>
                    <a:latin typeface="Times New Roman" pitchFamily="18" charset="0"/>
                    <a:cs typeface="Times New Roman" pitchFamily="18" charset="0"/>
                  </a:rPr>
                  <a:t>×</a:t>
                </a:r>
                <a:r>
                  <a:rPr lang="en-US" altLang="zh-CN" sz="1000" i="1" dirty="0" err="1">
                    <a:solidFill>
                      <a:srgbClr val="000000"/>
                    </a:solidFill>
                    <a:latin typeface="Times New Roman" pitchFamily="18" charset="0"/>
                    <a:cs typeface="Times New Roman" pitchFamily="18" charset="0"/>
                  </a:rPr>
                  <a:t>P</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rPr>
                  <a:t>的餘數部分；</a:t>
                </a:r>
                <a:endParaRPr lang="en-US" altLang="zh-CN" sz="1200" dirty="0">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143958787"/>
                  </p:ext>
                </p:extLst>
              </p:nvPr>
            </p:nvGraphicFramePr>
            <p:xfrm>
              <a:off x="3250854" y="1762815"/>
              <a:ext cx="2133600" cy="558800"/>
            </p:xfrm>
            <a:graphic>
              <a:graphicData uri="http://schemas.openxmlformats.org/presentationml/2006/ole">
                <mc:AlternateContent xmlns:mc="http://schemas.openxmlformats.org/markup-compatibility/2006">
                  <mc:Choice xmlns:v="urn:schemas-microsoft-com:vml" Requires="v">
                    <p:oleObj name="Equation" r:id="rId3" imgW="2133600" imgH="558800" progId="">
                      <p:embed/>
                    </p:oleObj>
                  </mc:Choice>
                  <mc:Fallback>
                    <p:oleObj name="Equation" r:id="rId3" imgW="2133600" imgH="558800" progId="">
                      <p:embed/>
                      <p:pic>
                        <p:nvPicPr>
                          <p:cNvPr id="0" name="Picture 136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0854" y="1762815"/>
                            <a:ext cx="21336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组合 4"/>
            <p:cNvGrpSpPr/>
            <p:nvPr/>
          </p:nvGrpSpPr>
          <p:grpSpPr>
            <a:xfrm>
              <a:off x="1444455" y="2485709"/>
              <a:ext cx="8889932" cy="369332"/>
              <a:chOff x="1763555" y="3646829"/>
              <a:chExt cx="8889932" cy="369332"/>
            </a:xfrm>
          </p:grpSpPr>
          <p:sp>
            <p:nvSpPr>
              <p:cNvPr id="15" name="Rectangle 14"/>
              <p:cNvSpPr>
                <a:spLocks noChangeArrowheads="1"/>
              </p:cNvSpPr>
              <p:nvPr/>
            </p:nvSpPr>
            <p:spPr bwMode="auto">
              <a:xfrm>
                <a:off x="1763555" y="3646829"/>
                <a:ext cx="88899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TW" altLang="en-US" sz="1200" dirty="0"/>
                  <a:t>       </a:t>
                </a:r>
                <a:r>
                  <a:rPr lang="zh-CN" altLang="en-US" sz="1200" dirty="0"/>
                  <a:t>定義 五</a:t>
                </a:r>
                <a:r>
                  <a:rPr lang="en-US" altLang="zh-CN" sz="1200" dirty="0"/>
                  <a:t> </a:t>
                </a:r>
                <a:r>
                  <a:rPr lang="zh-CN" altLang="en-US" sz="1200" dirty="0"/>
                  <a:t>：                                                                         ，   </a:t>
                </a:r>
                <a:r>
                  <a:rPr lang="en-US" altLang="zh-CN" sz="1200" i="1" dirty="0">
                    <a:solidFill>
                      <a:srgbClr val="000000"/>
                    </a:solidFill>
                    <a:latin typeface="Times New Roman" pitchFamily="18" charset="0"/>
                    <a:cs typeface="Times New Roman" pitchFamily="18" charset="0"/>
                  </a:rPr>
                  <a:t>j</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n </a:t>
                </a:r>
                <a:r>
                  <a:rPr lang="en-US" altLang="zh-CN" sz="1100" dirty="0">
                    <a:solidFill>
                      <a:srgbClr val="000000"/>
                    </a:solidFill>
                  </a:rPr>
                  <a:t>+</a:t>
                </a:r>
                <a:r>
                  <a:rPr lang="en-US" altLang="zh-CN" sz="1200" dirty="0">
                    <a:solidFill>
                      <a:srgbClr val="000000"/>
                    </a:solidFill>
                  </a:rPr>
                  <a:t> </a:t>
                </a:r>
                <a:r>
                  <a:rPr lang="en-US" altLang="zh-CN" sz="1000" dirty="0">
                    <a:solidFill>
                      <a:srgbClr val="000000"/>
                    </a:solidFill>
                  </a:rPr>
                  <a:t>1</a:t>
                </a:r>
                <a:r>
                  <a:rPr lang="en-US" altLang="zh-CN" sz="1200" dirty="0">
                    <a:solidFill>
                      <a:srgbClr val="000000"/>
                    </a:solidFill>
                    <a:latin typeface="Times New Roman" pitchFamily="18" charset="0"/>
                    <a:cs typeface="Times New Roman" pitchFamily="18" charset="0"/>
                  </a:rPr>
                  <a:t>)</a:t>
                </a:r>
                <a:r>
                  <a:rPr lang="en-US" altLang="zh-CN" sz="1200" dirty="0">
                    <a:solidFill>
                      <a:srgbClr val="000000"/>
                    </a:solidFill>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200" dirty="0">
                    <a:solidFill>
                      <a:srgbClr val="000000"/>
                    </a:solidFill>
                  </a:rPr>
                  <a:t> </a:t>
                </a:r>
                <a:r>
                  <a:rPr lang="zh-CN" altLang="en-US" sz="1200" dirty="0">
                    <a:solidFill>
                      <a:srgbClr val="000000"/>
                    </a:solidFill>
                  </a:rPr>
                  <a:t>，</a:t>
                </a:r>
                <a:r>
                  <a:rPr lang="en-US" altLang="zh-CN" sz="1200" i="1" dirty="0">
                    <a:solidFill>
                      <a:srgbClr val="000000"/>
                    </a:solidFill>
                    <a:latin typeface="Times New Roman" pitchFamily="18" charset="0"/>
                    <a:cs typeface="Times New Roman" pitchFamily="18" charset="0"/>
                  </a:rPr>
                  <a:t>r</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n</a:t>
                </a:r>
                <a:r>
                  <a:rPr lang="en-US" altLang="zh-CN" sz="1200" dirty="0">
                    <a:solidFill>
                      <a:srgbClr val="000000"/>
                    </a:solidFill>
                  </a:rPr>
                  <a:t> </a:t>
                </a:r>
                <a:r>
                  <a:rPr lang="en-US" altLang="zh-CN" sz="1100" dirty="0">
                    <a:solidFill>
                      <a:srgbClr val="000000"/>
                    </a:solidFill>
                  </a:rPr>
                  <a:t>+</a:t>
                </a:r>
                <a:r>
                  <a:rPr lang="en-US" altLang="zh-CN" sz="1200" dirty="0">
                    <a:solidFill>
                      <a:srgbClr val="000000"/>
                    </a:solidFill>
                  </a:rPr>
                  <a:t> </a:t>
                </a:r>
                <a:r>
                  <a:rPr lang="en-US" altLang="zh-CN" sz="1000" dirty="0">
                    <a:solidFill>
                      <a:srgbClr val="000000"/>
                    </a:solidFill>
                  </a:rPr>
                  <a:t>1</a:t>
                </a:r>
                <a:r>
                  <a:rPr lang="en-US" altLang="zh-CN" sz="1200" dirty="0">
                    <a:solidFill>
                      <a:srgbClr val="000000"/>
                    </a:solidFill>
                    <a:latin typeface="Times New Roman" pitchFamily="18" charset="0"/>
                    <a:cs typeface="Times New Roman" pitchFamily="18" charset="0"/>
                  </a:rPr>
                  <a:t>)</a:t>
                </a:r>
                <a:r>
                  <a:rPr lang="en-US" altLang="zh-CN" sz="1200" dirty="0">
                    <a:solidFill>
                      <a:srgbClr val="000000"/>
                    </a:solidFill>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 </a:t>
                </a:r>
                <a:r>
                  <a:rPr lang="en-US" altLang="zh-CN" sz="1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j</a:t>
                </a:r>
                <a:r>
                  <a:rPr lang="zh-CN" altLang="en-US" sz="1200" dirty="0">
                    <a:solidFill>
                      <a:srgbClr val="000000"/>
                    </a:solidFill>
                  </a:rPr>
                  <a:t> ，且 </a:t>
                </a:r>
                <a:r>
                  <a:rPr lang="en-US" altLang="zh-CN" sz="1200" i="1" dirty="0">
                    <a:solidFill>
                      <a:srgbClr val="000000"/>
                    </a:solidFill>
                    <a:latin typeface="Times New Roman" pitchFamily="18" charset="0"/>
                    <a:cs typeface="Times New Roman" pitchFamily="18" charset="0"/>
                  </a:rPr>
                  <a:t>X</a:t>
                </a:r>
                <a:r>
                  <a:rPr lang="en-US" altLang="zh-CN" sz="1200" baseline="-25000" dirty="0">
                    <a:solidFill>
                      <a:srgbClr val="000000"/>
                    </a:solidFill>
                    <a:latin typeface="Times New Roman" pitchFamily="18" charset="0"/>
                    <a:cs typeface="Times New Roman" pitchFamily="18" charset="0"/>
                  </a:rPr>
                  <a:t>(n+1)</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X</a:t>
                </a:r>
                <a:r>
                  <a:rPr lang="en-US" altLang="zh-CN" sz="1200" baseline="-25000" dirty="0">
                    <a:solidFill>
                      <a:srgbClr val="000000"/>
                    </a:solidFill>
                    <a:latin typeface="Times New Roman" pitchFamily="18" charset="0"/>
                    <a:cs typeface="Times New Roman" pitchFamily="18" charset="0"/>
                  </a:rPr>
                  <a:t>(n)</a:t>
                </a:r>
                <a:r>
                  <a:rPr lang="en-US" altLang="zh-CN" sz="1200" dirty="0"/>
                  <a:t>  </a:t>
                </a:r>
                <a:r>
                  <a:rPr lang="zh-CN" altLang="en-US" sz="1200" dirty="0"/>
                  <a:t>；</a:t>
                </a:r>
                <a:endParaRPr lang="en-US" altLang="zh-CN" sz="1200" baseline="-25000" dirty="0">
                  <a:solidFill>
                    <a:srgbClr val="000000"/>
                  </a:solidFill>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2378760087"/>
                  </p:ext>
                </p:extLst>
              </p:nvPr>
            </p:nvGraphicFramePr>
            <p:xfrm>
              <a:off x="3365729" y="3742481"/>
              <a:ext cx="1955800" cy="266700"/>
            </p:xfrm>
            <a:graphic>
              <a:graphicData uri="http://schemas.openxmlformats.org/presentationml/2006/ole">
                <mc:AlternateContent xmlns:mc="http://schemas.openxmlformats.org/markup-compatibility/2006">
                  <mc:Choice xmlns:v="urn:schemas-microsoft-com:vml" Requires="v">
                    <p:oleObj name="Equation" r:id="rId5" imgW="1954951" imgH="266584" progId="">
                      <p:embed/>
                    </p:oleObj>
                  </mc:Choice>
                  <mc:Fallback>
                    <p:oleObj name="Equation" r:id="rId5" imgW="1954951" imgH="266584" progId="">
                      <p:embed/>
                      <p:pic>
                        <p:nvPicPr>
                          <p:cNvPr id="0" name="Picture 136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729" y="3742481"/>
                            <a:ext cx="19558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 name="Rectangle 14"/>
            <p:cNvSpPr>
              <a:spLocks noChangeArrowheads="1"/>
            </p:cNvSpPr>
            <p:nvPr/>
          </p:nvSpPr>
          <p:spPr bwMode="auto">
            <a:xfrm>
              <a:off x="1444450" y="5084399"/>
              <a:ext cx="88899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非參數百分位數估計相對於基於正態分佈的參數估計有更好的穩健性，且不受概率分佈形態的影響，計算起來也比較簡單，所以使用更為廣泛，但是需要注意的非參數估計的一個特點，在樣本含量比較小的時候檢驗效率相對較低，置信區間可能會更寬一些；</a:t>
              </a:r>
              <a:endParaRPr lang="en-US" altLang="zh-CN" sz="1200" dirty="0"/>
            </a:p>
          </p:txBody>
        </p:sp>
        <p:sp>
          <p:nvSpPr>
            <p:cNvPr id="22" name="Rectangle 14"/>
            <p:cNvSpPr>
              <a:spLocks noChangeArrowheads="1"/>
            </p:cNvSpPr>
            <p:nvPr/>
          </p:nvSpPr>
          <p:spPr bwMode="auto">
            <a:xfrm>
              <a:off x="1444459" y="3122631"/>
              <a:ext cx="8889927" cy="334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en-US" altLang="zh-CN" sz="1100" i="1" dirty="0">
                  <a:latin typeface="Times New Roman" pitchFamily="18" charset="0"/>
                  <a:cs typeface="Times New Roman" pitchFamily="18" charset="0"/>
                </a:rPr>
                <a:t>Harris</a:t>
              </a:r>
              <a:r>
                <a:rPr lang="en-US" altLang="zh-CN" sz="1200" dirty="0"/>
                <a:t> </a:t>
              </a:r>
              <a:r>
                <a:rPr lang="zh-CN" altLang="en-US" sz="1200" dirty="0"/>
                <a:t>和 </a:t>
              </a:r>
              <a:r>
                <a:rPr lang="en-US" altLang="zh-CN" sz="1100" i="1" dirty="0">
                  <a:latin typeface="Times New Roman" pitchFamily="18" charset="0"/>
                  <a:cs typeface="Times New Roman" pitchFamily="18" charset="0"/>
                </a:rPr>
                <a:t>Boyd</a:t>
              </a:r>
              <a:r>
                <a:rPr lang="en-US" altLang="zh-CN" sz="1200" dirty="0"/>
                <a:t> </a:t>
              </a:r>
              <a:r>
                <a:rPr lang="zh-CN" altLang="en-US" sz="1200" dirty="0"/>
                <a:t>以及 </a:t>
              </a:r>
              <a:r>
                <a:rPr lang="en-US" altLang="zh-CN" sz="1100" i="1" dirty="0">
                  <a:latin typeface="Times New Roman" pitchFamily="18" charset="0"/>
                  <a:cs typeface="Times New Roman" pitchFamily="18" charset="0"/>
                </a:rPr>
                <a:t>CLSI</a:t>
              </a:r>
              <a:r>
                <a:rPr lang="en-US" altLang="zh-CN" sz="1200" dirty="0">
                  <a:latin typeface="Times New Roman" pitchFamily="18" charset="0"/>
                  <a:cs typeface="Times New Roman" pitchFamily="18" charset="0"/>
                </a:rPr>
                <a:t> </a:t>
              </a:r>
              <a:r>
                <a:rPr lang="zh-CN" altLang="en-US" sz="1200" dirty="0"/>
                <a:t>指南推薦的形式與「定義五」相同，但「定義四」的形式計算起來比較簡單，也有很多使用；</a:t>
              </a:r>
              <a:endParaRPr lang="en-US" altLang="zh-CN" sz="1200" dirty="0"/>
            </a:p>
          </p:txBody>
        </p:sp>
        <p:grpSp>
          <p:nvGrpSpPr>
            <p:cNvPr id="9" name="组合 8"/>
            <p:cNvGrpSpPr/>
            <p:nvPr/>
          </p:nvGrpSpPr>
          <p:grpSpPr>
            <a:xfrm>
              <a:off x="1444459" y="4337458"/>
              <a:ext cx="8222270" cy="533400"/>
              <a:chOff x="1763559" y="4634137"/>
              <a:chExt cx="8222270" cy="533400"/>
            </a:xfrm>
          </p:grpSpPr>
          <p:sp>
            <p:nvSpPr>
              <p:cNvPr id="23" name="Rectangle 14"/>
              <p:cNvSpPr>
                <a:spLocks noChangeArrowheads="1"/>
              </p:cNvSpPr>
              <p:nvPr/>
            </p:nvSpPr>
            <p:spPr bwMode="auto">
              <a:xfrm>
                <a:off x="1763559" y="4707208"/>
                <a:ext cx="82222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                                                                                        ；</a:t>
                </a:r>
                <a:endParaRPr lang="en-US" altLang="zh-CN" sz="1200" dirty="0"/>
              </a:p>
            </p:txBody>
          </p:sp>
          <p:graphicFrame>
            <p:nvGraphicFramePr>
              <p:cNvPr id="7" name="对象 6"/>
              <p:cNvGraphicFramePr>
                <a:graphicFrameLocks noChangeAspect="1"/>
              </p:cNvGraphicFramePr>
              <p:nvPr>
                <p:extLst>
                  <p:ext uri="{D42A27DB-BD31-4B8C-83A1-F6EECF244321}">
                    <p14:modId xmlns:p14="http://schemas.microsoft.com/office/powerpoint/2010/main" val="2192167454"/>
                  </p:ext>
                </p:extLst>
              </p:nvPr>
            </p:nvGraphicFramePr>
            <p:xfrm>
              <a:off x="2178503" y="4634137"/>
              <a:ext cx="2870200" cy="533400"/>
            </p:xfrm>
            <a:graphic>
              <a:graphicData uri="http://schemas.openxmlformats.org/presentationml/2006/ole">
                <mc:AlternateContent xmlns:mc="http://schemas.openxmlformats.org/markup-compatibility/2006">
                  <mc:Choice xmlns:v="urn:schemas-microsoft-com:vml" Requires="v">
                    <p:oleObj name="Equation" r:id="rId7" imgW="2870200" imgH="533400" progId="">
                      <p:embed/>
                    </p:oleObj>
                  </mc:Choice>
                  <mc:Fallback>
                    <p:oleObj name="Equation" r:id="rId7" imgW="2870200" imgH="533400" progId="">
                      <p:embed/>
                      <p:pic>
                        <p:nvPicPr>
                          <p:cNvPr id="0" name="Picture 136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8503" y="4634137"/>
                            <a:ext cx="28702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92992384"/>
                  </p:ext>
                </p:extLst>
              </p:nvPr>
            </p:nvGraphicFramePr>
            <p:xfrm>
              <a:off x="6083296" y="4634137"/>
              <a:ext cx="2971800" cy="533400"/>
            </p:xfrm>
            <a:graphic>
              <a:graphicData uri="http://schemas.openxmlformats.org/presentationml/2006/ole">
                <mc:AlternateContent xmlns:mc="http://schemas.openxmlformats.org/markup-compatibility/2006">
                  <mc:Choice xmlns:v="urn:schemas-microsoft-com:vml" Requires="v">
                    <p:oleObj name="Equation" r:id="rId9" imgW="2971800" imgH="533400" progId="">
                      <p:embed/>
                    </p:oleObj>
                  </mc:Choice>
                  <mc:Fallback>
                    <p:oleObj name="Equation" r:id="rId9" imgW="2971800" imgH="533400" progId="">
                      <p:embed/>
                      <p:pic>
                        <p:nvPicPr>
                          <p:cNvPr id="0" name="Picture 1367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3296" y="4634137"/>
                            <a:ext cx="29718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extLst>
      <p:ext uri="{BB962C8B-B14F-4D97-AF65-F5344CB8AC3E}">
        <p14:creationId xmlns:p14="http://schemas.microsoft.com/office/powerpoint/2010/main" val="3663517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參考區間上下限的精密度</a:t>
            </a:r>
            <a:endParaRPr lang="zh-CN" altLang="en-US" sz="1300" dirty="0">
              <a:solidFill>
                <a:srgbClr val="000000"/>
              </a:solidFill>
              <a:latin typeface="Times New Roman" pitchFamily="18" charset="0"/>
              <a:cs typeface="Times New Roman" pitchFamily="18" charset="0"/>
            </a:endParaRPr>
          </a:p>
        </p:txBody>
      </p:sp>
      <p:grpSp>
        <p:nvGrpSpPr>
          <p:cNvPr id="5" name="组合 4"/>
          <p:cNvGrpSpPr/>
          <p:nvPr/>
        </p:nvGrpSpPr>
        <p:grpSpPr>
          <a:xfrm>
            <a:off x="1449361" y="678078"/>
            <a:ext cx="8747794" cy="5098069"/>
            <a:chOff x="1449358" y="691724"/>
            <a:chExt cx="8747794" cy="5098069"/>
          </a:xfrm>
        </p:grpSpPr>
        <p:sp>
          <p:nvSpPr>
            <p:cNvPr id="39" name="Rectangle 14"/>
            <p:cNvSpPr>
              <a:spLocks noChangeArrowheads="1"/>
            </p:cNvSpPr>
            <p:nvPr/>
          </p:nvSpPr>
          <p:spPr bwMode="auto">
            <a:xfrm>
              <a:off x="1449360" y="1338055"/>
              <a:ext cx="87477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根據正態分佈的特點</a:t>
              </a:r>
              <a:r>
                <a:rPr lang="zh-TW" altLang="en-US" sz="1200" dirty="0"/>
                <a:t>基於正態分佈參考值的</a:t>
              </a:r>
              <a:r>
                <a:rPr lang="zh-CN" altLang="en-US" sz="1200" dirty="0"/>
                <a:t>參考界限</a:t>
              </a:r>
              <a:r>
                <a:rPr lang="zh-TW" altLang="en-US" sz="1200" dirty="0"/>
                <a:t>估計</a:t>
              </a:r>
              <a:r>
                <a:rPr lang="zh-CN" altLang="en-US" sz="1200" dirty="0"/>
                <a:t>的置信區間可得到如下公式：</a:t>
              </a:r>
              <a:endParaRPr lang="en-US" altLang="zh-CN" sz="1200" dirty="0">
                <a:solidFill>
                  <a:srgbClr val="000000"/>
                </a:solidFill>
              </a:endParaRPr>
            </a:p>
          </p:txBody>
        </p:sp>
        <p:grpSp>
          <p:nvGrpSpPr>
            <p:cNvPr id="11" name="组合 10"/>
            <p:cNvGrpSpPr/>
            <p:nvPr/>
          </p:nvGrpSpPr>
          <p:grpSpPr>
            <a:xfrm>
              <a:off x="1449362" y="691724"/>
              <a:ext cx="8747790" cy="646331"/>
              <a:chOff x="1706850" y="932380"/>
              <a:chExt cx="8747790" cy="646331"/>
            </a:xfrm>
          </p:grpSpPr>
          <p:sp>
            <p:nvSpPr>
              <p:cNvPr id="30" name="Rectangle 14"/>
              <p:cNvSpPr>
                <a:spLocks noChangeArrowheads="1"/>
              </p:cNvSpPr>
              <p:nvPr/>
            </p:nvSpPr>
            <p:spPr bwMode="auto">
              <a:xfrm>
                <a:off x="1706850" y="932380"/>
                <a:ext cx="87477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基於正態分佈參考值定義的參考區間有兩個估計值</a:t>
                </a:r>
                <a:r>
                  <a:rPr lang="en-US" altLang="zh-CN" sz="1200" dirty="0"/>
                  <a:t>         </a:t>
                </a:r>
                <a:r>
                  <a:rPr lang="zh-CN" altLang="en-US" sz="1200" dirty="0">
                    <a:solidFill>
                      <a:srgbClr val="000000"/>
                    </a:solidFill>
                  </a:rPr>
                  <a:t>和         </a:t>
                </a:r>
                <a:r>
                  <a:rPr lang="zh-CN" altLang="en-US" sz="1200" dirty="0">
                    <a:solidFill>
                      <a:srgbClr val="000000"/>
                    </a:solidFill>
                    <a:latin typeface="Times New Roman" pitchFamily="18" charset="0"/>
                    <a:cs typeface="Times New Roman" pitchFamily="18" charset="0"/>
                  </a:rPr>
                  <a:t>，這兩個值分別是參數                 和                        的點估計，</a:t>
                </a:r>
                <a:r>
                  <a:rPr lang="en-US" altLang="zh-CN" sz="1200" i="1" dirty="0">
                    <a:solidFill>
                      <a:srgbClr val="000000"/>
                    </a:solidFill>
                    <a:latin typeface="Times New Roman" pitchFamily="18" charset="0"/>
                    <a:cs typeface="Times New Roman" pitchFamily="18" charset="0"/>
                  </a:rPr>
                  <a:t>CLSI</a:t>
                </a:r>
                <a:r>
                  <a:rPr lang="zh-CN" altLang="en-US" sz="1200" dirty="0">
                    <a:solidFill>
                      <a:srgbClr val="000000"/>
                    </a:solidFill>
                    <a:latin typeface="Times New Roman" pitchFamily="18" charset="0"/>
                    <a:cs typeface="Times New Roman" pitchFamily="18" charset="0"/>
                  </a:rPr>
                  <a:t>建議計算</a:t>
                </a:r>
                <a:r>
                  <a:rPr lang="en-US" altLang="zh-CN" sz="1200" dirty="0">
                    <a:solidFill>
                      <a:srgbClr val="000000"/>
                    </a:solidFill>
                    <a:latin typeface="Times New Roman" pitchFamily="18" charset="0"/>
                    <a:cs typeface="Times New Roman" pitchFamily="18" charset="0"/>
                  </a:rPr>
                  <a:t>95%(</a:t>
                </a:r>
                <a:r>
                  <a:rPr lang="el-GR" altLang="zh-CN" sz="1200" i="1" dirty="0">
                    <a:solidFill>
                      <a:srgbClr val="000000"/>
                    </a:solidFill>
                    <a:latin typeface="Times New Roman" pitchFamily="18" charset="0"/>
                    <a:ea typeface="宋体"/>
                    <a:cs typeface="Times New Roman" pitchFamily="18" charset="0"/>
                  </a:rPr>
                  <a:t>α</a:t>
                </a:r>
                <a:r>
                  <a:rPr lang="en-US" altLang="zh-CN" sz="1200" dirty="0">
                    <a:solidFill>
                      <a:srgbClr val="000000"/>
                    </a:solidFill>
                    <a:latin typeface="Times New Roman" pitchFamily="18" charset="0"/>
                    <a:cs typeface="Times New Roman" pitchFamily="18" charset="0"/>
                  </a:rPr>
                  <a:t>=</a:t>
                </a:r>
                <a:r>
                  <a:rPr lang="en-US" altLang="zh-CN" sz="1100" dirty="0">
                    <a:solidFill>
                      <a:srgbClr val="000000"/>
                    </a:solidFill>
                    <a:latin typeface="Times New Roman" pitchFamily="18" charset="0"/>
                    <a:cs typeface="Times New Roman" pitchFamily="18" charset="0"/>
                  </a:rPr>
                  <a:t>5%</a:t>
                </a:r>
                <a:r>
                  <a:rPr lang="en-US" altLang="zh-CN" sz="12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參考區間上下限的</a:t>
                </a:r>
                <a:r>
                  <a:rPr lang="en-US" altLang="zh-CN" sz="1200" dirty="0">
                    <a:solidFill>
                      <a:srgbClr val="000000"/>
                    </a:solidFill>
                    <a:latin typeface="Times New Roman" pitchFamily="18" charset="0"/>
                    <a:cs typeface="Times New Roman" pitchFamily="18" charset="0"/>
                  </a:rPr>
                  <a:t>90%(</a:t>
                </a:r>
                <a:r>
                  <a:rPr lang="el-GR" altLang="zh-CN" sz="1200" i="1" dirty="0">
                    <a:solidFill>
                      <a:srgbClr val="000000"/>
                    </a:solidFill>
                    <a:latin typeface="Times New Roman" pitchFamily="18" charset="0"/>
                    <a:ea typeface="宋体"/>
                    <a:cs typeface="Times New Roman" pitchFamily="18" charset="0"/>
                  </a:rPr>
                  <a:t>γ</a:t>
                </a:r>
                <a:r>
                  <a:rPr lang="en-US" altLang="zh-CN" sz="1200" dirty="0">
                    <a:solidFill>
                      <a:srgbClr val="000000"/>
                    </a:solidFill>
                    <a:latin typeface="Times New Roman" pitchFamily="18" charset="0"/>
                    <a:cs typeface="Times New Roman" pitchFamily="18" charset="0"/>
                  </a:rPr>
                  <a:t>=</a:t>
                </a:r>
                <a:r>
                  <a:rPr lang="en-US" altLang="zh-CN" sz="1100" dirty="0">
                    <a:solidFill>
                      <a:srgbClr val="000000"/>
                    </a:solidFill>
                    <a:latin typeface="Times New Roman" pitchFamily="18" charset="0"/>
                    <a:cs typeface="Times New Roman" pitchFamily="18" charset="0"/>
                  </a:rPr>
                  <a:t>10%</a:t>
                </a:r>
                <a:r>
                  <a:rPr lang="en-US" altLang="zh-CN" sz="12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的置信區間；</a:t>
                </a:r>
                <a:endParaRPr lang="en-US" altLang="zh-CN" sz="1200" dirty="0">
                  <a:solidFill>
                    <a:srgbClr val="000000"/>
                  </a:solidFill>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669661215"/>
                  </p:ext>
                </p:extLst>
              </p:nvPr>
            </p:nvGraphicFramePr>
            <p:xfrm>
              <a:off x="7917307" y="1009482"/>
              <a:ext cx="571500" cy="241300"/>
            </p:xfrm>
            <a:graphic>
              <a:graphicData uri="http://schemas.openxmlformats.org/presentationml/2006/ole">
                <mc:AlternateContent xmlns:mc="http://schemas.openxmlformats.org/markup-compatibility/2006">
                  <mc:Choice xmlns:v="urn:schemas-microsoft-com:vml" Requires="v">
                    <p:oleObj name="公式" r:id="rId3" imgW="571252" imgH="241195" progId="Equation.3">
                      <p:embed/>
                    </p:oleObj>
                  </mc:Choice>
                  <mc:Fallback>
                    <p:oleObj name="公式" r:id="rId3" imgW="571252" imgH="241195" progId="Equation.3">
                      <p:embed/>
                      <p:pic>
                        <p:nvPicPr>
                          <p:cNvPr id="0" name="Picture 349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7307" y="1009482"/>
                            <a:ext cx="5715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073991575"/>
                  </p:ext>
                </p:extLst>
              </p:nvPr>
            </p:nvGraphicFramePr>
            <p:xfrm>
              <a:off x="5476614" y="1014245"/>
              <a:ext cx="317500" cy="241300"/>
            </p:xfrm>
            <a:graphic>
              <a:graphicData uri="http://schemas.openxmlformats.org/presentationml/2006/ole">
                <mc:AlternateContent xmlns:mc="http://schemas.openxmlformats.org/markup-compatibility/2006">
                  <mc:Choice xmlns:v="urn:schemas-microsoft-com:vml" Requires="v">
                    <p:oleObj name="公式" r:id="rId5" imgW="317225" imgH="241091" progId="Equation.3">
                      <p:embed/>
                    </p:oleObj>
                  </mc:Choice>
                  <mc:Fallback>
                    <p:oleObj name="公式" r:id="rId5" imgW="317225" imgH="241091" progId="Equation.3">
                      <p:embed/>
                      <p:pic>
                        <p:nvPicPr>
                          <p:cNvPr id="0" name="Picture 349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6614" y="1014245"/>
                            <a:ext cx="3175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125078581"/>
                  </p:ext>
                </p:extLst>
              </p:nvPr>
            </p:nvGraphicFramePr>
            <p:xfrm>
              <a:off x="5994848" y="1014413"/>
              <a:ext cx="330200" cy="241300"/>
            </p:xfrm>
            <a:graphic>
              <a:graphicData uri="http://schemas.openxmlformats.org/presentationml/2006/ole">
                <mc:AlternateContent xmlns:mc="http://schemas.openxmlformats.org/markup-compatibility/2006">
                  <mc:Choice xmlns:v="urn:schemas-microsoft-com:vml" Requires="v">
                    <p:oleObj name="公式" r:id="rId7" imgW="330057" imgH="241195" progId="Equation.3">
                      <p:embed/>
                    </p:oleObj>
                  </mc:Choice>
                  <mc:Fallback>
                    <p:oleObj name="公式" r:id="rId7" imgW="330057" imgH="241195" progId="Equation.3">
                      <p:embed/>
                      <p:pic>
                        <p:nvPicPr>
                          <p:cNvPr id="0" name="Picture 349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4848" y="1014413"/>
                            <a:ext cx="3302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474155008"/>
                  </p:ext>
                </p:extLst>
              </p:nvPr>
            </p:nvGraphicFramePr>
            <p:xfrm>
              <a:off x="8720584" y="1009482"/>
              <a:ext cx="812800" cy="241300"/>
            </p:xfrm>
            <a:graphic>
              <a:graphicData uri="http://schemas.openxmlformats.org/presentationml/2006/ole">
                <mc:AlternateContent xmlns:mc="http://schemas.openxmlformats.org/markup-compatibility/2006">
                  <mc:Choice xmlns:v="urn:schemas-microsoft-com:vml" Requires="v">
                    <p:oleObj name="公式" r:id="rId9" imgW="812447" imgH="241195" progId="Equation.3">
                      <p:embed/>
                    </p:oleObj>
                  </mc:Choice>
                  <mc:Fallback>
                    <p:oleObj name="公式" r:id="rId9" imgW="812447" imgH="241195" progId="Equation.3">
                      <p:embed/>
                      <p:pic>
                        <p:nvPicPr>
                          <p:cNvPr id="0" name="Picture 349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20584" y="1009482"/>
                            <a:ext cx="8128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 name="Rectangle 14"/>
            <p:cNvSpPr>
              <a:spLocks noChangeArrowheads="1"/>
            </p:cNvSpPr>
            <p:nvPr/>
          </p:nvSpPr>
          <p:spPr bwMode="auto">
            <a:xfrm>
              <a:off x="1449362" y="2451392"/>
              <a:ext cx="87477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根據次序統計量的分佈特點</a:t>
              </a:r>
              <a:r>
                <a:rPr lang="zh-TW" altLang="en-US" sz="1200" dirty="0"/>
                <a:t>基於參考值秩的</a:t>
              </a:r>
              <a:r>
                <a:rPr lang="zh-CN" altLang="en-US" sz="1200" dirty="0"/>
                <a:t>參考界限</a:t>
              </a:r>
              <a:r>
                <a:rPr lang="zh-TW" altLang="en-US" sz="1200" dirty="0"/>
                <a:t>非參數估計</a:t>
              </a:r>
              <a:r>
                <a:rPr lang="zh-CN" altLang="en-US" sz="1200" dirty="0"/>
                <a:t>的置信區間有：</a:t>
              </a:r>
              <a:endParaRPr lang="en-US" altLang="zh-CN" sz="1200" dirty="0">
                <a:solidFill>
                  <a:srgbClr val="000000"/>
                </a:solidFill>
              </a:endParaRPr>
            </a:p>
          </p:txBody>
        </p:sp>
        <p:grpSp>
          <p:nvGrpSpPr>
            <p:cNvPr id="4" name="组合 3"/>
            <p:cNvGrpSpPr/>
            <p:nvPr/>
          </p:nvGrpSpPr>
          <p:grpSpPr>
            <a:xfrm>
              <a:off x="1449362" y="2943552"/>
              <a:ext cx="8747790" cy="531812"/>
              <a:chOff x="1449362" y="2943552"/>
              <a:chExt cx="8747790" cy="531812"/>
            </a:xfrm>
          </p:grpSpPr>
          <p:sp>
            <p:nvSpPr>
              <p:cNvPr id="32" name="Rectangle 14"/>
              <p:cNvSpPr>
                <a:spLocks noChangeArrowheads="1"/>
              </p:cNvSpPr>
              <p:nvPr/>
            </p:nvSpPr>
            <p:spPr bwMode="auto">
              <a:xfrm>
                <a:off x="1449362" y="3030512"/>
                <a:ext cx="87477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endParaRPr lang="en-US" altLang="zh-CN" sz="1200" dirty="0">
                  <a:solidFill>
                    <a:srgbClr val="00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55809847"/>
                  </p:ext>
                </p:extLst>
              </p:nvPr>
            </p:nvGraphicFramePr>
            <p:xfrm>
              <a:off x="1851029" y="2943552"/>
              <a:ext cx="6397625" cy="531812"/>
            </p:xfrm>
            <a:graphic>
              <a:graphicData uri="http://schemas.openxmlformats.org/presentationml/2006/ole">
                <mc:AlternateContent xmlns:mc="http://schemas.openxmlformats.org/markup-compatibility/2006">
                  <mc:Choice xmlns:v="urn:schemas-microsoft-com:vml" Requires="v">
                    <p:oleObj name="Equation" r:id="rId11" imgW="5359400" imgH="495300" progId="">
                      <p:embed/>
                    </p:oleObj>
                  </mc:Choice>
                  <mc:Fallback>
                    <p:oleObj name="Equation" r:id="rId11" imgW="5359400" imgH="495300" progId="">
                      <p:embed/>
                      <p:pic>
                        <p:nvPicPr>
                          <p:cNvPr id="0" name="Picture 349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1029" y="2943552"/>
                            <a:ext cx="6397625"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 name="组合 1"/>
            <p:cNvGrpSpPr/>
            <p:nvPr/>
          </p:nvGrpSpPr>
          <p:grpSpPr>
            <a:xfrm>
              <a:off x="1449360" y="1827188"/>
              <a:ext cx="8747792" cy="520700"/>
              <a:chOff x="1706848" y="2192602"/>
              <a:chExt cx="8747792" cy="520700"/>
            </a:xfrm>
          </p:grpSpPr>
          <p:sp>
            <p:nvSpPr>
              <p:cNvPr id="24" name="Rectangle 14"/>
              <p:cNvSpPr>
                <a:spLocks noChangeArrowheads="1"/>
              </p:cNvSpPr>
              <p:nvPr/>
            </p:nvSpPr>
            <p:spPr bwMode="auto">
              <a:xfrm>
                <a:off x="1706848" y="2326645"/>
                <a:ext cx="87477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                                                     ，                                                                      ；</a:t>
                </a:r>
                <a:endParaRPr lang="en-US" altLang="zh-CN" sz="1200" dirty="0">
                  <a:solidFill>
                    <a:srgbClr val="000000"/>
                  </a:solidFill>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1152765496"/>
                  </p:ext>
                </p:extLst>
              </p:nvPr>
            </p:nvGraphicFramePr>
            <p:xfrm>
              <a:off x="6716637" y="2192602"/>
              <a:ext cx="2590800" cy="520700"/>
            </p:xfrm>
            <a:graphic>
              <a:graphicData uri="http://schemas.openxmlformats.org/presentationml/2006/ole">
                <mc:AlternateContent xmlns:mc="http://schemas.openxmlformats.org/markup-compatibility/2006">
                  <mc:Choice xmlns:v="urn:schemas-microsoft-com:vml" Requires="v">
                    <p:oleObj name="Equation" r:id="rId13" imgW="2590800" imgH="520700" progId="">
                      <p:embed/>
                    </p:oleObj>
                  </mc:Choice>
                  <mc:Fallback>
                    <p:oleObj name="Equation" r:id="rId13" imgW="2590800" imgH="520700" progId="">
                      <p:embed/>
                      <p:pic>
                        <p:nvPicPr>
                          <p:cNvPr id="0" name="Picture 349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16637" y="2192602"/>
                            <a:ext cx="25908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931572206"/>
                  </p:ext>
                </p:extLst>
              </p:nvPr>
            </p:nvGraphicFramePr>
            <p:xfrm>
              <a:off x="2086655" y="2354397"/>
              <a:ext cx="1803400" cy="279400"/>
            </p:xfrm>
            <a:graphic>
              <a:graphicData uri="http://schemas.openxmlformats.org/presentationml/2006/ole">
                <mc:AlternateContent xmlns:mc="http://schemas.openxmlformats.org/markup-compatibility/2006">
                  <mc:Choice xmlns:v="urn:schemas-microsoft-com:vml" Requires="v">
                    <p:oleObj name="Equation" r:id="rId15" imgW="1803400" imgH="279400" progId="">
                      <p:embed/>
                    </p:oleObj>
                  </mc:Choice>
                  <mc:Fallback>
                    <p:oleObj name="Equation" r:id="rId15" imgW="1803400" imgH="279400" progId="">
                      <p:embed/>
                      <p:pic>
                        <p:nvPicPr>
                          <p:cNvPr id="0" name="Picture 3495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86655" y="2354397"/>
                            <a:ext cx="18034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81092686"/>
                  </p:ext>
                </p:extLst>
              </p:nvPr>
            </p:nvGraphicFramePr>
            <p:xfrm>
              <a:off x="4330226" y="2354397"/>
              <a:ext cx="2006600" cy="279400"/>
            </p:xfrm>
            <a:graphic>
              <a:graphicData uri="http://schemas.openxmlformats.org/presentationml/2006/ole">
                <mc:AlternateContent xmlns:mc="http://schemas.openxmlformats.org/markup-compatibility/2006">
                  <mc:Choice xmlns:v="urn:schemas-microsoft-com:vml" Requires="v">
                    <p:oleObj name="Equation" r:id="rId17" imgW="2006600" imgH="279400" progId="">
                      <p:embed/>
                    </p:oleObj>
                  </mc:Choice>
                  <mc:Fallback>
                    <p:oleObj name="Equation" r:id="rId17" imgW="2006600" imgH="279400" progId="">
                      <p:embed/>
                      <p:pic>
                        <p:nvPicPr>
                          <p:cNvPr id="0" name="Picture 349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30226" y="2354397"/>
                            <a:ext cx="20066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6" name="Rectangle 14"/>
            <p:cNvSpPr>
              <a:spLocks noChangeArrowheads="1"/>
            </p:cNvSpPr>
            <p:nvPr/>
          </p:nvSpPr>
          <p:spPr bwMode="auto">
            <a:xfrm>
              <a:off x="1449358" y="5456304"/>
              <a:ext cx="8747790" cy="333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在估計參考區間上下限的置信區間時，如果無法得到具體的解析式，也可以考慮使用模擬技術，模擬估計出一個區間範圍；</a:t>
              </a:r>
              <a:endParaRPr lang="en-US" altLang="zh-CN" sz="1200" dirty="0">
                <a:solidFill>
                  <a:srgbClr val="000000"/>
                </a:solidFill>
              </a:endParaRPr>
            </a:p>
          </p:txBody>
        </p:sp>
        <p:grpSp>
          <p:nvGrpSpPr>
            <p:cNvPr id="10" name="组合 9"/>
            <p:cNvGrpSpPr/>
            <p:nvPr/>
          </p:nvGrpSpPr>
          <p:grpSpPr>
            <a:xfrm>
              <a:off x="1449358" y="4169723"/>
              <a:ext cx="8747794" cy="482600"/>
              <a:chOff x="1706846" y="4471339"/>
              <a:chExt cx="8747794" cy="482600"/>
            </a:xfrm>
          </p:grpSpPr>
          <p:sp>
            <p:nvSpPr>
              <p:cNvPr id="29" name="Rectangle 14"/>
              <p:cNvSpPr>
                <a:spLocks noChangeArrowheads="1"/>
              </p:cNvSpPr>
              <p:nvPr/>
            </p:nvSpPr>
            <p:spPr bwMode="auto">
              <a:xfrm>
                <a:off x="1706846" y="4535324"/>
                <a:ext cx="87477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                                                                                                  ；</a:t>
                </a:r>
                <a:endParaRPr lang="en-US" altLang="zh-CN" sz="1200" dirty="0">
                  <a:solidFill>
                    <a:srgbClr val="000000"/>
                  </a:solidFill>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617069186"/>
                  </p:ext>
                </p:extLst>
              </p:nvPr>
            </p:nvGraphicFramePr>
            <p:xfrm>
              <a:off x="2064063" y="4471339"/>
              <a:ext cx="3352800" cy="482600"/>
            </p:xfrm>
            <a:graphic>
              <a:graphicData uri="http://schemas.openxmlformats.org/presentationml/2006/ole">
                <mc:AlternateContent xmlns:mc="http://schemas.openxmlformats.org/markup-compatibility/2006">
                  <mc:Choice xmlns:v="urn:schemas-microsoft-com:vml" Requires="v">
                    <p:oleObj name="Equation" r:id="rId19" imgW="3352800" imgH="482600" progId="">
                      <p:embed/>
                    </p:oleObj>
                  </mc:Choice>
                  <mc:Fallback>
                    <p:oleObj name="Equation" r:id="rId19" imgW="3352800" imgH="482600" progId="">
                      <p:embed/>
                      <p:pic>
                        <p:nvPicPr>
                          <p:cNvPr id="0" name="Picture 349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64063" y="4471339"/>
                            <a:ext cx="33528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201001719"/>
                  </p:ext>
                </p:extLst>
              </p:nvPr>
            </p:nvGraphicFramePr>
            <p:xfrm>
              <a:off x="5940738" y="4471339"/>
              <a:ext cx="3873500" cy="482600"/>
            </p:xfrm>
            <a:graphic>
              <a:graphicData uri="http://schemas.openxmlformats.org/presentationml/2006/ole">
                <mc:AlternateContent xmlns:mc="http://schemas.openxmlformats.org/markup-compatibility/2006">
                  <mc:Choice xmlns:v="urn:schemas-microsoft-com:vml" Requires="v">
                    <p:oleObj name="Equation" r:id="rId21" imgW="3873500" imgH="482600" progId="">
                      <p:embed/>
                    </p:oleObj>
                  </mc:Choice>
                  <mc:Fallback>
                    <p:oleObj name="Equation" r:id="rId21" imgW="3873500" imgH="482600" progId="">
                      <p:embed/>
                      <p:pic>
                        <p:nvPicPr>
                          <p:cNvPr id="0" name="Picture 3495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940738" y="4471339"/>
                            <a:ext cx="38735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 name="Rectangle 14"/>
            <p:cNvSpPr>
              <a:spLocks noChangeArrowheads="1"/>
            </p:cNvSpPr>
            <p:nvPr/>
          </p:nvSpPr>
          <p:spPr bwMode="auto">
            <a:xfrm>
              <a:off x="1449358" y="4792052"/>
              <a:ext cx="87477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lvl="0">
                <a:lnSpc>
                  <a:spcPct val="150000"/>
                </a:lnSpc>
              </a:pPr>
              <a:r>
                <a:rPr lang="zh-TW" altLang="en-US" sz="1200" dirty="0"/>
                <a:t>       </a:t>
              </a:r>
              <a:r>
                <a:rPr lang="zh-CN" altLang="en-US" sz="1200" dirty="0"/>
                <a:t>當</a:t>
              </a:r>
              <a:r>
                <a:rPr lang="zh-TW" altLang="en-US" sz="1200" dirty="0">
                  <a:solidFill>
                    <a:srgbClr val="000000"/>
                  </a:solidFill>
                  <a:latin typeface="Times New Roman" pitchFamily="18" charset="0"/>
                  <a:cs typeface="Times New Roman" pitchFamily="18" charset="0"/>
                </a:rPr>
                <a:t>基於參考值</a:t>
              </a:r>
              <a:r>
                <a:rPr lang="zh-CN" altLang="en-US" sz="1200" dirty="0">
                  <a:solidFill>
                    <a:srgbClr val="000000"/>
                  </a:solidFill>
                  <a:latin typeface="Times New Roman" pitchFamily="18" charset="0"/>
                  <a:cs typeface="Times New Roman" pitchFamily="18" charset="0"/>
                </a:rPr>
                <a:t>的</a:t>
              </a:r>
              <a:r>
                <a:rPr lang="zh-TW" altLang="en-US" sz="1200" dirty="0">
                  <a:solidFill>
                    <a:srgbClr val="000000"/>
                  </a:solidFill>
                  <a:latin typeface="Times New Roman" pitchFamily="18" charset="0"/>
                  <a:cs typeface="Times New Roman" pitchFamily="18" charset="0"/>
                </a:rPr>
                <a:t>秩</a:t>
              </a:r>
              <a:r>
                <a:rPr lang="zh-CN" altLang="en-US" sz="1200" dirty="0">
                  <a:solidFill>
                    <a:srgbClr val="000000"/>
                  </a:solidFill>
                  <a:latin typeface="Times New Roman" pitchFamily="18" charset="0"/>
                  <a:cs typeface="Times New Roman" pitchFamily="18" charset="0"/>
                </a:rPr>
                <a:t>做參考區間的</a:t>
              </a:r>
              <a:r>
                <a:rPr lang="zh-TW" altLang="en-US" sz="1200" dirty="0">
                  <a:solidFill>
                    <a:srgbClr val="000000"/>
                  </a:solidFill>
                  <a:latin typeface="Times New Roman" pitchFamily="18" charset="0"/>
                  <a:cs typeface="Times New Roman" pitchFamily="18" charset="0"/>
                </a:rPr>
                <a:t>非參數估計</a:t>
              </a:r>
              <a:r>
                <a:rPr lang="zh-CN" altLang="en-US" sz="1200" dirty="0"/>
                <a:t>時，</a:t>
              </a:r>
              <a:r>
                <a:rPr lang="en-US" altLang="zh-CN" sz="1200" dirty="0"/>
                <a:t>120</a:t>
              </a:r>
              <a:r>
                <a:rPr lang="zh-CN" altLang="en-US" sz="1200" dirty="0"/>
                <a:t>組數據是估計非參數</a:t>
              </a:r>
              <a:r>
                <a:rPr lang="en-US" altLang="zh-CN" sz="1200" dirty="0"/>
                <a:t>95%</a:t>
              </a:r>
              <a:r>
                <a:rPr lang="zh-CN" altLang="en-US" sz="1200" dirty="0"/>
                <a:t>參考區間界限</a:t>
              </a:r>
              <a:r>
                <a:rPr lang="en-US" altLang="zh-CN" sz="1200" dirty="0"/>
                <a:t>90%</a:t>
              </a:r>
              <a:r>
                <a:rPr lang="zh-CN" altLang="en-US" sz="1200" dirty="0"/>
                <a:t>置信區間所需的最小樣本量，其下限</a:t>
              </a:r>
              <a:r>
                <a:rPr lang="en-US" altLang="zh-CN" sz="1200" dirty="0"/>
                <a:t>90%</a:t>
              </a:r>
              <a:r>
                <a:rPr lang="zh-CN" altLang="en-US" sz="1200" dirty="0"/>
                <a:t>的置信區間為</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(1)</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(7)</a:t>
              </a:r>
              <a:r>
                <a:rPr lang="en-US" altLang="zh-CN" sz="1200" dirty="0">
                  <a:latin typeface="Times New Roman" pitchFamily="18" charset="0"/>
                  <a:cs typeface="Times New Roman" pitchFamily="18" charset="0"/>
                </a:rPr>
                <a:t>]</a:t>
              </a:r>
              <a:r>
                <a:rPr lang="zh-CN" altLang="en-US" sz="1200" dirty="0"/>
                <a:t>，上限</a:t>
              </a:r>
              <a:r>
                <a:rPr lang="en-US" altLang="zh-CN" sz="1200" dirty="0"/>
                <a:t>90%</a:t>
              </a:r>
              <a:r>
                <a:rPr lang="zh-CN" altLang="en-US" sz="1200" dirty="0"/>
                <a:t>的置信區間為</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(114)</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baseline="-25000" dirty="0">
                  <a:latin typeface="Times New Roman" pitchFamily="18" charset="0"/>
                  <a:cs typeface="Times New Roman" pitchFamily="18" charset="0"/>
                </a:rPr>
                <a:t>(120)</a:t>
              </a:r>
              <a:r>
                <a:rPr lang="en-US" altLang="zh-CN" sz="1200" dirty="0">
                  <a:latin typeface="Times New Roman" pitchFamily="18" charset="0"/>
                  <a:cs typeface="Times New Roman" pitchFamily="18" charset="0"/>
                </a:rPr>
                <a:t>]</a:t>
              </a:r>
              <a:r>
                <a:rPr lang="zh-CN" altLang="en-US" sz="1200" dirty="0"/>
                <a:t>，這也是為何</a:t>
              </a:r>
              <a:r>
                <a:rPr lang="en-US" altLang="zh-CN" sz="1200" i="1" dirty="0">
                  <a:latin typeface="Times New Roman" pitchFamily="18" charset="0"/>
                  <a:cs typeface="Times New Roman" pitchFamily="18" charset="0"/>
                </a:rPr>
                <a:t>CLSI</a:t>
              </a:r>
              <a:r>
                <a:rPr lang="zh-CN" altLang="en-US" sz="1200" dirty="0"/>
                <a:t>推薦最少取</a:t>
              </a:r>
              <a:r>
                <a:rPr lang="en-US" altLang="zh-CN" sz="1200" dirty="0"/>
                <a:t>120</a:t>
              </a:r>
              <a:r>
                <a:rPr lang="zh-CN" altLang="en-US" sz="1200" dirty="0"/>
                <a:t>組參考值的原因；</a:t>
              </a:r>
              <a:endParaRPr lang="en-US" altLang="zh-CN" sz="1200" dirty="0">
                <a:solidFill>
                  <a:srgbClr val="000000"/>
                </a:solidFill>
              </a:endParaRPr>
            </a:p>
          </p:txBody>
        </p:sp>
        <p:sp>
          <p:nvSpPr>
            <p:cNvPr id="33" name="Rectangle 14"/>
            <p:cNvSpPr>
              <a:spLocks noChangeArrowheads="1"/>
            </p:cNvSpPr>
            <p:nvPr/>
          </p:nvSpPr>
          <p:spPr bwMode="auto">
            <a:xfrm>
              <a:off x="1449358" y="3630538"/>
              <a:ext cx="87477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可以查率的置信區間表，也可以用正態近似的方法估計上下限的置信區間，如取正態近似可參照如下公式進行計算：</a:t>
              </a:r>
              <a:endParaRPr lang="en-US" altLang="zh-CN" sz="1200" dirty="0">
                <a:solidFill>
                  <a:srgbClr val="000000"/>
                </a:solidFill>
              </a:endParaRPr>
            </a:p>
          </p:txBody>
        </p:sp>
      </p:grpSp>
    </p:spTree>
    <p:extLst>
      <p:ext uri="{BB962C8B-B14F-4D97-AF65-F5344CB8AC3E}">
        <p14:creationId xmlns:p14="http://schemas.microsoft.com/office/powerpoint/2010/main" val="398025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參考區間上下限的精密度</a:t>
            </a:r>
            <a:endParaRPr lang="zh-CN" altLang="en-US" sz="1300" dirty="0">
              <a:solidFill>
                <a:srgbClr val="000000"/>
              </a:solidFill>
              <a:latin typeface="Times New Roman" pitchFamily="18" charset="0"/>
              <a:cs typeface="Times New Roman" pitchFamily="18" charset="0"/>
            </a:endParaRPr>
          </a:p>
        </p:txBody>
      </p:sp>
      <p:grpSp>
        <p:nvGrpSpPr>
          <p:cNvPr id="28" name="组合 9"/>
          <p:cNvGrpSpPr>
            <a:grpSpLocks/>
          </p:cNvGrpSpPr>
          <p:nvPr/>
        </p:nvGrpSpPr>
        <p:grpSpPr bwMode="auto">
          <a:xfrm>
            <a:off x="288291" y="679792"/>
            <a:ext cx="10958513" cy="5300322"/>
            <a:chOff x="273619" y="495418"/>
            <a:chExt cx="10958488" cy="5485410"/>
          </a:xfrm>
        </p:grpSpPr>
        <p:pic>
          <p:nvPicPr>
            <p:cNvPr id="33"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619" y="495418"/>
              <a:ext cx="10958488" cy="5485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AutoShape 3"/>
            <p:cNvSpPr>
              <a:spLocks noChangeArrowheads="1"/>
            </p:cNvSpPr>
            <p:nvPr/>
          </p:nvSpPr>
          <p:spPr bwMode="auto">
            <a:xfrm>
              <a:off x="1230488" y="679929"/>
              <a:ext cx="1881102" cy="1126780"/>
            </a:xfrm>
            <a:prstGeom prst="wedgeEllipseCallout">
              <a:avLst>
                <a:gd name="adj1" fmla="val 87153"/>
                <a:gd name="adj2" fmla="val 39023"/>
              </a:avLst>
            </a:prstGeom>
            <a:solidFill>
              <a:schemeClr val="accent1"/>
            </a:solidFill>
            <a:ln w="6350">
              <a:solidFill>
                <a:schemeClr val="tx1"/>
              </a:solidFill>
              <a:miter lim="800000"/>
              <a:headEnd/>
              <a:tailEnd/>
            </a:ln>
          </p:spPr>
          <p:txBody>
            <a:bodyPr/>
            <a:lstStyle/>
            <a:p>
              <a:r>
                <a:rPr lang="zh-CN" altLang="en-US" sz="1200" dirty="0">
                  <a:solidFill>
                    <a:schemeClr val="tx1"/>
                  </a:solidFill>
                </a:rPr>
                <a:t>總體均數為</a:t>
              </a:r>
            </a:p>
            <a:p>
              <a:r>
                <a:rPr lang="zh-CN" altLang="en-US" sz="1400" dirty="0">
                  <a:solidFill>
                    <a:schemeClr val="tx1"/>
                  </a:solidFill>
                </a:rPr>
                <a:t>    </a:t>
              </a:r>
              <a:r>
                <a:rPr lang="en-US" altLang="zh-CN" sz="1400" i="1" dirty="0">
                  <a:solidFill>
                    <a:schemeClr val="tx1"/>
                  </a:solidFill>
                  <a:latin typeface="Times New Roman" pitchFamily="18" charset="0"/>
                  <a:cs typeface="Times New Roman" pitchFamily="18" charset="0"/>
                </a:rPr>
                <a:t>µ</a:t>
              </a:r>
              <a:r>
                <a:rPr lang="en-US" altLang="zh-CN" sz="1400" dirty="0">
                  <a:solidFill>
                    <a:schemeClr val="tx1"/>
                  </a:solidFill>
                </a:rPr>
                <a:t> = </a:t>
              </a:r>
              <a:r>
                <a:rPr lang="en-US" altLang="zh-CN" sz="1400" i="1" dirty="0">
                  <a:solidFill>
                    <a:schemeClr val="tx1"/>
                  </a:solidFill>
                  <a:latin typeface="Times New Roman" pitchFamily="18" charset="0"/>
                  <a:cs typeface="Times New Roman" pitchFamily="18" charset="0"/>
                </a:rPr>
                <a:t>n </a:t>
              </a:r>
              <a:r>
                <a:rPr lang="en-US" altLang="zh-CN" sz="1500" i="1" dirty="0">
                  <a:solidFill>
                    <a:schemeClr val="tx1"/>
                  </a:solidFill>
                  <a:latin typeface="Times New Roman" pitchFamily="18" charset="0"/>
                  <a:cs typeface="Times New Roman" pitchFamily="18" charset="0"/>
                </a:rPr>
                <a:t>·</a:t>
              </a:r>
              <a:r>
                <a:rPr lang="en-US" altLang="zh-CN" sz="1400" i="1" dirty="0">
                  <a:solidFill>
                    <a:schemeClr val="tx1"/>
                  </a:solidFill>
                  <a:latin typeface="Times New Roman" pitchFamily="18" charset="0"/>
                  <a:cs typeface="Times New Roman" pitchFamily="18" charset="0"/>
                </a:rPr>
                <a:t> π</a:t>
              </a:r>
            </a:p>
            <a:p>
              <a:pPr algn="ctr"/>
              <a:r>
                <a:rPr lang="en-US" altLang="zh-CN" sz="1400" i="1" dirty="0">
                  <a:solidFill>
                    <a:schemeClr val="tx1"/>
                  </a:solidFill>
                </a:rPr>
                <a:t>      </a:t>
              </a:r>
              <a:r>
                <a:rPr lang="en-US" altLang="zh-CN" sz="1400" dirty="0">
                  <a:solidFill>
                    <a:schemeClr val="tx1"/>
                  </a:solidFill>
                </a:rPr>
                <a:t>= 50×0.3</a:t>
              </a:r>
            </a:p>
            <a:p>
              <a:r>
                <a:rPr lang="en-US" altLang="zh-CN" sz="1400" i="1" dirty="0">
                  <a:solidFill>
                    <a:schemeClr val="tx1"/>
                  </a:solidFill>
                </a:rPr>
                <a:t>       </a:t>
              </a:r>
              <a:r>
                <a:rPr lang="en-US" altLang="zh-CN" sz="1400" dirty="0">
                  <a:solidFill>
                    <a:schemeClr val="tx1"/>
                  </a:solidFill>
                </a:rPr>
                <a:t>= 15</a:t>
              </a:r>
              <a:r>
                <a:rPr lang="en-US" altLang="zh-CN" sz="1400" i="1" dirty="0">
                  <a:solidFill>
                    <a:schemeClr val="tx1"/>
                  </a:solidFill>
                </a:rPr>
                <a:t>  </a:t>
              </a:r>
            </a:p>
          </p:txBody>
        </p:sp>
        <p:grpSp>
          <p:nvGrpSpPr>
            <p:cNvPr id="35" name="组合 1"/>
            <p:cNvGrpSpPr>
              <a:grpSpLocks/>
            </p:cNvGrpSpPr>
            <p:nvPr/>
          </p:nvGrpSpPr>
          <p:grpSpPr bwMode="auto">
            <a:xfrm>
              <a:off x="4914567" y="1079541"/>
              <a:ext cx="4911357" cy="1555229"/>
              <a:chOff x="4914744" y="1024933"/>
              <a:chExt cx="4911644" cy="1555182"/>
            </a:xfrm>
          </p:grpSpPr>
          <p:sp>
            <p:nvSpPr>
              <p:cNvPr id="36" name="AutoShape 4"/>
              <p:cNvSpPr>
                <a:spLocks/>
              </p:cNvSpPr>
              <p:nvPr/>
            </p:nvSpPr>
            <p:spPr bwMode="auto">
              <a:xfrm>
                <a:off x="7779841" y="1602215"/>
                <a:ext cx="2046547" cy="977900"/>
              </a:xfrm>
              <a:prstGeom prst="borderCallout2">
                <a:avLst>
                  <a:gd name="adj1" fmla="val 50588"/>
                  <a:gd name="adj2" fmla="val -296"/>
                  <a:gd name="adj3" fmla="val 38620"/>
                  <a:gd name="adj4" fmla="val -61870"/>
                  <a:gd name="adj5" fmla="val -58454"/>
                  <a:gd name="adj6" fmla="val -100875"/>
                </a:avLst>
              </a:prstGeom>
              <a:solidFill>
                <a:schemeClr val="accent1"/>
              </a:solidFill>
              <a:ln w="6350">
                <a:solidFill>
                  <a:schemeClr val="tx1"/>
                </a:solidFill>
                <a:miter lim="800000"/>
                <a:headEnd/>
                <a:tailEnd/>
              </a:ln>
            </p:spPr>
            <p:txBody>
              <a:bodyPr/>
              <a:lstStyle/>
              <a:p>
                <a:r>
                  <a:rPr lang="zh-CN" altLang="en-US" sz="1200" dirty="0">
                    <a:solidFill>
                      <a:schemeClr val="tx1"/>
                    </a:solidFill>
                  </a:rPr>
                  <a:t>總體方差</a:t>
                </a:r>
              </a:p>
              <a:p>
                <a:r>
                  <a:rPr lang="en-US" altLang="zh-CN" sz="1800" i="1" dirty="0">
                    <a:solidFill>
                      <a:schemeClr val="tx1"/>
                    </a:solidFill>
                    <a:latin typeface="Times New Roman" pitchFamily="18" charset="0"/>
                    <a:cs typeface="Times New Roman" pitchFamily="18" charset="0"/>
                  </a:rPr>
                  <a:t>  σ</a:t>
                </a:r>
                <a:r>
                  <a:rPr lang="en-US" altLang="zh-CN" sz="1400" baseline="30000" dirty="0">
                    <a:solidFill>
                      <a:schemeClr val="tx1"/>
                    </a:solidFill>
                    <a:latin typeface="Times New Roman" pitchFamily="18" charset="0"/>
                    <a:cs typeface="Times New Roman" pitchFamily="18" charset="0"/>
                  </a:rPr>
                  <a:t> </a:t>
                </a:r>
                <a:r>
                  <a:rPr lang="en-US" altLang="zh-CN" sz="1500" baseline="30000" dirty="0">
                    <a:solidFill>
                      <a:schemeClr val="tx1"/>
                    </a:solidFill>
                    <a:latin typeface="Times New Roman" pitchFamily="18" charset="0"/>
                    <a:cs typeface="Times New Roman" pitchFamily="18" charset="0"/>
                  </a:rPr>
                  <a:t>2</a:t>
                </a:r>
                <a:r>
                  <a:rPr lang="en-US" altLang="zh-CN" sz="1800" baseline="30000" dirty="0">
                    <a:solidFill>
                      <a:schemeClr val="tx1"/>
                    </a:solidFill>
                  </a:rPr>
                  <a:t> </a:t>
                </a:r>
                <a:r>
                  <a:rPr lang="en-US" altLang="zh-CN" sz="1400" dirty="0">
                    <a:solidFill>
                      <a:schemeClr val="tx1"/>
                    </a:solidFill>
                  </a:rPr>
                  <a:t>= </a:t>
                </a:r>
                <a:r>
                  <a:rPr lang="en-US" altLang="zh-CN" sz="1600" i="1" dirty="0">
                    <a:solidFill>
                      <a:schemeClr val="tx1"/>
                    </a:solidFill>
                    <a:latin typeface="Times New Roman" pitchFamily="18" charset="0"/>
                    <a:cs typeface="Times New Roman" pitchFamily="18" charset="0"/>
                  </a:rPr>
                  <a:t>n · π ·</a:t>
                </a:r>
                <a:r>
                  <a:rPr lang="en-US" altLang="zh-CN" sz="1600" dirty="0">
                    <a:solidFill>
                      <a:schemeClr val="tx1"/>
                    </a:solidFill>
                    <a:latin typeface="Times New Roman" pitchFamily="18" charset="0"/>
                    <a:cs typeface="Times New Roman" pitchFamily="18" charset="0"/>
                  </a:rPr>
                  <a:t> ( </a:t>
                </a:r>
                <a:r>
                  <a:rPr lang="en-US" altLang="zh-CN" sz="1200" dirty="0">
                    <a:solidFill>
                      <a:schemeClr val="tx1"/>
                    </a:solidFill>
                    <a:latin typeface="Times New Roman" pitchFamily="18" charset="0"/>
                    <a:cs typeface="Times New Roman" pitchFamily="18" charset="0"/>
                  </a:rPr>
                  <a:t>1 </a:t>
                </a:r>
                <a:r>
                  <a:rPr lang="en-US" altLang="zh-CN" sz="1600" dirty="0">
                    <a:solidFill>
                      <a:schemeClr val="tx1"/>
                    </a:solidFill>
                    <a:latin typeface="Times New Roman" pitchFamily="18" charset="0"/>
                    <a:cs typeface="Times New Roman" pitchFamily="18" charset="0"/>
                  </a:rPr>
                  <a:t>- </a:t>
                </a:r>
                <a:r>
                  <a:rPr lang="en-US" altLang="zh-CN" sz="1600" i="1" dirty="0">
                    <a:solidFill>
                      <a:schemeClr val="tx1"/>
                    </a:solidFill>
                    <a:latin typeface="Times New Roman" pitchFamily="18" charset="0"/>
                    <a:cs typeface="Times New Roman" pitchFamily="18" charset="0"/>
                  </a:rPr>
                  <a:t>π </a:t>
                </a:r>
                <a:r>
                  <a:rPr lang="en-US" altLang="zh-CN" sz="1600" dirty="0">
                    <a:solidFill>
                      <a:schemeClr val="tx1"/>
                    </a:solidFill>
                    <a:latin typeface="Times New Roman" pitchFamily="18" charset="0"/>
                    <a:cs typeface="Times New Roman" pitchFamily="18" charset="0"/>
                  </a:rPr>
                  <a:t>)</a:t>
                </a:r>
                <a:endParaRPr lang="en-US" altLang="zh-CN" sz="1600" baseline="30000" dirty="0">
                  <a:solidFill>
                    <a:schemeClr val="tx1"/>
                  </a:solidFill>
                  <a:latin typeface="Times New Roman" pitchFamily="18" charset="0"/>
                  <a:cs typeface="Times New Roman" pitchFamily="18" charset="0"/>
                </a:endParaRPr>
              </a:p>
              <a:p>
                <a:r>
                  <a:rPr lang="en-US" altLang="zh-CN" sz="1400" dirty="0">
                    <a:solidFill>
                      <a:schemeClr val="tx1"/>
                    </a:solidFill>
                  </a:rPr>
                  <a:t>       = 50×0.3×(1-0.3)</a:t>
                </a:r>
                <a:endParaRPr lang="zh-CN" altLang="en-US" sz="1400" dirty="0">
                  <a:solidFill>
                    <a:schemeClr val="tx1"/>
                  </a:solidFill>
                </a:endParaRPr>
              </a:p>
              <a:p>
                <a:r>
                  <a:rPr lang="zh-CN" altLang="en-US" sz="1400" dirty="0">
                    <a:solidFill>
                      <a:schemeClr val="tx1"/>
                    </a:solidFill>
                  </a:rPr>
                  <a:t>       </a:t>
                </a:r>
                <a:r>
                  <a:rPr lang="en-US" altLang="zh-CN" sz="1400" dirty="0">
                    <a:solidFill>
                      <a:schemeClr val="tx1"/>
                    </a:solidFill>
                  </a:rPr>
                  <a:t>= 10.5</a:t>
                </a:r>
              </a:p>
            </p:txBody>
          </p:sp>
          <p:sp>
            <p:nvSpPr>
              <p:cNvPr id="37" name="Line 5"/>
              <p:cNvSpPr>
                <a:spLocks noChangeShapeType="1"/>
              </p:cNvSpPr>
              <p:nvPr/>
            </p:nvSpPr>
            <p:spPr bwMode="auto">
              <a:xfrm>
                <a:off x="4914744" y="1024933"/>
                <a:ext cx="16380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1928155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參考區間上下限的精密度</a:t>
            </a:r>
            <a:endParaRPr lang="zh-CN" altLang="en-US" sz="1300" dirty="0">
              <a:solidFill>
                <a:srgbClr val="000000"/>
              </a:solidFill>
              <a:latin typeface="Times New Roman" pitchFamily="18" charset="0"/>
              <a:cs typeface="Times New Roman" pitchFamily="18" charset="0"/>
            </a:endParaRPr>
          </a:p>
        </p:txBody>
      </p:sp>
      <p:grpSp>
        <p:nvGrpSpPr>
          <p:cNvPr id="6" name="组合 5"/>
          <p:cNvGrpSpPr/>
          <p:nvPr/>
        </p:nvGrpSpPr>
        <p:grpSpPr>
          <a:xfrm>
            <a:off x="1151121" y="252795"/>
            <a:ext cx="9303520" cy="5657205"/>
            <a:chOff x="1151120" y="252793"/>
            <a:chExt cx="9303520" cy="5657205"/>
          </a:xfrm>
        </p:grpSpPr>
        <p:grpSp>
          <p:nvGrpSpPr>
            <p:cNvPr id="9" name="组合 8"/>
            <p:cNvGrpSpPr/>
            <p:nvPr/>
          </p:nvGrpSpPr>
          <p:grpSpPr>
            <a:xfrm>
              <a:off x="1151120" y="814351"/>
              <a:ext cx="9303520" cy="5095647"/>
              <a:chOff x="1151120" y="814351"/>
              <a:chExt cx="9303520" cy="5095647"/>
            </a:xfrm>
          </p:grpSpPr>
          <p:grpSp>
            <p:nvGrpSpPr>
              <p:cNvPr id="3" name="组合 2"/>
              <p:cNvGrpSpPr/>
              <p:nvPr/>
            </p:nvGrpSpPr>
            <p:grpSpPr>
              <a:xfrm>
                <a:off x="5318760" y="3415962"/>
                <a:ext cx="5135880" cy="2494031"/>
                <a:chOff x="5318760" y="3415962"/>
                <a:chExt cx="5135880" cy="2494031"/>
              </a:xfrm>
            </p:grpSpPr>
            <p:pic>
              <p:nvPicPr>
                <p:cNvPr id="1566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8760" y="3415962"/>
                  <a:ext cx="5135880" cy="249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04544" y="3801156"/>
                  <a:ext cx="870387" cy="46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8" name="组合 7"/>
              <p:cNvGrpSpPr/>
              <p:nvPr/>
            </p:nvGrpSpPr>
            <p:grpSpPr>
              <a:xfrm>
                <a:off x="5318760" y="814352"/>
                <a:ext cx="5135880" cy="2494036"/>
                <a:chOff x="5318760" y="814352"/>
                <a:chExt cx="5135880" cy="2494036"/>
              </a:xfrm>
            </p:grpSpPr>
            <p:pic>
              <p:nvPicPr>
                <p:cNvPr id="522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18760" y="814352"/>
                  <a:ext cx="5135880" cy="2494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52546" y="1440190"/>
                  <a:ext cx="870387" cy="46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 name="组合 3"/>
              <p:cNvGrpSpPr/>
              <p:nvPr/>
            </p:nvGrpSpPr>
            <p:grpSpPr>
              <a:xfrm>
                <a:off x="1151120" y="814351"/>
                <a:ext cx="3725680" cy="2494036"/>
                <a:chOff x="1151120" y="814351"/>
                <a:chExt cx="3725680" cy="2494036"/>
              </a:xfrm>
            </p:grpSpPr>
            <p:pic>
              <p:nvPicPr>
                <p:cNvPr id="40974" name="Picture 1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1120" y="814351"/>
                  <a:ext cx="3725680" cy="2494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87747" y="1424916"/>
                  <a:ext cx="873674" cy="529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 name="组合 4"/>
              <p:cNvGrpSpPr/>
              <p:nvPr/>
            </p:nvGrpSpPr>
            <p:grpSpPr>
              <a:xfrm>
                <a:off x="1151120" y="3415962"/>
                <a:ext cx="3725680" cy="2494036"/>
                <a:chOff x="1151120" y="3415962"/>
                <a:chExt cx="3725680" cy="2494036"/>
              </a:xfrm>
            </p:grpSpPr>
            <p:pic>
              <p:nvPicPr>
                <p:cNvPr id="40975" name="Picture 1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51120" y="3415962"/>
                  <a:ext cx="3725680" cy="2494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87747" y="4173814"/>
                  <a:ext cx="873674" cy="529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2" name="矩形 1"/>
            <p:cNvSpPr/>
            <p:nvPr/>
          </p:nvSpPr>
          <p:spPr>
            <a:xfrm>
              <a:off x="3015240" y="252793"/>
              <a:ext cx="7439399" cy="346249"/>
            </a:xfrm>
            <a:prstGeom prst="rect">
              <a:avLst/>
            </a:prstGeom>
          </p:spPr>
          <p:txBody>
            <a:bodyPr wrap="square">
              <a:spAutoFit/>
            </a:bodyPr>
            <a:lstStyle/>
            <a:p>
              <a:pPr>
                <a:lnSpc>
                  <a:spcPct val="150000"/>
                </a:lnSpc>
              </a:pPr>
              <a:r>
                <a:rPr lang="zh-CN" altLang="en-US" sz="1100" dirty="0">
                  <a:ea typeface="方正兰亭黑6_GBK" pitchFamily="2" charset="-122"/>
                </a:rPr>
                <a:t>當實驗次數 </a:t>
              </a:r>
              <a:r>
                <a:rPr lang="en-US" altLang="zh-CN" sz="1100" i="1" dirty="0">
                  <a:latin typeface="Times New Roman" pitchFamily="18" charset="0"/>
                  <a:ea typeface="方正兰亭黑6_GBK" pitchFamily="2" charset="-122"/>
                  <a:cs typeface="Times New Roman" pitchFamily="18" charset="0"/>
                </a:rPr>
                <a:t>n=120</a:t>
              </a:r>
              <a:r>
                <a:rPr lang="zh-CN" altLang="en-US" sz="1100" dirty="0">
                  <a:ea typeface="方正兰亭黑6_GBK" pitchFamily="2" charset="-122"/>
                </a:rPr>
                <a:t>、樣本率 </a:t>
              </a:r>
              <a:r>
                <a:rPr lang="en-US" altLang="zh-CN" sz="1100" i="1" dirty="0">
                  <a:latin typeface="Times New Roman" pitchFamily="18" charset="0"/>
                  <a:ea typeface="方正兰亭黑6_GBK" pitchFamily="2" charset="-122"/>
                  <a:cs typeface="Times New Roman" pitchFamily="18" charset="0"/>
                </a:rPr>
                <a:t>p=2.5</a:t>
              </a:r>
              <a:r>
                <a:rPr lang="en-US" altLang="zh-CN" sz="1100" dirty="0">
                  <a:latin typeface="Times New Roman" pitchFamily="18" charset="0"/>
                  <a:ea typeface="方正兰亭黑6_GBK" pitchFamily="2" charset="-122"/>
                  <a:cs typeface="Times New Roman" pitchFamily="18" charset="0"/>
                </a:rPr>
                <a:t>%</a:t>
              </a:r>
              <a:r>
                <a:rPr lang="en-US" altLang="zh-CN" sz="1100" dirty="0">
                  <a:ea typeface="方正兰亭黑6_GBK" pitchFamily="2" charset="-122"/>
                </a:rPr>
                <a:t> </a:t>
              </a:r>
              <a:r>
                <a:rPr lang="zh-CN" altLang="en-US" sz="1100" dirty="0">
                  <a:ea typeface="方正兰亭黑6_GBK" pitchFamily="2" charset="-122"/>
                </a:rPr>
                <a:t>時，二項分佈用正態分佈函數近似計算概率的偏差示意圖</a:t>
              </a:r>
            </a:p>
          </p:txBody>
        </p:sp>
      </p:grpSp>
    </p:spTree>
    <p:extLst>
      <p:ext uri="{BB962C8B-B14F-4D97-AF65-F5344CB8AC3E}">
        <p14:creationId xmlns:p14="http://schemas.microsoft.com/office/powerpoint/2010/main" val="325200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參考區間</a:t>
            </a:r>
            <a:r>
              <a:rPr lang="zh-CN" altLang="en-US" sz="900" dirty="0">
                <a:solidFill>
                  <a:srgbClr val="000000"/>
                </a:solidFill>
                <a:latin typeface="Times New Roman" pitchFamily="18" charset="0"/>
                <a:cs typeface="Times New Roman" pitchFamily="18" charset="0"/>
              </a:rPr>
              <a:t>的</a:t>
            </a:r>
            <a:r>
              <a:rPr lang="zh-TW" altLang="en-US" sz="900" dirty="0">
                <a:solidFill>
                  <a:srgbClr val="000000"/>
                </a:solidFill>
                <a:latin typeface="Times New Roman" pitchFamily="18" charset="0"/>
                <a:cs typeface="Times New Roman" pitchFamily="18" charset="0"/>
              </a:rPr>
              <a:t>分組</a:t>
            </a:r>
            <a:endParaRPr lang="zh-CN" altLang="en-US" sz="1300" dirty="0">
              <a:solidFill>
                <a:srgbClr val="000000"/>
              </a:solidFill>
              <a:latin typeface="Times New Roman" pitchFamily="18" charset="0"/>
              <a:cs typeface="Times New Roman" pitchFamily="18" charset="0"/>
            </a:endParaRPr>
          </a:p>
        </p:txBody>
      </p:sp>
      <p:grpSp>
        <p:nvGrpSpPr>
          <p:cNvPr id="7" name="组合 6"/>
          <p:cNvGrpSpPr/>
          <p:nvPr/>
        </p:nvGrpSpPr>
        <p:grpSpPr>
          <a:xfrm>
            <a:off x="1475624" y="816458"/>
            <a:ext cx="8610938" cy="4719022"/>
            <a:chOff x="1503904" y="816458"/>
            <a:chExt cx="8610938" cy="4719022"/>
          </a:xfrm>
        </p:grpSpPr>
        <p:sp>
          <p:nvSpPr>
            <p:cNvPr id="17" name="Rectangle 14"/>
            <p:cNvSpPr>
              <a:spLocks noChangeArrowheads="1"/>
            </p:cNvSpPr>
            <p:nvPr/>
          </p:nvSpPr>
          <p:spPr bwMode="auto">
            <a:xfrm>
              <a:off x="1503912" y="3521690"/>
              <a:ext cx="8610929" cy="334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組間標準差的比較，</a:t>
              </a:r>
              <a:r>
                <a:rPr lang="zh-CN" altLang="en-US" sz="1200" dirty="0">
                  <a:solidFill>
                    <a:srgbClr val="000000"/>
                  </a:solidFill>
                </a:rPr>
                <a:t>通常 </a:t>
              </a:r>
              <a:r>
                <a:rPr lang="en-US" altLang="zh-CN" sz="1200" i="1" dirty="0">
                  <a:solidFill>
                    <a:srgbClr val="000000"/>
                  </a:solidFill>
                  <a:latin typeface="Times New Roman" pitchFamily="18" charset="0"/>
                  <a:cs typeface="Times New Roman" pitchFamily="18" charset="0"/>
                </a:rPr>
                <a:t>k</a:t>
              </a:r>
              <a:r>
                <a:rPr lang="el-GR" altLang="zh-CN" sz="1200" i="1" baseline="-25000" dirty="0">
                  <a:solidFill>
                    <a:srgbClr val="000000"/>
                  </a:solidFill>
                  <a:latin typeface="Times New Roman" pitchFamily="18" charset="0"/>
                  <a:cs typeface="Times New Roman" pitchFamily="18" charset="0"/>
                </a:rPr>
                <a:t>σ</a:t>
              </a:r>
              <a:r>
                <a:rPr lang="en-US" altLang="zh-CN" sz="1200" dirty="0">
                  <a:solidFill>
                    <a:srgbClr val="000000"/>
                  </a:solidFill>
                </a:rPr>
                <a:t> </a:t>
              </a:r>
              <a:r>
                <a:rPr lang="zh-CN" altLang="en-US" sz="1200" dirty="0">
                  <a:solidFill>
                    <a:srgbClr val="000000"/>
                  </a:solidFill>
                </a:rPr>
                <a:t>值 取</a:t>
              </a:r>
              <a:r>
                <a:rPr lang="zh-CN" altLang="en-US" sz="1100" dirty="0">
                  <a:solidFill>
                    <a:srgbClr val="000000"/>
                  </a:solidFill>
                </a:rPr>
                <a:t>「</a:t>
              </a:r>
              <a:r>
                <a:rPr lang="en-US" altLang="zh-CN" sz="1100" dirty="0">
                  <a:solidFill>
                    <a:srgbClr val="000000"/>
                  </a:solidFill>
                </a:rPr>
                <a:t>3</a:t>
              </a:r>
              <a:r>
                <a:rPr lang="zh-CN" altLang="en-US" sz="1100" dirty="0">
                  <a:solidFill>
                    <a:srgbClr val="000000"/>
                  </a:solidFill>
                </a:rPr>
                <a:t>」</a:t>
              </a:r>
              <a:r>
                <a:rPr lang="zh-CN" altLang="en-US" sz="1200" dirty="0">
                  <a:solidFill>
                    <a:srgbClr val="000000"/>
                  </a:solidFill>
                </a:rPr>
                <a:t>，如果標準差統計量大於 </a:t>
              </a:r>
              <a:r>
                <a:rPr lang="en-US" altLang="zh-CN" sz="1200" i="1" dirty="0">
                  <a:solidFill>
                    <a:srgbClr val="000000"/>
                  </a:solidFill>
                  <a:latin typeface="Times New Roman" pitchFamily="18" charset="0"/>
                  <a:cs typeface="Times New Roman" pitchFamily="18" charset="0"/>
                </a:rPr>
                <a:t>k</a:t>
              </a:r>
              <a:r>
                <a:rPr lang="el-GR" altLang="zh-CN" sz="1200" i="1" baseline="-25000" dirty="0">
                  <a:solidFill>
                    <a:srgbClr val="000000"/>
                  </a:solidFill>
                  <a:latin typeface="Times New Roman" pitchFamily="18" charset="0"/>
                  <a:cs typeface="Times New Roman" pitchFamily="18" charset="0"/>
                </a:rPr>
                <a:t>σ</a:t>
              </a:r>
              <a:r>
                <a:rPr lang="en-US" altLang="zh-CN" sz="1200" dirty="0">
                  <a:solidFill>
                    <a:srgbClr val="000000"/>
                  </a:solidFill>
                </a:rPr>
                <a:t>  </a:t>
              </a:r>
              <a:r>
                <a:rPr lang="zh-CN" altLang="en-US" sz="1200" dirty="0">
                  <a:solidFill>
                    <a:srgbClr val="000000"/>
                  </a:solidFill>
                </a:rPr>
                <a:t>值，</a:t>
              </a:r>
              <a:r>
                <a:rPr lang="zh-CN" altLang="en-US" sz="1200" dirty="0"/>
                <a:t>則兩組的標準差顯著不同，應進行分組；</a:t>
              </a:r>
              <a:endParaRPr lang="en-US" altLang="zh-CN" sz="1200" dirty="0">
                <a:solidFill>
                  <a:srgbClr val="000000"/>
                </a:solidFill>
              </a:endParaRPr>
            </a:p>
          </p:txBody>
        </p:sp>
        <p:sp>
          <p:nvSpPr>
            <p:cNvPr id="30" name="Rectangle 14"/>
            <p:cNvSpPr>
              <a:spLocks noChangeArrowheads="1"/>
            </p:cNvSpPr>
            <p:nvPr/>
          </p:nvSpPr>
          <p:spPr bwMode="auto">
            <a:xfrm>
              <a:off x="1503913" y="816458"/>
              <a:ext cx="86109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理想狀態下，參考個體來自於某一健康人群總體，其年齡、性別、民族等特徵都與總體一致</a:t>
              </a:r>
              <a:r>
                <a:rPr lang="zh-CN" altLang="en-US" sz="1200" dirty="0"/>
                <a:t>；但</a:t>
              </a:r>
              <a:r>
                <a:rPr lang="zh-TW" altLang="en-US" sz="1200" dirty="0"/>
                <a:t>並不是所有成年人都能看成單一同質的總體，若</a:t>
              </a:r>
              <a:r>
                <a:rPr lang="zh-CN" altLang="en-US" sz="1200" dirty="0"/>
                <a:t>不同</a:t>
              </a:r>
              <a:r>
                <a:rPr lang="zh-TW" altLang="en-US" sz="1200" dirty="0"/>
                <a:t>人群的個體間有顯著差異就必須進行分組</a:t>
              </a:r>
              <a:r>
                <a:rPr lang="zh-CN" altLang="en-US" sz="1200" dirty="0"/>
                <a:t>；</a:t>
              </a:r>
              <a:r>
                <a:rPr lang="zh-TW" altLang="en-US" sz="1200" dirty="0"/>
                <a:t>性別、年齡、</a:t>
              </a:r>
              <a:r>
                <a:rPr lang="zh-CN" altLang="en-US" sz="1200" dirty="0"/>
                <a:t>種族</a:t>
              </a:r>
              <a:r>
                <a:rPr lang="zh-TW" altLang="en-US" sz="1200" dirty="0"/>
                <a:t>是最常見的差異，其它可能考慮的</a:t>
              </a:r>
              <a:r>
                <a:rPr lang="zh-CN" altLang="en-US" sz="1200" dirty="0"/>
                <a:t>因素</a:t>
              </a:r>
              <a:r>
                <a:rPr lang="zh-TW" altLang="en-US" sz="1200" dirty="0"/>
                <a:t>如：哺乳期、肥胖、職業、口服避孕藥、妊娠、最近手術、吸煙、近期接受輸血、藥物濫用等</a:t>
              </a:r>
              <a:r>
                <a:rPr lang="zh-CN" altLang="en-US" sz="1200" dirty="0"/>
                <a:t>都有可能對結果產生影響；</a:t>
              </a:r>
              <a:endParaRPr lang="en-US" altLang="zh-CN" sz="1200" dirty="0">
                <a:solidFill>
                  <a:srgbClr val="000000"/>
                </a:solidFill>
              </a:endParaRPr>
            </a:p>
          </p:txBody>
        </p:sp>
        <p:sp>
          <p:nvSpPr>
            <p:cNvPr id="41" name="Rectangle 14"/>
            <p:cNvSpPr>
              <a:spLocks noChangeArrowheads="1"/>
            </p:cNvSpPr>
            <p:nvPr/>
          </p:nvSpPr>
          <p:spPr bwMode="auto">
            <a:xfrm>
              <a:off x="1503906" y="1739788"/>
              <a:ext cx="8610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TW" altLang="en-US" sz="1200" dirty="0"/>
                <a:t>       </a:t>
              </a:r>
              <a:r>
                <a:rPr lang="zh-CN" altLang="en-US" sz="1200" dirty="0"/>
                <a:t>關於參考區間的分組，</a:t>
              </a:r>
              <a:r>
                <a:rPr lang="en-US" altLang="zh-CN" sz="1100" i="1" dirty="0">
                  <a:latin typeface="Times New Roman" pitchFamily="18" charset="0"/>
                  <a:cs typeface="Times New Roman" pitchFamily="18" charset="0"/>
                </a:rPr>
                <a:t>CLSI</a:t>
              </a:r>
              <a:r>
                <a:rPr lang="en-US" altLang="zh-CN" sz="1200" i="1" dirty="0">
                  <a:latin typeface="Times New Roman" pitchFamily="18" charset="0"/>
                  <a:cs typeface="Times New Roman" pitchFamily="18" charset="0"/>
                </a:rPr>
                <a:t> </a:t>
              </a:r>
              <a:r>
                <a:rPr lang="zh-CN" altLang="en-US" sz="1200" dirty="0"/>
                <a:t>認同 </a:t>
              </a:r>
              <a:r>
                <a:rPr lang="en-US" altLang="zh-CN" sz="1100" i="1" dirty="0">
                  <a:latin typeface="Times New Roman" pitchFamily="18" charset="0"/>
                  <a:cs typeface="Times New Roman" pitchFamily="18" charset="0"/>
                </a:rPr>
                <a:t>Harris</a:t>
              </a:r>
              <a:r>
                <a:rPr lang="en-US" altLang="zh-CN" sz="1200" i="1" dirty="0">
                  <a:latin typeface="Times New Roman" pitchFamily="18" charset="0"/>
                  <a:cs typeface="Times New Roman" pitchFamily="18" charset="0"/>
                </a:rPr>
                <a:t> </a:t>
              </a:r>
              <a:r>
                <a:rPr lang="zh-CN" altLang="en-US" sz="1200" dirty="0"/>
                <a:t>和 </a:t>
              </a:r>
              <a:r>
                <a:rPr lang="en-US" altLang="zh-CN" sz="1100" i="1" dirty="0">
                  <a:latin typeface="Times New Roman" pitchFamily="18" charset="0"/>
                  <a:cs typeface="Times New Roman" pitchFamily="18" charset="0"/>
                </a:rPr>
                <a:t>Boyd</a:t>
              </a:r>
              <a:r>
                <a:rPr lang="en-US" altLang="zh-CN" sz="1200" i="1"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等人提出的</a:t>
              </a:r>
              <a:r>
                <a:rPr lang="zh-CN" altLang="en-US" sz="1200" dirty="0"/>
                <a:t>建議：若組與組間均值和標準差超出了適當預先設定的標準，則進行分組，否則則將這兩組合併統計；</a:t>
              </a:r>
              <a:endParaRPr lang="en-US" altLang="zh-CN" sz="1200" dirty="0">
                <a:solidFill>
                  <a:srgbClr val="000000"/>
                </a:solidFill>
              </a:endParaRPr>
            </a:p>
          </p:txBody>
        </p:sp>
        <p:sp>
          <p:nvSpPr>
            <p:cNvPr id="15" name="Rectangle 14"/>
            <p:cNvSpPr>
              <a:spLocks noChangeArrowheads="1"/>
            </p:cNvSpPr>
            <p:nvPr/>
          </p:nvSpPr>
          <p:spPr bwMode="auto">
            <a:xfrm>
              <a:off x="1503913" y="3891022"/>
              <a:ext cx="8610929" cy="334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組間均值的比較，通常 </a:t>
              </a:r>
              <a:r>
                <a:rPr lang="en-US" altLang="zh-CN" sz="1200" i="1" dirty="0">
                  <a:latin typeface="Times New Roman" pitchFamily="18" charset="0"/>
                  <a:cs typeface="Times New Roman" pitchFamily="18" charset="0"/>
                </a:rPr>
                <a:t>k</a:t>
              </a:r>
              <a:r>
                <a:rPr lang="en-US" altLang="zh-CN" sz="1200" i="1" baseline="-25000" dirty="0">
                  <a:latin typeface="Times New Roman" pitchFamily="18" charset="0"/>
                  <a:cs typeface="Times New Roman" pitchFamily="18" charset="0"/>
                </a:rPr>
                <a:t>µ</a:t>
              </a:r>
              <a:r>
                <a:rPr lang="en-US" altLang="zh-CN" sz="1200" dirty="0"/>
                <a:t> </a:t>
              </a:r>
              <a:r>
                <a:rPr lang="zh-CN" altLang="en-US" sz="1200" dirty="0"/>
                <a:t>值 取</a:t>
              </a:r>
              <a:r>
                <a:rPr lang="zh-CN" altLang="en-US" sz="1100" dirty="0"/>
                <a:t>「</a:t>
              </a:r>
              <a:r>
                <a:rPr lang="en-US" altLang="zh-CN" sz="1100" dirty="0"/>
                <a:t>3</a:t>
              </a:r>
              <a:r>
                <a:rPr lang="zh-CN" altLang="en-US" sz="1100" dirty="0"/>
                <a:t>」</a:t>
              </a:r>
              <a:r>
                <a:rPr lang="zh-CN" altLang="en-US" sz="1200" dirty="0"/>
                <a:t>或</a:t>
              </a:r>
              <a:r>
                <a:rPr lang="zh-CN" altLang="en-US" sz="1100" dirty="0"/>
                <a:t>「</a:t>
              </a:r>
              <a:r>
                <a:rPr lang="en-US" altLang="zh-CN" sz="1100" dirty="0"/>
                <a:t>5</a:t>
              </a:r>
              <a:r>
                <a:rPr lang="zh-CN" altLang="en-US" sz="1100" dirty="0"/>
                <a:t>」</a:t>
              </a:r>
              <a:r>
                <a:rPr lang="zh-CN" altLang="en-US" sz="1200" dirty="0"/>
                <a:t>，如果 </a:t>
              </a:r>
              <a:r>
                <a:rPr lang="en-US" altLang="zh-CN" sz="1200" i="1" dirty="0">
                  <a:latin typeface="Times New Roman" pitchFamily="18" charset="0"/>
                  <a:cs typeface="Times New Roman" pitchFamily="18" charset="0"/>
                </a:rPr>
                <a:t>Z</a:t>
              </a:r>
              <a:r>
                <a:rPr lang="en-US" altLang="zh-CN" sz="1200" i="1" dirty="0"/>
                <a:t>*</a:t>
              </a:r>
              <a:r>
                <a:rPr lang="en-US" altLang="zh-CN" sz="1200" dirty="0"/>
                <a:t> </a:t>
              </a:r>
              <a:r>
                <a:rPr lang="zh-CN" altLang="en-US" sz="1200" dirty="0"/>
                <a:t>大於 </a:t>
              </a:r>
              <a:r>
                <a:rPr lang="en-US" altLang="zh-CN" sz="1200" i="1" dirty="0">
                  <a:solidFill>
                    <a:srgbClr val="000000"/>
                  </a:solidFill>
                  <a:latin typeface="Times New Roman" pitchFamily="18" charset="0"/>
                  <a:cs typeface="Times New Roman" pitchFamily="18" charset="0"/>
                </a:rPr>
                <a:t>k</a:t>
              </a:r>
              <a:r>
                <a:rPr lang="en-US" altLang="zh-CN" sz="1200" i="1" baseline="-25000" dirty="0">
                  <a:solidFill>
                    <a:srgbClr val="000000"/>
                  </a:solidFill>
                  <a:latin typeface="Times New Roman" pitchFamily="18" charset="0"/>
                  <a:cs typeface="Times New Roman" pitchFamily="18" charset="0"/>
                </a:rPr>
                <a:t>µ</a:t>
              </a:r>
              <a:r>
                <a:rPr lang="en-US" altLang="zh-CN" sz="1200" dirty="0">
                  <a:solidFill>
                    <a:srgbClr val="000000"/>
                  </a:solidFill>
                </a:rPr>
                <a:t> </a:t>
              </a:r>
              <a:r>
                <a:rPr lang="zh-CN" altLang="en-US" sz="1200" dirty="0"/>
                <a:t>值，則進行分組，否則將兩組合併統計；</a:t>
              </a:r>
              <a:endParaRPr lang="en-US" altLang="zh-CN" sz="1200" dirty="0">
                <a:solidFill>
                  <a:srgbClr val="000000"/>
                </a:solidFill>
              </a:endParaRPr>
            </a:p>
          </p:txBody>
        </p:sp>
        <p:grpSp>
          <p:nvGrpSpPr>
            <p:cNvPr id="6" name="组合 5"/>
            <p:cNvGrpSpPr/>
            <p:nvPr/>
          </p:nvGrpSpPr>
          <p:grpSpPr>
            <a:xfrm>
              <a:off x="1503911" y="2570780"/>
              <a:ext cx="8366581" cy="716599"/>
              <a:chOff x="1503911" y="2570780"/>
              <a:chExt cx="8366581" cy="716599"/>
            </a:xfrm>
          </p:grpSpPr>
          <p:sp>
            <p:nvSpPr>
              <p:cNvPr id="11" name="Rectangle 14"/>
              <p:cNvSpPr>
                <a:spLocks noChangeArrowheads="1"/>
              </p:cNvSpPr>
              <p:nvPr/>
            </p:nvSpPr>
            <p:spPr bwMode="auto">
              <a:xfrm>
                <a:off x="1503911" y="2598758"/>
                <a:ext cx="83665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en-US" altLang="zh-CN" sz="1100" i="1" dirty="0">
                    <a:latin typeface="Times New Roman" pitchFamily="18" charset="0"/>
                    <a:cs typeface="Times New Roman" pitchFamily="18" charset="0"/>
                  </a:rPr>
                  <a:t>Harris</a:t>
                </a:r>
                <a:r>
                  <a:rPr lang="en-US" altLang="zh-CN" sz="1200" i="1" dirty="0">
                    <a:latin typeface="Times New Roman" pitchFamily="18" charset="0"/>
                    <a:cs typeface="Times New Roman" pitchFamily="18" charset="0"/>
                  </a:rPr>
                  <a:t> </a:t>
                </a:r>
                <a:r>
                  <a:rPr lang="zh-CN" altLang="en-US" sz="1200" dirty="0"/>
                  <a:t>和 </a:t>
                </a:r>
                <a:r>
                  <a:rPr lang="en-US" altLang="zh-CN" sz="1100" i="1" dirty="0">
                    <a:latin typeface="Times New Roman" pitchFamily="18" charset="0"/>
                    <a:cs typeface="Times New Roman" pitchFamily="18" charset="0"/>
                  </a:rPr>
                  <a:t>Boyd</a:t>
                </a:r>
                <a:r>
                  <a:rPr lang="en-US" altLang="zh-CN" sz="1200" i="1" dirty="0">
                    <a:latin typeface="Times New Roman" pitchFamily="18" charset="0"/>
                    <a:cs typeface="Times New Roman" pitchFamily="18" charset="0"/>
                  </a:rPr>
                  <a:t> </a:t>
                </a:r>
                <a:r>
                  <a:rPr lang="zh-CN" altLang="en-US" sz="1200" dirty="0"/>
                  <a:t>等人建議使用如下統計量：                                    ，                                  ，                                     ；</a:t>
                </a:r>
                <a:endParaRPr lang="en-US" altLang="zh-CN" sz="1200" dirty="0">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003122411"/>
                  </p:ext>
                </p:extLst>
              </p:nvPr>
            </p:nvGraphicFramePr>
            <p:xfrm>
              <a:off x="6508033" y="2576179"/>
              <a:ext cx="939800" cy="711200"/>
            </p:xfrm>
            <a:graphic>
              <a:graphicData uri="http://schemas.openxmlformats.org/presentationml/2006/ole">
                <mc:AlternateContent xmlns:mc="http://schemas.openxmlformats.org/markup-compatibility/2006">
                  <mc:Choice xmlns:v="urn:schemas-microsoft-com:vml" Requires="v">
                    <p:oleObj name="Equation" r:id="rId3" imgW="939392" imgH="710891" progId="">
                      <p:embed/>
                    </p:oleObj>
                  </mc:Choice>
                  <mc:Fallback>
                    <p:oleObj name="Equation" r:id="rId3" imgW="939392" imgH="710891" progId="">
                      <p:embed/>
                      <p:pic>
                        <p:nvPicPr>
                          <p:cNvPr id="0" name="Picture 104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8033" y="2576179"/>
                            <a:ext cx="9398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10744794"/>
                  </p:ext>
                </p:extLst>
              </p:nvPr>
            </p:nvGraphicFramePr>
            <p:xfrm>
              <a:off x="8119886" y="2599355"/>
              <a:ext cx="1193800" cy="635000"/>
            </p:xfrm>
            <a:graphic>
              <a:graphicData uri="http://schemas.openxmlformats.org/presentationml/2006/ole">
                <mc:AlternateContent xmlns:mc="http://schemas.openxmlformats.org/markup-compatibility/2006">
                  <mc:Choice xmlns:v="urn:schemas-microsoft-com:vml" Requires="v">
                    <p:oleObj name="Equation" r:id="rId5" imgW="1193800" imgH="635000" progId="">
                      <p:embed/>
                    </p:oleObj>
                  </mc:Choice>
                  <mc:Fallback>
                    <p:oleObj name="Equation" r:id="rId5" imgW="1193800" imgH="635000" progId="">
                      <p:embed/>
                      <p:pic>
                        <p:nvPicPr>
                          <p:cNvPr id="0" name="Picture 104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9886" y="2599355"/>
                            <a:ext cx="11938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494679527"/>
                  </p:ext>
                </p:extLst>
              </p:nvPr>
            </p:nvGraphicFramePr>
            <p:xfrm>
              <a:off x="4851577" y="2570780"/>
              <a:ext cx="1028700" cy="469900"/>
            </p:xfrm>
            <a:graphic>
              <a:graphicData uri="http://schemas.openxmlformats.org/presentationml/2006/ole">
                <mc:AlternateContent xmlns:mc="http://schemas.openxmlformats.org/markup-compatibility/2006">
                  <mc:Choice xmlns:v="urn:schemas-microsoft-com:vml" Requires="v">
                    <p:oleObj name="Equation" r:id="rId7" imgW="1028700" imgH="469900" progId="">
                      <p:embed/>
                    </p:oleObj>
                  </mc:Choice>
                  <mc:Fallback>
                    <p:oleObj name="Equation" r:id="rId7" imgW="1028700" imgH="469900" progId="">
                      <p:embed/>
                      <p:pic>
                        <p:nvPicPr>
                          <p:cNvPr id="0" name="Picture 104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1577" y="2570780"/>
                            <a:ext cx="10287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Rectangle 14"/>
            <p:cNvSpPr>
              <a:spLocks noChangeArrowheads="1"/>
            </p:cNvSpPr>
            <p:nvPr/>
          </p:nvSpPr>
          <p:spPr bwMode="auto">
            <a:xfrm>
              <a:off x="1503904" y="4889149"/>
              <a:ext cx="86109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實際上分組與否，就是總體異質性的檢驗，如果總體呈現正態分佈，則可以使用基於正態分佈的參數檢驗；如果總體分佈未知，則可以參考非參數的秩和檢驗，通常非參數檢驗的適用範圍更廣泛，但是秩和檢驗比參數檢驗的效率略低一些；</a:t>
              </a:r>
              <a:endParaRPr lang="en-US" altLang="zh-CN" sz="1200" dirty="0"/>
            </a:p>
          </p:txBody>
        </p:sp>
        <p:sp>
          <p:nvSpPr>
            <p:cNvPr id="20" name="Rectangle 14"/>
            <p:cNvSpPr>
              <a:spLocks noChangeArrowheads="1"/>
            </p:cNvSpPr>
            <p:nvPr/>
          </p:nvSpPr>
          <p:spPr bwMode="auto">
            <a:xfrm>
              <a:off x="1503906" y="4242820"/>
              <a:ext cx="86109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zh-TW" altLang="en-US" sz="1200" dirty="0"/>
                <a:t>分層通常使用的另一個標準是：如果兩亞組間均值的差異，超過未分層參考區間寬度的 </a:t>
              </a:r>
              <a:r>
                <a:rPr lang="en-US" altLang="zh-TW" sz="1200" dirty="0"/>
                <a:t>¼ </a:t>
              </a:r>
              <a:r>
                <a:rPr lang="zh-TW" altLang="en-US" sz="1200" dirty="0"/>
                <a:t>，那麼則進行分層，否則不需要分層；</a:t>
              </a:r>
              <a:endParaRPr lang="en-US" altLang="zh-CN" sz="1200" dirty="0"/>
            </a:p>
          </p:txBody>
        </p:sp>
      </p:grpSp>
    </p:spTree>
    <p:extLst>
      <p:ext uri="{BB962C8B-B14F-4D97-AF65-F5344CB8AC3E}">
        <p14:creationId xmlns:p14="http://schemas.microsoft.com/office/powerpoint/2010/main" val="3371119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參考值中離群值檢測</a:t>
            </a:r>
            <a:endParaRPr lang="zh-CN" altLang="en-US" sz="1300" dirty="0">
              <a:solidFill>
                <a:srgbClr val="000000"/>
              </a:solidFill>
              <a:latin typeface="Times New Roman" pitchFamily="18" charset="0"/>
              <a:cs typeface="Times New Roman" pitchFamily="18" charset="0"/>
            </a:endParaRPr>
          </a:p>
        </p:txBody>
      </p:sp>
      <p:grpSp>
        <p:nvGrpSpPr>
          <p:cNvPr id="2" name="组合 1"/>
          <p:cNvGrpSpPr/>
          <p:nvPr/>
        </p:nvGrpSpPr>
        <p:grpSpPr>
          <a:xfrm>
            <a:off x="1323470" y="820014"/>
            <a:ext cx="8802869" cy="4770121"/>
            <a:chOff x="1323468" y="805964"/>
            <a:chExt cx="8802869" cy="4770121"/>
          </a:xfrm>
        </p:grpSpPr>
        <p:sp>
          <p:nvSpPr>
            <p:cNvPr id="6" name="Rectangle 14"/>
            <p:cNvSpPr>
              <a:spLocks noChangeArrowheads="1"/>
            </p:cNvSpPr>
            <p:nvPr/>
          </p:nvSpPr>
          <p:spPr bwMode="auto">
            <a:xfrm>
              <a:off x="1323470" y="805964"/>
              <a:ext cx="88028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zh-TW" altLang="en-US" sz="1200" dirty="0"/>
                <a:t>即使參考個體已符合納入標準，數據中</a:t>
              </a:r>
              <a:r>
                <a:rPr lang="zh-CN" altLang="en-US" sz="1200" dirty="0"/>
                <a:t>仍</a:t>
              </a:r>
              <a:r>
                <a:rPr lang="zh-TW" altLang="en-US" sz="1200" dirty="0"/>
                <a:t>有可能存在離群值，若確切知道離群值產生的原因（如分析錯誤等），</a:t>
              </a:r>
              <a:r>
                <a:rPr lang="zh-CN" altLang="en-US" sz="1200" dirty="0"/>
                <a:t>則應</a:t>
              </a:r>
              <a:r>
                <a:rPr lang="zh-TW" altLang="en-US" sz="1200" dirty="0"/>
                <a:t>對離群值進行處理；</a:t>
              </a:r>
              <a:endParaRPr lang="en-US" altLang="zh-CN" sz="1200" dirty="0"/>
            </a:p>
          </p:txBody>
        </p:sp>
        <p:sp>
          <p:nvSpPr>
            <p:cNvPr id="8" name="Rectangle 14"/>
            <p:cNvSpPr>
              <a:spLocks noChangeArrowheads="1"/>
            </p:cNvSpPr>
            <p:nvPr/>
          </p:nvSpPr>
          <p:spPr bwMode="auto">
            <a:xfrm>
              <a:off x="1323470" y="1452293"/>
              <a:ext cx="8802857" cy="61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zh-TW" altLang="en-US" sz="1200" dirty="0"/>
                <a:t>在參考區間的計算中，極值會造成數據分佈的不相稱，這樣的數值即離群值，</a:t>
              </a:r>
              <a:r>
                <a:rPr lang="zh-CN" altLang="en-US" sz="1200" dirty="0"/>
                <a:t>通常</a:t>
              </a:r>
              <a:r>
                <a:rPr lang="zh-TW" altLang="en-US" sz="1200" dirty="0"/>
                <a:t>其定義為：「與樣本中大多數數據不一致的觀測值，相對於樣本假設分佈的模型來說是極端的數值，可能不是該模型所產生的」</a:t>
              </a:r>
              <a:r>
                <a:rPr lang="zh-CN" altLang="en-US" sz="1200" dirty="0"/>
                <a:t>，</a:t>
              </a:r>
              <a:r>
                <a:rPr lang="zh-TW" altLang="en-US" sz="1200" dirty="0"/>
                <a:t>離群值檢測依賴於</a:t>
              </a:r>
              <a:r>
                <a:rPr lang="zh-CN" altLang="en-US" sz="1200" dirty="0"/>
                <a:t>其</a:t>
              </a:r>
              <a:r>
                <a:rPr lang="zh-TW" altLang="en-US" sz="1200" dirty="0"/>
                <a:t>基礎分佈；</a:t>
              </a:r>
              <a:endParaRPr lang="en-US" altLang="zh-CN" sz="1200" dirty="0"/>
            </a:p>
          </p:txBody>
        </p:sp>
        <p:sp>
          <p:nvSpPr>
            <p:cNvPr id="9" name="Rectangle 14"/>
            <p:cNvSpPr>
              <a:spLocks noChangeArrowheads="1"/>
            </p:cNvSpPr>
            <p:nvPr/>
          </p:nvSpPr>
          <p:spPr bwMode="auto">
            <a:xfrm>
              <a:off x="1323468" y="2062783"/>
              <a:ext cx="88028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如果</a:t>
              </a:r>
              <a:r>
                <a:rPr lang="zh-TW" altLang="en-US" sz="1200" dirty="0"/>
                <a:t>數據中確實存在離群值，需要考慮這些值應該保留還是直接刪除，在</a:t>
              </a:r>
              <a:r>
                <a:rPr lang="zh-CN" altLang="en-US" sz="1200" dirty="0"/>
                <a:t>使用</a:t>
              </a:r>
              <a:r>
                <a:rPr lang="zh-TW" altLang="en-US" sz="1200" dirty="0"/>
                <a:t>非參數法確立參考區間時</a:t>
              </a:r>
              <a:r>
                <a:rPr lang="zh-CN" altLang="en-US" sz="1200" dirty="0"/>
                <a:t>，</a:t>
              </a:r>
              <a:r>
                <a:rPr lang="en-US" altLang="zh-TW" sz="1100" i="1" dirty="0">
                  <a:latin typeface="Times New Roman" pitchFamily="18" charset="0"/>
                  <a:cs typeface="Times New Roman" pitchFamily="18" charset="0"/>
                </a:rPr>
                <a:t>CLSI</a:t>
              </a:r>
              <a:r>
                <a:rPr lang="en-US" altLang="zh-TW" sz="1200" dirty="0"/>
                <a:t> </a:t>
              </a:r>
              <a:r>
                <a:rPr lang="zh-TW" altLang="en-US" sz="1200" dirty="0"/>
                <a:t>推薦採用 </a:t>
              </a:r>
              <a:r>
                <a:rPr lang="en-US" altLang="zh-TW" sz="1100" i="1" dirty="0">
                  <a:latin typeface="Times New Roman" pitchFamily="18" charset="0"/>
                  <a:cs typeface="Times New Roman" pitchFamily="18" charset="0"/>
                </a:rPr>
                <a:t>Dixon</a:t>
              </a:r>
              <a:r>
                <a:rPr lang="en-US" altLang="zh-TW" sz="1200" dirty="0"/>
                <a:t> </a:t>
              </a:r>
              <a:r>
                <a:rPr lang="zh-TW" altLang="en-US" sz="1200" dirty="0"/>
                <a:t>的離群值範圍統計方法；</a:t>
              </a:r>
              <a:endParaRPr lang="en-US" altLang="zh-CN" sz="1200" dirty="0"/>
            </a:p>
          </p:txBody>
        </p:sp>
        <p:sp>
          <p:nvSpPr>
            <p:cNvPr id="10" name="Rectangle 14"/>
            <p:cNvSpPr>
              <a:spLocks noChangeArrowheads="1"/>
            </p:cNvSpPr>
            <p:nvPr/>
          </p:nvSpPr>
          <p:spPr bwMode="auto">
            <a:xfrm>
              <a:off x="1323469" y="2674039"/>
              <a:ext cx="88028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en-US" altLang="zh-TW" sz="1100" i="1" dirty="0">
                  <a:latin typeface="Times New Roman" pitchFamily="18" charset="0"/>
                  <a:cs typeface="Times New Roman" pitchFamily="18" charset="0"/>
                </a:rPr>
                <a:t>Dixon</a:t>
              </a:r>
              <a:r>
                <a:rPr lang="en-US" altLang="zh-TW" sz="1200" dirty="0">
                  <a:latin typeface="Times New Roman" pitchFamily="18" charset="0"/>
                  <a:cs typeface="Times New Roman" pitchFamily="18" charset="0"/>
                </a:rPr>
                <a:t> </a:t>
              </a:r>
              <a:r>
                <a:rPr lang="zh-TW" altLang="en-US" sz="1200" dirty="0"/>
                <a:t>的檢驗方法如下：</a:t>
              </a:r>
              <a:r>
                <a:rPr lang="zh-CN" altLang="en-US" sz="1200" dirty="0"/>
                <a:t>假設 </a:t>
              </a:r>
              <a:r>
                <a:rPr lang="en-US" altLang="zh-TW" sz="1200" i="1" dirty="0">
                  <a:latin typeface="Times New Roman" pitchFamily="18" charset="0"/>
                  <a:cs typeface="Times New Roman" pitchFamily="18" charset="0"/>
                </a:rPr>
                <a:t>R</a:t>
              </a:r>
              <a:r>
                <a:rPr lang="en-US" altLang="zh-TW" sz="1200" dirty="0"/>
                <a:t> </a:t>
              </a:r>
              <a:r>
                <a:rPr lang="zh-TW" altLang="en-US" sz="1200" dirty="0"/>
                <a:t>為全距（</a:t>
              </a:r>
              <a:r>
                <a:rPr lang="zh-CN" altLang="en-US" sz="1200" dirty="0"/>
                <a:t>極差</a:t>
              </a:r>
              <a:r>
                <a:rPr lang="zh-TW" altLang="en-US" sz="1200" dirty="0"/>
                <a:t>），</a:t>
              </a:r>
              <a:r>
                <a:rPr lang="en-US" altLang="zh-TW" sz="1200" i="1" dirty="0">
                  <a:latin typeface="Times New Roman" pitchFamily="18" charset="0"/>
                  <a:cs typeface="Times New Roman" pitchFamily="18" charset="0"/>
                </a:rPr>
                <a:t>D</a:t>
              </a:r>
              <a:r>
                <a:rPr lang="en-US" altLang="zh-TW" sz="1200" dirty="0"/>
                <a:t> </a:t>
              </a:r>
              <a:r>
                <a:rPr lang="zh-TW" altLang="en-US" sz="1200" dirty="0"/>
                <a:t>為極值與次極值差值的絕對值，如果 </a:t>
              </a:r>
              <a:r>
                <a:rPr lang="en-US" altLang="zh-TW" sz="1200" i="1" dirty="0">
                  <a:latin typeface="Times New Roman" pitchFamily="18" charset="0"/>
                  <a:cs typeface="Times New Roman" pitchFamily="18" charset="0"/>
                </a:rPr>
                <a:t>D</a:t>
              </a:r>
              <a:r>
                <a:rPr lang="en-US" altLang="zh-TW" sz="1200" i="1" dirty="0"/>
                <a:t>/</a:t>
              </a:r>
              <a:r>
                <a:rPr lang="en-US" altLang="zh-TW" sz="1200" i="1" dirty="0">
                  <a:latin typeface="Times New Roman" pitchFamily="18" charset="0"/>
                  <a:cs typeface="Times New Roman" pitchFamily="18" charset="0"/>
                </a:rPr>
                <a:t>R</a:t>
              </a:r>
              <a:r>
                <a:rPr lang="en-US" altLang="zh-TW" sz="1200" dirty="0"/>
                <a:t> </a:t>
              </a:r>
              <a:r>
                <a:rPr lang="zh-TW" altLang="en-US" sz="1200" dirty="0"/>
                <a:t>的值超過 ⅓</a:t>
              </a:r>
              <a:r>
                <a:rPr lang="en-US" altLang="zh-TW" sz="1200" dirty="0">
                  <a:solidFill>
                    <a:srgbClr val="000000"/>
                  </a:solidFill>
                </a:rPr>
                <a:t> </a:t>
              </a:r>
              <a:r>
                <a:rPr lang="zh-CN" altLang="en-US" sz="1200" dirty="0">
                  <a:solidFill>
                    <a:srgbClr val="000000"/>
                  </a:solidFill>
                </a:rPr>
                <a:t>，</a:t>
              </a:r>
              <a:r>
                <a:rPr lang="zh-TW" altLang="en-US" sz="1200" dirty="0"/>
                <a:t>則刪除極值；</a:t>
              </a:r>
              <a:endParaRPr lang="en-US" altLang="zh-CN" sz="1200" dirty="0"/>
            </a:p>
          </p:txBody>
        </p:sp>
        <p:sp>
          <p:nvSpPr>
            <p:cNvPr id="11" name="Rectangle 14"/>
            <p:cNvSpPr>
              <a:spLocks noChangeArrowheads="1"/>
            </p:cNvSpPr>
            <p:nvPr/>
          </p:nvSpPr>
          <p:spPr bwMode="auto">
            <a:xfrm>
              <a:off x="1323480" y="3025834"/>
              <a:ext cx="88028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如果基礎分佈為</a:t>
              </a:r>
              <a:r>
                <a:rPr lang="zh-TW" altLang="en-US" sz="1200" dirty="0"/>
                <a:t>正態分佈</a:t>
              </a:r>
              <a:r>
                <a:rPr lang="zh-CN" altLang="en-US" sz="1200" dirty="0"/>
                <a:t>，或者可以通過數據轉換成近似於正態分佈，則也可以參照所謂的二階段離群值檢測法</a:t>
              </a:r>
              <a:r>
                <a:rPr lang="zh-TW" altLang="en-US" sz="1200" dirty="0"/>
                <a:t>；</a:t>
              </a:r>
              <a:endParaRPr lang="en-US" altLang="zh-CN" sz="1200" dirty="0"/>
            </a:p>
          </p:txBody>
        </p:sp>
        <p:sp>
          <p:nvSpPr>
            <p:cNvPr id="14" name="Rectangle 14"/>
            <p:cNvSpPr>
              <a:spLocks noChangeArrowheads="1"/>
            </p:cNvSpPr>
            <p:nvPr/>
          </p:nvSpPr>
          <p:spPr bwMode="auto">
            <a:xfrm>
              <a:off x="1323470" y="3377630"/>
              <a:ext cx="88028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zh-TW" altLang="en-US" sz="1200" dirty="0"/>
                <a:t>二階段離群值檢測法</a:t>
              </a:r>
              <a:r>
                <a:rPr lang="zh-CN" altLang="en-US" sz="1200" dirty="0"/>
                <a:t>為</a:t>
              </a:r>
              <a:r>
                <a:rPr lang="zh-TW" altLang="en-US" sz="1200" dirty="0"/>
                <a:t>：首先將全部樣本數據轉換成一種</a:t>
              </a:r>
              <a:r>
                <a:rPr lang="zh-CN" altLang="en-US" sz="1200" dirty="0"/>
                <a:t>近似於</a:t>
              </a:r>
              <a:r>
                <a:rPr lang="zh-TW" altLang="en-US" sz="1200" dirty="0"/>
                <a:t>正態隨機分佈的樣本，之後再使用 </a:t>
              </a:r>
              <a:r>
                <a:rPr lang="en-US" altLang="zh-TW" sz="1200" i="1" dirty="0" err="1">
                  <a:latin typeface="Times New Roman" pitchFamily="18" charset="0"/>
                  <a:cs typeface="Times New Roman" pitchFamily="18" charset="0"/>
                </a:rPr>
                <a:t>Tukey</a:t>
              </a:r>
              <a:r>
                <a:rPr lang="en-US" altLang="zh-TW" sz="1200" dirty="0"/>
                <a:t> </a:t>
              </a:r>
              <a:r>
                <a:rPr lang="zh-TW" altLang="en-US" sz="1200" dirty="0"/>
                <a:t>法來標記離群值；</a:t>
              </a:r>
              <a:endParaRPr lang="en-US" altLang="zh-CN" sz="1200" dirty="0"/>
            </a:p>
          </p:txBody>
        </p:sp>
        <p:sp>
          <p:nvSpPr>
            <p:cNvPr id="15" name="Rectangle 14"/>
            <p:cNvSpPr>
              <a:spLocks noChangeArrowheads="1"/>
            </p:cNvSpPr>
            <p:nvPr/>
          </p:nvSpPr>
          <p:spPr bwMode="auto">
            <a:xfrm>
              <a:off x="1323473" y="3729424"/>
              <a:ext cx="880285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a:t>
              </a:r>
              <a:r>
                <a:rPr lang="en-US" altLang="zh-TW" sz="1200" i="1" dirty="0" err="1">
                  <a:latin typeface="Times New Roman" pitchFamily="18" charset="0"/>
                  <a:cs typeface="Times New Roman" pitchFamily="18" charset="0"/>
                </a:rPr>
                <a:t>Tukey</a:t>
              </a:r>
              <a:r>
                <a:rPr lang="en-US" altLang="zh-TW" sz="1200" dirty="0"/>
                <a:t> </a:t>
              </a:r>
              <a:r>
                <a:rPr lang="zh-CN" altLang="en-US" sz="1200" dirty="0"/>
                <a:t>的檢驗方法為</a:t>
              </a:r>
              <a:r>
                <a:rPr lang="zh-TW" altLang="en-US" sz="1200" dirty="0"/>
                <a:t>：計算轉換後數據的四分位數間距 </a:t>
              </a:r>
              <a:r>
                <a:rPr lang="en-US" altLang="zh-TW" sz="1200" i="1" dirty="0">
                  <a:latin typeface="Times New Roman" pitchFamily="18" charset="0"/>
                  <a:cs typeface="Times New Roman" pitchFamily="18" charset="0"/>
                </a:rPr>
                <a:t>IQR</a:t>
              </a:r>
              <a:r>
                <a:rPr lang="en-US" altLang="zh-TW" sz="1200" dirty="0"/>
                <a:t> = </a:t>
              </a:r>
              <a:r>
                <a:rPr lang="en-US" altLang="zh-TW" sz="1200" i="1" dirty="0">
                  <a:latin typeface="Times New Roman" pitchFamily="18" charset="0"/>
                  <a:cs typeface="Times New Roman" pitchFamily="18" charset="0"/>
                </a:rPr>
                <a:t>Q</a:t>
              </a:r>
              <a:r>
                <a:rPr lang="en-US" altLang="zh-TW" sz="1200" baseline="-25000" dirty="0">
                  <a:latin typeface="Times New Roman" pitchFamily="18" charset="0"/>
                  <a:cs typeface="Times New Roman" pitchFamily="18" charset="0"/>
                </a:rPr>
                <a:t>3</a:t>
              </a:r>
              <a:r>
                <a:rPr lang="en-US" altLang="zh-TW" sz="1200" dirty="0">
                  <a:latin typeface="Times New Roman" pitchFamily="18" charset="0"/>
                  <a:cs typeface="Times New Roman" pitchFamily="18" charset="0"/>
                </a:rPr>
                <a:t> </a:t>
              </a:r>
              <a:r>
                <a:rPr lang="zh-TW" altLang="en-US" sz="1000" dirty="0"/>
                <a:t>－</a:t>
              </a:r>
              <a:r>
                <a:rPr lang="en-US" altLang="zh-TW" sz="1200" dirty="0"/>
                <a:t> </a:t>
              </a:r>
              <a:r>
                <a:rPr lang="en-US" altLang="zh-TW" sz="1200" i="1" dirty="0">
                  <a:latin typeface="Times New Roman" pitchFamily="18" charset="0"/>
                  <a:cs typeface="Times New Roman" pitchFamily="18" charset="0"/>
                </a:rPr>
                <a:t>Q</a:t>
              </a:r>
              <a:r>
                <a:rPr lang="en-US" altLang="zh-TW" sz="1200" baseline="-25000" dirty="0">
                  <a:latin typeface="Times New Roman" pitchFamily="18" charset="0"/>
                  <a:cs typeface="Times New Roman" pitchFamily="18" charset="0"/>
                </a:rPr>
                <a:t>1</a:t>
              </a:r>
              <a:r>
                <a:rPr lang="zh-TW" altLang="en-US" sz="1200" dirty="0"/>
                <a:t>，然後再計算「區間界限」</a:t>
              </a:r>
              <a:r>
                <a:rPr lang="zh-CN" altLang="en-US" sz="1200" dirty="0"/>
                <a:t>，</a:t>
              </a:r>
              <a:endParaRPr lang="zh-TW" altLang="en-US" sz="1200" dirty="0"/>
            </a:p>
            <a:p>
              <a:pPr>
                <a:lnSpc>
                  <a:spcPct val="150000"/>
                </a:lnSpc>
              </a:pPr>
              <a:r>
                <a:rPr lang="zh-TW" altLang="en-US" sz="1200" dirty="0"/>
                <a:t>                                         上限 </a:t>
              </a:r>
              <a:r>
                <a:rPr lang="en-US" altLang="zh-TW" sz="1200" dirty="0"/>
                <a:t>= </a:t>
              </a:r>
              <a:r>
                <a:rPr lang="en-US" altLang="zh-TW" sz="1200" i="1" dirty="0">
                  <a:latin typeface="Times New Roman" pitchFamily="18" charset="0"/>
                  <a:cs typeface="Times New Roman" pitchFamily="18" charset="0"/>
                </a:rPr>
                <a:t>Q</a:t>
              </a:r>
              <a:r>
                <a:rPr lang="en-US" altLang="zh-TW" sz="1200" baseline="-25000" dirty="0"/>
                <a:t>1</a:t>
              </a:r>
              <a:r>
                <a:rPr lang="en-US" altLang="zh-TW" sz="1200" dirty="0"/>
                <a:t> </a:t>
              </a:r>
              <a:r>
                <a:rPr lang="zh-TW" altLang="en-US" sz="1000" dirty="0">
                  <a:latin typeface="Times New Roman" pitchFamily="18" charset="0"/>
                  <a:cs typeface="Times New Roman" pitchFamily="18" charset="0"/>
                </a:rPr>
                <a:t>－</a:t>
              </a:r>
              <a:r>
                <a:rPr lang="en-US" altLang="zh-TW" sz="1200" dirty="0"/>
                <a:t> 1.5 </a:t>
              </a:r>
              <a:r>
                <a:rPr lang="en-US" altLang="zh-TW" sz="1000" dirty="0">
                  <a:latin typeface="Times New Roman" pitchFamily="18" charset="0"/>
                  <a:cs typeface="Times New Roman" pitchFamily="18" charset="0"/>
                </a:rPr>
                <a:t>×</a:t>
              </a:r>
              <a:r>
                <a:rPr lang="en-US" altLang="zh-TW" sz="1200" dirty="0">
                  <a:latin typeface="Times New Roman" pitchFamily="18" charset="0"/>
                  <a:cs typeface="Times New Roman" pitchFamily="18" charset="0"/>
                </a:rPr>
                <a:t> </a:t>
              </a:r>
              <a:r>
                <a:rPr lang="en-US" altLang="zh-TW" sz="1200" i="1" dirty="0">
                  <a:latin typeface="Times New Roman" pitchFamily="18" charset="0"/>
                  <a:cs typeface="Times New Roman" pitchFamily="18" charset="0"/>
                </a:rPr>
                <a:t>IQR</a:t>
              </a:r>
            </a:p>
            <a:p>
              <a:pPr>
                <a:lnSpc>
                  <a:spcPct val="150000"/>
                </a:lnSpc>
              </a:pPr>
              <a:r>
                <a:rPr lang="zh-TW" altLang="en-US" sz="1200" dirty="0"/>
                <a:t>                                         下限 </a:t>
              </a:r>
              <a:r>
                <a:rPr lang="en-US" altLang="zh-TW" sz="1200" dirty="0"/>
                <a:t>= </a:t>
              </a:r>
              <a:r>
                <a:rPr lang="en-US" altLang="zh-TW" sz="1200" i="1" dirty="0">
                  <a:latin typeface="Times New Roman" pitchFamily="18" charset="0"/>
                  <a:cs typeface="Times New Roman" pitchFamily="18" charset="0"/>
                </a:rPr>
                <a:t>Q</a:t>
              </a:r>
              <a:r>
                <a:rPr lang="en-US" altLang="zh-TW" sz="1200" baseline="-25000" dirty="0"/>
                <a:t>3</a:t>
              </a:r>
              <a:r>
                <a:rPr lang="en-US" altLang="zh-TW" sz="1200" dirty="0"/>
                <a:t> </a:t>
              </a:r>
              <a:r>
                <a:rPr lang="zh-TW" altLang="en-US" sz="1000" dirty="0">
                  <a:latin typeface="Times New Roman" pitchFamily="18" charset="0"/>
                  <a:cs typeface="Times New Roman" pitchFamily="18" charset="0"/>
                </a:rPr>
                <a:t>＋</a:t>
              </a:r>
              <a:r>
                <a:rPr lang="en-US" altLang="zh-TW" sz="1200" dirty="0"/>
                <a:t> 1.5 </a:t>
              </a:r>
              <a:r>
                <a:rPr lang="en-US" altLang="zh-TW" sz="1000" dirty="0">
                  <a:latin typeface="Times New Roman" pitchFamily="18" charset="0"/>
                  <a:cs typeface="Times New Roman" pitchFamily="18" charset="0"/>
                </a:rPr>
                <a:t>×</a:t>
              </a:r>
              <a:r>
                <a:rPr lang="en-US" altLang="zh-TW" sz="1200" dirty="0">
                  <a:latin typeface="Times New Roman" pitchFamily="18" charset="0"/>
                  <a:cs typeface="Times New Roman" pitchFamily="18" charset="0"/>
                </a:rPr>
                <a:t> </a:t>
              </a:r>
              <a:r>
                <a:rPr lang="en-US" altLang="zh-TW" sz="1200" i="1" dirty="0">
                  <a:latin typeface="Times New Roman" pitchFamily="18" charset="0"/>
                  <a:cs typeface="Times New Roman" pitchFamily="18" charset="0"/>
                </a:rPr>
                <a:t>IQR</a:t>
              </a:r>
            </a:p>
            <a:p>
              <a:pPr>
                <a:lnSpc>
                  <a:spcPct val="150000"/>
                </a:lnSpc>
              </a:pPr>
              <a:r>
                <a:rPr lang="zh-TW" altLang="en-US" sz="1200" dirty="0"/>
                <a:t>                                         轉換後落在該區間範圍外的數據點都考慮為離群值，對應的原始數據將在隨後參考區間</a:t>
              </a:r>
              <a:r>
                <a:rPr lang="zh-CN" altLang="en-US" sz="1200" dirty="0"/>
                <a:t>的</a:t>
              </a:r>
              <a:r>
                <a:rPr lang="zh-TW" altLang="en-US" sz="1200" dirty="0"/>
                <a:t>估計</a:t>
              </a:r>
              <a:r>
                <a:rPr lang="zh-CN" altLang="en-US" sz="1200" dirty="0"/>
                <a:t>中</a:t>
              </a:r>
              <a:r>
                <a:rPr lang="zh-TW" altLang="en-US" sz="1200" dirty="0"/>
                <a:t>刪除；</a:t>
              </a:r>
              <a:endParaRPr lang="en-US" altLang="zh-CN" sz="1200" dirty="0"/>
            </a:p>
          </p:txBody>
        </p:sp>
        <p:sp>
          <p:nvSpPr>
            <p:cNvPr id="17" name="Rectangle 14"/>
            <p:cNvSpPr>
              <a:spLocks noChangeArrowheads="1"/>
            </p:cNvSpPr>
            <p:nvPr/>
          </p:nvSpPr>
          <p:spPr bwMode="auto">
            <a:xfrm>
              <a:off x="1323472" y="4929754"/>
              <a:ext cx="88028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實際上，如果基礎分佈為正態分佈或者可以轉換成正態分佈，關於正態分佈離群值檢驗的理論研究十分豐富，可以參考的統計學中關於離群值檢測的方法已有很多人進行過研究，但是，通常肉眼直觀觀察往往是判斷離群值最有效的方法</a:t>
              </a:r>
              <a:r>
                <a:rPr lang="zh-TW" altLang="en-US" sz="1200" dirty="0"/>
                <a:t>；</a:t>
              </a:r>
              <a:endParaRPr lang="en-US" altLang="zh-CN" sz="1200" dirty="0"/>
            </a:p>
          </p:txBody>
        </p:sp>
      </p:grpSp>
    </p:spTree>
    <p:extLst>
      <p:ext uri="{BB962C8B-B14F-4D97-AF65-F5344CB8AC3E}">
        <p14:creationId xmlns:p14="http://schemas.microsoft.com/office/powerpoint/2010/main" val="1777177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a:t>
            </a:r>
            <a:r>
              <a:rPr lang="zh-CN" altLang="en-US" sz="900" dirty="0">
                <a:solidFill>
                  <a:srgbClr val="000000"/>
                </a:solidFill>
                <a:latin typeface="Times New Roman" pitchFamily="18" charset="0"/>
                <a:cs typeface="Times New Roman" pitchFamily="18" charset="0"/>
              </a:rPr>
              <a:t>區間</a:t>
            </a:r>
            <a:r>
              <a:rPr lang="zh-TW" altLang="en-US" sz="900" dirty="0">
                <a:solidFill>
                  <a:srgbClr val="000000"/>
                </a:solidFill>
                <a:latin typeface="Times New Roman" pitchFamily="18" charset="0"/>
                <a:cs typeface="Times New Roman" pitchFamily="18" charset="0"/>
              </a:rPr>
              <a:t>的轉換</a:t>
            </a:r>
            <a:endParaRPr lang="zh-CN" altLang="en-US" sz="1300" dirty="0">
              <a:solidFill>
                <a:srgbClr val="000000"/>
              </a:solidFill>
              <a:latin typeface="Times New Roman" pitchFamily="18" charset="0"/>
              <a:cs typeface="Times New Roman" pitchFamily="18" charset="0"/>
            </a:endParaRPr>
          </a:p>
        </p:txBody>
      </p:sp>
      <p:grpSp>
        <p:nvGrpSpPr>
          <p:cNvPr id="16" name="组合 15">
            <a:extLst>
              <a:ext uri="{FF2B5EF4-FFF2-40B4-BE49-F238E27FC236}">
                <a16:creationId xmlns:a16="http://schemas.microsoft.com/office/drawing/2014/main" id="{91FB2529-654F-55F1-BCA4-A0A4AA304011}"/>
              </a:ext>
            </a:extLst>
          </p:cNvPr>
          <p:cNvGrpSpPr/>
          <p:nvPr/>
        </p:nvGrpSpPr>
        <p:grpSpPr>
          <a:xfrm>
            <a:off x="1010499" y="816311"/>
            <a:ext cx="9496133" cy="4774079"/>
            <a:chOff x="1010499" y="816311"/>
            <a:chExt cx="9496133" cy="4774079"/>
          </a:xfrm>
        </p:grpSpPr>
        <p:sp>
          <p:nvSpPr>
            <p:cNvPr id="6" name="Rectangle 14"/>
            <p:cNvSpPr>
              <a:spLocks noChangeArrowheads="1"/>
            </p:cNvSpPr>
            <p:nvPr/>
          </p:nvSpPr>
          <p:spPr bwMode="auto">
            <a:xfrm>
              <a:off x="1010501" y="4366978"/>
              <a:ext cx="94961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1200" i="1"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比如，</a:t>
              </a:r>
              <a:r>
                <a:rPr lang="en-US" altLang="zh-CN" sz="1000" i="1" dirty="0" err="1">
                  <a:latin typeface="Times New Roman" pitchFamily="18" charset="0"/>
                  <a:cs typeface="Times New Roman" pitchFamily="18" charset="0"/>
                </a:rPr>
                <a:t>Ghoshal</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和 </a:t>
              </a:r>
              <a:r>
                <a:rPr lang="en-US" altLang="zh-CN" sz="1000" i="1" dirty="0" err="1">
                  <a:latin typeface="Times New Roman" pitchFamily="18" charset="0"/>
                  <a:cs typeface="Times New Roman" pitchFamily="18" charset="0"/>
                </a:rPr>
                <a:t>Soldin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利用線性回歸模型對 </a:t>
              </a:r>
              <a:r>
                <a:rPr lang="en-US" altLang="zh-CN" sz="1000" i="1" dirty="0">
                  <a:latin typeface="Times New Roman" pitchFamily="18" charset="0"/>
                  <a:cs typeface="Times New Roman" pitchFamily="18" charset="0"/>
                </a:rPr>
                <a:t>Dade Behring Dimension </a:t>
              </a:r>
              <a:r>
                <a:rPr lang="en-US" altLang="zh-CN" sz="1000" i="1" dirty="0" err="1">
                  <a:latin typeface="Times New Roman" pitchFamily="18" charset="0"/>
                  <a:cs typeface="Times New Roman" pitchFamily="18" charset="0"/>
                </a:rPr>
                <a:t>RxL</a:t>
              </a:r>
              <a:r>
                <a:rPr lang="en-US" altLang="zh-CN" sz="1200" i="1"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與 </a:t>
              </a:r>
              <a:r>
                <a:rPr lang="en-US" altLang="zh-CN" sz="1000" i="1" dirty="0">
                  <a:latin typeface="Times New Roman" pitchFamily="18" charset="0"/>
                  <a:cs typeface="Times New Roman" pitchFamily="18" charset="0"/>
                </a:rPr>
                <a:t>Ortho Diagnostics </a:t>
              </a:r>
              <a:r>
                <a:rPr lang="en-US" altLang="zh-CN" sz="1000" i="1" dirty="0" err="1">
                  <a:latin typeface="Times New Roman" pitchFamily="18" charset="0"/>
                  <a:cs typeface="Times New Roman" pitchFamily="18" charset="0"/>
                </a:rPr>
                <a:t>Vitros</a:t>
              </a:r>
              <a:r>
                <a:rPr lang="en-US" altLang="zh-CN" sz="1000" dirty="0">
                  <a:latin typeface="Times New Roman" pitchFamily="18" charset="0"/>
                  <a:cs typeface="Times New Roman" pitchFamily="18" charset="0"/>
                </a:rPr>
                <a:t> 500</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檢測儀的兒童參考區間進行了轉換，通過實驗首先證明瞭批內和批間的不精密度是可接受的，然後應用這兩台儀器對患者樣本進行檢測，得到線性回歸的斜率和截距和相關係數，通過檢驗殘差驗證了線性回歸的假設；</a:t>
              </a:r>
              <a:endParaRPr lang="en-US" altLang="zh-CN" sz="1200" dirty="0">
                <a:latin typeface="Times New Roman" pitchFamily="18" charset="0"/>
                <a:cs typeface="Times New Roman" pitchFamily="18" charset="0"/>
              </a:endParaRPr>
            </a:p>
          </p:txBody>
        </p:sp>
        <p:sp>
          <p:nvSpPr>
            <p:cNvPr id="7" name="Rectangle 14"/>
            <p:cNvSpPr>
              <a:spLocks noChangeArrowheads="1"/>
            </p:cNvSpPr>
            <p:nvPr/>
          </p:nvSpPr>
          <p:spPr bwMode="auto">
            <a:xfrm>
              <a:off x="1010503" y="816311"/>
              <a:ext cx="949612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如果沒有條件建立自己的參考區間，在各項要求滿足的情況下，也可以通過臨床樣本的比對實驗，進行參考區間轉換，因為線性變換不會改變分佈形態，因此正態分佈的隨機變量，經過線性變換後仍然呈正態分佈，如果兩個系統之間存在比例誤差，理論上兩系統間的檢驗結果即可能存在位置參數上的偏倚也可能存在刻度參數的改變；如果兩個檢驗系統線性相關良好，那麼兩系統之間的參考區間應該可以通過線性變換進行轉換；</a:t>
              </a:r>
            </a:p>
          </p:txBody>
        </p:sp>
        <p:sp>
          <p:nvSpPr>
            <p:cNvPr id="8" name="Rectangle 14"/>
            <p:cNvSpPr>
              <a:spLocks noChangeArrowheads="1"/>
            </p:cNvSpPr>
            <p:nvPr/>
          </p:nvSpPr>
          <p:spPr bwMode="auto">
            <a:xfrm>
              <a:off x="1010501" y="2312728"/>
              <a:ext cx="9496131" cy="207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然而檢驗系統的性能確認是多方面綜合的評價，參考區間通過線性變換進行轉換後成功應用的前提至少應該包括：</a:t>
              </a:r>
              <a:endParaRPr lang="en-US" altLang="zh-CN" sz="1200" dirty="0"/>
            </a:p>
            <a:p>
              <a:pPr>
                <a:lnSpc>
                  <a:spcPct val="150000"/>
                </a:lnSpc>
              </a:pPr>
              <a:r>
                <a:rPr lang="en-US" altLang="zh-CN" sz="1200" dirty="0"/>
                <a:t>       1)</a:t>
              </a:r>
              <a:r>
                <a:rPr lang="zh-CN" altLang="en-US" sz="1200" dirty="0"/>
                <a:t>、互相轉換的兩個檢驗系統線性相關性良好；</a:t>
              </a:r>
              <a:endParaRPr lang="en-US" altLang="zh-CN" sz="1200" dirty="0"/>
            </a:p>
            <a:p>
              <a:pPr>
                <a:lnSpc>
                  <a:spcPct val="150000"/>
                </a:lnSpc>
              </a:pPr>
              <a:r>
                <a:rPr lang="en-US" altLang="zh-CN" sz="1200" dirty="0"/>
                <a:t>       2)</a:t>
              </a:r>
              <a:r>
                <a:rPr lang="zh-CN" altLang="en-US" sz="1200" dirty="0"/>
                <a:t>、互相轉換的兩個檢驗系統精密度水準都可以達到要求，因為轉換後的參考上下限處的不確定度一定會隨之增加；</a:t>
              </a:r>
            </a:p>
            <a:p>
              <a:pPr>
                <a:lnSpc>
                  <a:spcPct val="150000"/>
                </a:lnSpc>
              </a:pPr>
              <a:r>
                <a:rPr lang="en-US" altLang="zh-CN" sz="1200" dirty="0"/>
                <a:t>       3)</a:t>
              </a:r>
              <a:r>
                <a:rPr lang="zh-CN" altLang="en-US" sz="1200" dirty="0"/>
                <a:t>、互相轉換的兩個檢驗系統的檢測靈敏度和可報告範圍應該滿足參考區間轉換的條件，兩系統檢驗結果的分佈域應盡量等效；</a:t>
              </a:r>
              <a:endParaRPr lang="en-US" altLang="zh-CN" sz="1200" dirty="0"/>
            </a:p>
            <a:p>
              <a:pPr>
                <a:lnSpc>
                  <a:spcPct val="150000"/>
                </a:lnSpc>
              </a:pPr>
              <a:r>
                <a:rPr lang="en-US" altLang="zh-CN" sz="1200" dirty="0"/>
                <a:t>       4)</a:t>
              </a:r>
              <a:r>
                <a:rPr lang="zh-CN" altLang="en-US" sz="1200" dirty="0"/>
                <a:t>、互相轉換的兩個檢驗系統間特異性和抗幹擾能力不應有明顯的差異也不應存在明顯的基質效應；</a:t>
              </a:r>
              <a:endParaRPr lang="en-US" altLang="zh-CN" sz="1200" dirty="0"/>
            </a:p>
            <a:p>
              <a:pPr>
                <a:lnSpc>
                  <a:spcPct val="150000"/>
                </a:lnSpc>
              </a:pPr>
              <a:r>
                <a:rPr lang="zh-CN" altLang="en-US" sz="1200" dirty="0"/>
                <a:t>       也就是說兩個檢驗系統測試結果間的線性相關應該在目標應用人群中具有普遍意義，而不能僅憑抽樣實驗樣本中相關良好即得出可等效轉換的結論，應該結合兩個檢驗系統其它方面的分析綜合評價，並經過回顧性驗證確認之後，方能確定轉換後的參考區間是否有實用性；</a:t>
              </a:r>
            </a:p>
          </p:txBody>
        </p:sp>
        <p:sp>
          <p:nvSpPr>
            <p:cNvPr id="14" name="Rectangle 14"/>
            <p:cNvSpPr>
              <a:spLocks noChangeArrowheads="1"/>
            </p:cNvSpPr>
            <p:nvPr/>
          </p:nvSpPr>
          <p:spPr bwMode="auto">
            <a:xfrm>
              <a:off x="1010499" y="5290308"/>
              <a:ext cx="949612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900"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Ghoshal</a:t>
              </a:r>
              <a:r>
                <a:rPr lang="en-US" altLang="zh-CN" sz="900" i="1" dirty="0">
                  <a:latin typeface="Times New Roman" pitchFamily="18" charset="0"/>
                  <a:cs typeface="Times New Roman" pitchFamily="18" charset="0"/>
                </a:rPr>
                <a:t> AK, </a:t>
              </a:r>
              <a:r>
                <a:rPr lang="en-US" altLang="zh-CN" sz="900" i="1" dirty="0" err="1">
                  <a:latin typeface="Times New Roman" pitchFamily="18" charset="0"/>
                  <a:cs typeface="Times New Roman" pitchFamily="18" charset="0"/>
                </a:rPr>
                <a:t>Soldin</a:t>
              </a:r>
              <a:r>
                <a:rPr lang="en-US" altLang="zh-CN" sz="900" i="1" dirty="0">
                  <a:latin typeface="Times New Roman" pitchFamily="18" charset="0"/>
                  <a:cs typeface="Times New Roman" pitchFamily="18" charset="0"/>
                </a:rPr>
                <a:t> SJ. Evaluation of the Dade Behring Dimension </a:t>
              </a:r>
              <a:r>
                <a:rPr lang="en-US" altLang="zh-CN" sz="900" i="1" dirty="0" err="1">
                  <a:latin typeface="Times New Roman" pitchFamily="18" charset="0"/>
                  <a:cs typeface="Times New Roman" pitchFamily="18" charset="0"/>
                </a:rPr>
                <a:t>RxL</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integrated chemistry system-pediatric reference ranges</a:t>
              </a:r>
              <a:r>
                <a:rPr lang="en-US" altLang="zh-CN" sz="900" dirty="0">
                  <a:latin typeface="Times New Roman" pitchFamily="18" charset="0"/>
                  <a:cs typeface="Times New Roman" pitchFamily="18" charset="0"/>
                </a:rPr>
                <a:t>[J]</a:t>
              </a:r>
              <a:r>
                <a:rPr lang="en-US" altLang="zh-CN" sz="900" i="1"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Clin</a:t>
              </a:r>
              <a:r>
                <a:rPr lang="en-US" altLang="zh-CN" sz="900" i="1"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Chim</a:t>
              </a:r>
              <a:r>
                <a:rPr lang="en-US" altLang="zh-CN" sz="900" i="1"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Acta</a:t>
              </a:r>
              <a:r>
                <a:rPr lang="en-US" altLang="zh-CN" sz="900" dirty="0">
                  <a:latin typeface="Times New Roman" pitchFamily="18" charset="0"/>
                  <a:cs typeface="Times New Roman" pitchFamily="18" charset="0"/>
                </a:rPr>
                <a:t>, 2003, 331(1/2): 135-146.</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nvGrpSpPr>
            <p:cNvPr id="11" name="组合 10">
              <a:extLst>
                <a:ext uri="{FF2B5EF4-FFF2-40B4-BE49-F238E27FC236}">
                  <a16:creationId xmlns:a16="http://schemas.microsoft.com/office/drawing/2014/main" id="{A88D45BA-7CFC-94A3-D983-30B3019933A8}"/>
                </a:ext>
              </a:extLst>
            </p:cNvPr>
            <p:cNvGrpSpPr/>
            <p:nvPr/>
          </p:nvGrpSpPr>
          <p:grpSpPr>
            <a:xfrm>
              <a:off x="1010502" y="1983841"/>
              <a:ext cx="9496130" cy="339293"/>
              <a:chOff x="1010502" y="1983841"/>
              <a:chExt cx="9496130" cy="339293"/>
            </a:xfrm>
          </p:grpSpPr>
          <p:sp>
            <p:nvSpPr>
              <p:cNvPr id="15" name="Rectangle 12"/>
              <p:cNvSpPr>
                <a:spLocks noChangeArrowheads="1"/>
              </p:cNvSpPr>
              <p:nvPr/>
            </p:nvSpPr>
            <p:spPr bwMode="auto">
              <a:xfrm>
                <a:off x="1010502" y="1983841"/>
                <a:ext cx="9496130" cy="3334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sz="1200" dirty="0"/>
                  <a:t>       比如假設                                                           ，記隨機變量                    ，則有                                       ；</a:t>
                </a:r>
              </a:p>
            </p:txBody>
          </p:sp>
          <p:graphicFrame>
            <p:nvGraphicFramePr>
              <p:cNvPr id="19" name="对象 18"/>
              <p:cNvGraphicFramePr>
                <a:graphicFrameLocks noChangeAspect="1"/>
              </p:cNvGraphicFramePr>
              <p:nvPr>
                <p:extLst>
                  <p:ext uri="{D42A27DB-BD31-4B8C-83A1-F6EECF244321}">
                    <p14:modId xmlns:p14="http://schemas.microsoft.com/office/powerpoint/2010/main" val="3967903183"/>
                  </p:ext>
                </p:extLst>
              </p:nvPr>
            </p:nvGraphicFramePr>
            <p:xfrm>
              <a:off x="5496152" y="2097546"/>
              <a:ext cx="787400" cy="177800"/>
            </p:xfrm>
            <a:graphic>
              <a:graphicData uri="http://schemas.openxmlformats.org/presentationml/2006/ole">
                <mc:AlternateContent xmlns:mc="http://schemas.openxmlformats.org/markup-compatibility/2006">
                  <mc:Choice xmlns:v="urn:schemas-microsoft-com:vml" Requires="v">
                    <p:oleObj name="Equation" r:id="rId3" imgW="787058" imgH="177723" progId="">
                      <p:embed/>
                    </p:oleObj>
                  </mc:Choice>
                  <mc:Fallback>
                    <p:oleObj name="Equation" r:id="rId3" imgW="787058" imgH="177723" progId="">
                      <p:embed/>
                      <p:pic>
                        <p:nvPicPr>
                          <p:cNvPr id="0" name="Picture 98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6152" y="2097546"/>
                            <a:ext cx="7874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FE082BE2-BFC2-A991-9C9E-A577B2B93AD5}"/>
                  </a:ext>
                </a:extLst>
              </p:cNvPr>
              <p:cNvGraphicFramePr>
                <a:graphicFrameLocks noChangeAspect="1"/>
              </p:cNvGraphicFramePr>
              <p:nvPr>
                <p:extLst>
                  <p:ext uri="{D42A27DB-BD31-4B8C-83A1-F6EECF244321}">
                    <p14:modId xmlns:p14="http://schemas.microsoft.com/office/powerpoint/2010/main" val="774477267"/>
                  </p:ext>
                </p:extLst>
              </p:nvPr>
            </p:nvGraphicFramePr>
            <p:xfrm>
              <a:off x="2063359" y="2067942"/>
              <a:ext cx="1211287" cy="249271"/>
            </p:xfrm>
            <a:graphic>
              <a:graphicData uri="http://schemas.openxmlformats.org/presentationml/2006/ole">
                <mc:AlternateContent xmlns:mc="http://schemas.openxmlformats.org/markup-compatibility/2006">
                  <mc:Choice xmlns:v="urn:schemas-microsoft-com:vml" Requires="v">
                    <p:oleObj r:id="rId5" imgW="889386" imgH="228699" progId="Equation.3">
                      <p:embed/>
                    </p:oleObj>
                  </mc:Choice>
                  <mc:Fallback>
                    <p:oleObj r:id="rId5" imgW="889386" imgH="228699" progId="Equation.3">
                      <p:embed/>
                      <p:pic>
                        <p:nvPicPr>
                          <p:cNvPr id="2663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359" y="2067942"/>
                            <a:ext cx="1211287" cy="249271"/>
                          </a:xfrm>
                          <a:prstGeom prst="rect">
                            <a:avLst/>
                          </a:prstGeom>
                          <a:noFill/>
                          <a:ln>
                            <a:noFill/>
                          </a:ln>
                        </p:spPr>
                      </p:pic>
                    </p:oleObj>
                  </mc:Fallback>
                </mc:AlternateContent>
              </a:graphicData>
            </a:graphic>
          </p:graphicFrame>
          <p:graphicFrame>
            <p:nvGraphicFramePr>
              <p:cNvPr id="9" name="Object 6">
                <a:extLst>
                  <a:ext uri="{FF2B5EF4-FFF2-40B4-BE49-F238E27FC236}">
                    <a16:creationId xmlns:a16="http://schemas.microsoft.com/office/drawing/2014/main" id="{BE8DA7ED-5B24-EA8A-C500-2E236DD0D7BA}"/>
                  </a:ext>
                </a:extLst>
              </p:cNvPr>
              <p:cNvGraphicFramePr>
                <a:graphicFrameLocks noChangeAspect="1"/>
              </p:cNvGraphicFramePr>
              <p:nvPr>
                <p:extLst>
                  <p:ext uri="{D42A27DB-BD31-4B8C-83A1-F6EECF244321}">
                    <p14:modId xmlns:p14="http://schemas.microsoft.com/office/powerpoint/2010/main" val="3858896228"/>
                  </p:ext>
                </p:extLst>
              </p:nvPr>
            </p:nvGraphicFramePr>
            <p:xfrm>
              <a:off x="3354277" y="2056414"/>
              <a:ext cx="1112838" cy="266720"/>
            </p:xfrm>
            <a:graphic>
              <a:graphicData uri="http://schemas.openxmlformats.org/presentationml/2006/ole">
                <mc:AlternateContent xmlns:mc="http://schemas.openxmlformats.org/markup-compatibility/2006">
                  <mc:Choice xmlns:v="urn:schemas-microsoft-com:vml" Requires="v">
                    <p:oleObj r:id="rId7" imgW="914400" imgH="215900" progId="Equation.3">
                      <p:embed/>
                    </p:oleObj>
                  </mc:Choice>
                  <mc:Fallback>
                    <p:oleObj r:id="rId7" imgW="914400" imgH="215900" progId="Equation.3">
                      <p:embed/>
                      <p:pic>
                        <p:nvPicPr>
                          <p:cNvPr id="2663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4277" y="2056414"/>
                            <a:ext cx="1112838" cy="266720"/>
                          </a:xfrm>
                          <a:prstGeom prst="rect">
                            <a:avLst/>
                          </a:prstGeom>
                          <a:noFill/>
                          <a:ln>
                            <a:noFill/>
                          </a:ln>
                        </p:spPr>
                      </p:pic>
                    </p:oleObj>
                  </mc:Fallback>
                </mc:AlternateContent>
              </a:graphicData>
            </a:graphic>
          </p:graphicFrame>
          <p:graphicFrame>
            <p:nvGraphicFramePr>
              <p:cNvPr id="10" name="Object 22">
                <a:extLst>
                  <a:ext uri="{FF2B5EF4-FFF2-40B4-BE49-F238E27FC236}">
                    <a16:creationId xmlns:a16="http://schemas.microsoft.com/office/drawing/2014/main" id="{5B62D592-2B6E-2524-9A36-94EEDE3FD338}"/>
                  </a:ext>
                </a:extLst>
              </p:cNvPr>
              <p:cNvGraphicFramePr>
                <a:graphicFrameLocks noChangeAspect="1"/>
              </p:cNvGraphicFramePr>
              <p:nvPr>
                <p:extLst>
                  <p:ext uri="{D42A27DB-BD31-4B8C-83A1-F6EECF244321}">
                    <p14:modId xmlns:p14="http://schemas.microsoft.com/office/powerpoint/2010/main" val="3171222961"/>
                  </p:ext>
                </p:extLst>
              </p:nvPr>
            </p:nvGraphicFramePr>
            <p:xfrm>
              <a:off x="6831210" y="2070193"/>
              <a:ext cx="1478370" cy="252217"/>
            </p:xfrm>
            <a:graphic>
              <a:graphicData uri="http://schemas.openxmlformats.org/presentationml/2006/ole">
                <mc:AlternateContent xmlns:mc="http://schemas.openxmlformats.org/markup-compatibility/2006">
                  <mc:Choice xmlns:v="urn:schemas-microsoft-com:vml" Requires="v">
                    <p:oleObj r:id="rId9" imgW="1295962" imgH="228699" progId="Equation.3">
                      <p:embed/>
                    </p:oleObj>
                  </mc:Choice>
                  <mc:Fallback>
                    <p:oleObj r:id="rId9" imgW="1295962" imgH="228699" progId="Equation.3">
                      <p:embed/>
                      <p:pic>
                        <p:nvPicPr>
                          <p:cNvPr id="26647"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31210" y="2070193"/>
                            <a:ext cx="1478370" cy="252217"/>
                          </a:xfrm>
                          <a:prstGeom prst="rect">
                            <a:avLst/>
                          </a:prstGeom>
                          <a:noFill/>
                          <a:ln>
                            <a:noFill/>
                          </a:ln>
                        </p:spPr>
                      </p:pic>
                    </p:oleObj>
                  </mc:Fallback>
                </mc:AlternateContent>
              </a:graphicData>
            </a:graphic>
          </p:graphicFrame>
        </p:grpSp>
      </p:grpSp>
    </p:spTree>
    <p:extLst>
      <p:ext uri="{BB962C8B-B14F-4D97-AF65-F5344CB8AC3E}">
        <p14:creationId xmlns:p14="http://schemas.microsoft.com/office/powerpoint/2010/main" val="2336990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1" name="组合 9"/>
          <p:cNvGrpSpPr>
            <a:grpSpLocks/>
          </p:cNvGrpSpPr>
          <p:nvPr/>
        </p:nvGrpSpPr>
        <p:grpSpPr bwMode="auto">
          <a:xfrm>
            <a:off x="339727" y="627065"/>
            <a:ext cx="10799764" cy="5214937"/>
            <a:chOff x="340199" y="627063"/>
            <a:chExt cx="10799374" cy="5214178"/>
          </a:xfrm>
        </p:grpSpPr>
        <p:pic>
          <p:nvPicPr>
            <p:cNvPr id="2765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199" y="871206"/>
              <a:ext cx="10799374" cy="497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9"/>
            <p:cNvSpPr>
              <a:spLocks noChangeArrowheads="1"/>
            </p:cNvSpPr>
            <p:nvPr/>
          </p:nvSpPr>
          <p:spPr bwMode="auto">
            <a:xfrm>
              <a:off x="346075" y="627063"/>
              <a:ext cx="2440074" cy="23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1800" dirty="0">
                  <a:solidFill>
                    <a:schemeClr val="tx1"/>
                  </a:solidFill>
                  <a:ea typeface="方正兰亭黑6_GBK" pitchFamily="2" charset="-122"/>
                </a:rPr>
                <a:t>Y=</a:t>
              </a:r>
              <a:r>
                <a:rPr lang="en-US" altLang="zh-CN" sz="1800" dirty="0" err="1">
                  <a:solidFill>
                    <a:schemeClr val="tx1"/>
                  </a:solidFill>
                  <a:ea typeface="方正兰亭黑6_GBK" pitchFamily="2" charset="-122"/>
                </a:rPr>
                <a:t>a+bx</a:t>
              </a:r>
              <a:r>
                <a:rPr lang="zh-CN" altLang="en-US" sz="1800" dirty="0">
                  <a:solidFill>
                    <a:schemeClr val="tx1"/>
                  </a:solidFill>
                  <a:ea typeface="方正兰亭黑6_GBK" pitchFamily="2" charset="-122"/>
                </a:rPr>
                <a:t>；</a:t>
              </a:r>
              <a:r>
                <a:rPr lang="en-US" altLang="zh-CN" sz="1800" dirty="0">
                  <a:solidFill>
                    <a:schemeClr val="tx1"/>
                  </a:solidFill>
                  <a:ea typeface="方正兰亭黑6_GBK" pitchFamily="2" charset="-122"/>
                </a:rPr>
                <a:t>a=4</a:t>
              </a:r>
              <a:r>
                <a:rPr lang="zh-CN" altLang="en-US" sz="1800" dirty="0">
                  <a:solidFill>
                    <a:schemeClr val="tx1"/>
                  </a:solidFill>
                  <a:ea typeface="方正兰亭黑6_GBK" pitchFamily="2" charset="-122"/>
                </a:rPr>
                <a:t>；</a:t>
              </a:r>
              <a:r>
                <a:rPr lang="en-US" altLang="zh-CN" sz="1800" dirty="0">
                  <a:solidFill>
                    <a:schemeClr val="tx1"/>
                  </a:solidFill>
                  <a:ea typeface="方正兰亭黑6_GBK" pitchFamily="2" charset="-122"/>
                </a:rPr>
                <a:t>b=2</a:t>
              </a:r>
            </a:p>
          </p:txBody>
        </p:sp>
      </p:grpSp>
      <p:sp>
        <p:nvSpPr>
          <p:cNvPr id="6" name="矩形 3"/>
          <p:cNvSpPr>
            <a:spLocks noChangeArrowheads="1"/>
          </p:cNvSpPr>
          <p:nvPr/>
        </p:nvSpPr>
        <p:spPr bwMode="auto">
          <a:xfrm>
            <a:off x="55094" y="264074"/>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參考區間</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TW" altLang="en-US" sz="900" dirty="0">
                <a:solidFill>
                  <a:srgbClr val="000000"/>
                </a:solidFill>
                <a:latin typeface="Times New Roman" pitchFamily="18" charset="0"/>
                <a:cs typeface="Times New Roman" pitchFamily="18" charset="0"/>
              </a:rPr>
              <a:t>參考</a:t>
            </a:r>
            <a:r>
              <a:rPr lang="zh-CN" altLang="en-US" sz="900" dirty="0">
                <a:solidFill>
                  <a:srgbClr val="000000"/>
                </a:solidFill>
                <a:latin typeface="Times New Roman" pitchFamily="18" charset="0"/>
                <a:cs typeface="Times New Roman" pitchFamily="18" charset="0"/>
              </a:rPr>
              <a:t>區間</a:t>
            </a:r>
            <a:r>
              <a:rPr lang="zh-TW" altLang="en-US" sz="900" dirty="0">
                <a:solidFill>
                  <a:srgbClr val="000000"/>
                </a:solidFill>
                <a:latin typeface="Times New Roman" pitchFamily="18" charset="0"/>
                <a:cs typeface="Times New Roman" pitchFamily="18" charset="0"/>
              </a:rPr>
              <a:t>的轉換</a:t>
            </a:r>
            <a:r>
              <a:rPr lang="zh-CN" altLang="en-US" sz="900" dirty="0">
                <a:solidFill>
                  <a:srgbClr val="000000"/>
                </a:solidFill>
                <a:latin typeface="Times New Roman" pitchFamily="18" charset="0"/>
                <a:cs typeface="Times New Roman" pitchFamily="18" charset="0"/>
              </a:rPr>
              <a:t>（</a:t>
            </a:r>
            <a:r>
              <a:rPr lang="zh-TW" altLang="en-US" sz="900" dirty="0">
                <a:solidFill>
                  <a:srgbClr val="000000"/>
                </a:solidFill>
                <a:latin typeface="Times New Roman" pitchFamily="18" charset="0"/>
                <a:cs typeface="Times New Roman" pitchFamily="18" charset="0"/>
              </a:rPr>
              <a:t>正態分佈隨機變量的線性變換</a:t>
            </a:r>
            <a:r>
              <a:rPr lang="zh-CN" altLang="en-US" sz="900" dirty="0">
                <a:solidFill>
                  <a:srgbClr val="000000"/>
                </a:solidFill>
                <a:latin typeface="Times New Roman" pitchFamily="18" charset="0"/>
                <a:cs typeface="Times New Roman" pitchFamily="18" charset="0"/>
              </a:rPr>
              <a:t>）</a:t>
            </a:r>
            <a:endParaRPr lang="zh-CN" altLang="en-US" sz="1300" dirty="0">
              <a:solidFill>
                <a:srgbClr val="000000"/>
              </a:solidFill>
              <a:latin typeface="Times New Roman" pitchFamily="18" charset="0"/>
              <a:cs typeface="Times New Roman" pitchFamily="18" charset="0"/>
            </a:endParaRPr>
          </a:p>
        </p:txBody>
      </p:sp>
      <p:sp>
        <p:nvSpPr>
          <p:cNvPr id="7" name="标题 1"/>
          <p:cNvSpPr txBox="1">
            <a:spLocks/>
          </p:cNvSpPr>
          <p:nvPr/>
        </p:nvSpPr>
        <p:spPr bwMode="auto">
          <a:xfrm>
            <a:off x="32871" y="75416"/>
            <a:ext cx="8524875" cy="215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Tree>
    <p:extLst>
      <p:ext uri="{BB962C8B-B14F-4D97-AF65-F5344CB8AC3E}">
        <p14:creationId xmlns:p14="http://schemas.microsoft.com/office/powerpoint/2010/main" val="1042162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6C35-F10B-3960-5925-E28DF06E657D}"/>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3FE802BF-38F7-AA53-E998-202EEFE7D971}"/>
              </a:ext>
            </a:extLst>
          </p:cNvPr>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生物學變異與參考區間</a:t>
            </a:r>
          </a:p>
        </p:txBody>
      </p:sp>
      <p:sp>
        <p:nvSpPr>
          <p:cNvPr id="13" name="矩形 3">
            <a:extLst>
              <a:ext uri="{FF2B5EF4-FFF2-40B4-BE49-F238E27FC236}">
                <a16:creationId xmlns:a16="http://schemas.microsoft.com/office/drawing/2014/main" id="{306BC3AD-DB64-8C99-FF98-393273B85913}"/>
              </a:ext>
            </a:extLst>
          </p:cNvPr>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t>參考區間</a:t>
            </a:r>
          </a:p>
        </p:txBody>
      </p:sp>
      <p:sp>
        <p:nvSpPr>
          <p:cNvPr id="5" name="文本框 4">
            <a:extLst>
              <a:ext uri="{FF2B5EF4-FFF2-40B4-BE49-F238E27FC236}">
                <a16:creationId xmlns:a16="http://schemas.microsoft.com/office/drawing/2014/main" id="{80E391FB-FE09-5B1F-E39B-2A12DA15EFC0}"/>
              </a:ext>
            </a:extLst>
          </p:cNvPr>
          <p:cNvSpPr txBox="1"/>
          <p:nvPr/>
        </p:nvSpPr>
        <p:spPr>
          <a:xfrm>
            <a:off x="1994645" y="1801015"/>
            <a:ext cx="8012114" cy="1687963"/>
          </a:xfrm>
          <a:prstGeom prst="rect">
            <a:avLst/>
          </a:prstGeom>
          <a:noFill/>
        </p:spPr>
        <p:txBody>
          <a:bodyPr wrap="square">
            <a:spAutoFit/>
          </a:bodyPr>
          <a:lstStyle/>
          <a:p>
            <a:pPr>
              <a:lnSpc>
                <a:spcPct val="150000"/>
              </a:lnSpc>
            </a:pPr>
            <a:r>
              <a:rPr lang="zh-CN" altLang="en-US" sz="2400" dirty="0">
                <a:solidFill>
                  <a:srgbClr val="FF0000"/>
                </a:solidFill>
                <a:ea typeface="宋体" pitchFamily="2" charset="-122"/>
              </a:rPr>
              <a:t>在這裏補充一個真實案例示例：</a:t>
            </a:r>
            <a:endParaRPr lang="en-US" altLang="zh-CN" sz="2400" dirty="0">
              <a:solidFill>
                <a:srgbClr val="FF0000"/>
              </a:solidFill>
              <a:ea typeface="宋体" pitchFamily="2" charset="-122"/>
            </a:endParaRPr>
          </a:p>
          <a:p>
            <a:pPr>
              <a:lnSpc>
                <a:spcPct val="150000"/>
              </a:lnSpc>
            </a:pPr>
            <a:r>
              <a:rPr lang="zh-CN" altLang="en-US" sz="2400" dirty="0">
                <a:solidFill>
                  <a:srgbClr val="FF0000"/>
                </a:solidFill>
              </a:rPr>
              <a:t>**診斷試驗臨床應用參考區間建立</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altLang="zh-CN" sz="2400" dirty="0">
                <a:solidFill>
                  <a:srgbClr val="FF0000"/>
                </a:solidFill>
                <a:latin typeface="Times New Roman" panose="02020603050405020304" pitchFamily="18" charset="0"/>
                <a:cs typeface="Times New Roman" panose="02020603050405020304" pitchFamily="18" charset="0"/>
              </a:rPr>
              <a:t>Establish clinical practice reference interval for diagnostic test</a:t>
            </a:r>
          </a:p>
        </p:txBody>
      </p:sp>
    </p:spTree>
    <p:extLst>
      <p:ext uri="{BB962C8B-B14F-4D97-AF65-F5344CB8AC3E}">
        <p14:creationId xmlns:p14="http://schemas.microsoft.com/office/powerpoint/2010/main" val="912840113"/>
      </p:ext>
    </p:extLst>
  </p:cSld>
  <p:clrMapOvr>
    <a:masterClrMapping/>
  </p:clrMapOvr>
</p:sld>
</file>

<file path=ppt/theme/theme1.xml><?xml version="1.0" encoding="utf-8"?>
<a:theme xmlns:a="http://schemas.openxmlformats.org/drawingml/2006/main" name="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中文PPT模板2011 4.3</Template>
  <TotalTime>54539</TotalTime>
  <Words>24262</Words>
  <Application>Microsoft Office PowerPoint</Application>
  <PresentationFormat>自定义</PresentationFormat>
  <Paragraphs>641</Paragraphs>
  <Slides>31</Slides>
  <Notes>30</Notes>
  <HiddenSlides>0</HiddenSlides>
  <MMClips>0</MMClips>
  <ScaleCrop>false</ScaleCrop>
  <HeadingPairs>
    <vt:vector size="8" baseType="variant">
      <vt:variant>
        <vt:lpstr>已用的字体</vt:lpstr>
      </vt:variant>
      <vt:variant>
        <vt:i4>7</vt:i4>
      </vt:variant>
      <vt:variant>
        <vt:lpstr>主题</vt:lpstr>
      </vt:variant>
      <vt:variant>
        <vt:i4>4</vt:i4>
      </vt:variant>
      <vt:variant>
        <vt:lpstr>嵌入 OLE 服务器</vt:lpstr>
      </vt:variant>
      <vt:variant>
        <vt:i4>3</vt:i4>
      </vt:variant>
      <vt:variant>
        <vt:lpstr>幻灯片标题</vt:lpstr>
      </vt:variant>
      <vt:variant>
        <vt:i4>31</vt:i4>
      </vt:variant>
    </vt:vector>
  </HeadingPairs>
  <TitlesOfParts>
    <vt:vector size="45" baseType="lpstr">
      <vt:lpstr>Arial Unicode MS</vt:lpstr>
      <vt:lpstr>方正兰亭黑6_GBK</vt:lpstr>
      <vt:lpstr>楷体_GB2312</vt:lpstr>
      <vt:lpstr>宋体</vt:lpstr>
      <vt:lpstr>Arial</vt:lpstr>
      <vt:lpstr>Times New Roman</vt:lpstr>
      <vt:lpstr>Wingdings</vt:lpstr>
      <vt:lpstr>中文PPT模板2011 4.3</vt:lpstr>
      <vt:lpstr>自定义设计方案</vt:lpstr>
      <vt:lpstr>1_自定义设计方案</vt:lpstr>
      <vt:lpstr>2_自定义设计方案</vt:lpstr>
      <vt:lpstr>Equation</vt:lpstr>
      <vt:lpstr>公式</vt:lpstr>
      <vt:lpstr>Equation.3</vt:lpstr>
      <vt:lpstr>生物變異與參考區間 （biological variation、reference interval）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生物變異與參考區間（biological variation、reference interval）</dc:title>
  <dc:subject>醫學、診斷、實驗室診斷、應用、in vitro diagnostic、IVD、Application</dc:subject>
  <dc:creator>趙健</dc:creator>
  <cp:keywords>實驗室診斷、in vitro diagnostic、生物變異、biological variation、參考區間、reference interval</cp:keywords>
  <dc:description>+8618604537694；
283640621@qq.com；</dc:description>
  <cp:lastModifiedBy>Admin</cp:lastModifiedBy>
  <cp:revision>3546</cp:revision>
  <dcterms:created xsi:type="dcterms:W3CDTF">2011-12-19T07:14:23Z</dcterms:created>
  <dcterms:modified xsi:type="dcterms:W3CDTF">2026-01-28T05:48:43Z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LCID">
    <vt:i4>2052</vt:i4>
  </property>
</Properties>
</file>