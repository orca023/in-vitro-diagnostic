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3.xml" ContentType="application/vnd.openxmlformats-officedocument.theme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2" r:id="rId1"/>
    <p:sldMasterId id="2147483658" r:id="rId2"/>
    <p:sldMasterId id="2147483660" r:id="rId3"/>
    <p:sldMasterId id="2147483662" r:id="rId4"/>
  </p:sldMasterIdLst>
  <p:notesMasterIdLst>
    <p:notesMasterId r:id="rId23"/>
  </p:notesMasterIdLst>
  <p:sldIdLst>
    <p:sldId id="718" r:id="rId5"/>
    <p:sldId id="696" r:id="rId6"/>
    <p:sldId id="698" r:id="rId7"/>
    <p:sldId id="701" r:id="rId8"/>
    <p:sldId id="702" r:id="rId9"/>
    <p:sldId id="706" r:id="rId10"/>
    <p:sldId id="707" r:id="rId11"/>
    <p:sldId id="697" r:id="rId12"/>
    <p:sldId id="708" r:id="rId13"/>
    <p:sldId id="709" r:id="rId14"/>
    <p:sldId id="712" r:id="rId15"/>
    <p:sldId id="713" r:id="rId16"/>
    <p:sldId id="715" r:id="rId17"/>
    <p:sldId id="714" r:id="rId18"/>
    <p:sldId id="710" r:id="rId19"/>
    <p:sldId id="716" r:id="rId20"/>
    <p:sldId id="719" r:id="rId21"/>
    <p:sldId id="717" r:id="rId22"/>
  </p:sldIdLst>
  <p:sldSz cx="11522075" cy="6480175"/>
  <p:notesSz cx="6858000" cy="9144000"/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宋体" pitchFamily="2" charset="-122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宋体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宋体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宋体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宋体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41">
          <p15:clr>
            <a:srgbClr val="A4A3A4"/>
          </p15:clr>
        </p15:guide>
        <p15:guide id="2" pos="362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6600"/>
    <a:srgbClr val="4D4D4D"/>
    <a:srgbClr val="FF0915"/>
    <a:srgbClr val="990000"/>
    <a:srgbClr val="C7000B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29" autoAdjust="0"/>
    <p:restoredTop sz="81031" autoAdjust="0"/>
  </p:normalViewPr>
  <p:slideViewPr>
    <p:cSldViewPr snapToGrid="0">
      <p:cViewPr varScale="1">
        <p:scale>
          <a:sx n="85" d="100"/>
          <a:sy n="85" d="100"/>
        </p:scale>
        <p:origin x="787" y="53"/>
      </p:cViewPr>
      <p:guideLst>
        <p:guide orient="horz" pos="2041"/>
        <p:guide pos="3629"/>
      </p:guideLst>
    </p:cSldViewPr>
  </p:slideViewPr>
  <p:outlineViewPr>
    <p:cViewPr>
      <p:scale>
        <a:sx n="33" d="100"/>
        <a:sy n="33" d="100"/>
      </p:scale>
      <p:origin x="0" y="-18636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DE6C300-1478-40C9-8D75-3E83BF7DE854}" type="doc">
      <dgm:prSet loTypeId="urn:microsoft.com/office/officeart/2005/8/layout/hierarchy2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dgm:pt modelId="{205A13A9-C006-422E-90DE-9AF002552274}">
      <dgm:prSet phldrT="[文本]"/>
      <dgm:spPr>
        <a:noFill/>
        <a:ln w="6350">
          <a:solidFill>
            <a:schemeClr val="accent1"/>
          </a:solidFill>
        </a:ln>
      </dgm:spPr>
      <dgm:t>
        <a:bodyPr/>
        <a:lstStyle/>
        <a:p>
          <a:r>
            <a:rPr lang="zh-CN" altLang="en-US" dirty="0">
              <a:solidFill>
                <a:schemeClr val="tx1"/>
              </a:solidFill>
            </a:rPr>
            <a:t>篩查群體</a:t>
          </a:r>
        </a:p>
      </dgm:t>
    </dgm:pt>
    <dgm:pt modelId="{B5260A90-5831-4864-8BF0-467A955DCB61}" type="parTrans" cxnId="{240DB293-5923-43FD-9FC4-E2CA205CC423}">
      <dgm:prSet/>
      <dgm:spPr/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AB9DD7C5-1DF5-4466-8A36-37C1CFD01B2C}" type="sibTrans" cxnId="{240DB293-5923-43FD-9FC4-E2CA205CC423}">
      <dgm:prSet/>
      <dgm:spPr/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B5921CB0-BD38-4F19-BBC9-B827250D5052}">
      <dgm:prSet phldrT="[文本]"/>
      <dgm:spPr>
        <a:noFill/>
        <a:ln w="6350">
          <a:solidFill>
            <a:schemeClr val="accent1"/>
          </a:solidFill>
        </a:ln>
      </dgm:spPr>
      <dgm:t>
        <a:bodyPr/>
        <a:lstStyle/>
        <a:p>
          <a:r>
            <a:rPr lang="zh-CN" altLang="en-US" dirty="0">
              <a:solidFill>
                <a:schemeClr val="tx1"/>
              </a:solidFill>
            </a:rPr>
            <a:t>篩查陽性</a:t>
          </a:r>
        </a:p>
      </dgm:t>
    </dgm:pt>
    <dgm:pt modelId="{9E729B65-B3C8-48E6-81B8-F5B4754C8B73}" type="parTrans" cxnId="{27FA5280-A348-4D9E-A8AE-B3CC8221F9F7}">
      <dgm:prSet/>
      <dgm:spPr>
        <a:ln w="6350">
          <a:solidFill>
            <a:schemeClr val="accent1"/>
          </a:solidFill>
          <a:tailEnd type="stealth" w="sm" len="lg"/>
        </a:ln>
      </dgm:spPr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D6A88902-6400-4766-BE1A-A1409A038BE9}" type="sibTrans" cxnId="{27FA5280-A348-4D9E-A8AE-B3CC8221F9F7}">
      <dgm:prSet/>
      <dgm:spPr/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F1E59178-EEE0-4A24-A71E-F8C599741F83}">
      <dgm:prSet phldrT="[文本]"/>
      <dgm:spPr>
        <a:noFill/>
        <a:ln w="6350">
          <a:solidFill>
            <a:schemeClr val="accent1"/>
          </a:solidFill>
        </a:ln>
      </dgm:spPr>
      <dgm:t>
        <a:bodyPr/>
        <a:lstStyle/>
        <a:p>
          <a:r>
            <a:rPr lang="zh-CN" altLang="en-US" dirty="0">
              <a:solidFill>
                <a:schemeClr val="tx1"/>
              </a:solidFill>
            </a:rPr>
            <a:t>確診陰性</a:t>
          </a:r>
        </a:p>
      </dgm:t>
    </dgm:pt>
    <dgm:pt modelId="{E0F6A01E-63CA-40BC-8AA6-9FF3E9B7CF01}" type="parTrans" cxnId="{7535A42B-CD2C-4ACE-AE72-BC08D9CF1E27}">
      <dgm:prSet/>
      <dgm:spPr>
        <a:ln w="6350">
          <a:solidFill>
            <a:schemeClr val="accent1"/>
          </a:solidFill>
          <a:tailEnd type="stealth" w="sm" len="lg"/>
        </a:ln>
      </dgm:spPr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F7BC5007-029D-405B-8B30-10A8AB3C320D}" type="sibTrans" cxnId="{7535A42B-CD2C-4ACE-AE72-BC08D9CF1E27}">
      <dgm:prSet/>
      <dgm:spPr/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8881ECCA-DF49-49E9-84F5-CB0FFF618556}">
      <dgm:prSet phldrT="[文本]"/>
      <dgm:spPr>
        <a:noFill/>
        <a:ln w="6350">
          <a:solidFill>
            <a:schemeClr val="accent1"/>
          </a:solidFill>
        </a:ln>
      </dgm:spPr>
      <dgm:t>
        <a:bodyPr/>
        <a:lstStyle/>
        <a:p>
          <a:r>
            <a:rPr lang="zh-CN" altLang="en-US" dirty="0">
              <a:solidFill>
                <a:schemeClr val="tx1"/>
              </a:solidFill>
            </a:rPr>
            <a:t>確診陽性</a:t>
          </a:r>
        </a:p>
      </dgm:t>
    </dgm:pt>
    <dgm:pt modelId="{6BE30C09-9F00-4B0B-B06E-0365465074A7}" type="parTrans" cxnId="{2AB37AD4-CD72-45F9-B6D3-053E57FB8ACE}">
      <dgm:prSet/>
      <dgm:spPr>
        <a:ln w="6350">
          <a:solidFill>
            <a:schemeClr val="accent1"/>
          </a:solidFill>
          <a:tailEnd type="stealth" w="sm" len="lg"/>
        </a:ln>
      </dgm:spPr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34E3945C-2A6D-43E1-A0D1-45C1C68E13A8}" type="sibTrans" cxnId="{2AB37AD4-CD72-45F9-B6D3-053E57FB8ACE}">
      <dgm:prSet/>
      <dgm:spPr/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B02E8DA7-AB0D-4DE1-8367-F266E3079A20}">
      <dgm:prSet phldrT="[文本]"/>
      <dgm:spPr>
        <a:noFill/>
        <a:ln w="6350">
          <a:solidFill>
            <a:schemeClr val="accent1"/>
          </a:solidFill>
        </a:ln>
      </dgm:spPr>
      <dgm:t>
        <a:bodyPr/>
        <a:lstStyle/>
        <a:p>
          <a:r>
            <a:rPr lang="zh-CN" altLang="en-US" dirty="0">
              <a:solidFill>
                <a:schemeClr val="tx1"/>
              </a:solidFill>
            </a:rPr>
            <a:t>篩查陰性</a:t>
          </a:r>
        </a:p>
      </dgm:t>
    </dgm:pt>
    <dgm:pt modelId="{5BA52C8A-3D61-44E7-BAFE-57BAC35250DE}" type="parTrans" cxnId="{C5CFA952-A033-4E99-90DF-8821B5336840}">
      <dgm:prSet/>
      <dgm:spPr>
        <a:ln w="6350">
          <a:solidFill>
            <a:schemeClr val="accent1"/>
          </a:solidFill>
          <a:tailEnd type="stealth" w="sm" len="lg"/>
        </a:ln>
      </dgm:spPr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F0F5E4DC-91F2-40AF-8123-F2A1C5F93AD1}" type="sibTrans" cxnId="{C5CFA952-A033-4E99-90DF-8821B5336840}">
      <dgm:prSet/>
      <dgm:spPr/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6D789F26-37C6-4597-AA2F-2410D8F0AA12}">
      <dgm:prSet phldrT="[文本]"/>
      <dgm:spPr>
        <a:noFill/>
        <a:ln w="6350">
          <a:solidFill>
            <a:schemeClr val="accent1"/>
          </a:solidFill>
        </a:ln>
      </dgm:spPr>
      <dgm:t>
        <a:bodyPr/>
        <a:lstStyle/>
        <a:p>
          <a:r>
            <a:rPr lang="zh-CN" altLang="en-US" dirty="0">
              <a:solidFill>
                <a:schemeClr val="tx1"/>
              </a:solidFill>
            </a:rPr>
            <a:t>自然健康狀態進入下一迴圈</a:t>
          </a:r>
        </a:p>
      </dgm:t>
    </dgm:pt>
    <dgm:pt modelId="{90A72701-84AA-436F-A83E-FF681306E15F}" type="parTrans" cxnId="{009593E3-2777-4B09-AE4D-81B539CEFCFF}">
      <dgm:prSet/>
      <dgm:spPr>
        <a:ln w="6350">
          <a:solidFill>
            <a:schemeClr val="accent1"/>
          </a:solidFill>
          <a:tailEnd type="stealth" w="sm" len="lg"/>
        </a:ln>
      </dgm:spPr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8E138D5C-CCC6-49DE-93F0-E4EA7E8A6BC6}" type="sibTrans" cxnId="{009593E3-2777-4B09-AE4D-81B539CEFCFF}">
      <dgm:prSet/>
      <dgm:spPr/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86EF73EF-5381-493C-85AE-C558BA61C7EE}">
      <dgm:prSet phldrT="[文本]"/>
      <dgm:spPr>
        <a:noFill/>
        <a:ln w="6350">
          <a:solidFill>
            <a:schemeClr val="accent1"/>
          </a:solidFill>
        </a:ln>
      </dgm:spPr>
      <dgm:t>
        <a:bodyPr/>
        <a:lstStyle/>
        <a:p>
          <a:r>
            <a:rPr lang="zh-CN" altLang="en-US" dirty="0">
              <a:solidFill>
                <a:schemeClr val="tx1"/>
              </a:solidFill>
            </a:rPr>
            <a:t>治療</a:t>
          </a:r>
        </a:p>
      </dgm:t>
    </dgm:pt>
    <dgm:pt modelId="{919CB240-81B0-46E4-879D-BC83843004B9}" type="parTrans" cxnId="{4C6BBDCE-BF51-43DA-A1A7-0859513C4A94}">
      <dgm:prSet/>
      <dgm:spPr>
        <a:ln w="6350">
          <a:solidFill>
            <a:schemeClr val="accent1"/>
          </a:solidFill>
          <a:tailEnd type="stealth" w="sm" len="lg"/>
        </a:ln>
      </dgm:spPr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3BD8A4ED-A849-4B58-AECF-B7A3759FAD01}" type="sibTrans" cxnId="{4C6BBDCE-BF51-43DA-A1A7-0859513C4A94}">
      <dgm:prSet/>
      <dgm:spPr/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1425C0A1-6859-4567-B48C-6BF8E441B890}">
      <dgm:prSet phldrT="[文本]"/>
      <dgm:spPr>
        <a:noFill/>
        <a:ln w="6350">
          <a:solidFill>
            <a:schemeClr val="accent1"/>
          </a:solidFill>
        </a:ln>
      </dgm:spPr>
      <dgm:t>
        <a:bodyPr/>
        <a:lstStyle/>
        <a:p>
          <a:r>
            <a:rPr lang="zh-CN" altLang="en-US" dirty="0">
              <a:solidFill>
                <a:schemeClr val="tx1"/>
              </a:solidFill>
            </a:rPr>
            <a:t>自然健康狀態進入下一迴圈</a:t>
          </a:r>
        </a:p>
      </dgm:t>
    </dgm:pt>
    <dgm:pt modelId="{18809324-0CE4-4C2F-98AB-167E69880978}" type="parTrans" cxnId="{8BA0B2E1-DF3A-4AAD-932F-49067370C029}">
      <dgm:prSet/>
      <dgm:spPr>
        <a:ln w="6350">
          <a:solidFill>
            <a:schemeClr val="accent1"/>
          </a:solidFill>
          <a:tailEnd type="stealth" w="sm" len="lg"/>
        </a:ln>
      </dgm:spPr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05C4CE56-F692-42BD-8F7A-809F40977A4E}" type="sibTrans" cxnId="{8BA0B2E1-DF3A-4AAD-932F-49067370C029}">
      <dgm:prSet/>
      <dgm:spPr/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AA6CA1DC-700F-4801-B883-46281D292F8D}">
      <dgm:prSet phldrT="[文本]"/>
      <dgm:spPr>
        <a:noFill/>
        <a:ln w="6350">
          <a:solidFill>
            <a:schemeClr val="accent1"/>
          </a:solidFill>
        </a:ln>
      </dgm:spPr>
      <dgm:t>
        <a:bodyPr/>
        <a:lstStyle/>
        <a:p>
          <a:r>
            <a:rPr lang="zh-CN" altLang="en-US" dirty="0">
              <a:solidFill>
                <a:schemeClr val="tx1"/>
              </a:solidFill>
            </a:rPr>
            <a:t>治療疾病狀態進入下一迴圈</a:t>
          </a:r>
        </a:p>
      </dgm:t>
    </dgm:pt>
    <dgm:pt modelId="{3772BCC6-963B-487B-ADBB-D3F5364F74FD}" type="parTrans" cxnId="{80E8BB3E-1F10-47C8-8E4E-97D822BA8DC8}">
      <dgm:prSet/>
      <dgm:spPr>
        <a:ln w="6350">
          <a:solidFill>
            <a:schemeClr val="accent1"/>
          </a:solidFill>
          <a:tailEnd type="stealth" w="sm" len="lg"/>
        </a:ln>
      </dgm:spPr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E987B920-843B-46B0-9363-0AC22BFC6952}" type="sibTrans" cxnId="{80E8BB3E-1F10-47C8-8E4E-97D822BA8DC8}">
      <dgm:prSet/>
      <dgm:spPr/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881C766B-1566-4C5E-8742-F94CA5FE4091}">
      <dgm:prSet phldrT="[文本]"/>
      <dgm:spPr>
        <a:noFill/>
        <a:ln w="6350">
          <a:solidFill>
            <a:schemeClr val="accent1"/>
          </a:solidFill>
        </a:ln>
      </dgm:spPr>
      <dgm:t>
        <a:bodyPr/>
        <a:lstStyle/>
        <a:p>
          <a:r>
            <a:rPr lang="zh-CN" altLang="en-US" dirty="0">
              <a:solidFill>
                <a:schemeClr val="tx1"/>
              </a:solidFill>
            </a:rPr>
            <a:t>治療健康狀態進入下一迴圈</a:t>
          </a:r>
        </a:p>
      </dgm:t>
    </dgm:pt>
    <dgm:pt modelId="{47E2C84C-B2AA-4662-A867-B603FAA57849}" type="parTrans" cxnId="{6E29310D-A875-457A-AF24-A70F6E291166}">
      <dgm:prSet/>
      <dgm:spPr>
        <a:ln w="6350">
          <a:solidFill>
            <a:schemeClr val="accent1"/>
          </a:solidFill>
          <a:tailEnd type="stealth" w="sm" len="lg"/>
        </a:ln>
      </dgm:spPr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240D9E01-57B0-4282-A8DE-7372BE449C64}" type="sibTrans" cxnId="{6E29310D-A875-457A-AF24-A70F6E291166}">
      <dgm:prSet/>
      <dgm:spPr/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74E5A058-B7C0-4ACA-AB8C-E62DB01A1984}">
      <dgm:prSet phldrT="[文本]"/>
      <dgm:spPr>
        <a:noFill/>
        <a:ln w="6350">
          <a:solidFill>
            <a:schemeClr val="accent1"/>
          </a:solidFill>
        </a:ln>
      </dgm:spPr>
      <dgm:t>
        <a:bodyPr/>
        <a:lstStyle/>
        <a:p>
          <a:r>
            <a:rPr lang="zh-CN" altLang="en-US" dirty="0">
              <a:solidFill>
                <a:schemeClr val="tx1"/>
              </a:solidFill>
            </a:rPr>
            <a:t>治療死亡狀態進入下一迴圈</a:t>
          </a:r>
        </a:p>
      </dgm:t>
    </dgm:pt>
    <dgm:pt modelId="{E87B86DF-2E1A-4A16-A1A2-D3169149DFA3}" type="parTrans" cxnId="{359D05B1-78CB-4347-85BF-C50DDD6D93C4}">
      <dgm:prSet/>
      <dgm:spPr>
        <a:ln w="6350">
          <a:solidFill>
            <a:schemeClr val="accent1"/>
          </a:solidFill>
          <a:tailEnd type="stealth" w="sm" len="lg"/>
        </a:ln>
      </dgm:spPr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577BE791-3ACA-4288-A1DC-BE146A2809B6}" type="sibTrans" cxnId="{359D05B1-78CB-4347-85BF-C50DDD6D93C4}">
      <dgm:prSet/>
      <dgm:spPr/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7F80C4F8-28DD-4187-B429-E05FF169743C}">
      <dgm:prSet phldrT="[文本]"/>
      <dgm:spPr>
        <a:noFill/>
        <a:ln w="6350">
          <a:solidFill>
            <a:schemeClr val="accent1"/>
          </a:solidFill>
        </a:ln>
      </dgm:spPr>
      <dgm:t>
        <a:bodyPr/>
        <a:lstStyle/>
        <a:p>
          <a:r>
            <a:rPr lang="zh-CN" altLang="en-US" dirty="0">
              <a:solidFill>
                <a:schemeClr val="tx1"/>
              </a:solidFill>
            </a:rPr>
            <a:t>自然疾病狀態進入下一迴圈</a:t>
          </a:r>
        </a:p>
      </dgm:t>
    </dgm:pt>
    <dgm:pt modelId="{3822DA38-5119-415A-BBDF-56E8A827A68E}" type="parTrans" cxnId="{2B1AA801-717C-4EC6-B049-0FD38CCC7029}">
      <dgm:prSet/>
      <dgm:spPr>
        <a:ln w="6350">
          <a:solidFill>
            <a:schemeClr val="accent1"/>
          </a:solidFill>
          <a:tailEnd type="stealth" w="sm" len="lg"/>
        </a:ln>
      </dgm:spPr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E88B06F0-03C7-46AD-8EF6-EF25063F268F}" type="sibTrans" cxnId="{2B1AA801-717C-4EC6-B049-0FD38CCC7029}">
      <dgm:prSet/>
      <dgm:spPr/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B0E84669-F2DA-47C2-886F-67B7771A21B3}">
      <dgm:prSet phldrT="[文本]"/>
      <dgm:spPr>
        <a:noFill/>
        <a:ln w="6350">
          <a:solidFill>
            <a:schemeClr val="accent1"/>
          </a:solidFill>
        </a:ln>
      </dgm:spPr>
      <dgm:t>
        <a:bodyPr/>
        <a:lstStyle/>
        <a:p>
          <a:r>
            <a:rPr lang="zh-CN" altLang="en-US" dirty="0">
              <a:solidFill>
                <a:schemeClr val="tx1"/>
              </a:solidFill>
            </a:rPr>
            <a:t>自然死亡狀態進入下一迴圈</a:t>
          </a:r>
        </a:p>
      </dgm:t>
    </dgm:pt>
    <dgm:pt modelId="{989989AA-5D63-40F4-B1F4-60C14B5AB25F}" type="parTrans" cxnId="{57A513BB-60E0-4334-8907-4CC18FB6348E}">
      <dgm:prSet/>
      <dgm:spPr>
        <a:ln w="6350">
          <a:solidFill>
            <a:schemeClr val="accent1"/>
          </a:solidFill>
          <a:tailEnd type="stealth" w="sm" len="lg"/>
        </a:ln>
      </dgm:spPr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AA8341B5-5108-4A36-BCD1-17DBBD095253}" type="sibTrans" cxnId="{57A513BB-60E0-4334-8907-4CC18FB6348E}">
      <dgm:prSet/>
      <dgm:spPr/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EA7A8D3D-FDAE-43AD-9629-794FDCA7600C}">
      <dgm:prSet phldrT="[文本]"/>
      <dgm:spPr>
        <a:noFill/>
        <a:ln w="6350">
          <a:solidFill>
            <a:schemeClr val="accent1"/>
          </a:solidFill>
        </a:ln>
      </dgm:spPr>
      <dgm:t>
        <a:bodyPr/>
        <a:lstStyle/>
        <a:p>
          <a:r>
            <a:rPr lang="zh-CN" altLang="en-US" dirty="0">
              <a:solidFill>
                <a:schemeClr val="tx1"/>
              </a:solidFill>
            </a:rPr>
            <a:t>自然死亡狀態進入下一迴圈</a:t>
          </a:r>
        </a:p>
      </dgm:t>
    </dgm:pt>
    <dgm:pt modelId="{8C6B1152-7A4E-4E31-A115-D5D2BC9FEF84}" type="parTrans" cxnId="{D2B5E38B-3CA0-46B4-95E1-882256515761}">
      <dgm:prSet/>
      <dgm:spPr>
        <a:ln w="6350">
          <a:solidFill>
            <a:schemeClr val="accent1"/>
          </a:solidFill>
          <a:tailEnd type="stealth" w="sm" len="lg"/>
        </a:ln>
      </dgm:spPr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81D299EF-69E6-495A-A7B2-7C958FC3274F}" type="sibTrans" cxnId="{D2B5E38B-3CA0-46B4-95E1-882256515761}">
      <dgm:prSet/>
      <dgm:spPr/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6E8699FD-A9DA-437D-8A89-414B2BA4391B}">
      <dgm:prSet phldrT="[文本]"/>
      <dgm:spPr>
        <a:noFill/>
        <a:ln w="6350">
          <a:solidFill>
            <a:schemeClr val="accent1"/>
          </a:solidFill>
        </a:ln>
      </dgm:spPr>
      <dgm:t>
        <a:bodyPr/>
        <a:lstStyle/>
        <a:p>
          <a:r>
            <a:rPr lang="zh-CN" altLang="en-US" dirty="0">
              <a:solidFill>
                <a:schemeClr val="tx1"/>
              </a:solidFill>
            </a:rPr>
            <a:t>自然疾病狀態進入下一迴圈</a:t>
          </a:r>
        </a:p>
      </dgm:t>
    </dgm:pt>
    <dgm:pt modelId="{227E3125-C3EC-463E-9AED-E5DBF65DD153}" type="parTrans" cxnId="{C580C9F7-1177-4D70-875F-CB054893790B}">
      <dgm:prSet/>
      <dgm:spPr>
        <a:ln w="6350">
          <a:solidFill>
            <a:schemeClr val="accent1"/>
          </a:solidFill>
          <a:tailEnd type="stealth" w="sm" len="lg"/>
        </a:ln>
      </dgm:spPr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367485BC-6449-4188-86C6-7C801C87A4A9}" type="sibTrans" cxnId="{C580C9F7-1177-4D70-875F-CB054893790B}">
      <dgm:prSet/>
      <dgm:spPr/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571BA779-0870-491C-B6A8-B6B19F1A1018}" type="pres">
      <dgm:prSet presAssocID="{7DE6C300-1478-40C9-8D75-3E83BF7DE854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8702B8EF-0151-4EFB-9042-0E6CC46B1196}" type="pres">
      <dgm:prSet presAssocID="{205A13A9-C006-422E-90DE-9AF002552274}" presName="root1" presStyleCnt="0"/>
      <dgm:spPr/>
    </dgm:pt>
    <dgm:pt modelId="{54E4C604-2F5E-496C-B1CF-15604B62E0FB}" type="pres">
      <dgm:prSet presAssocID="{205A13A9-C006-422E-90DE-9AF002552274}" presName="LevelOneTextNode" presStyleLbl="node0" presStyleIdx="0" presStyleCnt="1">
        <dgm:presLayoutVars>
          <dgm:chPref val="3"/>
        </dgm:presLayoutVars>
      </dgm:prSet>
      <dgm:spPr/>
    </dgm:pt>
    <dgm:pt modelId="{26457793-A442-4C52-8FA3-BB17209EB9BF}" type="pres">
      <dgm:prSet presAssocID="{205A13A9-C006-422E-90DE-9AF002552274}" presName="level2hierChild" presStyleCnt="0"/>
      <dgm:spPr/>
    </dgm:pt>
    <dgm:pt modelId="{F23FB2FB-8FCC-4831-A4D4-8FEC4C4B3579}" type="pres">
      <dgm:prSet presAssocID="{9E729B65-B3C8-48E6-81B8-F5B4754C8B73}" presName="conn2-1" presStyleLbl="parChTrans1D2" presStyleIdx="0" presStyleCnt="2"/>
      <dgm:spPr/>
    </dgm:pt>
    <dgm:pt modelId="{7B8E9953-2CE1-4747-9BD1-BBF071201F4E}" type="pres">
      <dgm:prSet presAssocID="{9E729B65-B3C8-48E6-81B8-F5B4754C8B73}" presName="connTx" presStyleLbl="parChTrans1D2" presStyleIdx="0" presStyleCnt="2"/>
      <dgm:spPr/>
    </dgm:pt>
    <dgm:pt modelId="{C361D24A-2B39-4CB4-A8E1-8CC9511CAD7A}" type="pres">
      <dgm:prSet presAssocID="{B5921CB0-BD38-4F19-BBC9-B827250D5052}" presName="root2" presStyleCnt="0"/>
      <dgm:spPr/>
    </dgm:pt>
    <dgm:pt modelId="{B8AE7F97-7893-446B-B5F7-8AEF5682E9E5}" type="pres">
      <dgm:prSet presAssocID="{B5921CB0-BD38-4F19-BBC9-B827250D5052}" presName="LevelTwoTextNode" presStyleLbl="node2" presStyleIdx="0" presStyleCnt="2">
        <dgm:presLayoutVars>
          <dgm:chPref val="3"/>
        </dgm:presLayoutVars>
      </dgm:prSet>
      <dgm:spPr/>
    </dgm:pt>
    <dgm:pt modelId="{3E0A8220-3261-4E07-ACBB-F31ADAA1CD7B}" type="pres">
      <dgm:prSet presAssocID="{B5921CB0-BD38-4F19-BBC9-B827250D5052}" presName="level3hierChild" presStyleCnt="0"/>
      <dgm:spPr/>
    </dgm:pt>
    <dgm:pt modelId="{83B9175F-A35A-4AB3-9ED2-BD47BEB4207B}" type="pres">
      <dgm:prSet presAssocID="{E0F6A01E-63CA-40BC-8AA6-9FF3E9B7CF01}" presName="conn2-1" presStyleLbl="parChTrans1D3" presStyleIdx="0" presStyleCnt="5"/>
      <dgm:spPr/>
    </dgm:pt>
    <dgm:pt modelId="{FB027D4E-A635-40A6-B414-9C5349259BCA}" type="pres">
      <dgm:prSet presAssocID="{E0F6A01E-63CA-40BC-8AA6-9FF3E9B7CF01}" presName="connTx" presStyleLbl="parChTrans1D3" presStyleIdx="0" presStyleCnt="5"/>
      <dgm:spPr/>
    </dgm:pt>
    <dgm:pt modelId="{146EBE13-D210-4300-951F-69FB6BC96F66}" type="pres">
      <dgm:prSet presAssocID="{F1E59178-EEE0-4A24-A71E-F8C599741F83}" presName="root2" presStyleCnt="0"/>
      <dgm:spPr/>
    </dgm:pt>
    <dgm:pt modelId="{E4106CEE-A739-45CF-915C-21D50F9A97A1}" type="pres">
      <dgm:prSet presAssocID="{F1E59178-EEE0-4A24-A71E-F8C599741F83}" presName="LevelTwoTextNode" presStyleLbl="node3" presStyleIdx="0" presStyleCnt="5">
        <dgm:presLayoutVars>
          <dgm:chPref val="3"/>
        </dgm:presLayoutVars>
      </dgm:prSet>
      <dgm:spPr/>
    </dgm:pt>
    <dgm:pt modelId="{71D3B126-14C5-4892-BCDB-2727A1006AA4}" type="pres">
      <dgm:prSet presAssocID="{F1E59178-EEE0-4A24-A71E-F8C599741F83}" presName="level3hierChild" presStyleCnt="0"/>
      <dgm:spPr/>
    </dgm:pt>
    <dgm:pt modelId="{C1D08CD3-538A-4912-95CD-B66A28AD2137}" type="pres">
      <dgm:prSet presAssocID="{18809324-0CE4-4C2F-98AB-167E69880978}" presName="conn2-1" presStyleLbl="parChTrans1D4" presStyleIdx="0" presStyleCnt="7"/>
      <dgm:spPr/>
    </dgm:pt>
    <dgm:pt modelId="{62BF05E8-0F88-4878-BFDD-751F45C255F1}" type="pres">
      <dgm:prSet presAssocID="{18809324-0CE4-4C2F-98AB-167E69880978}" presName="connTx" presStyleLbl="parChTrans1D4" presStyleIdx="0" presStyleCnt="7"/>
      <dgm:spPr/>
    </dgm:pt>
    <dgm:pt modelId="{B0EDA2FA-5807-40D6-9364-FBCD2F1082BE}" type="pres">
      <dgm:prSet presAssocID="{1425C0A1-6859-4567-B48C-6BF8E441B890}" presName="root2" presStyleCnt="0"/>
      <dgm:spPr/>
    </dgm:pt>
    <dgm:pt modelId="{A1E95179-6B1C-4515-8323-99D2F6B7EFD6}" type="pres">
      <dgm:prSet presAssocID="{1425C0A1-6859-4567-B48C-6BF8E441B890}" presName="LevelTwoTextNode" presStyleLbl="node4" presStyleIdx="0" presStyleCnt="7">
        <dgm:presLayoutVars>
          <dgm:chPref val="3"/>
        </dgm:presLayoutVars>
      </dgm:prSet>
      <dgm:spPr/>
    </dgm:pt>
    <dgm:pt modelId="{D2D00990-51A0-4A1C-ADC5-D40A833896A4}" type="pres">
      <dgm:prSet presAssocID="{1425C0A1-6859-4567-B48C-6BF8E441B890}" presName="level3hierChild" presStyleCnt="0"/>
      <dgm:spPr/>
    </dgm:pt>
    <dgm:pt modelId="{76C1920D-61D7-48CA-A014-A7BBB7B808E6}" type="pres">
      <dgm:prSet presAssocID="{8C6B1152-7A4E-4E31-A115-D5D2BC9FEF84}" presName="conn2-1" presStyleLbl="parChTrans1D4" presStyleIdx="1" presStyleCnt="7"/>
      <dgm:spPr/>
    </dgm:pt>
    <dgm:pt modelId="{E955E10D-B044-46A4-A7E3-F0FA6C76A9FB}" type="pres">
      <dgm:prSet presAssocID="{8C6B1152-7A4E-4E31-A115-D5D2BC9FEF84}" presName="connTx" presStyleLbl="parChTrans1D4" presStyleIdx="1" presStyleCnt="7"/>
      <dgm:spPr/>
    </dgm:pt>
    <dgm:pt modelId="{A0BD7967-16CC-4C1F-BC69-C615D2A60CFF}" type="pres">
      <dgm:prSet presAssocID="{EA7A8D3D-FDAE-43AD-9629-794FDCA7600C}" presName="root2" presStyleCnt="0"/>
      <dgm:spPr/>
    </dgm:pt>
    <dgm:pt modelId="{FCE91FD1-58F8-46B7-94A4-E1A5CD2F0FA5}" type="pres">
      <dgm:prSet presAssocID="{EA7A8D3D-FDAE-43AD-9629-794FDCA7600C}" presName="LevelTwoTextNode" presStyleLbl="node4" presStyleIdx="1" presStyleCnt="7">
        <dgm:presLayoutVars>
          <dgm:chPref val="3"/>
        </dgm:presLayoutVars>
      </dgm:prSet>
      <dgm:spPr/>
    </dgm:pt>
    <dgm:pt modelId="{16323054-1118-4047-9B0D-F4E95CAB9AD0}" type="pres">
      <dgm:prSet presAssocID="{EA7A8D3D-FDAE-43AD-9629-794FDCA7600C}" presName="level3hierChild" presStyleCnt="0"/>
      <dgm:spPr/>
    </dgm:pt>
    <dgm:pt modelId="{E955E5A6-95E3-4B82-AC5F-88C0B8B85C2D}" type="pres">
      <dgm:prSet presAssocID="{227E3125-C3EC-463E-9AED-E5DBF65DD153}" presName="conn2-1" presStyleLbl="parChTrans1D4" presStyleIdx="2" presStyleCnt="7"/>
      <dgm:spPr/>
    </dgm:pt>
    <dgm:pt modelId="{56EA67DD-0197-49B6-8619-41E4B550B8BE}" type="pres">
      <dgm:prSet presAssocID="{227E3125-C3EC-463E-9AED-E5DBF65DD153}" presName="connTx" presStyleLbl="parChTrans1D4" presStyleIdx="2" presStyleCnt="7"/>
      <dgm:spPr/>
    </dgm:pt>
    <dgm:pt modelId="{D8F1D3B1-B84F-4255-84DA-A17579FF5CAD}" type="pres">
      <dgm:prSet presAssocID="{6E8699FD-A9DA-437D-8A89-414B2BA4391B}" presName="root2" presStyleCnt="0"/>
      <dgm:spPr/>
    </dgm:pt>
    <dgm:pt modelId="{69DF40FA-ABC2-421C-821F-F3D34556CB16}" type="pres">
      <dgm:prSet presAssocID="{6E8699FD-A9DA-437D-8A89-414B2BA4391B}" presName="LevelTwoTextNode" presStyleLbl="node4" presStyleIdx="2" presStyleCnt="7">
        <dgm:presLayoutVars>
          <dgm:chPref val="3"/>
        </dgm:presLayoutVars>
      </dgm:prSet>
      <dgm:spPr/>
    </dgm:pt>
    <dgm:pt modelId="{17E15695-FAA1-42ED-8B1A-117D459033DD}" type="pres">
      <dgm:prSet presAssocID="{6E8699FD-A9DA-437D-8A89-414B2BA4391B}" presName="level3hierChild" presStyleCnt="0"/>
      <dgm:spPr/>
    </dgm:pt>
    <dgm:pt modelId="{78C2AD6B-D47E-4D9D-B95B-791FC1CE281D}" type="pres">
      <dgm:prSet presAssocID="{6BE30C09-9F00-4B0B-B06E-0365465074A7}" presName="conn2-1" presStyleLbl="parChTrans1D3" presStyleIdx="1" presStyleCnt="5"/>
      <dgm:spPr/>
    </dgm:pt>
    <dgm:pt modelId="{178B5012-5710-42E0-9DA0-B8DD2EF68672}" type="pres">
      <dgm:prSet presAssocID="{6BE30C09-9F00-4B0B-B06E-0365465074A7}" presName="connTx" presStyleLbl="parChTrans1D3" presStyleIdx="1" presStyleCnt="5"/>
      <dgm:spPr/>
    </dgm:pt>
    <dgm:pt modelId="{8C427CBE-B1C9-4CE7-9D36-8FB675411109}" type="pres">
      <dgm:prSet presAssocID="{8881ECCA-DF49-49E9-84F5-CB0FFF618556}" presName="root2" presStyleCnt="0"/>
      <dgm:spPr/>
    </dgm:pt>
    <dgm:pt modelId="{FD9955EF-5E78-44DE-9F36-FBCB67B0F760}" type="pres">
      <dgm:prSet presAssocID="{8881ECCA-DF49-49E9-84F5-CB0FFF618556}" presName="LevelTwoTextNode" presStyleLbl="node3" presStyleIdx="1" presStyleCnt="5">
        <dgm:presLayoutVars>
          <dgm:chPref val="3"/>
        </dgm:presLayoutVars>
      </dgm:prSet>
      <dgm:spPr/>
    </dgm:pt>
    <dgm:pt modelId="{29DAB5B3-EDDA-47A9-B07F-AC6C6268A6B6}" type="pres">
      <dgm:prSet presAssocID="{8881ECCA-DF49-49E9-84F5-CB0FFF618556}" presName="level3hierChild" presStyleCnt="0"/>
      <dgm:spPr/>
    </dgm:pt>
    <dgm:pt modelId="{31DE5C39-2E93-43F1-B6A7-95904F735306}" type="pres">
      <dgm:prSet presAssocID="{919CB240-81B0-46E4-879D-BC83843004B9}" presName="conn2-1" presStyleLbl="parChTrans1D4" presStyleIdx="3" presStyleCnt="7"/>
      <dgm:spPr/>
    </dgm:pt>
    <dgm:pt modelId="{F03D9138-5734-44C4-AAF2-BEBD6EF9CE15}" type="pres">
      <dgm:prSet presAssocID="{919CB240-81B0-46E4-879D-BC83843004B9}" presName="connTx" presStyleLbl="parChTrans1D4" presStyleIdx="3" presStyleCnt="7"/>
      <dgm:spPr/>
    </dgm:pt>
    <dgm:pt modelId="{F3567E3B-F232-41BA-A878-6972F95D013B}" type="pres">
      <dgm:prSet presAssocID="{86EF73EF-5381-493C-85AE-C558BA61C7EE}" presName="root2" presStyleCnt="0"/>
      <dgm:spPr/>
    </dgm:pt>
    <dgm:pt modelId="{8570AEA3-AA5A-4A2C-BB96-33FD3000A75E}" type="pres">
      <dgm:prSet presAssocID="{86EF73EF-5381-493C-85AE-C558BA61C7EE}" presName="LevelTwoTextNode" presStyleLbl="node4" presStyleIdx="3" presStyleCnt="7">
        <dgm:presLayoutVars>
          <dgm:chPref val="3"/>
        </dgm:presLayoutVars>
      </dgm:prSet>
      <dgm:spPr/>
    </dgm:pt>
    <dgm:pt modelId="{4A97217E-A7FE-4192-94C9-D2483C322C64}" type="pres">
      <dgm:prSet presAssocID="{86EF73EF-5381-493C-85AE-C558BA61C7EE}" presName="level3hierChild" presStyleCnt="0"/>
      <dgm:spPr/>
    </dgm:pt>
    <dgm:pt modelId="{D5A6AC10-0626-44B2-844F-F769ED9AFA9F}" type="pres">
      <dgm:prSet presAssocID="{47E2C84C-B2AA-4662-A867-B603FAA57849}" presName="conn2-1" presStyleLbl="parChTrans1D4" presStyleIdx="4" presStyleCnt="7"/>
      <dgm:spPr/>
    </dgm:pt>
    <dgm:pt modelId="{539F00F3-FC98-4CB7-A26C-F231C3BFEE23}" type="pres">
      <dgm:prSet presAssocID="{47E2C84C-B2AA-4662-A867-B603FAA57849}" presName="connTx" presStyleLbl="parChTrans1D4" presStyleIdx="4" presStyleCnt="7"/>
      <dgm:spPr/>
    </dgm:pt>
    <dgm:pt modelId="{5ED778E8-6B59-453F-A6A2-B66F504190C5}" type="pres">
      <dgm:prSet presAssocID="{881C766B-1566-4C5E-8742-F94CA5FE4091}" presName="root2" presStyleCnt="0"/>
      <dgm:spPr/>
    </dgm:pt>
    <dgm:pt modelId="{B417C4C0-B8E5-4F3C-A1E3-4DF14B7A2BC3}" type="pres">
      <dgm:prSet presAssocID="{881C766B-1566-4C5E-8742-F94CA5FE4091}" presName="LevelTwoTextNode" presStyleLbl="node4" presStyleIdx="4" presStyleCnt="7">
        <dgm:presLayoutVars>
          <dgm:chPref val="3"/>
        </dgm:presLayoutVars>
      </dgm:prSet>
      <dgm:spPr/>
    </dgm:pt>
    <dgm:pt modelId="{B16CBC73-640D-4ABE-8D10-24E46CED4D7D}" type="pres">
      <dgm:prSet presAssocID="{881C766B-1566-4C5E-8742-F94CA5FE4091}" presName="level3hierChild" presStyleCnt="0"/>
      <dgm:spPr/>
    </dgm:pt>
    <dgm:pt modelId="{B65AD401-B16B-46C0-953C-2621D363D562}" type="pres">
      <dgm:prSet presAssocID="{E87B86DF-2E1A-4A16-A1A2-D3169149DFA3}" presName="conn2-1" presStyleLbl="parChTrans1D4" presStyleIdx="5" presStyleCnt="7"/>
      <dgm:spPr/>
    </dgm:pt>
    <dgm:pt modelId="{E4F9F080-5452-4F99-B162-39B63CA68609}" type="pres">
      <dgm:prSet presAssocID="{E87B86DF-2E1A-4A16-A1A2-D3169149DFA3}" presName="connTx" presStyleLbl="parChTrans1D4" presStyleIdx="5" presStyleCnt="7"/>
      <dgm:spPr/>
    </dgm:pt>
    <dgm:pt modelId="{226AF0A3-A458-4487-9088-44AD4F0C2FB8}" type="pres">
      <dgm:prSet presAssocID="{74E5A058-B7C0-4ACA-AB8C-E62DB01A1984}" presName="root2" presStyleCnt="0"/>
      <dgm:spPr/>
    </dgm:pt>
    <dgm:pt modelId="{979F7D3E-7507-43B0-94BF-7DD36E694B0D}" type="pres">
      <dgm:prSet presAssocID="{74E5A058-B7C0-4ACA-AB8C-E62DB01A1984}" presName="LevelTwoTextNode" presStyleLbl="node4" presStyleIdx="5" presStyleCnt="7">
        <dgm:presLayoutVars>
          <dgm:chPref val="3"/>
        </dgm:presLayoutVars>
      </dgm:prSet>
      <dgm:spPr/>
    </dgm:pt>
    <dgm:pt modelId="{BF41BE1D-01E7-4AF0-B081-C142D262D204}" type="pres">
      <dgm:prSet presAssocID="{74E5A058-B7C0-4ACA-AB8C-E62DB01A1984}" presName="level3hierChild" presStyleCnt="0"/>
      <dgm:spPr/>
    </dgm:pt>
    <dgm:pt modelId="{3E17EDD2-E9D2-4118-B665-1AD573353CE3}" type="pres">
      <dgm:prSet presAssocID="{3772BCC6-963B-487B-ADBB-D3F5364F74FD}" presName="conn2-1" presStyleLbl="parChTrans1D4" presStyleIdx="6" presStyleCnt="7"/>
      <dgm:spPr/>
    </dgm:pt>
    <dgm:pt modelId="{D6542E0B-1D56-4CEC-B6E8-4C43DF7D7F57}" type="pres">
      <dgm:prSet presAssocID="{3772BCC6-963B-487B-ADBB-D3F5364F74FD}" presName="connTx" presStyleLbl="parChTrans1D4" presStyleIdx="6" presStyleCnt="7"/>
      <dgm:spPr/>
    </dgm:pt>
    <dgm:pt modelId="{FB25254E-6939-44F7-8951-75D671EA30E9}" type="pres">
      <dgm:prSet presAssocID="{AA6CA1DC-700F-4801-B883-46281D292F8D}" presName="root2" presStyleCnt="0"/>
      <dgm:spPr/>
    </dgm:pt>
    <dgm:pt modelId="{4689592E-3613-4667-8AE9-AEA1084B14F4}" type="pres">
      <dgm:prSet presAssocID="{AA6CA1DC-700F-4801-B883-46281D292F8D}" presName="LevelTwoTextNode" presStyleLbl="node4" presStyleIdx="6" presStyleCnt="7">
        <dgm:presLayoutVars>
          <dgm:chPref val="3"/>
        </dgm:presLayoutVars>
      </dgm:prSet>
      <dgm:spPr/>
    </dgm:pt>
    <dgm:pt modelId="{AE1B9CEE-665A-4AA9-8520-39F5DF5203B9}" type="pres">
      <dgm:prSet presAssocID="{AA6CA1DC-700F-4801-B883-46281D292F8D}" presName="level3hierChild" presStyleCnt="0"/>
      <dgm:spPr/>
    </dgm:pt>
    <dgm:pt modelId="{16998E1A-4EB0-4EF9-A520-DD5E95EFE9B3}" type="pres">
      <dgm:prSet presAssocID="{5BA52C8A-3D61-44E7-BAFE-57BAC35250DE}" presName="conn2-1" presStyleLbl="parChTrans1D2" presStyleIdx="1" presStyleCnt="2"/>
      <dgm:spPr/>
    </dgm:pt>
    <dgm:pt modelId="{CC2ADC12-6101-42FE-BF36-45AB6ADA1AD0}" type="pres">
      <dgm:prSet presAssocID="{5BA52C8A-3D61-44E7-BAFE-57BAC35250DE}" presName="connTx" presStyleLbl="parChTrans1D2" presStyleIdx="1" presStyleCnt="2"/>
      <dgm:spPr/>
    </dgm:pt>
    <dgm:pt modelId="{DFB2CE7B-3F59-40BB-BF88-80AF21D74316}" type="pres">
      <dgm:prSet presAssocID="{B02E8DA7-AB0D-4DE1-8367-F266E3079A20}" presName="root2" presStyleCnt="0"/>
      <dgm:spPr/>
    </dgm:pt>
    <dgm:pt modelId="{28D3C1B8-DFFD-42B3-A223-BFC3C5646545}" type="pres">
      <dgm:prSet presAssocID="{B02E8DA7-AB0D-4DE1-8367-F266E3079A20}" presName="LevelTwoTextNode" presStyleLbl="node2" presStyleIdx="1" presStyleCnt="2">
        <dgm:presLayoutVars>
          <dgm:chPref val="3"/>
        </dgm:presLayoutVars>
      </dgm:prSet>
      <dgm:spPr/>
    </dgm:pt>
    <dgm:pt modelId="{DA4AB1C1-29EE-4096-BB31-3ADC19669098}" type="pres">
      <dgm:prSet presAssocID="{B02E8DA7-AB0D-4DE1-8367-F266E3079A20}" presName="level3hierChild" presStyleCnt="0"/>
      <dgm:spPr/>
    </dgm:pt>
    <dgm:pt modelId="{66A66B17-BD16-4395-B025-66C0897264AE}" type="pres">
      <dgm:prSet presAssocID="{90A72701-84AA-436F-A83E-FF681306E15F}" presName="conn2-1" presStyleLbl="parChTrans1D3" presStyleIdx="2" presStyleCnt="5"/>
      <dgm:spPr/>
    </dgm:pt>
    <dgm:pt modelId="{D3AC16B1-65B1-407A-8F16-9D9A3F5F5249}" type="pres">
      <dgm:prSet presAssocID="{90A72701-84AA-436F-A83E-FF681306E15F}" presName="connTx" presStyleLbl="parChTrans1D3" presStyleIdx="2" presStyleCnt="5"/>
      <dgm:spPr/>
    </dgm:pt>
    <dgm:pt modelId="{695857F2-8FAF-41FE-8AAF-2A60A687489E}" type="pres">
      <dgm:prSet presAssocID="{6D789F26-37C6-4597-AA2F-2410D8F0AA12}" presName="root2" presStyleCnt="0"/>
      <dgm:spPr/>
    </dgm:pt>
    <dgm:pt modelId="{A97C5D92-F4D5-489D-AF9F-7D0F101FC5B4}" type="pres">
      <dgm:prSet presAssocID="{6D789F26-37C6-4597-AA2F-2410D8F0AA12}" presName="LevelTwoTextNode" presStyleLbl="node3" presStyleIdx="2" presStyleCnt="5">
        <dgm:presLayoutVars>
          <dgm:chPref val="3"/>
        </dgm:presLayoutVars>
      </dgm:prSet>
      <dgm:spPr/>
    </dgm:pt>
    <dgm:pt modelId="{CA547A59-3C94-40F0-A136-93AC8156744B}" type="pres">
      <dgm:prSet presAssocID="{6D789F26-37C6-4597-AA2F-2410D8F0AA12}" presName="level3hierChild" presStyleCnt="0"/>
      <dgm:spPr/>
    </dgm:pt>
    <dgm:pt modelId="{683A041B-E277-453B-AE6F-2BCFED4417DC}" type="pres">
      <dgm:prSet presAssocID="{989989AA-5D63-40F4-B1F4-60C14B5AB25F}" presName="conn2-1" presStyleLbl="parChTrans1D3" presStyleIdx="3" presStyleCnt="5"/>
      <dgm:spPr/>
    </dgm:pt>
    <dgm:pt modelId="{3A8B7C6F-FCCA-4332-ADB8-DB8403BDDDC8}" type="pres">
      <dgm:prSet presAssocID="{989989AA-5D63-40F4-B1F4-60C14B5AB25F}" presName="connTx" presStyleLbl="parChTrans1D3" presStyleIdx="3" presStyleCnt="5"/>
      <dgm:spPr/>
    </dgm:pt>
    <dgm:pt modelId="{8A0A5A6B-40F4-4079-BBB4-0DDB36CEAD3C}" type="pres">
      <dgm:prSet presAssocID="{B0E84669-F2DA-47C2-886F-67B7771A21B3}" presName="root2" presStyleCnt="0"/>
      <dgm:spPr/>
    </dgm:pt>
    <dgm:pt modelId="{3F03F34D-6A5A-4F08-B57C-56B3F8B00447}" type="pres">
      <dgm:prSet presAssocID="{B0E84669-F2DA-47C2-886F-67B7771A21B3}" presName="LevelTwoTextNode" presStyleLbl="node3" presStyleIdx="3" presStyleCnt="5">
        <dgm:presLayoutVars>
          <dgm:chPref val="3"/>
        </dgm:presLayoutVars>
      </dgm:prSet>
      <dgm:spPr/>
    </dgm:pt>
    <dgm:pt modelId="{2B5117C3-B34B-47BE-A8E8-4FA810D8F228}" type="pres">
      <dgm:prSet presAssocID="{B0E84669-F2DA-47C2-886F-67B7771A21B3}" presName="level3hierChild" presStyleCnt="0"/>
      <dgm:spPr/>
    </dgm:pt>
    <dgm:pt modelId="{CCAB9C17-B7BF-440C-8FDF-B4729BE87CE6}" type="pres">
      <dgm:prSet presAssocID="{3822DA38-5119-415A-BBDF-56E8A827A68E}" presName="conn2-1" presStyleLbl="parChTrans1D3" presStyleIdx="4" presStyleCnt="5"/>
      <dgm:spPr/>
    </dgm:pt>
    <dgm:pt modelId="{C41598C1-06CE-4F42-959E-2C62E6C99E1E}" type="pres">
      <dgm:prSet presAssocID="{3822DA38-5119-415A-BBDF-56E8A827A68E}" presName="connTx" presStyleLbl="parChTrans1D3" presStyleIdx="4" presStyleCnt="5"/>
      <dgm:spPr/>
    </dgm:pt>
    <dgm:pt modelId="{30042B79-5036-49D0-A6B5-61D23B69DC14}" type="pres">
      <dgm:prSet presAssocID="{7F80C4F8-28DD-4187-B429-E05FF169743C}" presName="root2" presStyleCnt="0"/>
      <dgm:spPr/>
    </dgm:pt>
    <dgm:pt modelId="{8B4884D7-64F5-4BA1-AC3A-D7E5083D028C}" type="pres">
      <dgm:prSet presAssocID="{7F80C4F8-28DD-4187-B429-E05FF169743C}" presName="LevelTwoTextNode" presStyleLbl="node3" presStyleIdx="4" presStyleCnt="5">
        <dgm:presLayoutVars>
          <dgm:chPref val="3"/>
        </dgm:presLayoutVars>
      </dgm:prSet>
      <dgm:spPr/>
    </dgm:pt>
    <dgm:pt modelId="{1E1C37C7-12E7-4E02-BCEA-3F634BA36B2F}" type="pres">
      <dgm:prSet presAssocID="{7F80C4F8-28DD-4187-B429-E05FF169743C}" presName="level3hierChild" presStyleCnt="0"/>
      <dgm:spPr/>
    </dgm:pt>
  </dgm:ptLst>
  <dgm:cxnLst>
    <dgm:cxn modelId="{2B1AA801-717C-4EC6-B049-0FD38CCC7029}" srcId="{B02E8DA7-AB0D-4DE1-8367-F266E3079A20}" destId="{7F80C4F8-28DD-4187-B429-E05FF169743C}" srcOrd="2" destOrd="0" parTransId="{3822DA38-5119-415A-BBDF-56E8A827A68E}" sibTransId="{E88B06F0-03C7-46AD-8EF6-EF25063F268F}"/>
    <dgm:cxn modelId="{866AA407-762E-449A-898D-5294FFEDB433}" type="presOf" srcId="{8C6B1152-7A4E-4E31-A115-D5D2BC9FEF84}" destId="{E955E10D-B044-46A4-A7E3-F0FA6C76A9FB}" srcOrd="1" destOrd="0" presId="urn:microsoft.com/office/officeart/2005/8/layout/hierarchy2"/>
    <dgm:cxn modelId="{AA21CB0A-9782-4974-9DA2-DDBEEA5F5A65}" type="presOf" srcId="{47E2C84C-B2AA-4662-A867-B603FAA57849}" destId="{539F00F3-FC98-4CB7-A26C-F231C3BFEE23}" srcOrd="1" destOrd="0" presId="urn:microsoft.com/office/officeart/2005/8/layout/hierarchy2"/>
    <dgm:cxn modelId="{6E29310D-A875-457A-AF24-A70F6E291166}" srcId="{86EF73EF-5381-493C-85AE-C558BA61C7EE}" destId="{881C766B-1566-4C5E-8742-F94CA5FE4091}" srcOrd="0" destOrd="0" parTransId="{47E2C84C-B2AA-4662-A867-B603FAA57849}" sibTransId="{240D9E01-57B0-4282-A8DE-7372BE449C64}"/>
    <dgm:cxn modelId="{16B4D021-71BC-48E5-AE1F-8E07E70BEEBE}" type="presOf" srcId="{3822DA38-5119-415A-BBDF-56E8A827A68E}" destId="{C41598C1-06CE-4F42-959E-2C62E6C99E1E}" srcOrd="1" destOrd="0" presId="urn:microsoft.com/office/officeart/2005/8/layout/hierarchy2"/>
    <dgm:cxn modelId="{FCBCDA23-0E73-4B5E-9BA2-13CCE2D7FE26}" type="presOf" srcId="{9E729B65-B3C8-48E6-81B8-F5B4754C8B73}" destId="{7B8E9953-2CE1-4747-9BD1-BBF071201F4E}" srcOrd="1" destOrd="0" presId="urn:microsoft.com/office/officeart/2005/8/layout/hierarchy2"/>
    <dgm:cxn modelId="{01520D24-6DE1-47D2-BD1D-24B92F0E1EC0}" type="presOf" srcId="{47E2C84C-B2AA-4662-A867-B603FAA57849}" destId="{D5A6AC10-0626-44B2-844F-F769ED9AFA9F}" srcOrd="0" destOrd="0" presId="urn:microsoft.com/office/officeart/2005/8/layout/hierarchy2"/>
    <dgm:cxn modelId="{22C90827-3405-4704-9B9F-0B950943CF36}" type="presOf" srcId="{E87B86DF-2E1A-4A16-A1A2-D3169149DFA3}" destId="{E4F9F080-5452-4F99-B162-39B63CA68609}" srcOrd="1" destOrd="0" presId="urn:microsoft.com/office/officeart/2005/8/layout/hierarchy2"/>
    <dgm:cxn modelId="{8856A327-037B-4CCF-9881-D2ADACBD7AE4}" type="presOf" srcId="{8C6B1152-7A4E-4E31-A115-D5D2BC9FEF84}" destId="{76C1920D-61D7-48CA-A014-A7BBB7B808E6}" srcOrd="0" destOrd="0" presId="urn:microsoft.com/office/officeart/2005/8/layout/hierarchy2"/>
    <dgm:cxn modelId="{5399672B-20B9-40D9-B609-2EE780F3AADB}" type="presOf" srcId="{7DE6C300-1478-40C9-8D75-3E83BF7DE854}" destId="{571BA779-0870-491C-B6A8-B6B19F1A1018}" srcOrd="0" destOrd="0" presId="urn:microsoft.com/office/officeart/2005/8/layout/hierarchy2"/>
    <dgm:cxn modelId="{7535A42B-CD2C-4ACE-AE72-BC08D9CF1E27}" srcId="{B5921CB0-BD38-4F19-BBC9-B827250D5052}" destId="{F1E59178-EEE0-4A24-A71E-F8C599741F83}" srcOrd="0" destOrd="0" parTransId="{E0F6A01E-63CA-40BC-8AA6-9FF3E9B7CF01}" sibTransId="{F7BC5007-029D-405B-8B30-10A8AB3C320D}"/>
    <dgm:cxn modelId="{D0D94A2D-DEBC-4DD7-B9F1-2D993D3DB4E8}" type="presOf" srcId="{EA7A8D3D-FDAE-43AD-9629-794FDCA7600C}" destId="{FCE91FD1-58F8-46B7-94A4-E1A5CD2F0FA5}" srcOrd="0" destOrd="0" presId="urn:microsoft.com/office/officeart/2005/8/layout/hierarchy2"/>
    <dgm:cxn modelId="{62F3782D-5E71-4955-8833-9441AA4B555C}" type="presOf" srcId="{6BE30C09-9F00-4B0B-B06E-0365465074A7}" destId="{78C2AD6B-D47E-4D9D-B95B-791FC1CE281D}" srcOrd="0" destOrd="0" presId="urn:microsoft.com/office/officeart/2005/8/layout/hierarchy2"/>
    <dgm:cxn modelId="{EABAAD2E-1019-4141-8054-BC82A52C111D}" type="presOf" srcId="{74E5A058-B7C0-4ACA-AB8C-E62DB01A1984}" destId="{979F7D3E-7507-43B0-94BF-7DD36E694B0D}" srcOrd="0" destOrd="0" presId="urn:microsoft.com/office/officeart/2005/8/layout/hierarchy2"/>
    <dgm:cxn modelId="{1C04E331-E903-4B7F-8E92-46D5BC9681C0}" type="presOf" srcId="{227E3125-C3EC-463E-9AED-E5DBF65DD153}" destId="{56EA67DD-0197-49B6-8619-41E4B550B8BE}" srcOrd="1" destOrd="0" presId="urn:microsoft.com/office/officeart/2005/8/layout/hierarchy2"/>
    <dgm:cxn modelId="{0208A635-A37C-4AB4-B3C1-D1F4F188F582}" type="presOf" srcId="{6E8699FD-A9DA-437D-8A89-414B2BA4391B}" destId="{69DF40FA-ABC2-421C-821F-F3D34556CB16}" srcOrd="0" destOrd="0" presId="urn:microsoft.com/office/officeart/2005/8/layout/hierarchy2"/>
    <dgm:cxn modelId="{2516DD36-5D06-4F5F-B97D-0702DE570AF6}" type="presOf" srcId="{989989AA-5D63-40F4-B1F4-60C14B5AB25F}" destId="{683A041B-E277-453B-AE6F-2BCFED4417DC}" srcOrd="0" destOrd="0" presId="urn:microsoft.com/office/officeart/2005/8/layout/hierarchy2"/>
    <dgm:cxn modelId="{C9436F3E-EB0D-4837-BF45-1BBA3D870FB1}" type="presOf" srcId="{F1E59178-EEE0-4A24-A71E-F8C599741F83}" destId="{E4106CEE-A739-45CF-915C-21D50F9A97A1}" srcOrd="0" destOrd="0" presId="urn:microsoft.com/office/officeart/2005/8/layout/hierarchy2"/>
    <dgm:cxn modelId="{80E8BB3E-1F10-47C8-8E4E-97D822BA8DC8}" srcId="{86EF73EF-5381-493C-85AE-C558BA61C7EE}" destId="{AA6CA1DC-700F-4801-B883-46281D292F8D}" srcOrd="2" destOrd="0" parTransId="{3772BCC6-963B-487B-ADBB-D3F5364F74FD}" sibTransId="{E987B920-843B-46B0-9363-0AC22BFC6952}"/>
    <dgm:cxn modelId="{DDC3835E-66DB-41B4-B157-E2EC4646F936}" type="presOf" srcId="{205A13A9-C006-422E-90DE-9AF002552274}" destId="{54E4C604-2F5E-496C-B1CF-15604B62E0FB}" srcOrd="0" destOrd="0" presId="urn:microsoft.com/office/officeart/2005/8/layout/hierarchy2"/>
    <dgm:cxn modelId="{61A77A60-9BEA-4616-8A71-E70CBE7B3942}" type="presOf" srcId="{881C766B-1566-4C5E-8742-F94CA5FE4091}" destId="{B417C4C0-B8E5-4F3C-A1E3-4DF14B7A2BC3}" srcOrd="0" destOrd="0" presId="urn:microsoft.com/office/officeart/2005/8/layout/hierarchy2"/>
    <dgm:cxn modelId="{4BFC1461-FC4C-455F-8739-37FDA03D67A4}" type="presOf" srcId="{6BE30C09-9F00-4B0B-B06E-0365465074A7}" destId="{178B5012-5710-42E0-9DA0-B8DD2EF68672}" srcOrd="1" destOrd="0" presId="urn:microsoft.com/office/officeart/2005/8/layout/hierarchy2"/>
    <dgm:cxn modelId="{9976C463-D469-4290-AC5E-06D8373C7D63}" type="presOf" srcId="{86EF73EF-5381-493C-85AE-C558BA61C7EE}" destId="{8570AEA3-AA5A-4A2C-BB96-33FD3000A75E}" srcOrd="0" destOrd="0" presId="urn:microsoft.com/office/officeart/2005/8/layout/hierarchy2"/>
    <dgm:cxn modelId="{2B536345-C701-4D7E-A2ED-9343D3328091}" type="presOf" srcId="{919CB240-81B0-46E4-879D-BC83843004B9}" destId="{31DE5C39-2E93-43F1-B6A7-95904F735306}" srcOrd="0" destOrd="0" presId="urn:microsoft.com/office/officeart/2005/8/layout/hierarchy2"/>
    <dgm:cxn modelId="{C6A7A647-505C-4851-B0FD-0849B002F43D}" type="presOf" srcId="{B02E8DA7-AB0D-4DE1-8367-F266E3079A20}" destId="{28D3C1B8-DFFD-42B3-A223-BFC3C5646545}" srcOrd="0" destOrd="0" presId="urn:microsoft.com/office/officeart/2005/8/layout/hierarchy2"/>
    <dgm:cxn modelId="{5EFCB268-4D98-4EAB-8916-01A6A5009A90}" type="presOf" srcId="{AA6CA1DC-700F-4801-B883-46281D292F8D}" destId="{4689592E-3613-4667-8AE9-AEA1084B14F4}" srcOrd="0" destOrd="0" presId="urn:microsoft.com/office/officeart/2005/8/layout/hierarchy2"/>
    <dgm:cxn modelId="{CA281E6B-15CE-4326-9166-F62CA64C0649}" type="presOf" srcId="{227E3125-C3EC-463E-9AED-E5DBF65DD153}" destId="{E955E5A6-95E3-4B82-AC5F-88C0B8B85C2D}" srcOrd="0" destOrd="0" presId="urn:microsoft.com/office/officeart/2005/8/layout/hierarchy2"/>
    <dgm:cxn modelId="{7DF1EC4E-1BF0-4798-8F2F-E9FD4C274BF5}" type="presOf" srcId="{1425C0A1-6859-4567-B48C-6BF8E441B890}" destId="{A1E95179-6B1C-4515-8323-99D2F6B7EFD6}" srcOrd="0" destOrd="0" presId="urn:microsoft.com/office/officeart/2005/8/layout/hierarchy2"/>
    <dgm:cxn modelId="{C5CFA952-A033-4E99-90DF-8821B5336840}" srcId="{205A13A9-C006-422E-90DE-9AF002552274}" destId="{B02E8DA7-AB0D-4DE1-8367-F266E3079A20}" srcOrd="1" destOrd="0" parTransId="{5BA52C8A-3D61-44E7-BAFE-57BAC35250DE}" sibTransId="{F0F5E4DC-91F2-40AF-8123-F2A1C5F93AD1}"/>
    <dgm:cxn modelId="{423D977A-E7D9-4743-A287-1407B1469CA7}" type="presOf" srcId="{B0E84669-F2DA-47C2-886F-67B7771A21B3}" destId="{3F03F34D-6A5A-4F08-B57C-56B3F8B00447}" srcOrd="0" destOrd="0" presId="urn:microsoft.com/office/officeart/2005/8/layout/hierarchy2"/>
    <dgm:cxn modelId="{92E5DD7C-3DA6-4330-A54B-B7B7F00D3047}" type="presOf" srcId="{3822DA38-5119-415A-BBDF-56E8A827A68E}" destId="{CCAB9C17-B7BF-440C-8FDF-B4729BE87CE6}" srcOrd="0" destOrd="0" presId="urn:microsoft.com/office/officeart/2005/8/layout/hierarchy2"/>
    <dgm:cxn modelId="{27FA5280-A348-4D9E-A8AE-B3CC8221F9F7}" srcId="{205A13A9-C006-422E-90DE-9AF002552274}" destId="{B5921CB0-BD38-4F19-BBC9-B827250D5052}" srcOrd="0" destOrd="0" parTransId="{9E729B65-B3C8-48E6-81B8-F5B4754C8B73}" sibTransId="{D6A88902-6400-4766-BE1A-A1409A038BE9}"/>
    <dgm:cxn modelId="{D2B5E38B-3CA0-46B4-95E1-882256515761}" srcId="{F1E59178-EEE0-4A24-A71E-F8C599741F83}" destId="{EA7A8D3D-FDAE-43AD-9629-794FDCA7600C}" srcOrd="1" destOrd="0" parTransId="{8C6B1152-7A4E-4E31-A115-D5D2BC9FEF84}" sibTransId="{81D299EF-69E6-495A-A7B2-7C958FC3274F}"/>
    <dgm:cxn modelId="{240DB293-5923-43FD-9FC4-E2CA205CC423}" srcId="{7DE6C300-1478-40C9-8D75-3E83BF7DE854}" destId="{205A13A9-C006-422E-90DE-9AF002552274}" srcOrd="0" destOrd="0" parTransId="{B5260A90-5831-4864-8BF0-467A955DCB61}" sibTransId="{AB9DD7C5-1DF5-4466-8A36-37C1CFD01B2C}"/>
    <dgm:cxn modelId="{7C6D8C95-ED11-4CA7-B34A-E086E2D9FD53}" type="presOf" srcId="{B5921CB0-BD38-4F19-BBC9-B827250D5052}" destId="{B8AE7F97-7893-446B-B5F7-8AEF5682E9E5}" srcOrd="0" destOrd="0" presId="urn:microsoft.com/office/officeart/2005/8/layout/hierarchy2"/>
    <dgm:cxn modelId="{DF9A3496-1378-4310-AD0C-7D1F7B5DBD36}" type="presOf" srcId="{7F80C4F8-28DD-4187-B429-E05FF169743C}" destId="{8B4884D7-64F5-4BA1-AC3A-D7E5083D028C}" srcOrd="0" destOrd="0" presId="urn:microsoft.com/office/officeart/2005/8/layout/hierarchy2"/>
    <dgm:cxn modelId="{3B14EC9B-AF8E-40B1-84DF-56ED89133E16}" type="presOf" srcId="{919CB240-81B0-46E4-879D-BC83843004B9}" destId="{F03D9138-5734-44C4-AAF2-BEBD6EF9CE15}" srcOrd="1" destOrd="0" presId="urn:microsoft.com/office/officeart/2005/8/layout/hierarchy2"/>
    <dgm:cxn modelId="{D8AE8DA0-95B4-441A-AE3C-3196528216DC}" type="presOf" srcId="{5BA52C8A-3D61-44E7-BAFE-57BAC35250DE}" destId="{CC2ADC12-6101-42FE-BF36-45AB6ADA1AD0}" srcOrd="1" destOrd="0" presId="urn:microsoft.com/office/officeart/2005/8/layout/hierarchy2"/>
    <dgm:cxn modelId="{2B21A5A1-2971-48F5-85EB-CD06D8E22B37}" type="presOf" srcId="{9E729B65-B3C8-48E6-81B8-F5B4754C8B73}" destId="{F23FB2FB-8FCC-4831-A4D4-8FEC4C4B3579}" srcOrd="0" destOrd="0" presId="urn:microsoft.com/office/officeart/2005/8/layout/hierarchy2"/>
    <dgm:cxn modelId="{359D05B1-78CB-4347-85BF-C50DDD6D93C4}" srcId="{86EF73EF-5381-493C-85AE-C558BA61C7EE}" destId="{74E5A058-B7C0-4ACA-AB8C-E62DB01A1984}" srcOrd="1" destOrd="0" parTransId="{E87B86DF-2E1A-4A16-A1A2-D3169149DFA3}" sibTransId="{577BE791-3ACA-4288-A1DC-BE146A2809B6}"/>
    <dgm:cxn modelId="{CEEF37B8-AEAD-4B15-8248-807EB548E960}" type="presOf" srcId="{90A72701-84AA-436F-A83E-FF681306E15F}" destId="{D3AC16B1-65B1-407A-8F16-9D9A3F5F5249}" srcOrd="1" destOrd="0" presId="urn:microsoft.com/office/officeart/2005/8/layout/hierarchy2"/>
    <dgm:cxn modelId="{DC48DDB8-06BA-43FE-919D-0F4B20048B91}" type="presOf" srcId="{3772BCC6-963B-487B-ADBB-D3F5364F74FD}" destId="{3E17EDD2-E9D2-4118-B665-1AD573353CE3}" srcOrd="0" destOrd="0" presId="urn:microsoft.com/office/officeart/2005/8/layout/hierarchy2"/>
    <dgm:cxn modelId="{8EFFF6B9-7763-48F7-AD75-89B20C0BAD76}" type="presOf" srcId="{5BA52C8A-3D61-44E7-BAFE-57BAC35250DE}" destId="{16998E1A-4EB0-4EF9-A520-DD5E95EFE9B3}" srcOrd="0" destOrd="0" presId="urn:microsoft.com/office/officeart/2005/8/layout/hierarchy2"/>
    <dgm:cxn modelId="{57A513BB-60E0-4334-8907-4CC18FB6348E}" srcId="{B02E8DA7-AB0D-4DE1-8367-F266E3079A20}" destId="{B0E84669-F2DA-47C2-886F-67B7771A21B3}" srcOrd="1" destOrd="0" parTransId="{989989AA-5D63-40F4-B1F4-60C14B5AB25F}" sibTransId="{AA8341B5-5108-4A36-BCD1-17DBBD095253}"/>
    <dgm:cxn modelId="{66F2DDC4-36A1-41A9-95A3-D31894C7FE36}" type="presOf" srcId="{18809324-0CE4-4C2F-98AB-167E69880978}" destId="{C1D08CD3-538A-4912-95CD-B66A28AD2137}" srcOrd="0" destOrd="0" presId="urn:microsoft.com/office/officeart/2005/8/layout/hierarchy2"/>
    <dgm:cxn modelId="{E96AFDC9-B6E0-45D4-8FEF-C445C0621594}" type="presOf" srcId="{E0F6A01E-63CA-40BC-8AA6-9FF3E9B7CF01}" destId="{83B9175F-A35A-4AB3-9ED2-BD47BEB4207B}" srcOrd="0" destOrd="0" presId="urn:microsoft.com/office/officeart/2005/8/layout/hierarchy2"/>
    <dgm:cxn modelId="{17C986CC-A5BE-4C45-8A7B-7305DC1151F1}" type="presOf" srcId="{8881ECCA-DF49-49E9-84F5-CB0FFF618556}" destId="{FD9955EF-5E78-44DE-9F36-FBCB67B0F760}" srcOrd="0" destOrd="0" presId="urn:microsoft.com/office/officeart/2005/8/layout/hierarchy2"/>
    <dgm:cxn modelId="{4C6BBDCE-BF51-43DA-A1A7-0859513C4A94}" srcId="{8881ECCA-DF49-49E9-84F5-CB0FFF618556}" destId="{86EF73EF-5381-493C-85AE-C558BA61C7EE}" srcOrd="0" destOrd="0" parTransId="{919CB240-81B0-46E4-879D-BC83843004B9}" sibTransId="{3BD8A4ED-A849-4B58-AECF-B7A3759FAD01}"/>
    <dgm:cxn modelId="{61A2DACE-A5BC-42FF-8E7C-AD184D1F90C4}" type="presOf" srcId="{989989AA-5D63-40F4-B1F4-60C14B5AB25F}" destId="{3A8B7C6F-FCCA-4332-ADB8-DB8403BDDDC8}" srcOrd="1" destOrd="0" presId="urn:microsoft.com/office/officeart/2005/8/layout/hierarchy2"/>
    <dgm:cxn modelId="{2AB37AD4-CD72-45F9-B6D3-053E57FB8ACE}" srcId="{B5921CB0-BD38-4F19-BBC9-B827250D5052}" destId="{8881ECCA-DF49-49E9-84F5-CB0FFF618556}" srcOrd="1" destOrd="0" parTransId="{6BE30C09-9F00-4B0B-B06E-0365465074A7}" sibTransId="{34E3945C-2A6D-43E1-A0D1-45C1C68E13A8}"/>
    <dgm:cxn modelId="{D7ADE8DD-910A-417A-B9F3-384AF499CE4E}" type="presOf" srcId="{E87B86DF-2E1A-4A16-A1A2-D3169149DFA3}" destId="{B65AD401-B16B-46C0-953C-2621D363D562}" srcOrd="0" destOrd="0" presId="urn:microsoft.com/office/officeart/2005/8/layout/hierarchy2"/>
    <dgm:cxn modelId="{8BA0B2E1-DF3A-4AAD-932F-49067370C029}" srcId="{F1E59178-EEE0-4A24-A71E-F8C599741F83}" destId="{1425C0A1-6859-4567-B48C-6BF8E441B890}" srcOrd="0" destOrd="0" parTransId="{18809324-0CE4-4C2F-98AB-167E69880978}" sibTransId="{05C4CE56-F692-42BD-8F7A-809F40977A4E}"/>
    <dgm:cxn modelId="{009593E3-2777-4B09-AE4D-81B539CEFCFF}" srcId="{B02E8DA7-AB0D-4DE1-8367-F266E3079A20}" destId="{6D789F26-37C6-4597-AA2F-2410D8F0AA12}" srcOrd="0" destOrd="0" parTransId="{90A72701-84AA-436F-A83E-FF681306E15F}" sibTransId="{8E138D5C-CCC6-49DE-93F0-E4EA7E8A6BC6}"/>
    <dgm:cxn modelId="{2AD8A7E7-19C9-44CB-9A7F-D67B6979C402}" type="presOf" srcId="{18809324-0CE4-4C2F-98AB-167E69880978}" destId="{62BF05E8-0F88-4878-BFDD-751F45C255F1}" srcOrd="1" destOrd="0" presId="urn:microsoft.com/office/officeart/2005/8/layout/hierarchy2"/>
    <dgm:cxn modelId="{DFD7FBE7-F425-43BD-A8C7-6E033D130676}" type="presOf" srcId="{90A72701-84AA-436F-A83E-FF681306E15F}" destId="{66A66B17-BD16-4395-B025-66C0897264AE}" srcOrd="0" destOrd="0" presId="urn:microsoft.com/office/officeart/2005/8/layout/hierarchy2"/>
    <dgm:cxn modelId="{F23AFAF1-85E9-4BDD-B632-A7FF08F84032}" type="presOf" srcId="{E0F6A01E-63CA-40BC-8AA6-9FF3E9B7CF01}" destId="{FB027D4E-A635-40A6-B414-9C5349259BCA}" srcOrd="1" destOrd="0" presId="urn:microsoft.com/office/officeart/2005/8/layout/hierarchy2"/>
    <dgm:cxn modelId="{21ECFEF4-08D0-49FF-8A71-CB2CE4569AD6}" type="presOf" srcId="{6D789F26-37C6-4597-AA2F-2410D8F0AA12}" destId="{A97C5D92-F4D5-489D-AF9F-7D0F101FC5B4}" srcOrd="0" destOrd="0" presId="urn:microsoft.com/office/officeart/2005/8/layout/hierarchy2"/>
    <dgm:cxn modelId="{C580C9F7-1177-4D70-875F-CB054893790B}" srcId="{F1E59178-EEE0-4A24-A71E-F8C599741F83}" destId="{6E8699FD-A9DA-437D-8A89-414B2BA4391B}" srcOrd="2" destOrd="0" parTransId="{227E3125-C3EC-463E-9AED-E5DBF65DD153}" sibTransId="{367485BC-6449-4188-86C6-7C801C87A4A9}"/>
    <dgm:cxn modelId="{3B04E8FD-39EC-4257-93E7-2A740CD0ECE9}" type="presOf" srcId="{3772BCC6-963B-487B-ADBB-D3F5364F74FD}" destId="{D6542E0B-1D56-4CEC-B6E8-4C43DF7D7F57}" srcOrd="1" destOrd="0" presId="urn:microsoft.com/office/officeart/2005/8/layout/hierarchy2"/>
    <dgm:cxn modelId="{388A8311-5F63-4D3B-A140-396CF842846D}" type="presParOf" srcId="{571BA779-0870-491C-B6A8-B6B19F1A1018}" destId="{8702B8EF-0151-4EFB-9042-0E6CC46B1196}" srcOrd="0" destOrd="0" presId="urn:microsoft.com/office/officeart/2005/8/layout/hierarchy2"/>
    <dgm:cxn modelId="{234A4709-92E5-42A8-97CD-8367D18FBCEF}" type="presParOf" srcId="{8702B8EF-0151-4EFB-9042-0E6CC46B1196}" destId="{54E4C604-2F5E-496C-B1CF-15604B62E0FB}" srcOrd="0" destOrd="0" presId="urn:microsoft.com/office/officeart/2005/8/layout/hierarchy2"/>
    <dgm:cxn modelId="{849EEB62-D64A-40E0-8974-5B78D62F03CD}" type="presParOf" srcId="{8702B8EF-0151-4EFB-9042-0E6CC46B1196}" destId="{26457793-A442-4C52-8FA3-BB17209EB9BF}" srcOrd="1" destOrd="0" presId="urn:microsoft.com/office/officeart/2005/8/layout/hierarchy2"/>
    <dgm:cxn modelId="{AFF19B67-D56D-4575-95F0-7378C20B3174}" type="presParOf" srcId="{26457793-A442-4C52-8FA3-BB17209EB9BF}" destId="{F23FB2FB-8FCC-4831-A4D4-8FEC4C4B3579}" srcOrd="0" destOrd="0" presId="urn:microsoft.com/office/officeart/2005/8/layout/hierarchy2"/>
    <dgm:cxn modelId="{1EF34860-0286-4CD6-9DA5-813F8310E5E7}" type="presParOf" srcId="{F23FB2FB-8FCC-4831-A4D4-8FEC4C4B3579}" destId="{7B8E9953-2CE1-4747-9BD1-BBF071201F4E}" srcOrd="0" destOrd="0" presId="urn:microsoft.com/office/officeart/2005/8/layout/hierarchy2"/>
    <dgm:cxn modelId="{09491EB3-6687-47D5-A42F-BD250A8D61B5}" type="presParOf" srcId="{26457793-A442-4C52-8FA3-BB17209EB9BF}" destId="{C361D24A-2B39-4CB4-A8E1-8CC9511CAD7A}" srcOrd="1" destOrd="0" presId="urn:microsoft.com/office/officeart/2005/8/layout/hierarchy2"/>
    <dgm:cxn modelId="{D172BFC8-01F5-48E9-9036-EC44FA7CB34D}" type="presParOf" srcId="{C361D24A-2B39-4CB4-A8E1-8CC9511CAD7A}" destId="{B8AE7F97-7893-446B-B5F7-8AEF5682E9E5}" srcOrd="0" destOrd="0" presId="urn:microsoft.com/office/officeart/2005/8/layout/hierarchy2"/>
    <dgm:cxn modelId="{BA1D42B1-36D0-409B-BEA5-8B6582799E10}" type="presParOf" srcId="{C361D24A-2B39-4CB4-A8E1-8CC9511CAD7A}" destId="{3E0A8220-3261-4E07-ACBB-F31ADAA1CD7B}" srcOrd="1" destOrd="0" presId="urn:microsoft.com/office/officeart/2005/8/layout/hierarchy2"/>
    <dgm:cxn modelId="{D23C644F-6358-444A-B079-8CCF66877B2F}" type="presParOf" srcId="{3E0A8220-3261-4E07-ACBB-F31ADAA1CD7B}" destId="{83B9175F-A35A-4AB3-9ED2-BD47BEB4207B}" srcOrd="0" destOrd="0" presId="urn:microsoft.com/office/officeart/2005/8/layout/hierarchy2"/>
    <dgm:cxn modelId="{9DB1EE79-520F-4263-976A-3CF692DE9A69}" type="presParOf" srcId="{83B9175F-A35A-4AB3-9ED2-BD47BEB4207B}" destId="{FB027D4E-A635-40A6-B414-9C5349259BCA}" srcOrd="0" destOrd="0" presId="urn:microsoft.com/office/officeart/2005/8/layout/hierarchy2"/>
    <dgm:cxn modelId="{0AF4FE38-200C-4A30-A1A9-07BEA0CF89A8}" type="presParOf" srcId="{3E0A8220-3261-4E07-ACBB-F31ADAA1CD7B}" destId="{146EBE13-D210-4300-951F-69FB6BC96F66}" srcOrd="1" destOrd="0" presId="urn:microsoft.com/office/officeart/2005/8/layout/hierarchy2"/>
    <dgm:cxn modelId="{42979A43-BEA8-4D5D-8AA4-B19D441E37A6}" type="presParOf" srcId="{146EBE13-D210-4300-951F-69FB6BC96F66}" destId="{E4106CEE-A739-45CF-915C-21D50F9A97A1}" srcOrd="0" destOrd="0" presId="urn:microsoft.com/office/officeart/2005/8/layout/hierarchy2"/>
    <dgm:cxn modelId="{AB38DE00-B21A-4290-9020-ED5878680773}" type="presParOf" srcId="{146EBE13-D210-4300-951F-69FB6BC96F66}" destId="{71D3B126-14C5-4892-BCDB-2727A1006AA4}" srcOrd="1" destOrd="0" presId="urn:microsoft.com/office/officeart/2005/8/layout/hierarchy2"/>
    <dgm:cxn modelId="{B04D0808-394F-43CE-AF6B-3C8246F2E14A}" type="presParOf" srcId="{71D3B126-14C5-4892-BCDB-2727A1006AA4}" destId="{C1D08CD3-538A-4912-95CD-B66A28AD2137}" srcOrd="0" destOrd="0" presId="urn:microsoft.com/office/officeart/2005/8/layout/hierarchy2"/>
    <dgm:cxn modelId="{A2EE8EE9-5B02-410B-9AA4-1FF6E72C409D}" type="presParOf" srcId="{C1D08CD3-538A-4912-95CD-B66A28AD2137}" destId="{62BF05E8-0F88-4878-BFDD-751F45C255F1}" srcOrd="0" destOrd="0" presId="urn:microsoft.com/office/officeart/2005/8/layout/hierarchy2"/>
    <dgm:cxn modelId="{F5087F1B-B47C-40A2-BA3E-706760FE26E9}" type="presParOf" srcId="{71D3B126-14C5-4892-BCDB-2727A1006AA4}" destId="{B0EDA2FA-5807-40D6-9364-FBCD2F1082BE}" srcOrd="1" destOrd="0" presId="urn:microsoft.com/office/officeart/2005/8/layout/hierarchy2"/>
    <dgm:cxn modelId="{523A3576-BC31-4C73-A866-226ECEAD77CC}" type="presParOf" srcId="{B0EDA2FA-5807-40D6-9364-FBCD2F1082BE}" destId="{A1E95179-6B1C-4515-8323-99D2F6B7EFD6}" srcOrd="0" destOrd="0" presId="urn:microsoft.com/office/officeart/2005/8/layout/hierarchy2"/>
    <dgm:cxn modelId="{F75C7C54-CE2E-4812-92FF-0E552572E79A}" type="presParOf" srcId="{B0EDA2FA-5807-40D6-9364-FBCD2F1082BE}" destId="{D2D00990-51A0-4A1C-ADC5-D40A833896A4}" srcOrd="1" destOrd="0" presId="urn:microsoft.com/office/officeart/2005/8/layout/hierarchy2"/>
    <dgm:cxn modelId="{A145D9FE-DA82-4D21-A71D-7A93AE92C9B4}" type="presParOf" srcId="{71D3B126-14C5-4892-BCDB-2727A1006AA4}" destId="{76C1920D-61D7-48CA-A014-A7BBB7B808E6}" srcOrd="2" destOrd="0" presId="urn:microsoft.com/office/officeart/2005/8/layout/hierarchy2"/>
    <dgm:cxn modelId="{C3B28899-39B7-4E17-9499-419435F19EE2}" type="presParOf" srcId="{76C1920D-61D7-48CA-A014-A7BBB7B808E6}" destId="{E955E10D-B044-46A4-A7E3-F0FA6C76A9FB}" srcOrd="0" destOrd="0" presId="urn:microsoft.com/office/officeart/2005/8/layout/hierarchy2"/>
    <dgm:cxn modelId="{2B227B62-1479-402B-AD85-B651815B044D}" type="presParOf" srcId="{71D3B126-14C5-4892-BCDB-2727A1006AA4}" destId="{A0BD7967-16CC-4C1F-BC69-C615D2A60CFF}" srcOrd="3" destOrd="0" presId="urn:microsoft.com/office/officeart/2005/8/layout/hierarchy2"/>
    <dgm:cxn modelId="{7FA7DB63-4B84-492F-B428-05729ADB2F4D}" type="presParOf" srcId="{A0BD7967-16CC-4C1F-BC69-C615D2A60CFF}" destId="{FCE91FD1-58F8-46B7-94A4-E1A5CD2F0FA5}" srcOrd="0" destOrd="0" presId="urn:microsoft.com/office/officeart/2005/8/layout/hierarchy2"/>
    <dgm:cxn modelId="{FF47900D-F954-434D-B259-412B7DE443FD}" type="presParOf" srcId="{A0BD7967-16CC-4C1F-BC69-C615D2A60CFF}" destId="{16323054-1118-4047-9B0D-F4E95CAB9AD0}" srcOrd="1" destOrd="0" presId="urn:microsoft.com/office/officeart/2005/8/layout/hierarchy2"/>
    <dgm:cxn modelId="{807F3F91-9C16-47C3-9DE1-2E087283A986}" type="presParOf" srcId="{71D3B126-14C5-4892-BCDB-2727A1006AA4}" destId="{E955E5A6-95E3-4B82-AC5F-88C0B8B85C2D}" srcOrd="4" destOrd="0" presId="urn:microsoft.com/office/officeart/2005/8/layout/hierarchy2"/>
    <dgm:cxn modelId="{F519A5C9-4376-4CC5-AD27-B4AF1EA52EC4}" type="presParOf" srcId="{E955E5A6-95E3-4B82-AC5F-88C0B8B85C2D}" destId="{56EA67DD-0197-49B6-8619-41E4B550B8BE}" srcOrd="0" destOrd="0" presId="urn:microsoft.com/office/officeart/2005/8/layout/hierarchy2"/>
    <dgm:cxn modelId="{334ACFDD-5D21-49B6-A3C9-D99BBF8FEFE6}" type="presParOf" srcId="{71D3B126-14C5-4892-BCDB-2727A1006AA4}" destId="{D8F1D3B1-B84F-4255-84DA-A17579FF5CAD}" srcOrd="5" destOrd="0" presId="urn:microsoft.com/office/officeart/2005/8/layout/hierarchy2"/>
    <dgm:cxn modelId="{48A8C742-FFBF-405C-80D4-49BC5B36B09E}" type="presParOf" srcId="{D8F1D3B1-B84F-4255-84DA-A17579FF5CAD}" destId="{69DF40FA-ABC2-421C-821F-F3D34556CB16}" srcOrd="0" destOrd="0" presId="urn:microsoft.com/office/officeart/2005/8/layout/hierarchy2"/>
    <dgm:cxn modelId="{FBBFDF98-CD79-47C6-ABDB-4C0BC6259E2A}" type="presParOf" srcId="{D8F1D3B1-B84F-4255-84DA-A17579FF5CAD}" destId="{17E15695-FAA1-42ED-8B1A-117D459033DD}" srcOrd="1" destOrd="0" presId="urn:microsoft.com/office/officeart/2005/8/layout/hierarchy2"/>
    <dgm:cxn modelId="{34A8916D-BE5D-43D8-B100-14189E86E32F}" type="presParOf" srcId="{3E0A8220-3261-4E07-ACBB-F31ADAA1CD7B}" destId="{78C2AD6B-D47E-4D9D-B95B-791FC1CE281D}" srcOrd="2" destOrd="0" presId="urn:microsoft.com/office/officeart/2005/8/layout/hierarchy2"/>
    <dgm:cxn modelId="{2EDBF515-EAB8-41F3-8A5C-117692684A2C}" type="presParOf" srcId="{78C2AD6B-D47E-4D9D-B95B-791FC1CE281D}" destId="{178B5012-5710-42E0-9DA0-B8DD2EF68672}" srcOrd="0" destOrd="0" presId="urn:microsoft.com/office/officeart/2005/8/layout/hierarchy2"/>
    <dgm:cxn modelId="{029207B7-8570-4A0B-B884-F68C77969D84}" type="presParOf" srcId="{3E0A8220-3261-4E07-ACBB-F31ADAA1CD7B}" destId="{8C427CBE-B1C9-4CE7-9D36-8FB675411109}" srcOrd="3" destOrd="0" presId="urn:microsoft.com/office/officeart/2005/8/layout/hierarchy2"/>
    <dgm:cxn modelId="{407DD3A8-3C47-4274-947F-0E8538A2703E}" type="presParOf" srcId="{8C427CBE-B1C9-4CE7-9D36-8FB675411109}" destId="{FD9955EF-5E78-44DE-9F36-FBCB67B0F760}" srcOrd="0" destOrd="0" presId="urn:microsoft.com/office/officeart/2005/8/layout/hierarchy2"/>
    <dgm:cxn modelId="{3A59C2BE-7A5F-4960-96A3-0C9C5D31B47F}" type="presParOf" srcId="{8C427CBE-B1C9-4CE7-9D36-8FB675411109}" destId="{29DAB5B3-EDDA-47A9-B07F-AC6C6268A6B6}" srcOrd="1" destOrd="0" presId="urn:microsoft.com/office/officeart/2005/8/layout/hierarchy2"/>
    <dgm:cxn modelId="{9C4D4297-A0FE-4BA3-A870-9D7C82067750}" type="presParOf" srcId="{29DAB5B3-EDDA-47A9-B07F-AC6C6268A6B6}" destId="{31DE5C39-2E93-43F1-B6A7-95904F735306}" srcOrd="0" destOrd="0" presId="urn:microsoft.com/office/officeart/2005/8/layout/hierarchy2"/>
    <dgm:cxn modelId="{BF6FA75E-AF9D-4E66-A6A1-F1E9EA919AE4}" type="presParOf" srcId="{31DE5C39-2E93-43F1-B6A7-95904F735306}" destId="{F03D9138-5734-44C4-AAF2-BEBD6EF9CE15}" srcOrd="0" destOrd="0" presId="urn:microsoft.com/office/officeart/2005/8/layout/hierarchy2"/>
    <dgm:cxn modelId="{89549E42-6DAE-42F3-80F1-4957AFB939E5}" type="presParOf" srcId="{29DAB5B3-EDDA-47A9-B07F-AC6C6268A6B6}" destId="{F3567E3B-F232-41BA-A878-6972F95D013B}" srcOrd="1" destOrd="0" presId="urn:microsoft.com/office/officeart/2005/8/layout/hierarchy2"/>
    <dgm:cxn modelId="{0D6CE466-4835-4FD1-B7F6-82B0A73F4496}" type="presParOf" srcId="{F3567E3B-F232-41BA-A878-6972F95D013B}" destId="{8570AEA3-AA5A-4A2C-BB96-33FD3000A75E}" srcOrd="0" destOrd="0" presId="urn:microsoft.com/office/officeart/2005/8/layout/hierarchy2"/>
    <dgm:cxn modelId="{52E71D46-3791-490D-956B-9EF161A14A0F}" type="presParOf" srcId="{F3567E3B-F232-41BA-A878-6972F95D013B}" destId="{4A97217E-A7FE-4192-94C9-D2483C322C64}" srcOrd="1" destOrd="0" presId="urn:microsoft.com/office/officeart/2005/8/layout/hierarchy2"/>
    <dgm:cxn modelId="{1BABA72A-7C4A-4F85-A72E-0F30DA1D528D}" type="presParOf" srcId="{4A97217E-A7FE-4192-94C9-D2483C322C64}" destId="{D5A6AC10-0626-44B2-844F-F769ED9AFA9F}" srcOrd="0" destOrd="0" presId="urn:microsoft.com/office/officeart/2005/8/layout/hierarchy2"/>
    <dgm:cxn modelId="{178FC8F0-966E-4606-8CC0-CF15E5FA6403}" type="presParOf" srcId="{D5A6AC10-0626-44B2-844F-F769ED9AFA9F}" destId="{539F00F3-FC98-4CB7-A26C-F231C3BFEE23}" srcOrd="0" destOrd="0" presId="urn:microsoft.com/office/officeart/2005/8/layout/hierarchy2"/>
    <dgm:cxn modelId="{D6659F2C-40F5-4167-BC78-1A4700D4A9FC}" type="presParOf" srcId="{4A97217E-A7FE-4192-94C9-D2483C322C64}" destId="{5ED778E8-6B59-453F-A6A2-B66F504190C5}" srcOrd="1" destOrd="0" presId="urn:microsoft.com/office/officeart/2005/8/layout/hierarchy2"/>
    <dgm:cxn modelId="{D671FC44-D364-4831-A497-049588D53FF9}" type="presParOf" srcId="{5ED778E8-6B59-453F-A6A2-B66F504190C5}" destId="{B417C4C0-B8E5-4F3C-A1E3-4DF14B7A2BC3}" srcOrd="0" destOrd="0" presId="urn:microsoft.com/office/officeart/2005/8/layout/hierarchy2"/>
    <dgm:cxn modelId="{D6EFC16E-1262-49C5-B7B6-747C68032903}" type="presParOf" srcId="{5ED778E8-6B59-453F-A6A2-B66F504190C5}" destId="{B16CBC73-640D-4ABE-8D10-24E46CED4D7D}" srcOrd="1" destOrd="0" presId="urn:microsoft.com/office/officeart/2005/8/layout/hierarchy2"/>
    <dgm:cxn modelId="{61FB407B-3EBF-4DB8-8895-BAF9FA6CA43D}" type="presParOf" srcId="{4A97217E-A7FE-4192-94C9-D2483C322C64}" destId="{B65AD401-B16B-46C0-953C-2621D363D562}" srcOrd="2" destOrd="0" presId="urn:microsoft.com/office/officeart/2005/8/layout/hierarchy2"/>
    <dgm:cxn modelId="{3299AF62-5107-43E3-A55B-A58F4A6E3150}" type="presParOf" srcId="{B65AD401-B16B-46C0-953C-2621D363D562}" destId="{E4F9F080-5452-4F99-B162-39B63CA68609}" srcOrd="0" destOrd="0" presId="urn:microsoft.com/office/officeart/2005/8/layout/hierarchy2"/>
    <dgm:cxn modelId="{91275C4E-28DE-4179-BCB9-747EAB98B474}" type="presParOf" srcId="{4A97217E-A7FE-4192-94C9-D2483C322C64}" destId="{226AF0A3-A458-4487-9088-44AD4F0C2FB8}" srcOrd="3" destOrd="0" presId="urn:microsoft.com/office/officeart/2005/8/layout/hierarchy2"/>
    <dgm:cxn modelId="{A7A34521-B692-47F1-9BC4-CFE7FE7027A7}" type="presParOf" srcId="{226AF0A3-A458-4487-9088-44AD4F0C2FB8}" destId="{979F7D3E-7507-43B0-94BF-7DD36E694B0D}" srcOrd="0" destOrd="0" presId="urn:microsoft.com/office/officeart/2005/8/layout/hierarchy2"/>
    <dgm:cxn modelId="{3131E33B-5E08-4E74-9C83-CFE875BEBCF5}" type="presParOf" srcId="{226AF0A3-A458-4487-9088-44AD4F0C2FB8}" destId="{BF41BE1D-01E7-4AF0-B081-C142D262D204}" srcOrd="1" destOrd="0" presId="urn:microsoft.com/office/officeart/2005/8/layout/hierarchy2"/>
    <dgm:cxn modelId="{37DE489A-8636-4400-9163-C1D4A0D8A010}" type="presParOf" srcId="{4A97217E-A7FE-4192-94C9-D2483C322C64}" destId="{3E17EDD2-E9D2-4118-B665-1AD573353CE3}" srcOrd="4" destOrd="0" presId="urn:microsoft.com/office/officeart/2005/8/layout/hierarchy2"/>
    <dgm:cxn modelId="{C7FE1CC8-9C32-4011-A136-90CBF77BBC6C}" type="presParOf" srcId="{3E17EDD2-E9D2-4118-B665-1AD573353CE3}" destId="{D6542E0B-1D56-4CEC-B6E8-4C43DF7D7F57}" srcOrd="0" destOrd="0" presId="urn:microsoft.com/office/officeart/2005/8/layout/hierarchy2"/>
    <dgm:cxn modelId="{19264CCD-FE40-4054-9DF8-D57822A96F1B}" type="presParOf" srcId="{4A97217E-A7FE-4192-94C9-D2483C322C64}" destId="{FB25254E-6939-44F7-8951-75D671EA30E9}" srcOrd="5" destOrd="0" presId="urn:microsoft.com/office/officeart/2005/8/layout/hierarchy2"/>
    <dgm:cxn modelId="{CC0676D1-0DE1-40C7-AB5D-0969F8E6B21F}" type="presParOf" srcId="{FB25254E-6939-44F7-8951-75D671EA30E9}" destId="{4689592E-3613-4667-8AE9-AEA1084B14F4}" srcOrd="0" destOrd="0" presId="urn:microsoft.com/office/officeart/2005/8/layout/hierarchy2"/>
    <dgm:cxn modelId="{E0B04D98-7EF3-4218-B883-D676EAB41689}" type="presParOf" srcId="{FB25254E-6939-44F7-8951-75D671EA30E9}" destId="{AE1B9CEE-665A-4AA9-8520-39F5DF5203B9}" srcOrd="1" destOrd="0" presId="urn:microsoft.com/office/officeart/2005/8/layout/hierarchy2"/>
    <dgm:cxn modelId="{003CC57A-B84A-4AC0-9282-3C704F17B960}" type="presParOf" srcId="{26457793-A442-4C52-8FA3-BB17209EB9BF}" destId="{16998E1A-4EB0-4EF9-A520-DD5E95EFE9B3}" srcOrd="2" destOrd="0" presId="urn:microsoft.com/office/officeart/2005/8/layout/hierarchy2"/>
    <dgm:cxn modelId="{1F4D824B-70FA-4A1E-B0E1-33990AE47CF2}" type="presParOf" srcId="{16998E1A-4EB0-4EF9-A520-DD5E95EFE9B3}" destId="{CC2ADC12-6101-42FE-BF36-45AB6ADA1AD0}" srcOrd="0" destOrd="0" presId="urn:microsoft.com/office/officeart/2005/8/layout/hierarchy2"/>
    <dgm:cxn modelId="{D4C09B76-D342-4D02-9F80-A3BB81C9D6F9}" type="presParOf" srcId="{26457793-A442-4C52-8FA3-BB17209EB9BF}" destId="{DFB2CE7B-3F59-40BB-BF88-80AF21D74316}" srcOrd="3" destOrd="0" presId="urn:microsoft.com/office/officeart/2005/8/layout/hierarchy2"/>
    <dgm:cxn modelId="{7CE5E42F-2C52-4400-B721-CDFF4E8C226C}" type="presParOf" srcId="{DFB2CE7B-3F59-40BB-BF88-80AF21D74316}" destId="{28D3C1B8-DFFD-42B3-A223-BFC3C5646545}" srcOrd="0" destOrd="0" presId="urn:microsoft.com/office/officeart/2005/8/layout/hierarchy2"/>
    <dgm:cxn modelId="{E7CB2DE7-DAA1-43ED-8E76-7940B544ABBB}" type="presParOf" srcId="{DFB2CE7B-3F59-40BB-BF88-80AF21D74316}" destId="{DA4AB1C1-29EE-4096-BB31-3ADC19669098}" srcOrd="1" destOrd="0" presId="urn:microsoft.com/office/officeart/2005/8/layout/hierarchy2"/>
    <dgm:cxn modelId="{1F561A4D-D01E-4938-BB9E-0237CD5B49E7}" type="presParOf" srcId="{DA4AB1C1-29EE-4096-BB31-3ADC19669098}" destId="{66A66B17-BD16-4395-B025-66C0897264AE}" srcOrd="0" destOrd="0" presId="urn:microsoft.com/office/officeart/2005/8/layout/hierarchy2"/>
    <dgm:cxn modelId="{BCC0D024-20AA-47B3-AA5C-676F83A619F2}" type="presParOf" srcId="{66A66B17-BD16-4395-B025-66C0897264AE}" destId="{D3AC16B1-65B1-407A-8F16-9D9A3F5F5249}" srcOrd="0" destOrd="0" presId="urn:microsoft.com/office/officeart/2005/8/layout/hierarchy2"/>
    <dgm:cxn modelId="{92C85D5B-E78D-43B9-A948-51F09FA9A6F9}" type="presParOf" srcId="{DA4AB1C1-29EE-4096-BB31-3ADC19669098}" destId="{695857F2-8FAF-41FE-8AAF-2A60A687489E}" srcOrd="1" destOrd="0" presId="urn:microsoft.com/office/officeart/2005/8/layout/hierarchy2"/>
    <dgm:cxn modelId="{E104B360-B83A-41A8-8F0A-32C4FB56CD7D}" type="presParOf" srcId="{695857F2-8FAF-41FE-8AAF-2A60A687489E}" destId="{A97C5D92-F4D5-489D-AF9F-7D0F101FC5B4}" srcOrd="0" destOrd="0" presId="urn:microsoft.com/office/officeart/2005/8/layout/hierarchy2"/>
    <dgm:cxn modelId="{7DDB3B9B-77BE-4B7D-8577-99156C878F5D}" type="presParOf" srcId="{695857F2-8FAF-41FE-8AAF-2A60A687489E}" destId="{CA547A59-3C94-40F0-A136-93AC8156744B}" srcOrd="1" destOrd="0" presId="urn:microsoft.com/office/officeart/2005/8/layout/hierarchy2"/>
    <dgm:cxn modelId="{6016B3B5-9980-47AA-AFA3-E99220A2C6FA}" type="presParOf" srcId="{DA4AB1C1-29EE-4096-BB31-3ADC19669098}" destId="{683A041B-E277-453B-AE6F-2BCFED4417DC}" srcOrd="2" destOrd="0" presId="urn:microsoft.com/office/officeart/2005/8/layout/hierarchy2"/>
    <dgm:cxn modelId="{EE2EB3AE-20EA-4565-9670-D96DB06C8912}" type="presParOf" srcId="{683A041B-E277-453B-AE6F-2BCFED4417DC}" destId="{3A8B7C6F-FCCA-4332-ADB8-DB8403BDDDC8}" srcOrd="0" destOrd="0" presId="urn:microsoft.com/office/officeart/2005/8/layout/hierarchy2"/>
    <dgm:cxn modelId="{25E5F0F1-D36E-43C6-9612-C833B97917E2}" type="presParOf" srcId="{DA4AB1C1-29EE-4096-BB31-3ADC19669098}" destId="{8A0A5A6B-40F4-4079-BBB4-0DDB36CEAD3C}" srcOrd="3" destOrd="0" presId="urn:microsoft.com/office/officeart/2005/8/layout/hierarchy2"/>
    <dgm:cxn modelId="{2574B701-F826-408B-A0CB-C6C176949B32}" type="presParOf" srcId="{8A0A5A6B-40F4-4079-BBB4-0DDB36CEAD3C}" destId="{3F03F34D-6A5A-4F08-B57C-56B3F8B00447}" srcOrd="0" destOrd="0" presId="urn:microsoft.com/office/officeart/2005/8/layout/hierarchy2"/>
    <dgm:cxn modelId="{7E3C44E1-F35F-465D-AB0E-EA292ABE6F5F}" type="presParOf" srcId="{8A0A5A6B-40F4-4079-BBB4-0DDB36CEAD3C}" destId="{2B5117C3-B34B-47BE-A8E8-4FA810D8F228}" srcOrd="1" destOrd="0" presId="urn:microsoft.com/office/officeart/2005/8/layout/hierarchy2"/>
    <dgm:cxn modelId="{474EE664-875C-46B4-B36B-6F6BB528C76D}" type="presParOf" srcId="{DA4AB1C1-29EE-4096-BB31-3ADC19669098}" destId="{CCAB9C17-B7BF-440C-8FDF-B4729BE87CE6}" srcOrd="4" destOrd="0" presId="urn:microsoft.com/office/officeart/2005/8/layout/hierarchy2"/>
    <dgm:cxn modelId="{D525D40D-C735-4BDB-9264-5E5B8DCA0DF9}" type="presParOf" srcId="{CCAB9C17-B7BF-440C-8FDF-B4729BE87CE6}" destId="{C41598C1-06CE-4F42-959E-2C62E6C99E1E}" srcOrd="0" destOrd="0" presId="urn:microsoft.com/office/officeart/2005/8/layout/hierarchy2"/>
    <dgm:cxn modelId="{4EDE0811-BBDD-4F4D-A014-B0E210F9A032}" type="presParOf" srcId="{DA4AB1C1-29EE-4096-BB31-3ADC19669098}" destId="{30042B79-5036-49D0-A6B5-61D23B69DC14}" srcOrd="5" destOrd="0" presId="urn:microsoft.com/office/officeart/2005/8/layout/hierarchy2"/>
    <dgm:cxn modelId="{E923E5A9-419F-47AE-91A6-0C4153C23CBE}" type="presParOf" srcId="{30042B79-5036-49D0-A6B5-61D23B69DC14}" destId="{8B4884D7-64F5-4BA1-AC3A-D7E5083D028C}" srcOrd="0" destOrd="0" presId="urn:microsoft.com/office/officeart/2005/8/layout/hierarchy2"/>
    <dgm:cxn modelId="{684BD49E-8C20-4D41-9E7C-907E642ED946}" type="presParOf" srcId="{30042B79-5036-49D0-A6B5-61D23B69DC14}" destId="{1E1C37C7-12E7-4E02-BCEA-3F634BA36B2F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E4C604-2F5E-496C-B1CF-15604B62E0FB}">
      <dsp:nvSpPr>
        <dsp:cNvPr id="0" name=""/>
        <dsp:cNvSpPr/>
      </dsp:nvSpPr>
      <dsp:spPr>
        <a:xfrm>
          <a:off x="306151" y="1944008"/>
          <a:ext cx="795344" cy="397672"/>
        </a:xfrm>
        <a:prstGeom prst="roundRect">
          <a:avLst>
            <a:gd name="adj" fmla="val 10000"/>
          </a:avLst>
        </a:prstGeom>
        <a:noFill/>
        <a:ln w="6350" cap="flat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900" kern="1200" dirty="0">
              <a:solidFill>
                <a:schemeClr val="tx1"/>
              </a:solidFill>
            </a:rPr>
            <a:t>篩查群體</a:t>
          </a:r>
        </a:p>
      </dsp:txBody>
      <dsp:txXfrm>
        <a:off x="317798" y="1955655"/>
        <a:ext cx="772050" cy="374378"/>
      </dsp:txXfrm>
    </dsp:sp>
    <dsp:sp modelId="{F23FB2FB-8FCC-4831-A4D4-8FEC4C4B3579}">
      <dsp:nvSpPr>
        <dsp:cNvPr id="0" name=""/>
        <dsp:cNvSpPr/>
      </dsp:nvSpPr>
      <dsp:spPr>
        <a:xfrm rot="17500715">
          <a:off x="829950" y="1732743"/>
          <a:ext cx="861229" cy="19885"/>
        </a:xfrm>
        <a:custGeom>
          <a:avLst/>
          <a:gdLst/>
          <a:ahLst/>
          <a:cxnLst/>
          <a:rect l="0" t="0" r="0" b="0"/>
          <a:pathLst>
            <a:path>
              <a:moveTo>
                <a:pt x="0" y="9942"/>
              </a:moveTo>
              <a:lnTo>
                <a:pt x="861229" y="9942"/>
              </a:lnTo>
            </a:path>
          </a:pathLst>
        </a:custGeom>
        <a:noFill/>
        <a:ln w="6350" cap="flat" cmpd="sng" algn="ctr">
          <a:solidFill>
            <a:schemeClr val="accent1"/>
          </a:solidFill>
          <a:prstDash val="solid"/>
          <a:tailEnd type="stealth" w="sm" len="lg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>
            <a:solidFill>
              <a:schemeClr val="tx1"/>
            </a:solidFill>
          </a:endParaRPr>
        </a:p>
      </dsp:txBody>
      <dsp:txXfrm>
        <a:off x="1239034" y="1721155"/>
        <a:ext cx="43061" cy="43061"/>
      </dsp:txXfrm>
    </dsp:sp>
    <dsp:sp modelId="{B8AE7F97-7893-446B-B5F7-8AEF5682E9E5}">
      <dsp:nvSpPr>
        <dsp:cNvPr id="0" name=""/>
        <dsp:cNvSpPr/>
      </dsp:nvSpPr>
      <dsp:spPr>
        <a:xfrm>
          <a:off x="1419633" y="1143692"/>
          <a:ext cx="795344" cy="397672"/>
        </a:xfrm>
        <a:prstGeom prst="roundRect">
          <a:avLst>
            <a:gd name="adj" fmla="val 10000"/>
          </a:avLst>
        </a:prstGeom>
        <a:noFill/>
        <a:ln w="6350" cap="flat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900" kern="1200" dirty="0">
              <a:solidFill>
                <a:schemeClr val="tx1"/>
              </a:solidFill>
            </a:rPr>
            <a:t>篩查陽性</a:t>
          </a:r>
        </a:p>
      </dsp:txBody>
      <dsp:txXfrm>
        <a:off x="1431280" y="1155339"/>
        <a:ext cx="772050" cy="374378"/>
      </dsp:txXfrm>
    </dsp:sp>
    <dsp:sp modelId="{83B9175F-A35A-4AB3-9ED2-BD47BEB4207B}">
      <dsp:nvSpPr>
        <dsp:cNvPr id="0" name=""/>
        <dsp:cNvSpPr/>
      </dsp:nvSpPr>
      <dsp:spPr>
        <a:xfrm rot="17692822">
          <a:off x="1995964" y="989593"/>
          <a:ext cx="756165" cy="19885"/>
        </a:xfrm>
        <a:custGeom>
          <a:avLst/>
          <a:gdLst/>
          <a:ahLst/>
          <a:cxnLst/>
          <a:rect l="0" t="0" r="0" b="0"/>
          <a:pathLst>
            <a:path>
              <a:moveTo>
                <a:pt x="0" y="9942"/>
              </a:moveTo>
              <a:lnTo>
                <a:pt x="756165" y="9942"/>
              </a:lnTo>
            </a:path>
          </a:pathLst>
        </a:custGeom>
        <a:noFill/>
        <a:ln w="6350" cap="flat" cmpd="sng" algn="ctr">
          <a:solidFill>
            <a:schemeClr val="accent1"/>
          </a:solidFill>
          <a:prstDash val="solid"/>
          <a:tailEnd type="stealth" w="sm" len="lg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>
            <a:solidFill>
              <a:schemeClr val="tx1"/>
            </a:solidFill>
          </a:endParaRPr>
        </a:p>
      </dsp:txBody>
      <dsp:txXfrm>
        <a:off x="2355143" y="980632"/>
        <a:ext cx="37808" cy="37808"/>
      </dsp:txXfrm>
    </dsp:sp>
    <dsp:sp modelId="{E4106CEE-A739-45CF-915C-21D50F9A97A1}">
      <dsp:nvSpPr>
        <dsp:cNvPr id="0" name=""/>
        <dsp:cNvSpPr/>
      </dsp:nvSpPr>
      <dsp:spPr>
        <a:xfrm>
          <a:off x="2533116" y="457707"/>
          <a:ext cx="795344" cy="397672"/>
        </a:xfrm>
        <a:prstGeom prst="roundRect">
          <a:avLst>
            <a:gd name="adj" fmla="val 10000"/>
          </a:avLst>
        </a:prstGeom>
        <a:noFill/>
        <a:ln w="6350" cap="flat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900" kern="1200" dirty="0">
              <a:solidFill>
                <a:schemeClr val="tx1"/>
              </a:solidFill>
            </a:rPr>
            <a:t>確診陰性</a:t>
          </a:r>
        </a:p>
      </dsp:txBody>
      <dsp:txXfrm>
        <a:off x="2544763" y="469354"/>
        <a:ext cx="772050" cy="374378"/>
      </dsp:txXfrm>
    </dsp:sp>
    <dsp:sp modelId="{C1D08CD3-538A-4912-95CD-B66A28AD2137}">
      <dsp:nvSpPr>
        <dsp:cNvPr id="0" name=""/>
        <dsp:cNvSpPr/>
      </dsp:nvSpPr>
      <dsp:spPr>
        <a:xfrm rot="18289469">
          <a:off x="3208982" y="417939"/>
          <a:ext cx="557096" cy="19885"/>
        </a:xfrm>
        <a:custGeom>
          <a:avLst/>
          <a:gdLst/>
          <a:ahLst/>
          <a:cxnLst/>
          <a:rect l="0" t="0" r="0" b="0"/>
          <a:pathLst>
            <a:path>
              <a:moveTo>
                <a:pt x="0" y="9942"/>
              </a:moveTo>
              <a:lnTo>
                <a:pt x="557096" y="9942"/>
              </a:lnTo>
            </a:path>
          </a:pathLst>
        </a:custGeom>
        <a:noFill/>
        <a:ln w="6350" cap="flat" cmpd="sng" algn="ctr">
          <a:solidFill>
            <a:schemeClr val="accent1"/>
          </a:solidFill>
          <a:prstDash val="solid"/>
          <a:tailEnd type="stealth" w="sm" len="lg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>
            <a:solidFill>
              <a:schemeClr val="tx1"/>
            </a:solidFill>
          </a:endParaRPr>
        </a:p>
      </dsp:txBody>
      <dsp:txXfrm>
        <a:off x="3473602" y="413954"/>
        <a:ext cx="27854" cy="27854"/>
      </dsp:txXfrm>
    </dsp:sp>
    <dsp:sp modelId="{A1E95179-6B1C-4515-8323-99D2F6B7EFD6}">
      <dsp:nvSpPr>
        <dsp:cNvPr id="0" name=""/>
        <dsp:cNvSpPr/>
      </dsp:nvSpPr>
      <dsp:spPr>
        <a:xfrm>
          <a:off x="3646599" y="384"/>
          <a:ext cx="795344" cy="397672"/>
        </a:xfrm>
        <a:prstGeom prst="roundRect">
          <a:avLst>
            <a:gd name="adj" fmla="val 10000"/>
          </a:avLst>
        </a:prstGeom>
        <a:noFill/>
        <a:ln w="6350" cap="flat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900" kern="1200" dirty="0">
              <a:solidFill>
                <a:schemeClr val="tx1"/>
              </a:solidFill>
            </a:rPr>
            <a:t>自然健康狀態進入下一迴圈</a:t>
          </a:r>
        </a:p>
      </dsp:txBody>
      <dsp:txXfrm>
        <a:off x="3658246" y="12031"/>
        <a:ext cx="772050" cy="374378"/>
      </dsp:txXfrm>
    </dsp:sp>
    <dsp:sp modelId="{76C1920D-61D7-48CA-A014-A7BBB7B808E6}">
      <dsp:nvSpPr>
        <dsp:cNvPr id="0" name=""/>
        <dsp:cNvSpPr/>
      </dsp:nvSpPr>
      <dsp:spPr>
        <a:xfrm>
          <a:off x="3328461" y="646601"/>
          <a:ext cx="318137" cy="19885"/>
        </a:xfrm>
        <a:custGeom>
          <a:avLst/>
          <a:gdLst/>
          <a:ahLst/>
          <a:cxnLst/>
          <a:rect l="0" t="0" r="0" b="0"/>
          <a:pathLst>
            <a:path>
              <a:moveTo>
                <a:pt x="0" y="9942"/>
              </a:moveTo>
              <a:lnTo>
                <a:pt x="318137" y="9942"/>
              </a:lnTo>
            </a:path>
          </a:pathLst>
        </a:custGeom>
        <a:noFill/>
        <a:ln w="6350" cap="flat" cmpd="sng" algn="ctr">
          <a:solidFill>
            <a:schemeClr val="accent1"/>
          </a:solidFill>
          <a:prstDash val="solid"/>
          <a:tailEnd type="stealth" w="sm" len="lg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>
            <a:solidFill>
              <a:schemeClr val="tx1"/>
            </a:solidFill>
          </a:endParaRPr>
        </a:p>
      </dsp:txBody>
      <dsp:txXfrm>
        <a:off x="3479576" y="648590"/>
        <a:ext cx="15906" cy="15906"/>
      </dsp:txXfrm>
    </dsp:sp>
    <dsp:sp modelId="{FCE91FD1-58F8-46B7-94A4-E1A5CD2F0FA5}">
      <dsp:nvSpPr>
        <dsp:cNvPr id="0" name=""/>
        <dsp:cNvSpPr/>
      </dsp:nvSpPr>
      <dsp:spPr>
        <a:xfrm>
          <a:off x="3646599" y="457707"/>
          <a:ext cx="795344" cy="397672"/>
        </a:xfrm>
        <a:prstGeom prst="roundRect">
          <a:avLst>
            <a:gd name="adj" fmla="val 10000"/>
          </a:avLst>
        </a:prstGeom>
        <a:noFill/>
        <a:ln w="6350" cap="flat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900" kern="1200" dirty="0">
              <a:solidFill>
                <a:schemeClr val="tx1"/>
              </a:solidFill>
            </a:rPr>
            <a:t>自然死亡狀態進入下一迴圈</a:t>
          </a:r>
        </a:p>
      </dsp:txBody>
      <dsp:txXfrm>
        <a:off x="3658246" y="469354"/>
        <a:ext cx="772050" cy="374378"/>
      </dsp:txXfrm>
    </dsp:sp>
    <dsp:sp modelId="{E955E5A6-95E3-4B82-AC5F-88C0B8B85C2D}">
      <dsp:nvSpPr>
        <dsp:cNvPr id="0" name=""/>
        <dsp:cNvSpPr/>
      </dsp:nvSpPr>
      <dsp:spPr>
        <a:xfrm rot="3310531">
          <a:off x="3208982" y="875262"/>
          <a:ext cx="557096" cy="19885"/>
        </a:xfrm>
        <a:custGeom>
          <a:avLst/>
          <a:gdLst/>
          <a:ahLst/>
          <a:cxnLst/>
          <a:rect l="0" t="0" r="0" b="0"/>
          <a:pathLst>
            <a:path>
              <a:moveTo>
                <a:pt x="0" y="9942"/>
              </a:moveTo>
              <a:lnTo>
                <a:pt x="557096" y="9942"/>
              </a:lnTo>
            </a:path>
          </a:pathLst>
        </a:custGeom>
        <a:noFill/>
        <a:ln w="6350" cap="flat" cmpd="sng" algn="ctr">
          <a:solidFill>
            <a:schemeClr val="accent1"/>
          </a:solidFill>
          <a:prstDash val="solid"/>
          <a:tailEnd type="stealth" w="sm" len="lg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>
            <a:solidFill>
              <a:schemeClr val="tx1"/>
            </a:solidFill>
          </a:endParaRPr>
        </a:p>
      </dsp:txBody>
      <dsp:txXfrm>
        <a:off x="3473602" y="871278"/>
        <a:ext cx="27854" cy="27854"/>
      </dsp:txXfrm>
    </dsp:sp>
    <dsp:sp modelId="{69DF40FA-ABC2-421C-821F-F3D34556CB16}">
      <dsp:nvSpPr>
        <dsp:cNvPr id="0" name=""/>
        <dsp:cNvSpPr/>
      </dsp:nvSpPr>
      <dsp:spPr>
        <a:xfrm>
          <a:off x="3646599" y="915030"/>
          <a:ext cx="795344" cy="397672"/>
        </a:xfrm>
        <a:prstGeom prst="roundRect">
          <a:avLst>
            <a:gd name="adj" fmla="val 10000"/>
          </a:avLst>
        </a:prstGeom>
        <a:noFill/>
        <a:ln w="6350" cap="flat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900" kern="1200" dirty="0">
              <a:solidFill>
                <a:schemeClr val="tx1"/>
              </a:solidFill>
            </a:rPr>
            <a:t>自然疾病狀態進入下一迴圈</a:t>
          </a:r>
        </a:p>
      </dsp:txBody>
      <dsp:txXfrm>
        <a:off x="3658246" y="926677"/>
        <a:ext cx="772050" cy="374378"/>
      </dsp:txXfrm>
    </dsp:sp>
    <dsp:sp modelId="{78C2AD6B-D47E-4D9D-B95B-791FC1CE281D}">
      <dsp:nvSpPr>
        <dsp:cNvPr id="0" name=""/>
        <dsp:cNvSpPr/>
      </dsp:nvSpPr>
      <dsp:spPr>
        <a:xfrm rot="3907178">
          <a:off x="1995964" y="1675578"/>
          <a:ext cx="756165" cy="19885"/>
        </a:xfrm>
        <a:custGeom>
          <a:avLst/>
          <a:gdLst/>
          <a:ahLst/>
          <a:cxnLst/>
          <a:rect l="0" t="0" r="0" b="0"/>
          <a:pathLst>
            <a:path>
              <a:moveTo>
                <a:pt x="0" y="9942"/>
              </a:moveTo>
              <a:lnTo>
                <a:pt x="756165" y="9942"/>
              </a:lnTo>
            </a:path>
          </a:pathLst>
        </a:custGeom>
        <a:noFill/>
        <a:ln w="6350" cap="flat" cmpd="sng" algn="ctr">
          <a:solidFill>
            <a:schemeClr val="accent1"/>
          </a:solidFill>
          <a:prstDash val="solid"/>
          <a:tailEnd type="stealth" w="sm" len="lg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>
            <a:solidFill>
              <a:schemeClr val="tx1"/>
            </a:solidFill>
          </a:endParaRPr>
        </a:p>
      </dsp:txBody>
      <dsp:txXfrm>
        <a:off x="2355143" y="1666617"/>
        <a:ext cx="37808" cy="37808"/>
      </dsp:txXfrm>
    </dsp:sp>
    <dsp:sp modelId="{FD9955EF-5E78-44DE-9F36-FBCB67B0F760}">
      <dsp:nvSpPr>
        <dsp:cNvPr id="0" name=""/>
        <dsp:cNvSpPr/>
      </dsp:nvSpPr>
      <dsp:spPr>
        <a:xfrm>
          <a:off x="2533116" y="1829677"/>
          <a:ext cx="795344" cy="397672"/>
        </a:xfrm>
        <a:prstGeom prst="roundRect">
          <a:avLst>
            <a:gd name="adj" fmla="val 10000"/>
          </a:avLst>
        </a:prstGeom>
        <a:noFill/>
        <a:ln w="6350" cap="flat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900" kern="1200" dirty="0">
              <a:solidFill>
                <a:schemeClr val="tx1"/>
              </a:solidFill>
            </a:rPr>
            <a:t>確診陽性</a:t>
          </a:r>
        </a:p>
      </dsp:txBody>
      <dsp:txXfrm>
        <a:off x="2544763" y="1841324"/>
        <a:ext cx="772050" cy="374378"/>
      </dsp:txXfrm>
    </dsp:sp>
    <dsp:sp modelId="{31DE5C39-2E93-43F1-B6A7-95904F735306}">
      <dsp:nvSpPr>
        <dsp:cNvPr id="0" name=""/>
        <dsp:cNvSpPr/>
      </dsp:nvSpPr>
      <dsp:spPr>
        <a:xfrm>
          <a:off x="3328461" y="2018570"/>
          <a:ext cx="318137" cy="19885"/>
        </a:xfrm>
        <a:custGeom>
          <a:avLst/>
          <a:gdLst/>
          <a:ahLst/>
          <a:cxnLst/>
          <a:rect l="0" t="0" r="0" b="0"/>
          <a:pathLst>
            <a:path>
              <a:moveTo>
                <a:pt x="0" y="9942"/>
              </a:moveTo>
              <a:lnTo>
                <a:pt x="318137" y="9942"/>
              </a:lnTo>
            </a:path>
          </a:pathLst>
        </a:custGeom>
        <a:noFill/>
        <a:ln w="6350" cap="flat" cmpd="sng" algn="ctr">
          <a:solidFill>
            <a:schemeClr val="accent1"/>
          </a:solidFill>
          <a:prstDash val="solid"/>
          <a:tailEnd type="stealth" w="sm" len="lg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>
            <a:solidFill>
              <a:schemeClr val="tx1"/>
            </a:solidFill>
          </a:endParaRPr>
        </a:p>
      </dsp:txBody>
      <dsp:txXfrm>
        <a:off x="3479576" y="2020560"/>
        <a:ext cx="15906" cy="15906"/>
      </dsp:txXfrm>
    </dsp:sp>
    <dsp:sp modelId="{8570AEA3-AA5A-4A2C-BB96-33FD3000A75E}">
      <dsp:nvSpPr>
        <dsp:cNvPr id="0" name=""/>
        <dsp:cNvSpPr/>
      </dsp:nvSpPr>
      <dsp:spPr>
        <a:xfrm>
          <a:off x="3646599" y="1829677"/>
          <a:ext cx="795344" cy="397672"/>
        </a:xfrm>
        <a:prstGeom prst="roundRect">
          <a:avLst>
            <a:gd name="adj" fmla="val 10000"/>
          </a:avLst>
        </a:prstGeom>
        <a:noFill/>
        <a:ln w="6350" cap="flat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900" kern="1200" dirty="0">
              <a:solidFill>
                <a:schemeClr val="tx1"/>
              </a:solidFill>
            </a:rPr>
            <a:t>治療</a:t>
          </a:r>
        </a:p>
      </dsp:txBody>
      <dsp:txXfrm>
        <a:off x="3658246" y="1841324"/>
        <a:ext cx="772050" cy="374378"/>
      </dsp:txXfrm>
    </dsp:sp>
    <dsp:sp modelId="{D5A6AC10-0626-44B2-844F-F769ED9AFA9F}">
      <dsp:nvSpPr>
        <dsp:cNvPr id="0" name=""/>
        <dsp:cNvSpPr/>
      </dsp:nvSpPr>
      <dsp:spPr>
        <a:xfrm rot="18289469">
          <a:off x="4322464" y="1789909"/>
          <a:ext cx="557096" cy="19885"/>
        </a:xfrm>
        <a:custGeom>
          <a:avLst/>
          <a:gdLst/>
          <a:ahLst/>
          <a:cxnLst/>
          <a:rect l="0" t="0" r="0" b="0"/>
          <a:pathLst>
            <a:path>
              <a:moveTo>
                <a:pt x="0" y="9942"/>
              </a:moveTo>
              <a:lnTo>
                <a:pt x="557096" y="9942"/>
              </a:lnTo>
            </a:path>
          </a:pathLst>
        </a:custGeom>
        <a:noFill/>
        <a:ln w="6350" cap="flat" cmpd="sng" algn="ctr">
          <a:solidFill>
            <a:schemeClr val="accent1"/>
          </a:solidFill>
          <a:prstDash val="solid"/>
          <a:tailEnd type="stealth" w="sm" len="lg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>
            <a:solidFill>
              <a:schemeClr val="tx1"/>
            </a:solidFill>
          </a:endParaRPr>
        </a:p>
      </dsp:txBody>
      <dsp:txXfrm>
        <a:off x="4587085" y="1785924"/>
        <a:ext cx="27854" cy="27854"/>
      </dsp:txXfrm>
    </dsp:sp>
    <dsp:sp modelId="{B417C4C0-B8E5-4F3C-A1E3-4DF14B7A2BC3}">
      <dsp:nvSpPr>
        <dsp:cNvPr id="0" name=""/>
        <dsp:cNvSpPr/>
      </dsp:nvSpPr>
      <dsp:spPr>
        <a:xfrm>
          <a:off x="4760081" y="1372354"/>
          <a:ext cx="795344" cy="397672"/>
        </a:xfrm>
        <a:prstGeom prst="roundRect">
          <a:avLst>
            <a:gd name="adj" fmla="val 10000"/>
          </a:avLst>
        </a:prstGeom>
        <a:noFill/>
        <a:ln w="6350" cap="flat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900" kern="1200" dirty="0">
              <a:solidFill>
                <a:schemeClr val="tx1"/>
              </a:solidFill>
            </a:rPr>
            <a:t>治療健康狀態進入下一迴圈</a:t>
          </a:r>
        </a:p>
      </dsp:txBody>
      <dsp:txXfrm>
        <a:off x="4771728" y="1384001"/>
        <a:ext cx="772050" cy="374378"/>
      </dsp:txXfrm>
    </dsp:sp>
    <dsp:sp modelId="{B65AD401-B16B-46C0-953C-2621D363D562}">
      <dsp:nvSpPr>
        <dsp:cNvPr id="0" name=""/>
        <dsp:cNvSpPr/>
      </dsp:nvSpPr>
      <dsp:spPr>
        <a:xfrm>
          <a:off x="4441944" y="2018570"/>
          <a:ext cx="318137" cy="19885"/>
        </a:xfrm>
        <a:custGeom>
          <a:avLst/>
          <a:gdLst/>
          <a:ahLst/>
          <a:cxnLst/>
          <a:rect l="0" t="0" r="0" b="0"/>
          <a:pathLst>
            <a:path>
              <a:moveTo>
                <a:pt x="0" y="9942"/>
              </a:moveTo>
              <a:lnTo>
                <a:pt x="318137" y="9942"/>
              </a:lnTo>
            </a:path>
          </a:pathLst>
        </a:custGeom>
        <a:noFill/>
        <a:ln w="6350" cap="flat" cmpd="sng" algn="ctr">
          <a:solidFill>
            <a:schemeClr val="accent1"/>
          </a:solidFill>
          <a:prstDash val="solid"/>
          <a:tailEnd type="stealth" w="sm" len="lg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>
            <a:solidFill>
              <a:schemeClr val="tx1"/>
            </a:solidFill>
          </a:endParaRPr>
        </a:p>
      </dsp:txBody>
      <dsp:txXfrm>
        <a:off x="4593059" y="2020560"/>
        <a:ext cx="15906" cy="15906"/>
      </dsp:txXfrm>
    </dsp:sp>
    <dsp:sp modelId="{979F7D3E-7507-43B0-94BF-7DD36E694B0D}">
      <dsp:nvSpPr>
        <dsp:cNvPr id="0" name=""/>
        <dsp:cNvSpPr/>
      </dsp:nvSpPr>
      <dsp:spPr>
        <a:xfrm>
          <a:off x="4760081" y="1829677"/>
          <a:ext cx="795344" cy="397672"/>
        </a:xfrm>
        <a:prstGeom prst="roundRect">
          <a:avLst>
            <a:gd name="adj" fmla="val 10000"/>
          </a:avLst>
        </a:prstGeom>
        <a:noFill/>
        <a:ln w="6350" cap="flat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900" kern="1200" dirty="0">
              <a:solidFill>
                <a:schemeClr val="tx1"/>
              </a:solidFill>
            </a:rPr>
            <a:t>治療死亡狀態進入下一迴圈</a:t>
          </a:r>
        </a:p>
      </dsp:txBody>
      <dsp:txXfrm>
        <a:off x="4771728" y="1841324"/>
        <a:ext cx="772050" cy="374378"/>
      </dsp:txXfrm>
    </dsp:sp>
    <dsp:sp modelId="{3E17EDD2-E9D2-4118-B665-1AD573353CE3}">
      <dsp:nvSpPr>
        <dsp:cNvPr id="0" name=""/>
        <dsp:cNvSpPr/>
      </dsp:nvSpPr>
      <dsp:spPr>
        <a:xfrm rot="3310531">
          <a:off x="4322464" y="2247232"/>
          <a:ext cx="557096" cy="19885"/>
        </a:xfrm>
        <a:custGeom>
          <a:avLst/>
          <a:gdLst/>
          <a:ahLst/>
          <a:cxnLst/>
          <a:rect l="0" t="0" r="0" b="0"/>
          <a:pathLst>
            <a:path>
              <a:moveTo>
                <a:pt x="0" y="9942"/>
              </a:moveTo>
              <a:lnTo>
                <a:pt x="557096" y="9942"/>
              </a:lnTo>
            </a:path>
          </a:pathLst>
        </a:custGeom>
        <a:noFill/>
        <a:ln w="6350" cap="flat" cmpd="sng" algn="ctr">
          <a:solidFill>
            <a:schemeClr val="accent1"/>
          </a:solidFill>
          <a:prstDash val="solid"/>
          <a:tailEnd type="stealth" w="sm" len="lg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>
            <a:solidFill>
              <a:schemeClr val="tx1"/>
            </a:solidFill>
          </a:endParaRPr>
        </a:p>
      </dsp:txBody>
      <dsp:txXfrm>
        <a:off x="4587085" y="2243247"/>
        <a:ext cx="27854" cy="27854"/>
      </dsp:txXfrm>
    </dsp:sp>
    <dsp:sp modelId="{4689592E-3613-4667-8AE9-AEA1084B14F4}">
      <dsp:nvSpPr>
        <dsp:cNvPr id="0" name=""/>
        <dsp:cNvSpPr/>
      </dsp:nvSpPr>
      <dsp:spPr>
        <a:xfrm>
          <a:off x="4760081" y="2287000"/>
          <a:ext cx="795344" cy="397672"/>
        </a:xfrm>
        <a:prstGeom prst="roundRect">
          <a:avLst>
            <a:gd name="adj" fmla="val 10000"/>
          </a:avLst>
        </a:prstGeom>
        <a:noFill/>
        <a:ln w="6350" cap="flat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900" kern="1200" dirty="0">
              <a:solidFill>
                <a:schemeClr val="tx1"/>
              </a:solidFill>
            </a:rPr>
            <a:t>治療疾病狀態進入下一迴圈</a:t>
          </a:r>
        </a:p>
      </dsp:txBody>
      <dsp:txXfrm>
        <a:off x="4771728" y="2298647"/>
        <a:ext cx="772050" cy="374378"/>
      </dsp:txXfrm>
    </dsp:sp>
    <dsp:sp modelId="{16998E1A-4EB0-4EF9-A520-DD5E95EFE9B3}">
      <dsp:nvSpPr>
        <dsp:cNvPr id="0" name=""/>
        <dsp:cNvSpPr/>
      </dsp:nvSpPr>
      <dsp:spPr>
        <a:xfrm rot="4099285">
          <a:off x="829950" y="2533059"/>
          <a:ext cx="861229" cy="19885"/>
        </a:xfrm>
        <a:custGeom>
          <a:avLst/>
          <a:gdLst/>
          <a:ahLst/>
          <a:cxnLst/>
          <a:rect l="0" t="0" r="0" b="0"/>
          <a:pathLst>
            <a:path>
              <a:moveTo>
                <a:pt x="0" y="9942"/>
              </a:moveTo>
              <a:lnTo>
                <a:pt x="861229" y="9942"/>
              </a:lnTo>
            </a:path>
          </a:pathLst>
        </a:custGeom>
        <a:noFill/>
        <a:ln w="6350" cap="flat" cmpd="sng" algn="ctr">
          <a:solidFill>
            <a:schemeClr val="accent1"/>
          </a:solidFill>
          <a:prstDash val="solid"/>
          <a:tailEnd type="stealth" w="sm" len="lg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>
            <a:solidFill>
              <a:schemeClr val="tx1"/>
            </a:solidFill>
          </a:endParaRPr>
        </a:p>
      </dsp:txBody>
      <dsp:txXfrm>
        <a:off x="1239034" y="2521471"/>
        <a:ext cx="43061" cy="43061"/>
      </dsp:txXfrm>
    </dsp:sp>
    <dsp:sp modelId="{28D3C1B8-DFFD-42B3-A223-BFC3C5646545}">
      <dsp:nvSpPr>
        <dsp:cNvPr id="0" name=""/>
        <dsp:cNvSpPr/>
      </dsp:nvSpPr>
      <dsp:spPr>
        <a:xfrm>
          <a:off x="1419633" y="2744323"/>
          <a:ext cx="795344" cy="397672"/>
        </a:xfrm>
        <a:prstGeom prst="roundRect">
          <a:avLst>
            <a:gd name="adj" fmla="val 10000"/>
          </a:avLst>
        </a:prstGeom>
        <a:noFill/>
        <a:ln w="6350" cap="flat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900" kern="1200" dirty="0">
              <a:solidFill>
                <a:schemeClr val="tx1"/>
              </a:solidFill>
            </a:rPr>
            <a:t>篩查陰性</a:t>
          </a:r>
        </a:p>
      </dsp:txBody>
      <dsp:txXfrm>
        <a:off x="1431280" y="2755970"/>
        <a:ext cx="772050" cy="374378"/>
      </dsp:txXfrm>
    </dsp:sp>
    <dsp:sp modelId="{66A66B17-BD16-4395-B025-66C0897264AE}">
      <dsp:nvSpPr>
        <dsp:cNvPr id="0" name=""/>
        <dsp:cNvSpPr/>
      </dsp:nvSpPr>
      <dsp:spPr>
        <a:xfrm rot="18289469">
          <a:off x="2095499" y="2704555"/>
          <a:ext cx="557096" cy="19885"/>
        </a:xfrm>
        <a:custGeom>
          <a:avLst/>
          <a:gdLst/>
          <a:ahLst/>
          <a:cxnLst/>
          <a:rect l="0" t="0" r="0" b="0"/>
          <a:pathLst>
            <a:path>
              <a:moveTo>
                <a:pt x="0" y="9942"/>
              </a:moveTo>
              <a:lnTo>
                <a:pt x="557096" y="9942"/>
              </a:lnTo>
            </a:path>
          </a:pathLst>
        </a:custGeom>
        <a:noFill/>
        <a:ln w="6350" cap="flat" cmpd="sng" algn="ctr">
          <a:solidFill>
            <a:schemeClr val="accent1"/>
          </a:solidFill>
          <a:prstDash val="solid"/>
          <a:tailEnd type="stealth" w="sm" len="lg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>
            <a:solidFill>
              <a:schemeClr val="tx1"/>
            </a:solidFill>
          </a:endParaRPr>
        </a:p>
      </dsp:txBody>
      <dsp:txXfrm>
        <a:off x="2360120" y="2700571"/>
        <a:ext cx="27854" cy="27854"/>
      </dsp:txXfrm>
    </dsp:sp>
    <dsp:sp modelId="{A97C5D92-F4D5-489D-AF9F-7D0F101FC5B4}">
      <dsp:nvSpPr>
        <dsp:cNvPr id="0" name=""/>
        <dsp:cNvSpPr/>
      </dsp:nvSpPr>
      <dsp:spPr>
        <a:xfrm>
          <a:off x="2533116" y="2287000"/>
          <a:ext cx="795344" cy="397672"/>
        </a:xfrm>
        <a:prstGeom prst="roundRect">
          <a:avLst>
            <a:gd name="adj" fmla="val 10000"/>
          </a:avLst>
        </a:prstGeom>
        <a:noFill/>
        <a:ln w="6350" cap="flat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900" kern="1200" dirty="0">
              <a:solidFill>
                <a:schemeClr val="tx1"/>
              </a:solidFill>
            </a:rPr>
            <a:t>自然健康狀態進入下一迴圈</a:t>
          </a:r>
        </a:p>
      </dsp:txBody>
      <dsp:txXfrm>
        <a:off x="2544763" y="2298647"/>
        <a:ext cx="772050" cy="374378"/>
      </dsp:txXfrm>
    </dsp:sp>
    <dsp:sp modelId="{683A041B-E277-453B-AE6F-2BCFED4417DC}">
      <dsp:nvSpPr>
        <dsp:cNvPr id="0" name=""/>
        <dsp:cNvSpPr/>
      </dsp:nvSpPr>
      <dsp:spPr>
        <a:xfrm>
          <a:off x="2214978" y="2933217"/>
          <a:ext cx="318137" cy="19885"/>
        </a:xfrm>
        <a:custGeom>
          <a:avLst/>
          <a:gdLst/>
          <a:ahLst/>
          <a:cxnLst/>
          <a:rect l="0" t="0" r="0" b="0"/>
          <a:pathLst>
            <a:path>
              <a:moveTo>
                <a:pt x="0" y="9942"/>
              </a:moveTo>
              <a:lnTo>
                <a:pt x="318137" y="9942"/>
              </a:lnTo>
            </a:path>
          </a:pathLst>
        </a:custGeom>
        <a:noFill/>
        <a:ln w="6350" cap="flat" cmpd="sng" algn="ctr">
          <a:solidFill>
            <a:schemeClr val="accent1"/>
          </a:solidFill>
          <a:prstDash val="solid"/>
          <a:tailEnd type="stealth" w="sm" len="lg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>
            <a:solidFill>
              <a:schemeClr val="tx1"/>
            </a:solidFill>
          </a:endParaRPr>
        </a:p>
      </dsp:txBody>
      <dsp:txXfrm>
        <a:off x="2366094" y="2935206"/>
        <a:ext cx="15906" cy="15906"/>
      </dsp:txXfrm>
    </dsp:sp>
    <dsp:sp modelId="{3F03F34D-6A5A-4F08-B57C-56B3F8B00447}">
      <dsp:nvSpPr>
        <dsp:cNvPr id="0" name=""/>
        <dsp:cNvSpPr/>
      </dsp:nvSpPr>
      <dsp:spPr>
        <a:xfrm>
          <a:off x="2533116" y="2744323"/>
          <a:ext cx="795344" cy="397672"/>
        </a:xfrm>
        <a:prstGeom prst="roundRect">
          <a:avLst>
            <a:gd name="adj" fmla="val 10000"/>
          </a:avLst>
        </a:prstGeom>
        <a:noFill/>
        <a:ln w="6350" cap="flat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900" kern="1200" dirty="0">
              <a:solidFill>
                <a:schemeClr val="tx1"/>
              </a:solidFill>
            </a:rPr>
            <a:t>自然死亡狀態進入下一迴圈</a:t>
          </a:r>
        </a:p>
      </dsp:txBody>
      <dsp:txXfrm>
        <a:off x="2544763" y="2755970"/>
        <a:ext cx="772050" cy="374378"/>
      </dsp:txXfrm>
    </dsp:sp>
    <dsp:sp modelId="{CCAB9C17-B7BF-440C-8FDF-B4729BE87CE6}">
      <dsp:nvSpPr>
        <dsp:cNvPr id="0" name=""/>
        <dsp:cNvSpPr/>
      </dsp:nvSpPr>
      <dsp:spPr>
        <a:xfrm rot="3310531">
          <a:off x="2095499" y="3161879"/>
          <a:ext cx="557096" cy="19885"/>
        </a:xfrm>
        <a:custGeom>
          <a:avLst/>
          <a:gdLst/>
          <a:ahLst/>
          <a:cxnLst/>
          <a:rect l="0" t="0" r="0" b="0"/>
          <a:pathLst>
            <a:path>
              <a:moveTo>
                <a:pt x="0" y="9942"/>
              </a:moveTo>
              <a:lnTo>
                <a:pt x="557096" y="9942"/>
              </a:lnTo>
            </a:path>
          </a:pathLst>
        </a:custGeom>
        <a:noFill/>
        <a:ln w="6350" cap="flat" cmpd="sng" algn="ctr">
          <a:solidFill>
            <a:schemeClr val="accent1"/>
          </a:solidFill>
          <a:prstDash val="solid"/>
          <a:tailEnd type="stealth" w="sm" len="lg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>
            <a:solidFill>
              <a:schemeClr val="tx1"/>
            </a:solidFill>
          </a:endParaRPr>
        </a:p>
      </dsp:txBody>
      <dsp:txXfrm>
        <a:off x="2360120" y="3157894"/>
        <a:ext cx="27854" cy="27854"/>
      </dsp:txXfrm>
    </dsp:sp>
    <dsp:sp modelId="{8B4884D7-64F5-4BA1-AC3A-D7E5083D028C}">
      <dsp:nvSpPr>
        <dsp:cNvPr id="0" name=""/>
        <dsp:cNvSpPr/>
      </dsp:nvSpPr>
      <dsp:spPr>
        <a:xfrm>
          <a:off x="2533116" y="3201647"/>
          <a:ext cx="795344" cy="397672"/>
        </a:xfrm>
        <a:prstGeom prst="roundRect">
          <a:avLst>
            <a:gd name="adj" fmla="val 10000"/>
          </a:avLst>
        </a:prstGeom>
        <a:noFill/>
        <a:ln w="6350" cap="flat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900" kern="1200" dirty="0">
              <a:solidFill>
                <a:schemeClr val="tx1"/>
              </a:solidFill>
            </a:rPr>
            <a:t>自然疾病狀態進入下一迴圈</a:t>
          </a:r>
        </a:p>
      </dsp:txBody>
      <dsp:txXfrm>
        <a:off x="2544763" y="3213294"/>
        <a:ext cx="772050" cy="37437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ea typeface="宋体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656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ea typeface="宋体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946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665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665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ea typeface="宋体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65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ea typeface="宋体" charset="-122"/>
              </a:defRPr>
            </a:lvl1pPr>
          </a:lstStyle>
          <a:p>
            <a:pPr>
              <a:defRPr/>
            </a:pPr>
            <a:fld id="{00D0DE39-752F-48E6-8B1F-196CB12F13B9}" type="slidenum">
              <a:rPr lang="en-US" altLang="zh-CN"/>
              <a:pPr>
                <a:defRPr/>
              </a:pPr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69449234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宋体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宋体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宋体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宋体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宋体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20483" name="备注占位符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r>
              <a:rPr lang="zh-TW" altLang="en-US" sz="1000" dirty="0">
                <a:ea typeface="宋体" pitchFamily="2" charset="-122"/>
              </a:rPr>
              <a:t>決策分析（</a:t>
            </a:r>
            <a:r>
              <a:rPr lang="en-US" altLang="zh-TW" sz="1000" dirty="0">
                <a:ea typeface="宋体" pitchFamily="2" charset="-122"/>
              </a:rPr>
              <a:t>decision analysis</a:t>
            </a:r>
            <a:r>
              <a:rPr lang="zh-TW" altLang="en-US" sz="1000" dirty="0">
                <a:ea typeface="宋体" pitchFamily="2" charset="-122"/>
              </a:rPr>
              <a:t>）是將一個複雜的問題分解爲若干容易處理的部分，然後按照一定的邏輯方式結合起來，以尋求行動的最佳方案的方法，它是把決策目標變為行動的關鍵。</a:t>
            </a:r>
          </a:p>
          <a:p>
            <a:pPr eaLnBrk="1" hangingPunct="1"/>
            <a:r>
              <a:rPr lang="zh-TW" altLang="en-US" sz="1000" dirty="0">
                <a:ea typeface="宋体" pitchFamily="2" charset="-122"/>
              </a:rPr>
              <a:t>決策分析，簡稱決策，</a:t>
            </a:r>
            <a:r>
              <a:rPr lang="zh-CN" altLang="en-US" sz="1000" dirty="0">
                <a:ea typeface="宋体" pitchFamily="2" charset="-122"/>
              </a:rPr>
              <a:t>注意這裏不包括通常情況下的那種感性的決定，而是是特指</a:t>
            </a:r>
            <a:r>
              <a:rPr lang="zh-TW" altLang="en-US" sz="1000" dirty="0">
                <a:ea typeface="宋体" pitchFamily="2" charset="-122"/>
              </a:rPr>
              <a:t>科學的決策，提供有事實根據的最優行動方案，起著避免盲目性、減少風險性的導向效應，因此在臨床醫學、突發公共衛生預警、預防保健、衛生事業管理等方面有著廣</a:t>
            </a:r>
            <a:r>
              <a:rPr lang="zh-CN" altLang="en-US" sz="1000" dirty="0">
                <a:ea typeface="宋体" pitchFamily="2" charset="-122"/>
              </a:rPr>
              <a:t>泛</a:t>
            </a:r>
            <a:r>
              <a:rPr lang="zh-TW" altLang="en-US" sz="1000" dirty="0">
                <a:ea typeface="宋体" pitchFamily="2" charset="-122"/>
              </a:rPr>
              <a:t>的應用。</a:t>
            </a:r>
            <a:r>
              <a:rPr lang="zh-CN" altLang="en-US" sz="1000" dirty="0">
                <a:ea typeface="宋体" pitchFamily="2" charset="-122"/>
              </a:rPr>
              <a:t>例如決策樹法</a:t>
            </a:r>
            <a:r>
              <a:rPr lang="zh-TW" altLang="en-US" sz="1000" dirty="0">
                <a:ea typeface="宋体" pitchFamily="2" charset="-122"/>
              </a:rPr>
              <a:t>，可通過各終結點期望效用值、各分支的先驗概率與後驗概率等獲得各備選方案的期望效用值，從而作出決策選擇一種合理的措施或方案。</a:t>
            </a:r>
          </a:p>
          <a:p>
            <a:pPr eaLnBrk="1" hangingPunct="1"/>
            <a:r>
              <a:rPr lang="zh-TW" altLang="en-US" sz="1000" dirty="0">
                <a:ea typeface="宋体" pitchFamily="2" charset="-122"/>
              </a:rPr>
              <a:t>㈠ 決策的基本要素</a:t>
            </a:r>
          </a:p>
          <a:p>
            <a:pPr eaLnBrk="1" hangingPunct="1"/>
            <a:r>
              <a:rPr lang="en-US" altLang="zh-TW" sz="1000" dirty="0">
                <a:ea typeface="宋体" pitchFamily="2" charset="-122"/>
              </a:rPr>
              <a:t>1</a:t>
            </a:r>
            <a:r>
              <a:rPr lang="zh-TW" altLang="en-US" sz="1000" dirty="0">
                <a:ea typeface="宋体" pitchFamily="2" charset="-122"/>
              </a:rPr>
              <a:t>、決策者</a:t>
            </a:r>
          </a:p>
          <a:p>
            <a:pPr eaLnBrk="1" hangingPunct="1"/>
            <a:r>
              <a:rPr lang="zh-TW" altLang="en-US" sz="1000" dirty="0">
                <a:ea typeface="宋体" pitchFamily="2" charset="-122"/>
              </a:rPr>
              <a:t>指決策的主體，可以是個體，也可以是群體，它受政治、經濟、社會、心理等因素的影響。</a:t>
            </a:r>
          </a:p>
          <a:p>
            <a:pPr eaLnBrk="1" hangingPunct="1"/>
            <a:r>
              <a:rPr lang="en-US" altLang="zh-TW" sz="1000" dirty="0">
                <a:ea typeface="宋体" pitchFamily="2" charset="-122"/>
              </a:rPr>
              <a:t>2</a:t>
            </a:r>
            <a:r>
              <a:rPr lang="zh-TW" altLang="en-US" sz="1000" dirty="0">
                <a:ea typeface="宋体" pitchFamily="2" charset="-122"/>
              </a:rPr>
              <a:t>、決策目標</a:t>
            </a:r>
          </a:p>
          <a:p>
            <a:pPr eaLnBrk="1" hangingPunct="1"/>
            <a:r>
              <a:rPr lang="zh-TW" altLang="en-US" sz="1000" dirty="0">
                <a:ea typeface="宋体" pitchFamily="2" charset="-122"/>
              </a:rPr>
              <a:t>指在一定的環境和條件下，在預測的基礎上希望達到的結果，是決策的出發點和歸宿，有單目標和多目標之分。</a:t>
            </a:r>
          </a:p>
          <a:p>
            <a:pPr eaLnBrk="1" hangingPunct="1"/>
            <a:r>
              <a:rPr lang="en-US" altLang="zh-TW" sz="1000" dirty="0">
                <a:ea typeface="宋体" pitchFamily="2" charset="-122"/>
              </a:rPr>
              <a:t>3</a:t>
            </a:r>
            <a:r>
              <a:rPr lang="zh-TW" altLang="en-US" sz="1000" dirty="0">
                <a:ea typeface="宋体" pitchFamily="2" charset="-122"/>
              </a:rPr>
              <a:t>、自然狀態</a:t>
            </a:r>
          </a:p>
          <a:p>
            <a:pPr eaLnBrk="1" hangingPunct="1"/>
            <a:r>
              <a:rPr lang="zh-TW" altLang="en-US" sz="1000" dirty="0">
                <a:ea typeface="宋体" pitchFamily="2" charset="-122"/>
              </a:rPr>
              <a:t>指決策者不能控制但可預見的各種狀態，是客觀存在的，也是影響決策的因素，可通過推斷求得各狀態發生的概率，為決策者提供依據。</a:t>
            </a:r>
          </a:p>
          <a:p>
            <a:pPr eaLnBrk="1" hangingPunct="1"/>
            <a:r>
              <a:rPr lang="en-US" altLang="zh-TW" sz="1000" dirty="0">
                <a:ea typeface="宋体" pitchFamily="2" charset="-122"/>
              </a:rPr>
              <a:t>4</a:t>
            </a:r>
            <a:r>
              <a:rPr lang="zh-TW" altLang="en-US" sz="1000" dirty="0">
                <a:ea typeface="宋体" pitchFamily="2" charset="-122"/>
              </a:rPr>
              <a:t>、行動方案</a:t>
            </a:r>
          </a:p>
          <a:p>
            <a:pPr eaLnBrk="1" hangingPunct="1"/>
            <a:r>
              <a:rPr lang="zh-TW" altLang="en-US" sz="1000" dirty="0">
                <a:ea typeface="宋体" pitchFamily="2" charset="-122"/>
              </a:rPr>
              <a:t>指為實現決策目標可能采取的各種備選方案。</a:t>
            </a:r>
          </a:p>
          <a:p>
            <a:pPr eaLnBrk="1" hangingPunct="1"/>
            <a:r>
              <a:rPr lang="en-US" altLang="zh-TW" sz="1000" dirty="0">
                <a:ea typeface="宋体" pitchFamily="2" charset="-122"/>
              </a:rPr>
              <a:t>5</a:t>
            </a:r>
            <a:r>
              <a:rPr lang="zh-TW" altLang="en-US" sz="1000" dirty="0">
                <a:ea typeface="宋体" pitchFamily="2" charset="-122"/>
              </a:rPr>
              <a:t>、決策結果</a:t>
            </a:r>
          </a:p>
          <a:p>
            <a:pPr eaLnBrk="1" hangingPunct="1"/>
            <a:r>
              <a:rPr lang="zh-TW" altLang="en-US" sz="1000" dirty="0">
                <a:ea typeface="宋体" pitchFamily="2" charset="-122"/>
              </a:rPr>
              <a:t>指各種不同的自然狀態與對應的行動方案結合而產生的結果，如效益值，它是選擇決策方案的重要因素。</a:t>
            </a:r>
          </a:p>
          <a:p>
            <a:pPr eaLnBrk="1" hangingPunct="1"/>
            <a:r>
              <a:rPr lang="en-US" altLang="zh-TW" sz="1000" dirty="0">
                <a:ea typeface="宋体" pitchFamily="2" charset="-122"/>
              </a:rPr>
              <a:t>6</a:t>
            </a:r>
            <a:r>
              <a:rPr lang="zh-TW" altLang="en-US" sz="1000" dirty="0">
                <a:ea typeface="宋体" pitchFamily="2" charset="-122"/>
              </a:rPr>
              <a:t>、決策準則</a:t>
            </a:r>
          </a:p>
          <a:p>
            <a:pPr eaLnBrk="1" hangingPunct="1"/>
            <a:r>
              <a:rPr lang="zh-TW" altLang="en-US" sz="1000" dirty="0">
                <a:ea typeface="宋体" pitchFamily="2" charset="-122"/>
              </a:rPr>
              <a:t>指評價方案是否達到決策目標的標準，也是選擇方案的依據。</a:t>
            </a:r>
          </a:p>
          <a:p>
            <a:pPr eaLnBrk="1" hangingPunct="1"/>
            <a:r>
              <a:rPr lang="zh-TW" altLang="en-US" sz="1000" dirty="0">
                <a:ea typeface="宋体" pitchFamily="2" charset="-122"/>
              </a:rPr>
              <a:t>㈡ 決策的分類</a:t>
            </a:r>
          </a:p>
          <a:p>
            <a:pPr eaLnBrk="1" hangingPunct="1"/>
            <a:r>
              <a:rPr lang="zh-TW" altLang="en-US" sz="1000" dirty="0">
                <a:ea typeface="宋体" pitchFamily="2" charset="-122"/>
              </a:rPr>
              <a:t>根據決策者對自然狀態的把握程度，可將決策分爲：</a:t>
            </a:r>
          </a:p>
          <a:p>
            <a:pPr eaLnBrk="1" hangingPunct="1"/>
            <a:r>
              <a:rPr lang="en-US" altLang="zh-TW" sz="1000" dirty="0">
                <a:ea typeface="宋体" pitchFamily="2" charset="-122"/>
              </a:rPr>
              <a:t>1</a:t>
            </a:r>
            <a:r>
              <a:rPr lang="zh-TW" altLang="en-US" sz="1000" dirty="0">
                <a:ea typeface="宋体" pitchFamily="2" charset="-122"/>
              </a:rPr>
              <a:t>、確定型決策</a:t>
            </a:r>
          </a:p>
          <a:p>
            <a:pPr eaLnBrk="1" hangingPunct="1"/>
            <a:r>
              <a:rPr lang="zh-TW" altLang="en-US" sz="1000" dirty="0">
                <a:ea typeface="宋体" pitchFamily="2" charset="-122"/>
              </a:rPr>
              <a:t>各種可行方案的條件均是已知的，各種可行方案的條件均是已知的，並能較準確地預測它們各自的後果，易於分析、比較和選擇的決策。</a:t>
            </a:r>
          </a:p>
          <a:p>
            <a:pPr eaLnBrk="1" hangingPunct="1"/>
            <a:r>
              <a:rPr lang="en-US" altLang="zh-TW" sz="1000" dirty="0">
                <a:ea typeface="宋体" pitchFamily="2" charset="-122"/>
              </a:rPr>
              <a:t>2</a:t>
            </a:r>
            <a:r>
              <a:rPr lang="zh-TW" altLang="en-US" sz="1000" dirty="0">
                <a:ea typeface="宋体" pitchFamily="2" charset="-122"/>
              </a:rPr>
              <a:t>、風險型決策</a:t>
            </a:r>
          </a:p>
          <a:p>
            <a:pPr eaLnBrk="1" hangingPunct="1"/>
            <a:r>
              <a:rPr lang="zh-TW" altLang="en-US" sz="1000" dirty="0">
                <a:ea typeface="宋体" pitchFamily="2" charset="-122"/>
              </a:rPr>
              <a:t>各種可行方案的條件大部分是已知的，但每種方案執行後都可能出現幾種結果，決策的結果只能按概率大小確定，存在著風險的決策。</a:t>
            </a:r>
          </a:p>
          <a:p>
            <a:pPr eaLnBrk="1" hangingPunct="1"/>
            <a:r>
              <a:rPr lang="en-US" altLang="zh-TW" sz="1000" dirty="0">
                <a:ea typeface="宋体" pitchFamily="2" charset="-122"/>
              </a:rPr>
              <a:t>3</a:t>
            </a:r>
            <a:r>
              <a:rPr lang="zh-TW" altLang="en-US" sz="1000" dirty="0">
                <a:ea typeface="宋体" pitchFamily="2" charset="-122"/>
              </a:rPr>
              <a:t>、不確定型決策</a:t>
            </a:r>
          </a:p>
          <a:p>
            <a:pPr eaLnBrk="1" hangingPunct="1"/>
            <a:r>
              <a:rPr lang="zh-TW" altLang="en-US" sz="1000" dirty="0">
                <a:ea typeface="宋体" pitchFamily="2" charset="-122"/>
              </a:rPr>
              <a:t>每種方案執行後都可能出現幾種結果，但各種結果出現的概率未知，完全憑藉決策者的經驗、感覺和估計進行的決策。它又分爲完全不確定型決策、先驗概率決策和後驗概率決策。</a:t>
            </a:r>
          </a:p>
          <a:p>
            <a:pPr eaLnBrk="1" hangingPunct="1"/>
            <a:r>
              <a:rPr lang="zh-TW" altLang="en-US" sz="1000" dirty="0">
                <a:ea typeface="宋体" pitchFamily="2" charset="-122"/>
              </a:rPr>
              <a:t>㈢ 決策的基本原則</a:t>
            </a:r>
          </a:p>
          <a:p>
            <a:pPr eaLnBrk="1" hangingPunct="1"/>
            <a:r>
              <a:rPr lang="en-US" altLang="zh-TW" sz="1000" dirty="0">
                <a:ea typeface="宋体" pitchFamily="2" charset="-122"/>
              </a:rPr>
              <a:t>1</a:t>
            </a:r>
            <a:r>
              <a:rPr lang="zh-TW" altLang="en-US" sz="1000" dirty="0">
                <a:ea typeface="宋体" pitchFamily="2" charset="-122"/>
              </a:rPr>
              <a:t>、信息充分原則：準確完整的信息是決策的基礎。</a:t>
            </a:r>
          </a:p>
          <a:p>
            <a:pPr eaLnBrk="1" hangingPunct="1"/>
            <a:r>
              <a:rPr lang="en-US" altLang="zh-TW" sz="1000" dirty="0">
                <a:ea typeface="宋体" pitchFamily="2" charset="-122"/>
              </a:rPr>
              <a:t>2</a:t>
            </a:r>
            <a:r>
              <a:rPr lang="zh-TW" altLang="en-US" sz="1000" dirty="0">
                <a:ea typeface="宋体" pitchFamily="2" charset="-122"/>
              </a:rPr>
              <a:t>、系統原則：以系統的觀點分析決策對象的内部結構、運行機制及其與外部環境的關係。</a:t>
            </a:r>
          </a:p>
          <a:p>
            <a:pPr eaLnBrk="1" hangingPunct="1"/>
            <a:r>
              <a:rPr lang="en-US" altLang="zh-TW" sz="1000" dirty="0">
                <a:ea typeface="宋体" pitchFamily="2" charset="-122"/>
              </a:rPr>
              <a:t>3</a:t>
            </a:r>
            <a:r>
              <a:rPr lang="zh-TW" altLang="en-US" sz="1000" dirty="0">
                <a:ea typeface="宋体" pitchFamily="2" charset="-122"/>
              </a:rPr>
              <a:t>、科學原則：采用科學的理論方法和先進的手段提高決策質量。</a:t>
            </a:r>
          </a:p>
          <a:p>
            <a:pPr eaLnBrk="1" hangingPunct="1"/>
            <a:r>
              <a:rPr lang="en-US" altLang="zh-TW" sz="1000" dirty="0">
                <a:ea typeface="宋体" pitchFamily="2" charset="-122"/>
              </a:rPr>
              <a:t>4</a:t>
            </a:r>
            <a:r>
              <a:rPr lang="zh-TW" altLang="en-US" sz="1000" dirty="0">
                <a:ea typeface="宋体" pitchFamily="2" charset="-122"/>
              </a:rPr>
              <a:t>、可行原則：決策應考慮在人才、資金、設備、技術等方面條件是可行的。</a:t>
            </a:r>
          </a:p>
          <a:p>
            <a:pPr eaLnBrk="1" hangingPunct="1"/>
            <a:r>
              <a:rPr lang="en-US" altLang="zh-TW" sz="1000" dirty="0">
                <a:ea typeface="宋体" pitchFamily="2" charset="-122"/>
              </a:rPr>
              <a:t>5</a:t>
            </a:r>
            <a:r>
              <a:rPr lang="zh-TW" altLang="en-US" sz="1000" dirty="0">
                <a:ea typeface="宋体" pitchFamily="2" charset="-122"/>
              </a:rPr>
              <a:t>、反饋原則：決策分析是一個動態過程，需不斷反饋信息以補充、修改和調整，達到決策目標。</a:t>
            </a:r>
          </a:p>
        </p:txBody>
      </p:sp>
      <p:sp>
        <p:nvSpPr>
          <p:cNvPr id="20484" name="灯片编号占位符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8BEEA629-6D7D-4E96-A7AB-B6867313A94E}" type="slidenum">
              <a:rPr lang="en-US" altLang="zh-CN" smtClean="0"/>
              <a:pPr eaLnBrk="1" hangingPunct="1"/>
              <a:t>1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2523437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24579" name="备注占位符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r>
              <a:rPr lang="en-US" altLang="zh-CN" dirty="0">
                <a:ea typeface="宋体" pitchFamily="2" charset="-122"/>
              </a:rPr>
              <a:t>Canadian Task Force on the Periodic Health </a:t>
            </a:r>
            <a:r>
              <a:rPr lang="en-US" altLang="zh-CN" dirty="0" err="1">
                <a:ea typeface="宋体" pitchFamily="2" charset="-122"/>
              </a:rPr>
              <a:t>Examination:The</a:t>
            </a:r>
            <a:r>
              <a:rPr lang="en-US" altLang="zh-CN" dirty="0">
                <a:ea typeface="宋体" pitchFamily="2" charset="-122"/>
              </a:rPr>
              <a:t> periodic health </a:t>
            </a:r>
            <a:r>
              <a:rPr lang="en-US" altLang="zh-CN" dirty="0" err="1">
                <a:ea typeface="宋体" pitchFamily="2" charset="-122"/>
              </a:rPr>
              <a:t>examination.CMAJ</a:t>
            </a:r>
            <a:r>
              <a:rPr lang="en-US" altLang="zh-CN" dirty="0">
                <a:ea typeface="宋体" pitchFamily="2" charset="-122"/>
              </a:rPr>
              <a:t>, 1979, 121(19):1193-1254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Chest, 1986, 89(2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):2S-3S.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Archives </a:t>
            </a:r>
            <a:r>
              <a:rPr lang="en-US" altLang="zh-CN" dirty="0" err="1">
                <a:ea typeface="宋体" pitchFamily="2" charset="-122"/>
              </a:rPr>
              <a:t>Int</a:t>
            </a:r>
            <a:r>
              <a:rPr lang="en-US" altLang="zh-CN" dirty="0">
                <a:ea typeface="宋体" pitchFamily="2" charset="-122"/>
              </a:rPr>
              <a:t> Med, 1986, 146(3):464-465.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Sinclair JC, et al. Users’ guides to the medical l </a:t>
            </a:r>
            <a:r>
              <a:rPr lang="en-US" altLang="zh-CN" dirty="0" err="1">
                <a:ea typeface="宋体" pitchFamily="2" charset="-122"/>
              </a:rPr>
              <a:t>iterature</a:t>
            </a:r>
            <a:r>
              <a:rPr lang="en-US" altLang="zh-CN" dirty="0">
                <a:ea typeface="宋体" pitchFamily="2" charset="-122"/>
              </a:rPr>
              <a:t>. IX. A method for grading health care recommendations. Evidence-Based Medicine Working Group. JAMA, 1995, 274(22): 1800-1804.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on the use of antithrombotic </a:t>
            </a:r>
            <a:r>
              <a:rPr lang="en-US" altLang="zh-CN" dirty="0" err="1">
                <a:ea typeface="宋体" pitchFamily="2" charset="-122"/>
              </a:rPr>
              <a:t>agents.Chest</a:t>
            </a:r>
            <a:r>
              <a:rPr lang="en-US" altLang="zh-CN" dirty="0">
                <a:ea typeface="宋体" pitchFamily="2" charset="-122"/>
              </a:rPr>
              <a:t>, 1989, 95(2):2S-4S.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Rules of evidence and clinical recommendations on the use of antithrombotic agents. Chest, 1992, 102(4): 305S-311S.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</a:t>
            </a:r>
            <a:r>
              <a:rPr lang="en-US" altLang="zh-CN" dirty="0" err="1">
                <a:ea typeface="宋体" pitchFamily="2" charset="-122"/>
              </a:rPr>
              <a:t>Cl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using levels of evidence for antithrombotic agents. Chest, 1995,108(4): 227S-230S.</a:t>
            </a:r>
          </a:p>
          <a:p>
            <a:r>
              <a:rPr lang="en-US" altLang="zh-CN" dirty="0">
                <a:ea typeface="宋体" pitchFamily="2" charset="-122"/>
              </a:rPr>
              <a:t>http://www.cebm.net/levels_of_evidence.asp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Cook DJ,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et al. Grades of recommendation for antithrombotic agents. Chest, 1998, 114(5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 441S-444S.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S c h </a:t>
            </a:r>
            <a:r>
              <a:rPr lang="en-US" altLang="zh-CN" dirty="0" err="1">
                <a:ea typeface="宋体" pitchFamily="2" charset="-122"/>
              </a:rPr>
              <a:t>ünemann</a:t>
            </a:r>
            <a:r>
              <a:rPr lang="en-US" altLang="zh-CN" dirty="0">
                <a:ea typeface="宋体" pitchFamily="2" charset="-122"/>
              </a:rPr>
              <a:t> H, Cook D, </a:t>
            </a:r>
            <a:r>
              <a:rPr lang="en-US" altLang="zh-CN" dirty="0" err="1">
                <a:ea typeface="宋体" pitchFamily="2" charset="-122"/>
              </a:rPr>
              <a:t>etal.Gradesof</a:t>
            </a:r>
            <a:r>
              <a:rPr lang="en-US" altLang="zh-CN" dirty="0">
                <a:ea typeface="宋体" pitchFamily="2" charset="-122"/>
              </a:rPr>
              <a:t> Recommendation for Antithrombotic Agents. Chest, 2001, 119(1):3S-7S.</a:t>
            </a:r>
          </a:p>
          <a:p>
            <a:r>
              <a:rPr lang="en-US" altLang="zh-CN" dirty="0">
                <a:ea typeface="宋体" pitchFamily="2" charset="-122"/>
              </a:rPr>
              <a:t>Atkins D, Best D, </a:t>
            </a:r>
            <a:r>
              <a:rPr lang="en-US" altLang="zh-CN" dirty="0" err="1">
                <a:ea typeface="宋体" pitchFamily="2" charset="-122"/>
              </a:rPr>
              <a:t>Briss</a:t>
            </a:r>
            <a:r>
              <a:rPr lang="en-US" altLang="zh-CN" dirty="0">
                <a:ea typeface="宋体" pitchFamily="2" charset="-122"/>
              </a:rPr>
              <a:t> PA, et </a:t>
            </a:r>
            <a:r>
              <a:rPr lang="en-US" altLang="zh-CN" dirty="0" err="1">
                <a:ea typeface="宋体" pitchFamily="2" charset="-122"/>
              </a:rPr>
              <a:t>al.Grading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and strength of recommendations. BMJ, 2004, 328(7454):1490-1494</a:t>
            </a:r>
          </a:p>
          <a:p>
            <a:r>
              <a:rPr lang="en-US" altLang="zh-CN" dirty="0">
                <a:ea typeface="宋体" pitchFamily="2" charset="-122"/>
              </a:rPr>
              <a:t>http://www.gradeworkinggroup.org/about_us.htm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</a:t>
            </a:r>
            <a:r>
              <a:rPr lang="en-US" altLang="zh-CN" dirty="0" err="1">
                <a:ea typeface="宋体" pitchFamily="2" charset="-122"/>
              </a:rPr>
              <a:t>Gutterman</a:t>
            </a:r>
            <a:r>
              <a:rPr lang="en-US" altLang="zh-CN" dirty="0">
                <a:ea typeface="宋体" pitchFamily="2" charset="-122"/>
              </a:rPr>
              <a:t> D, Baumann MH, et al. Grading strength of recommendations and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in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guidel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ines:report</a:t>
            </a:r>
            <a:r>
              <a:rPr lang="en-US" altLang="zh-CN" dirty="0">
                <a:ea typeface="宋体" pitchFamily="2" charset="-122"/>
              </a:rPr>
              <a:t> from an </a:t>
            </a:r>
            <a:r>
              <a:rPr lang="en-US" altLang="zh-CN" dirty="0" err="1">
                <a:ea typeface="宋体" pitchFamily="2" charset="-122"/>
              </a:rPr>
              <a:t>american</a:t>
            </a:r>
            <a:r>
              <a:rPr lang="en-US" altLang="zh-CN" dirty="0">
                <a:ea typeface="宋体" pitchFamily="2" charset="-122"/>
              </a:rPr>
              <a:t> college of chest physicians task force. Chest,2006, 129(1):174-181.</a:t>
            </a:r>
          </a:p>
          <a:p>
            <a:r>
              <a:rPr lang="en-US" altLang="zh-CN" dirty="0">
                <a:ea typeface="宋体" pitchFamily="2" charset="-122"/>
              </a:rPr>
              <a:t>Aragon CL, </a:t>
            </a:r>
            <a:r>
              <a:rPr lang="en-US" altLang="zh-CN" dirty="0" err="1">
                <a:ea typeface="宋体" pitchFamily="2" charset="-122"/>
              </a:rPr>
              <a:t>Budsberg</a:t>
            </a:r>
            <a:r>
              <a:rPr lang="en-US" altLang="zh-CN" dirty="0">
                <a:ea typeface="宋体" pitchFamily="2" charset="-122"/>
              </a:rPr>
              <a:t> SC. Applications of Evidence-Based </a:t>
            </a:r>
            <a:r>
              <a:rPr lang="en-US" altLang="zh-CN" dirty="0" err="1">
                <a:ea typeface="宋体" pitchFamily="2" charset="-122"/>
              </a:rPr>
              <a:t>Medicine:Cranial</a:t>
            </a:r>
            <a:r>
              <a:rPr lang="en-US" altLang="zh-CN" dirty="0">
                <a:ea typeface="宋体" pitchFamily="2" charset="-122"/>
              </a:rPr>
              <a:t> Cruciate Ligament Injury Repair in the Dog Veterinary Surgery. 34(2): 93–98.</a:t>
            </a:r>
          </a:p>
          <a:p>
            <a:r>
              <a:rPr lang="en-US" altLang="zh-CN" dirty="0">
                <a:ea typeface="宋体" pitchFamily="2" charset="-122"/>
              </a:rPr>
              <a:t>http://library.downstate.edu/ebmdos/2100.htm</a:t>
            </a:r>
          </a:p>
        </p:txBody>
      </p:sp>
      <p:sp>
        <p:nvSpPr>
          <p:cNvPr id="24580" name="灯片编号占位符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F2A7AC83-3E51-4C36-BE6A-771C72EBD479}" type="slidenum">
              <a:rPr lang="en-US" altLang="zh-CN" smtClean="0"/>
              <a:pPr eaLnBrk="1" hangingPunct="1"/>
              <a:t>2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9378817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24579" name="备注占位符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r>
              <a:rPr lang="en-US" altLang="zh-CN" dirty="0">
                <a:ea typeface="宋体" pitchFamily="2" charset="-122"/>
              </a:rPr>
              <a:t>Canadian Task Force on the Periodic Health </a:t>
            </a:r>
            <a:r>
              <a:rPr lang="en-US" altLang="zh-CN" dirty="0" err="1">
                <a:ea typeface="宋体" pitchFamily="2" charset="-122"/>
              </a:rPr>
              <a:t>Examination:The</a:t>
            </a:r>
            <a:r>
              <a:rPr lang="en-US" altLang="zh-CN" dirty="0">
                <a:ea typeface="宋体" pitchFamily="2" charset="-122"/>
              </a:rPr>
              <a:t> periodic health </a:t>
            </a:r>
            <a:r>
              <a:rPr lang="en-US" altLang="zh-CN" dirty="0" err="1">
                <a:ea typeface="宋体" pitchFamily="2" charset="-122"/>
              </a:rPr>
              <a:t>examination.CMAJ</a:t>
            </a:r>
            <a:r>
              <a:rPr lang="en-US" altLang="zh-CN" dirty="0">
                <a:ea typeface="宋体" pitchFamily="2" charset="-122"/>
              </a:rPr>
              <a:t>, 1979, 121(19):1193-1254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Chest, 1986, 89(2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):2S-3S.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Archives </a:t>
            </a:r>
            <a:r>
              <a:rPr lang="en-US" altLang="zh-CN" dirty="0" err="1">
                <a:ea typeface="宋体" pitchFamily="2" charset="-122"/>
              </a:rPr>
              <a:t>Int</a:t>
            </a:r>
            <a:r>
              <a:rPr lang="en-US" altLang="zh-CN" dirty="0">
                <a:ea typeface="宋体" pitchFamily="2" charset="-122"/>
              </a:rPr>
              <a:t> Med, 1986, 146(3):464-465.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Sinclair JC, et al. Users’ guides to the medical l </a:t>
            </a:r>
            <a:r>
              <a:rPr lang="en-US" altLang="zh-CN" dirty="0" err="1">
                <a:ea typeface="宋体" pitchFamily="2" charset="-122"/>
              </a:rPr>
              <a:t>iterature</a:t>
            </a:r>
            <a:r>
              <a:rPr lang="en-US" altLang="zh-CN" dirty="0">
                <a:ea typeface="宋体" pitchFamily="2" charset="-122"/>
              </a:rPr>
              <a:t>. IX. A method for grading health care recommendations. Evidence-Based Medicine Working Group. JAMA, 1995, 274(22): 1800-1804.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on the use of antithrombotic </a:t>
            </a:r>
            <a:r>
              <a:rPr lang="en-US" altLang="zh-CN" dirty="0" err="1">
                <a:ea typeface="宋体" pitchFamily="2" charset="-122"/>
              </a:rPr>
              <a:t>agents.Chest</a:t>
            </a:r>
            <a:r>
              <a:rPr lang="en-US" altLang="zh-CN" dirty="0">
                <a:ea typeface="宋体" pitchFamily="2" charset="-122"/>
              </a:rPr>
              <a:t>, 1989, 95(2):2S-4S.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Rules of evidence and clinical recommendations on the use of antithrombotic agents. Chest, 1992, 102(4): 305S-311S.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</a:t>
            </a:r>
            <a:r>
              <a:rPr lang="en-US" altLang="zh-CN" dirty="0" err="1">
                <a:ea typeface="宋体" pitchFamily="2" charset="-122"/>
              </a:rPr>
              <a:t>Cl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using levels of evidence for antithrombotic agents. Chest, 1995,108(4): 227S-230S.</a:t>
            </a:r>
          </a:p>
          <a:p>
            <a:r>
              <a:rPr lang="en-US" altLang="zh-CN" dirty="0">
                <a:ea typeface="宋体" pitchFamily="2" charset="-122"/>
              </a:rPr>
              <a:t>http://www.cebm.net/levels_of_evidence.asp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Cook DJ,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et al. Grades of recommendation for antithrombotic agents. Chest, 1998, 114(5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 441S-444S.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S c h </a:t>
            </a:r>
            <a:r>
              <a:rPr lang="en-US" altLang="zh-CN" dirty="0" err="1">
                <a:ea typeface="宋体" pitchFamily="2" charset="-122"/>
              </a:rPr>
              <a:t>ünemann</a:t>
            </a:r>
            <a:r>
              <a:rPr lang="en-US" altLang="zh-CN" dirty="0">
                <a:ea typeface="宋体" pitchFamily="2" charset="-122"/>
              </a:rPr>
              <a:t> H, Cook D, </a:t>
            </a:r>
            <a:r>
              <a:rPr lang="en-US" altLang="zh-CN" dirty="0" err="1">
                <a:ea typeface="宋体" pitchFamily="2" charset="-122"/>
              </a:rPr>
              <a:t>etal.Gradesof</a:t>
            </a:r>
            <a:r>
              <a:rPr lang="en-US" altLang="zh-CN" dirty="0">
                <a:ea typeface="宋体" pitchFamily="2" charset="-122"/>
              </a:rPr>
              <a:t> Recommendation for Antithrombotic Agents. Chest, 2001, 119(1):3S-7S.</a:t>
            </a:r>
          </a:p>
          <a:p>
            <a:r>
              <a:rPr lang="en-US" altLang="zh-CN" dirty="0">
                <a:ea typeface="宋体" pitchFamily="2" charset="-122"/>
              </a:rPr>
              <a:t>Atkins D, Best D, </a:t>
            </a:r>
            <a:r>
              <a:rPr lang="en-US" altLang="zh-CN" dirty="0" err="1">
                <a:ea typeface="宋体" pitchFamily="2" charset="-122"/>
              </a:rPr>
              <a:t>Briss</a:t>
            </a:r>
            <a:r>
              <a:rPr lang="en-US" altLang="zh-CN" dirty="0">
                <a:ea typeface="宋体" pitchFamily="2" charset="-122"/>
              </a:rPr>
              <a:t> PA, et </a:t>
            </a:r>
            <a:r>
              <a:rPr lang="en-US" altLang="zh-CN" dirty="0" err="1">
                <a:ea typeface="宋体" pitchFamily="2" charset="-122"/>
              </a:rPr>
              <a:t>al.Grading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and strength of recommendations. BMJ, 2004, 328(7454):1490-1494</a:t>
            </a:r>
          </a:p>
          <a:p>
            <a:r>
              <a:rPr lang="en-US" altLang="zh-CN" dirty="0">
                <a:ea typeface="宋体" pitchFamily="2" charset="-122"/>
              </a:rPr>
              <a:t>http://www.gradeworkinggroup.org/about_us.htm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</a:t>
            </a:r>
            <a:r>
              <a:rPr lang="en-US" altLang="zh-CN" dirty="0" err="1">
                <a:ea typeface="宋体" pitchFamily="2" charset="-122"/>
              </a:rPr>
              <a:t>Gutterman</a:t>
            </a:r>
            <a:r>
              <a:rPr lang="en-US" altLang="zh-CN" dirty="0">
                <a:ea typeface="宋体" pitchFamily="2" charset="-122"/>
              </a:rPr>
              <a:t> D, Baumann MH, et al. Grading strength of recommendations and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in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guidel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ines:report</a:t>
            </a:r>
            <a:r>
              <a:rPr lang="en-US" altLang="zh-CN" dirty="0">
                <a:ea typeface="宋体" pitchFamily="2" charset="-122"/>
              </a:rPr>
              <a:t> from an </a:t>
            </a:r>
            <a:r>
              <a:rPr lang="en-US" altLang="zh-CN" dirty="0" err="1">
                <a:ea typeface="宋体" pitchFamily="2" charset="-122"/>
              </a:rPr>
              <a:t>american</a:t>
            </a:r>
            <a:r>
              <a:rPr lang="en-US" altLang="zh-CN" dirty="0">
                <a:ea typeface="宋体" pitchFamily="2" charset="-122"/>
              </a:rPr>
              <a:t> college of chest physicians task force. Chest,2006, 129(1):174-181.</a:t>
            </a:r>
          </a:p>
          <a:p>
            <a:r>
              <a:rPr lang="en-US" altLang="zh-CN" dirty="0">
                <a:ea typeface="宋体" pitchFamily="2" charset="-122"/>
              </a:rPr>
              <a:t>Aragon CL, </a:t>
            </a:r>
            <a:r>
              <a:rPr lang="en-US" altLang="zh-CN" dirty="0" err="1">
                <a:ea typeface="宋体" pitchFamily="2" charset="-122"/>
              </a:rPr>
              <a:t>Budsberg</a:t>
            </a:r>
            <a:r>
              <a:rPr lang="en-US" altLang="zh-CN" dirty="0">
                <a:ea typeface="宋体" pitchFamily="2" charset="-122"/>
              </a:rPr>
              <a:t> SC. Applications of Evidence-Based </a:t>
            </a:r>
            <a:r>
              <a:rPr lang="en-US" altLang="zh-CN" dirty="0" err="1">
                <a:ea typeface="宋体" pitchFamily="2" charset="-122"/>
              </a:rPr>
              <a:t>Medicine:Cranial</a:t>
            </a:r>
            <a:r>
              <a:rPr lang="en-US" altLang="zh-CN" dirty="0">
                <a:ea typeface="宋体" pitchFamily="2" charset="-122"/>
              </a:rPr>
              <a:t> Cruciate Ligament Injury Repair in the Dog Veterinary Surgery. 34(2): 93–98.</a:t>
            </a:r>
          </a:p>
          <a:p>
            <a:r>
              <a:rPr lang="en-US" altLang="zh-CN" dirty="0">
                <a:ea typeface="宋体" pitchFamily="2" charset="-122"/>
              </a:rPr>
              <a:t>http://library.downstate.edu/ebmdos/2100.htm</a:t>
            </a:r>
          </a:p>
        </p:txBody>
      </p:sp>
      <p:sp>
        <p:nvSpPr>
          <p:cNvPr id="24580" name="灯片编号占位符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F2A7AC83-3E51-4C36-BE6A-771C72EBD479}" type="slidenum">
              <a:rPr lang="en-US" altLang="zh-CN" smtClean="0"/>
              <a:pPr eaLnBrk="1" hangingPunct="1"/>
              <a:t>3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0216356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24579" name="备注占位符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r>
              <a:rPr lang="en-US" altLang="zh-CN" dirty="0">
                <a:ea typeface="宋体" pitchFamily="2" charset="-122"/>
              </a:rPr>
              <a:t>Canadian Task Force on the Periodic Health </a:t>
            </a:r>
            <a:r>
              <a:rPr lang="en-US" altLang="zh-CN" dirty="0" err="1">
                <a:ea typeface="宋体" pitchFamily="2" charset="-122"/>
              </a:rPr>
              <a:t>Examination:The</a:t>
            </a:r>
            <a:r>
              <a:rPr lang="en-US" altLang="zh-CN" dirty="0">
                <a:ea typeface="宋体" pitchFamily="2" charset="-122"/>
              </a:rPr>
              <a:t> periodic health </a:t>
            </a:r>
            <a:r>
              <a:rPr lang="en-US" altLang="zh-CN" dirty="0" err="1">
                <a:ea typeface="宋体" pitchFamily="2" charset="-122"/>
              </a:rPr>
              <a:t>examination.CMAJ</a:t>
            </a:r>
            <a:r>
              <a:rPr lang="en-US" altLang="zh-CN" dirty="0">
                <a:ea typeface="宋体" pitchFamily="2" charset="-122"/>
              </a:rPr>
              <a:t>, 1979, 121(19):1193-1254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Chest, 1986, 89(2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):2S-3S.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Archives </a:t>
            </a:r>
            <a:r>
              <a:rPr lang="en-US" altLang="zh-CN" dirty="0" err="1">
                <a:ea typeface="宋体" pitchFamily="2" charset="-122"/>
              </a:rPr>
              <a:t>Int</a:t>
            </a:r>
            <a:r>
              <a:rPr lang="en-US" altLang="zh-CN" dirty="0">
                <a:ea typeface="宋体" pitchFamily="2" charset="-122"/>
              </a:rPr>
              <a:t> Med, 1986, 146(3):464-465.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Sinclair JC, et al. Users’ guides to the medical l </a:t>
            </a:r>
            <a:r>
              <a:rPr lang="en-US" altLang="zh-CN" dirty="0" err="1">
                <a:ea typeface="宋体" pitchFamily="2" charset="-122"/>
              </a:rPr>
              <a:t>iterature</a:t>
            </a:r>
            <a:r>
              <a:rPr lang="en-US" altLang="zh-CN" dirty="0">
                <a:ea typeface="宋体" pitchFamily="2" charset="-122"/>
              </a:rPr>
              <a:t>. IX. A method for grading health care recommendations. Evidence-Based Medicine Working Group. JAMA, 1995, 274(22): 1800-1804.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on the use of antithrombotic </a:t>
            </a:r>
            <a:r>
              <a:rPr lang="en-US" altLang="zh-CN" dirty="0" err="1">
                <a:ea typeface="宋体" pitchFamily="2" charset="-122"/>
              </a:rPr>
              <a:t>agents.Chest</a:t>
            </a:r>
            <a:r>
              <a:rPr lang="en-US" altLang="zh-CN" dirty="0">
                <a:ea typeface="宋体" pitchFamily="2" charset="-122"/>
              </a:rPr>
              <a:t>, 1989, 95(2):2S-4S.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Rules of evidence and clinical recommendations on the use of antithrombotic agents. Chest, 1992, 102(4): 305S-311S.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</a:t>
            </a:r>
            <a:r>
              <a:rPr lang="en-US" altLang="zh-CN" dirty="0" err="1">
                <a:ea typeface="宋体" pitchFamily="2" charset="-122"/>
              </a:rPr>
              <a:t>Cl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using levels of evidence for antithrombotic agents. Chest, 1995,108(4): 227S-230S.</a:t>
            </a:r>
          </a:p>
          <a:p>
            <a:r>
              <a:rPr lang="en-US" altLang="zh-CN" dirty="0">
                <a:ea typeface="宋体" pitchFamily="2" charset="-122"/>
              </a:rPr>
              <a:t>http://www.cebm.net/levels_of_evidence.asp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Cook DJ,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et al. Grades of recommendation for antithrombotic agents. Chest, 1998, 114(5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 441S-444S.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S c h </a:t>
            </a:r>
            <a:r>
              <a:rPr lang="en-US" altLang="zh-CN" dirty="0" err="1">
                <a:ea typeface="宋体" pitchFamily="2" charset="-122"/>
              </a:rPr>
              <a:t>ünemann</a:t>
            </a:r>
            <a:r>
              <a:rPr lang="en-US" altLang="zh-CN" dirty="0">
                <a:ea typeface="宋体" pitchFamily="2" charset="-122"/>
              </a:rPr>
              <a:t> H, Cook D, </a:t>
            </a:r>
            <a:r>
              <a:rPr lang="en-US" altLang="zh-CN" dirty="0" err="1">
                <a:ea typeface="宋体" pitchFamily="2" charset="-122"/>
              </a:rPr>
              <a:t>etal.Gradesof</a:t>
            </a:r>
            <a:r>
              <a:rPr lang="en-US" altLang="zh-CN" dirty="0">
                <a:ea typeface="宋体" pitchFamily="2" charset="-122"/>
              </a:rPr>
              <a:t> Recommendation for Antithrombotic Agents. Chest, 2001, 119(1):3S-7S.</a:t>
            </a:r>
          </a:p>
          <a:p>
            <a:r>
              <a:rPr lang="en-US" altLang="zh-CN" dirty="0">
                <a:ea typeface="宋体" pitchFamily="2" charset="-122"/>
              </a:rPr>
              <a:t>Atkins D, Best D, </a:t>
            </a:r>
            <a:r>
              <a:rPr lang="en-US" altLang="zh-CN" dirty="0" err="1">
                <a:ea typeface="宋体" pitchFamily="2" charset="-122"/>
              </a:rPr>
              <a:t>Briss</a:t>
            </a:r>
            <a:r>
              <a:rPr lang="en-US" altLang="zh-CN" dirty="0">
                <a:ea typeface="宋体" pitchFamily="2" charset="-122"/>
              </a:rPr>
              <a:t> PA, et </a:t>
            </a:r>
            <a:r>
              <a:rPr lang="en-US" altLang="zh-CN" dirty="0" err="1">
                <a:ea typeface="宋体" pitchFamily="2" charset="-122"/>
              </a:rPr>
              <a:t>al.Grading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and strength of recommendations. BMJ, 2004, 328(7454):1490-1494</a:t>
            </a:r>
          </a:p>
          <a:p>
            <a:r>
              <a:rPr lang="en-US" altLang="zh-CN" dirty="0">
                <a:ea typeface="宋体" pitchFamily="2" charset="-122"/>
              </a:rPr>
              <a:t>http://www.gradeworkinggroup.org/about_us.htm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</a:t>
            </a:r>
            <a:r>
              <a:rPr lang="en-US" altLang="zh-CN" dirty="0" err="1">
                <a:ea typeface="宋体" pitchFamily="2" charset="-122"/>
              </a:rPr>
              <a:t>Gutterman</a:t>
            </a:r>
            <a:r>
              <a:rPr lang="en-US" altLang="zh-CN" dirty="0">
                <a:ea typeface="宋体" pitchFamily="2" charset="-122"/>
              </a:rPr>
              <a:t> D, Baumann MH, et al. Grading strength of recommendations and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in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guidel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ines:report</a:t>
            </a:r>
            <a:r>
              <a:rPr lang="en-US" altLang="zh-CN" dirty="0">
                <a:ea typeface="宋体" pitchFamily="2" charset="-122"/>
              </a:rPr>
              <a:t> from an </a:t>
            </a:r>
            <a:r>
              <a:rPr lang="en-US" altLang="zh-CN" dirty="0" err="1">
                <a:ea typeface="宋体" pitchFamily="2" charset="-122"/>
              </a:rPr>
              <a:t>american</a:t>
            </a:r>
            <a:r>
              <a:rPr lang="en-US" altLang="zh-CN" dirty="0">
                <a:ea typeface="宋体" pitchFamily="2" charset="-122"/>
              </a:rPr>
              <a:t> college of chest physicians task force. Chest,2006, 129(1):174-181.</a:t>
            </a:r>
          </a:p>
          <a:p>
            <a:r>
              <a:rPr lang="en-US" altLang="zh-CN" dirty="0">
                <a:ea typeface="宋体" pitchFamily="2" charset="-122"/>
              </a:rPr>
              <a:t>Aragon CL, </a:t>
            </a:r>
            <a:r>
              <a:rPr lang="en-US" altLang="zh-CN" dirty="0" err="1">
                <a:ea typeface="宋体" pitchFamily="2" charset="-122"/>
              </a:rPr>
              <a:t>Budsberg</a:t>
            </a:r>
            <a:r>
              <a:rPr lang="en-US" altLang="zh-CN" dirty="0">
                <a:ea typeface="宋体" pitchFamily="2" charset="-122"/>
              </a:rPr>
              <a:t> SC. Applications of Evidence-Based </a:t>
            </a:r>
            <a:r>
              <a:rPr lang="en-US" altLang="zh-CN" dirty="0" err="1">
                <a:ea typeface="宋体" pitchFamily="2" charset="-122"/>
              </a:rPr>
              <a:t>Medicine:Cranial</a:t>
            </a:r>
            <a:r>
              <a:rPr lang="en-US" altLang="zh-CN" dirty="0">
                <a:ea typeface="宋体" pitchFamily="2" charset="-122"/>
              </a:rPr>
              <a:t> Cruciate Ligament Injury Repair in the Dog Veterinary Surgery. 34(2): 93–98.</a:t>
            </a:r>
          </a:p>
          <a:p>
            <a:r>
              <a:rPr lang="en-US" altLang="zh-CN" dirty="0">
                <a:ea typeface="宋体" pitchFamily="2" charset="-122"/>
              </a:rPr>
              <a:t>http://library.downstate.edu/ebmdos/2100.htm</a:t>
            </a:r>
          </a:p>
        </p:txBody>
      </p:sp>
      <p:sp>
        <p:nvSpPr>
          <p:cNvPr id="24580" name="灯片编号占位符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F2A7AC83-3E51-4C36-BE6A-771C72EBD479}" type="slidenum">
              <a:rPr lang="en-US" altLang="zh-CN" smtClean="0"/>
              <a:pPr eaLnBrk="1" hangingPunct="1"/>
              <a:t>4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717857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24579" name="备注占位符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r>
              <a:rPr lang="en-US" altLang="zh-CN" dirty="0">
                <a:ea typeface="宋体" pitchFamily="2" charset="-122"/>
              </a:rPr>
              <a:t>Canadian Task Force on the Periodic Health </a:t>
            </a:r>
            <a:r>
              <a:rPr lang="en-US" altLang="zh-CN" dirty="0" err="1">
                <a:ea typeface="宋体" pitchFamily="2" charset="-122"/>
              </a:rPr>
              <a:t>Examination:The</a:t>
            </a:r>
            <a:r>
              <a:rPr lang="en-US" altLang="zh-CN" dirty="0">
                <a:ea typeface="宋体" pitchFamily="2" charset="-122"/>
              </a:rPr>
              <a:t> periodic health </a:t>
            </a:r>
            <a:r>
              <a:rPr lang="en-US" altLang="zh-CN" dirty="0" err="1">
                <a:ea typeface="宋体" pitchFamily="2" charset="-122"/>
              </a:rPr>
              <a:t>examination.CMAJ</a:t>
            </a:r>
            <a:r>
              <a:rPr lang="en-US" altLang="zh-CN" dirty="0">
                <a:ea typeface="宋体" pitchFamily="2" charset="-122"/>
              </a:rPr>
              <a:t>, 1979, 121(19):1193-1254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Chest, 1986, 89(2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):2S-3S.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Archives </a:t>
            </a:r>
            <a:r>
              <a:rPr lang="en-US" altLang="zh-CN" dirty="0" err="1">
                <a:ea typeface="宋体" pitchFamily="2" charset="-122"/>
              </a:rPr>
              <a:t>Int</a:t>
            </a:r>
            <a:r>
              <a:rPr lang="en-US" altLang="zh-CN" dirty="0">
                <a:ea typeface="宋体" pitchFamily="2" charset="-122"/>
              </a:rPr>
              <a:t> Med, 1986, 146(3):464-465.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Sinclair JC, et al. Users’ guides to the medical l </a:t>
            </a:r>
            <a:r>
              <a:rPr lang="en-US" altLang="zh-CN" dirty="0" err="1">
                <a:ea typeface="宋体" pitchFamily="2" charset="-122"/>
              </a:rPr>
              <a:t>iterature</a:t>
            </a:r>
            <a:r>
              <a:rPr lang="en-US" altLang="zh-CN" dirty="0">
                <a:ea typeface="宋体" pitchFamily="2" charset="-122"/>
              </a:rPr>
              <a:t>. IX. A method for grading health care recommendations. Evidence-Based Medicine Working Group. JAMA, 1995, 274(22): 1800-1804.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on the use of antithrombotic </a:t>
            </a:r>
            <a:r>
              <a:rPr lang="en-US" altLang="zh-CN" dirty="0" err="1">
                <a:ea typeface="宋体" pitchFamily="2" charset="-122"/>
              </a:rPr>
              <a:t>agents.Chest</a:t>
            </a:r>
            <a:r>
              <a:rPr lang="en-US" altLang="zh-CN" dirty="0">
                <a:ea typeface="宋体" pitchFamily="2" charset="-122"/>
              </a:rPr>
              <a:t>, 1989, 95(2):2S-4S.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Rules of evidence and clinical recommendations on the use of antithrombotic agents. Chest, 1992, 102(4): 305S-311S.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</a:t>
            </a:r>
            <a:r>
              <a:rPr lang="en-US" altLang="zh-CN" dirty="0" err="1">
                <a:ea typeface="宋体" pitchFamily="2" charset="-122"/>
              </a:rPr>
              <a:t>Cl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using levels of evidence for antithrombotic agents. Chest, 1995,108(4): 227S-230S.</a:t>
            </a:r>
          </a:p>
          <a:p>
            <a:r>
              <a:rPr lang="en-US" altLang="zh-CN" dirty="0">
                <a:ea typeface="宋体" pitchFamily="2" charset="-122"/>
              </a:rPr>
              <a:t>http://www.cebm.net/levels_of_evidence.asp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Cook DJ,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et al. Grades of recommendation for antithrombotic agents. Chest, 1998, 114(5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 441S-444S.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S c h </a:t>
            </a:r>
            <a:r>
              <a:rPr lang="en-US" altLang="zh-CN" dirty="0" err="1">
                <a:ea typeface="宋体" pitchFamily="2" charset="-122"/>
              </a:rPr>
              <a:t>ünemann</a:t>
            </a:r>
            <a:r>
              <a:rPr lang="en-US" altLang="zh-CN" dirty="0">
                <a:ea typeface="宋体" pitchFamily="2" charset="-122"/>
              </a:rPr>
              <a:t> H, Cook D, </a:t>
            </a:r>
            <a:r>
              <a:rPr lang="en-US" altLang="zh-CN" dirty="0" err="1">
                <a:ea typeface="宋体" pitchFamily="2" charset="-122"/>
              </a:rPr>
              <a:t>etal.Gradesof</a:t>
            </a:r>
            <a:r>
              <a:rPr lang="en-US" altLang="zh-CN" dirty="0">
                <a:ea typeface="宋体" pitchFamily="2" charset="-122"/>
              </a:rPr>
              <a:t> Recommendation for Antithrombotic Agents. Chest, 2001, 119(1):3S-7S.</a:t>
            </a:r>
          </a:p>
          <a:p>
            <a:r>
              <a:rPr lang="en-US" altLang="zh-CN" dirty="0">
                <a:ea typeface="宋体" pitchFamily="2" charset="-122"/>
              </a:rPr>
              <a:t>Atkins D, Best D, </a:t>
            </a:r>
            <a:r>
              <a:rPr lang="en-US" altLang="zh-CN" dirty="0" err="1">
                <a:ea typeface="宋体" pitchFamily="2" charset="-122"/>
              </a:rPr>
              <a:t>Briss</a:t>
            </a:r>
            <a:r>
              <a:rPr lang="en-US" altLang="zh-CN" dirty="0">
                <a:ea typeface="宋体" pitchFamily="2" charset="-122"/>
              </a:rPr>
              <a:t> PA, et </a:t>
            </a:r>
            <a:r>
              <a:rPr lang="en-US" altLang="zh-CN" dirty="0" err="1">
                <a:ea typeface="宋体" pitchFamily="2" charset="-122"/>
              </a:rPr>
              <a:t>al.Grading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and strength of recommendations. BMJ, 2004, 328(7454):1490-1494</a:t>
            </a:r>
          </a:p>
          <a:p>
            <a:r>
              <a:rPr lang="en-US" altLang="zh-CN" dirty="0">
                <a:ea typeface="宋体" pitchFamily="2" charset="-122"/>
              </a:rPr>
              <a:t>http://www.gradeworkinggroup.org/about_us.htm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</a:t>
            </a:r>
            <a:r>
              <a:rPr lang="en-US" altLang="zh-CN" dirty="0" err="1">
                <a:ea typeface="宋体" pitchFamily="2" charset="-122"/>
              </a:rPr>
              <a:t>Gutterman</a:t>
            </a:r>
            <a:r>
              <a:rPr lang="en-US" altLang="zh-CN" dirty="0">
                <a:ea typeface="宋体" pitchFamily="2" charset="-122"/>
              </a:rPr>
              <a:t> D, Baumann MH, et al. Grading strength of recommendations and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in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guidel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ines:report</a:t>
            </a:r>
            <a:r>
              <a:rPr lang="en-US" altLang="zh-CN" dirty="0">
                <a:ea typeface="宋体" pitchFamily="2" charset="-122"/>
              </a:rPr>
              <a:t> from an </a:t>
            </a:r>
            <a:r>
              <a:rPr lang="en-US" altLang="zh-CN" dirty="0" err="1">
                <a:ea typeface="宋体" pitchFamily="2" charset="-122"/>
              </a:rPr>
              <a:t>american</a:t>
            </a:r>
            <a:r>
              <a:rPr lang="en-US" altLang="zh-CN" dirty="0">
                <a:ea typeface="宋体" pitchFamily="2" charset="-122"/>
              </a:rPr>
              <a:t> college of chest physicians task force. Chest,2006, 129(1):174-181.</a:t>
            </a:r>
          </a:p>
          <a:p>
            <a:r>
              <a:rPr lang="en-US" altLang="zh-CN" dirty="0">
                <a:ea typeface="宋体" pitchFamily="2" charset="-122"/>
              </a:rPr>
              <a:t>Aragon CL, </a:t>
            </a:r>
            <a:r>
              <a:rPr lang="en-US" altLang="zh-CN" dirty="0" err="1">
                <a:ea typeface="宋体" pitchFamily="2" charset="-122"/>
              </a:rPr>
              <a:t>Budsberg</a:t>
            </a:r>
            <a:r>
              <a:rPr lang="en-US" altLang="zh-CN" dirty="0">
                <a:ea typeface="宋体" pitchFamily="2" charset="-122"/>
              </a:rPr>
              <a:t> SC. Applications of Evidence-Based </a:t>
            </a:r>
            <a:r>
              <a:rPr lang="en-US" altLang="zh-CN" dirty="0" err="1">
                <a:ea typeface="宋体" pitchFamily="2" charset="-122"/>
              </a:rPr>
              <a:t>Medicine:Cranial</a:t>
            </a:r>
            <a:r>
              <a:rPr lang="en-US" altLang="zh-CN" dirty="0">
                <a:ea typeface="宋体" pitchFamily="2" charset="-122"/>
              </a:rPr>
              <a:t> Cruciate Ligament Injury Repair in the Dog Veterinary Surgery. 34(2): 93–98.</a:t>
            </a:r>
          </a:p>
          <a:p>
            <a:r>
              <a:rPr lang="en-US" altLang="zh-CN" dirty="0">
                <a:ea typeface="宋体" pitchFamily="2" charset="-122"/>
              </a:rPr>
              <a:t>http://library.downstate.edu/ebmdos/2100.htm</a:t>
            </a:r>
          </a:p>
        </p:txBody>
      </p:sp>
      <p:sp>
        <p:nvSpPr>
          <p:cNvPr id="24580" name="灯片编号占位符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F2A7AC83-3E51-4C36-BE6A-771C72EBD479}" type="slidenum">
              <a:rPr lang="en-US" altLang="zh-CN" smtClean="0"/>
              <a:pPr eaLnBrk="1" hangingPunct="1"/>
              <a:t>5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4226729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24579" name="备注占位符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r>
              <a:rPr lang="en-US" altLang="zh-CN" dirty="0">
                <a:ea typeface="宋体" pitchFamily="2" charset="-122"/>
              </a:rPr>
              <a:t>Canadian Task Force on the Periodic Health </a:t>
            </a:r>
            <a:r>
              <a:rPr lang="en-US" altLang="zh-CN" dirty="0" err="1">
                <a:ea typeface="宋体" pitchFamily="2" charset="-122"/>
              </a:rPr>
              <a:t>Examination:The</a:t>
            </a:r>
            <a:r>
              <a:rPr lang="en-US" altLang="zh-CN" dirty="0">
                <a:ea typeface="宋体" pitchFamily="2" charset="-122"/>
              </a:rPr>
              <a:t> periodic health </a:t>
            </a:r>
            <a:r>
              <a:rPr lang="en-US" altLang="zh-CN" dirty="0" err="1">
                <a:ea typeface="宋体" pitchFamily="2" charset="-122"/>
              </a:rPr>
              <a:t>examination.CMAJ</a:t>
            </a:r>
            <a:r>
              <a:rPr lang="en-US" altLang="zh-CN" dirty="0">
                <a:ea typeface="宋体" pitchFamily="2" charset="-122"/>
              </a:rPr>
              <a:t>, 1979, 121(19):1193-1254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Chest, 1986, 89(2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):2S-3S.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Archives </a:t>
            </a:r>
            <a:r>
              <a:rPr lang="en-US" altLang="zh-CN" dirty="0" err="1">
                <a:ea typeface="宋体" pitchFamily="2" charset="-122"/>
              </a:rPr>
              <a:t>Int</a:t>
            </a:r>
            <a:r>
              <a:rPr lang="en-US" altLang="zh-CN" dirty="0">
                <a:ea typeface="宋体" pitchFamily="2" charset="-122"/>
              </a:rPr>
              <a:t> Med, 1986, 146(3):464-465.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Sinclair JC, et al. Users’ guides to the medical l </a:t>
            </a:r>
            <a:r>
              <a:rPr lang="en-US" altLang="zh-CN" dirty="0" err="1">
                <a:ea typeface="宋体" pitchFamily="2" charset="-122"/>
              </a:rPr>
              <a:t>iterature</a:t>
            </a:r>
            <a:r>
              <a:rPr lang="en-US" altLang="zh-CN" dirty="0">
                <a:ea typeface="宋体" pitchFamily="2" charset="-122"/>
              </a:rPr>
              <a:t>. IX. A method for grading health care recommendations. Evidence-Based Medicine Working Group. JAMA, 1995, 274(22): 1800-1804.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on the use of antithrombotic </a:t>
            </a:r>
            <a:r>
              <a:rPr lang="en-US" altLang="zh-CN" dirty="0" err="1">
                <a:ea typeface="宋体" pitchFamily="2" charset="-122"/>
              </a:rPr>
              <a:t>agents.Chest</a:t>
            </a:r>
            <a:r>
              <a:rPr lang="en-US" altLang="zh-CN" dirty="0">
                <a:ea typeface="宋体" pitchFamily="2" charset="-122"/>
              </a:rPr>
              <a:t>, 1989, 95(2):2S-4S.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Rules of evidence and clinical recommendations on the use of antithrombotic agents. Chest, 1992, 102(4): 305S-311S.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</a:t>
            </a:r>
            <a:r>
              <a:rPr lang="en-US" altLang="zh-CN" dirty="0" err="1">
                <a:ea typeface="宋体" pitchFamily="2" charset="-122"/>
              </a:rPr>
              <a:t>Cl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using levels of evidence for antithrombotic agents. Chest, 1995,108(4): 227S-230S.</a:t>
            </a:r>
          </a:p>
          <a:p>
            <a:r>
              <a:rPr lang="en-US" altLang="zh-CN" dirty="0">
                <a:ea typeface="宋体" pitchFamily="2" charset="-122"/>
              </a:rPr>
              <a:t>http://www.cebm.net/levels_of_evidence.asp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Cook DJ,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et al. Grades of recommendation for antithrombotic agents. Chest, 1998, 114(5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 441S-444S.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S c h </a:t>
            </a:r>
            <a:r>
              <a:rPr lang="en-US" altLang="zh-CN" dirty="0" err="1">
                <a:ea typeface="宋体" pitchFamily="2" charset="-122"/>
              </a:rPr>
              <a:t>ünemann</a:t>
            </a:r>
            <a:r>
              <a:rPr lang="en-US" altLang="zh-CN" dirty="0">
                <a:ea typeface="宋体" pitchFamily="2" charset="-122"/>
              </a:rPr>
              <a:t> H, Cook D, </a:t>
            </a:r>
            <a:r>
              <a:rPr lang="en-US" altLang="zh-CN" dirty="0" err="1">
                <a:ea typeface="宋体" pitchFamily="2" charset="-122"/>
              </a:rPr>
              <a:t>etal.Gradesof</a:t>
            </a:r>
            <a:r>
              <a:rPr lang="en-US" altLang="zh-CN" dirty="0">
                <a:ea typeface="宋体" pitchFamily="2" charset="-122"/>
              </a:rPr>
              <a:t> Recommendation for Antithrombotic Agents. Chest, 2001, 119(1):3S-7S.</a:t>
            </a:r>
          </a:p>
          <a:p>
            <a:r>
              <a:rPr lang="en-US" altLang="zh-CN" dirty="0">
                <a:ea typeface="宋体" pitchFamily="2" charset="-122"/>
              </a:rPr>
              <a:t>Atkins D, Best D, </a:t>
            </a:r>
            <a:r>
              <a:rPr lang="en-US" altLang="zh-CN" dirty="0" err="1">
                <a:ea typeface="宋体" pitchFamily="2" charset="-122"/>
              </a:rPr>
              <a:t>Briss</a:t>
            </a:r>
            <a:r>
              <a:rPr lang="en-US" altLang="zh-CN" dirty="0">
                <a:ea typeface="宋体" pitchFamily="2" charset="-122"/>
              </a:rPr>
              <a:t> PA, et </a:t>
            </a:r>
            <a:r>
              <a:rPr lang="en-US" altLang="zh-CN" dirty="0" err="1">
                <a:ea typeface="宋体" pitchFamily="2" charset="-122"/>
              </a:rPr>
              <a:t>al.Grading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and strength of recommendations. BMJ, 2004, 328(7454):1490-1494</a:t>
            </a:r>
          </a:p>
          <a:p>
            <a:r>
              <a:rPr lang="en-US" altLang="zh-CN" dirty="0">
                <a:ea typeface="宋体" pitchFamily="2" charset="-122"/>
              </a:rPr>
              <a:t>http://www.gradeworkinggroup.org/about_us.htm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</a:t>
            </a:r>
            <a:r>
              <a:rPr lang="en-US" altLang="zh-CN" dirty="0" err="1">
                <a:ea typeface="宋体" pitchFamily="2" charset="-122"/>
              </a:rPr>
              <a:t>Gutterman</a:t>
            </a:r>
            <a:r>
              <a:rPr lang="en-US" altLang="zh-CN" dirty="0">
                <a:ea typeface="宋体" pitchFamily="2" charset="-122"/>
              </a:rPr>
              <a:t> D, Baumann MH, et al. Grading strength of recommendations and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in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guidel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ines:report</a:t>
            </a:r>
            <a:r>
              <a:rPr lang="en-US" altLang="zh-CN" dirty="0">
                <a:ea typeface="宋体" pitchFamily="2" charset="-122"/>
              </a:rPr>
              <a:t> from an </a:t>
            </a:r>
            <a:r>
              <a:rPr lang="en-US" altLang="zh-CN" dirty="0" err="1">
                <a:ea typeface="宋体" pitchFamily="2" charset="-122"/>
              </a:rPr>
              <a:t>american</a:t>
            </a:r>
            <a:r>
              <a:rPr lang="en-US" altLang="zh-CN" dirty="0">
                <a:ea typeface="宋体" pitchFamily="2" charset="-122"/>
              </a:rPr>
              <a:t> college of chest physicians task force. Chest,2006, 129(1):174-181.</a:t>
            </a:r>
          </a:p>
          <a:p>
            <a:r>
              <a:rPr lang="en-US" altLang="zh-CN" dirty="0">
                <a:ea typeface="宋体" pitchFamily="2" charset="-122"/>
              </a:rPr>
              <a:t>Aragon CL, </a:t>
            </a:r>
            <a:r>
              <a:rPr lang="en-US" altLang="zh-CN" dirty="0" err="1">
                <a:ea typeface="宋体" pitchFamily="2" charset="-122"/>
              </a:rPr>
              <a:t>Budsberg</a:t>
            </a:r>
            <a:r>
              <a:rPr lang="en-US" altLang="zh-CN" dirty="0">
                <a:ea typeface="宋体" pitchFamily="2" charset="-122"/>
              </a:rPr>
              <a:t> SC. Applications of Evidence-Based </a:t>
            </a:r>
            <a:r>
              <a:rPr lang="en-US" altLang="zh-CN" dirty="0" err="1">
                <a:ea typeface="宋体" pitchFamily="2" charset="-122"/>
              </a:rPr>
              <a:t>Medicine:Cranial</a:t>
            </a:r>
            <a:r>
              <a:rPr lang="en-US" altLang="zh-CN" dirty="0">
                <a:ea typeface="宋体" pitchFamily="2" charset="-122"/>
              </a:rPr>
              <a:t> Cruciate Ligament Injury Repair in the Dog Veterinary Surgery. 34(2): 93–98.</a:t>
            </a:r>
          </a:p>
          <a:p>
            <a:r>
              <a:rPr lang="en-US" altLang="zh-CN" dirty="0">
                <a:ea typeface="宋体" pitchFamily="2" charset="-122"/>
              </a:rPr>
              <a:t>http://library.downstate.edu/ebmdos/2100.htm</a:t>
            </a:r>
          </a:p>
        </p:txBody>
      </p:sp>
      <p:sp>
        <p:nvSpPr>
          <p:cNvPr id="24580" name="灯片编号占位符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F2A7AC83-3E51-4C36-BE6A-771C72EBD479}" type="slidenum">
              <a:rPr lang="en-US" altLang="zh-CN" smtClean="0"/>
              <a:pPr eaLnBrk="1" hangingPunct="1"/>
              <a:t>6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7415613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24579" name="备注占位符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r>
              <a:rPr lang="en-US" altLang="zh-CN" dirty="0">
                <a:ea typeface="宋体" pitchFamily="2" charset="-122"/>
              </a:rPr>
              <a:t>Canadian Task Force on the Periodic Health </a:t>
            </a:r>
            <a:r>
              <a:rPr lang="en-US" altLang="zh-CN" dirty="0" err="1">
                <a:ea typeface="宋体" pitchFamily="2" charset="-122"/>
              </a:rPr>
              <a:t>Examination:The</a:t>
            </a:r>
            <a:r>
              <a:rPr lang="en-US" altLang="zh-CN" dirty="0">
                <a:ea typeface="宋体" pitchFamily="2" charset="-122"/>
              </a:rPr>
              <a:t> periodic health </a:t>
            </a:r>
            <a:r>
              <a:rPr lang="en-US" altLang="zh-CN" dirty="0" err="1">
                <a:ea typeface="宋体" pitchFamily="2" charset="-122"/>
              </a:rPr>
              <a:t>examination.CMAJ</a:t>
            </a:r>
            <a:r>
              <a:rPr lang="en-US" altLang="zh-CN" dirty="0">
                <a:ea typeface="宋体" pitchFamily="2" charset="-122"/>
              </a:rPr>
              <a:t>, 1979, 121(19):1193-1254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Chest, 1986, 89(2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):2S-3S.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Archives </a:t>
            </a:r>
            <a:r>
              <a:rPr lang="en-US" altLang="zh-CN" dirty="0" err="1">
                <a:ea typeface="宋体" pitchFamily="2" charset="-122"/>
              </a:rPr>
              <a:t>Int</a:t>
            </a:r>
            <a:r>
              <a:rPr lang="en-US" altLang="zh-CN" dirty="0">
                <a:ea typeface="宋体" pitchFamily="2" charset="-122"/>
              </a:rPr>
              <a:t> Med, 1986, 146(3):464-465.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Sinclair JC, et al. Users’ guides to the medical l </a:t>
            </a:r>
            <a:r>
              <a:rPr lang="en-US" altLang="zh-CN" dirty="0" err="1">
                <a:ea typeface="宋体" pitchFamily="2" charset="-122"/>
              </a:rPr>
              <a:t>iterature</a:t>
            </a:r>
            <a:r>
              <a:rPr lang="en-US" altLang="zh-CN" dirty="0">
                <a:ea typeface="宋体" pitchFamily="2" charset="-122"/>
              </a:rPr>
              <a:t>. IX. A method for grading health care recommendations. Evidence-Based Medicine Working Group. JAMA, 1995, 274(22): 1800-1804.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on the use of antithrombotic </a:t>
            </a:r>
            <a:r>
              <a:rPr lang="en-US" altLang="zh-CN" dirty="0" err="1">
                <a:ea typeface="宋体" pitchFamily="2" charset="-122"/>
              </a:rPr>
              <a:t>agents.Chest</a:t>
            </a:r>
            <a:r>
              <a:rPr lang="en-US" altLang="zh-CN" dirty="0">
                <a:ea typeface="宋体" pitchFamily="2" charset="-122"/>
              </a:rPr>
              <a:t>, 1989, 95(2):2S-4S.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Rules of evidence and clinical recommendations on the use of antithrombotic agents. Chest, 1992, 102(4): 305S-311S.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</a:t>
            </a:r>
            <a:r>
              <a:rPr lang="en-US" altLang="zh-CN" dirty="0" err="1">
                <a:ea typeface="宋体" pitchFamily="2" charset="-122"/>
              </a:rPr>
              <a:t>Cl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using levels of evidence for antithrombotic agents. Chest, 1995,108(4): 227S-230S.</a:t>
            </a:r>
          </a:p>
          <a:p>
            <a:r>
              <a:rPr lang="en-US" altLang="zh-CN" dirty="0">
                <a:ea typeface="宋体" pitchFamily="2" charset="-122"/>
              </a:rPr>
              <a:t>http://www.cebm.net/levels_of_evidence.asp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Cook DJ,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et al. Grades of recommendation for antithrombotic agents. Chest, 1998, 114(5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 441S-444S.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S c h </a:t>
            </a:r>
            <a:r>
              <a:rPr lang="en-US" altLang="zh-CN" dirty="0" err="1">
                <a:ea typeface="宋体" pitchFamily="2" charset="-122"/>
              </a:rPr>
              <a:t>ünemann</a:t>
            </a:r>
            <a:r>
              <a:rPr lang="en-US" altLang="zh-CN" dirty="0">
                <a:ea typeface="宋体" pitchFamily="2" charset="-122"/>
              </a:rPr>
              <a:t> H, Cook D, </a:t>
            </a:r>
            <a:r>
              <a:rPr lang="en-US" altLang="zh-CN" dirty="0" err="1">
                <a:ea typeface="宋体" pitchFamily="2" charset="-122"/>
              </a:rPr>
              <a:t>etal.Gradesof</a:t>
            </a:r>
            <a:r>
              <a:rPr lang="en-US" altLang="zh-CN" dirty="0">
                <a:ea typeface="宋体" pitchFamily="2" charset="-122"/>
              </a:rPr>
              <a:t> Recommendation for Antithrombotic Agents. Chest, 2001, 119(1):3S-7S.</a:t>
            </a:r>
          </a:p>
          <a:p>
            <a:r>
              <a:rPr lang="en-US" altLang="zh-CN" dirty="0">
                <a:ea typeface="宋体" pitchFamily="2" charset="-122"/>
              </a:rPr>
              <a:t>Atkins D, Best D, </a:t>
            </a:r>
            <a:r>
              <a:rPr lang="en-US" altLang="zh-CN" dirty="0" err="1">
                <a:ea typeface="宋体" pitchFamily="2" charset="-122"/>
              </a:rPr>
              <a:t>Briss</a:t>
            </a:r>
            <a:r>
              <a:rPr lang="en-US" altLang="zh-CN" dirty="0">
                <a:ea typeface="宋体" pitchFamily="2" charset="-122"/>
              </a:rPr>
              <a:t> PA, et </a:t>
            </a:r>
            <a:r>
              <a:rPr lang="en-US" altLang="zh-CN" dirty="0" err="1">
                <a:ea typeface="宋体" pitchFamily="2" charset="-122"/>
              </a:rPr>
              <a:t>al.Grading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and strength of recommendations. BMJ, 2004, 328(7454):1490-1494</a:t>
            </a:r>
          </a:p>
          <a:p>
            <a:r>
              <a:rPr lang="en-US" altLang="zh-CN" dirty="0">
                <a:ea typeface="宋体" pitchFamily="2" charset="-122"/>
              </a:rPr>
              <a:t>http://www.gradeworkinggroup.org/about_us.htm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</a:t>
            </a:r>
            <a:r>
              <a:rPr lang="en-US" altLang="zh-CN" dirty="0" err="1">
                <a:ea typeface="宋体" pitchFamily="2" charset="-122"/>
              </a:rPr>
              <a:t>Gutterman</a:t>
            </a:r>
            <a:r>
              <a:rPr lang="en-US" altLang="zh-CN" dirty="0">
                <a:ea typeface="宋体" pitchFamily="2" charset="-122"/>
              </a:rPr>
              <a:t> D, Baumann MH, et al. Grading strength of recommendations and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in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guidel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ines:report</a:t>
            </a:r>
            <a:r>
              <a:rPr lang="en-US" altLang="zh-CN" dirty="0">
                <a:ea typeface="宋体" pitchFamily="2" charset="-122"/>
              </a:rPr>
              <a:t> from an </a:t>
            </a:r>
            <a:r>
              <a:rPr lang="en-US" altLang="zh-CN" dirty="0" err="1">
                <a:ea typeface="宋体" pitchFamily="2" charset="-122"/>
              </a:rPr>
              <a:t>american</a:t>
            </a:r>
            <a:r>
              <a:rPr lang="en-US" altLang="zh-CN" dirty="0">
                <a:ea typeface="宋体" pitchFamily="2" charset="-122"/>
              </a:rPr>
              <a:t> college of chest physicians task force. Chest,2006, 129(1):174-181.</a:t>
            </a:r>
          </a:p>
          <a:p>
            <a:r>
              <a:rPr lang="en-US" altLang="zh-CN" dirty="0">
                <a:ea typeface="宋体" pitchFamily="2" charset="-122"/>
              </a:rPr>
              <a:t>Aragon CL, </a:t>
            </a:r>
            <a:r>
              <a:rPr lang="en-US" altLang="zh-CN" dirty="0" err="1">
                <a:ea typeface="宋体" pitchFamily="2" charset="-122"/>
              </a:rPr>
              <a:t>Budsberg</a:t>
            </a:r>
            <a:r>
              <a:rPr lang="en-US" altLang="zh-CN" dirty="0">
                <a:ea typeface="宋体" pitchFamily="2" charset="-122"/>
              </a:rPr>
              <a:t> SC. Applications of Evidence-Based </a:t>
            </a:r>
            <a:r>
              <a:rPr lang="en-US" altLang="zh-CN" dirty="0" err="1">
                <a:ea typeface="宋体" pitchFamily="2" charset="-122"/>
              </a:rPr>
              <a:t>Medicine:Cranial</a:t>
            </a:r>
            <a:r>
              <a:rPr lang="en-US" altLang="zh-CN" dirty="0">
                <a:ea typeface="宋体" pitchFamily="2" charset="-122"/>
              </a:rPr>
              <a:t> Cruciate Ligament Injury Repair in the Dog Veterinary Surgery. 34(2): 93–98.</a:t>
            </a:r>
          </a:p>
          <a:p>
            <a:r>
              <a:rPr lang="en-US" altLang="zh-CN" dirty="0">
                <a:ea typeface="宋体" pitchFamily="2" charset="-122"/>
              </a:rPr>
              <a:t>http://library.downstate.edu/ebmdos/2100.htm</a:t>
            </a:r>
          </a:p>
        </p:txBody>
      </p:sp>
      <p:sp>
        <p:nvSpPr>
          <p:cNvPr id="24580" name="灯片编号占位符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F2A7AC83-3E51-4C36-BE6A-771C72EBD479}" type="slidenum">
              <a:rPr lang="en-US" altLang="zh-CN" smtClean="0"/>
              <a:pPr eaLnBrk="1" hangingPunct="1"/>
              <a:t>7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0305120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24579" name="备注占位符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r>
              <a:rPr lang="en-US" altLang="zh-CN" dirty="0">
                <a:ea typeface="宋体" pitchFamily="2" charset="-122"/>
              </a:rPr>
              <a:t>T’ </a:t>
            </a:r>
            <a:r>
              <a:rPr lang="en-US" altLang="zh-CN" dirty="0">
                <a:latin typeface="+mn-ea"/>
                <a:ea typeface="+mn-ea"/>
              </a:rPr>
              <a:t>~</a:t>
            </a:r>
            <a:r>
              <a:rPr lang="en-US" altLang="zh-CN" dirty="0">
                <a:ea typeface="宋体" pitchFamily="2" charset="-122"/>
              </a:rPr>
              <a:t> T </a:t>
            </a:r>
            <a:r>
              <a:rPr lang="zh-CN" altLang="en-US" dirty="0">
                <a:ea typeface="宋体" pitchFamily="2" charset="-122"/>
              </a:rPr>
              <a:t>：讀作</a:t>
            </a:r>
            <a:r>
              <a:rPr lang="zh-CN" altLang="en-US" baseline="0" dirty="0">
                <a:ea typeface="宋体" pitchFamily="2" charset="-122"/>
              </a:rPr>
              <a:t> </a:t>
            </a:r>
            <a:r>
              <a:rPr lang="en-US" altLang="zh-CN" baseline="0" dirty="0">
                <a:ea typeface="宋体" pitchFamily="2" charset="-122"/>
              </a:rPr>
              <a:t>T’</a:t>
            </a:r>
            <a:r>
              <a:rPr lang="zh-CN" altLang="en-US" baseline="0" dirty="0">
                <a:ea typeface="宋体" pitchFamily="2" charset="-122"/>
              </a:rPr>
              <a:t>無異於 </a:t>
            </a:r>
            <a:r>
              <a:rPr lang="en-US" altLang="zh-CN" baseline="0" dirty="0">
                <a:ea typeface="宋体" pitchFamily="2" charset="-122"/>
              </a:rPr>
              <a:t>T </a:t>
            </a:r>
            <a:r>
              <a:rPr lang="zh-CN" altLang="en-US" baseline="0" dirty="0">
                <a:ea typeface="宋体" pitchFamily="2" charset="-122"/>
              </a:rPr>
              <a:t>。</a:t>
            </a:r>
            <a:endParaRPr lang="en-US" altLang="zh-CN" dirty="0">
              <a:ea typeface="宋体" pitchFamily="2" charset="-122"/>
            </a:endParaRPr>
          </a:p>
          <a:p>
            <a:endParaRPr lang="en-US" altLang="zh-CN" dirty="0">
              <a:ea typeface="宋体" pitchFamily="2" charset="-122"/>
            </a:endParaRPr>
          </a:p>
          <a:p>
            <a:r>
              <a:rPr lang="en-US" altLang="zh-CN" dirty="0">
                <a:ea typeface="宋体" pitchFamily="2" charset="-122"/>
              </a:rPr>
              <a:t>Canadian Task Force on the Periodic Health </a:t>
            </a:r>
            <a:r>
              <a:rPr lang="en-US" altLang="zh-CN" dirty="0" err="1">
                <a:ea typeface="宋体" pitchFamily="2" charset="-122"/>
              </a:rPr>
              <a:t>Examination:The</a:t>
            </a:r>
            <a:r>
              <a:rPr lang="en-US" altLang="zh-CN" dirty="0">
                <a:ea typeface="宋体" pitchFamily="2" charset="-122"/>
              </a:rPr>
              <a:t> periodic health </a:t>
            </a:r>
            <a:r>
              <a:rPr lang="en-US" altLang="zh-CN" dirty="0" err="1">
                <a:ea typeface="宋体" pitchFamily="2" charset="-122"/>
              </a:rPr>
              <a:t>examination.CMAJ</a:t>
            </a:r>
            <a:r>
              <a:rPr lang="en-US" altLang="zh-CN" dirty="0">
                <a:ea typeface="宋体" pitchFamily="2" charset="-122"/>
              </a:rPr>
              <a:t>, 1979, 121(19):1193-1254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Chest, 1986, 89(2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):2S-3S.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Archives </a:t>
            </a:r>
            <a:r>
              <a:rPr lang="en-US" altLang="zh-CN" dirty="0" err="1">
                <a:ea typeface="宋体" pitchFamily="2" charset="-122"/>
              </a:rPr>
              <a:t>Int</a:t>
            </a:r>
            <a:r>
              <a:rPr lang="en-US" altLang="zh-CN" dirty="0">
                <a:ea typeface="宋体" pitchFamily="2" charset="-122"/>
              </a:rPr>
              <a:t> Med, 1986, 146(3):464-465.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Sinclair JC, et al. Users’ guides to the medical l </a:t>
            </a:r>
            <a:r>
              <a:rPr lang="en-US" altLang="zh-CN" dirty="0" err="1">
                <a:ea typeface="宋体" pitchFamily="2" charset="-122"/>
              </a:rPr>
              <a:t>iterature</a:t>
            </a:r>
            <a:r>
              <a:rPr lang="en-US" altLang="zh-CN" dirty="0">
                <a:ea typeface="宋体" pitchFamily="2" charset="-122"/>
              </a:rPr>
              <a:t>. IX. A method for grading health care recommendations. Evidence-Based Medicine Working Group. JAMA, 1995, 274(22): 1800-1804.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on the use of antithrombotic </a:t>
            </a:r>
            <a:r>
              <a:rPr lang="en-US" altLang="zh-CN" dirty="0" err="1">
                <a:ea typeface="宋体" pitchFamily="2" charset="-122"/>
              </a:rPr>
              <a:t>agents.Chest</a:t>
            </a:r>
            <a:r>
              <a:rPr lang="en-US" altLang="zh-CN" dirty="0">
                <a:ea typeface="宋体" pitchFamily="2" charset="-122"/>
              </a:rPr>
              <a:t>, 1989, 95(2):2S-4S.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Rules of evidence and clinical recommendations on the use of antithrombotic agents. Chest, 1992, 102(4): 305S-311S.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</a:t>
            </a:r>
            <a:r>
              <a:rPr lang="en-US" altLang="zh-CN" dirty="0" err="1">
                <a:ea typeface="宋体" pitchFamily="2" charset="-122"/>
              </a:rPr>
              <a:t>Cl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using levels of evidence for antithrombotic agents. Chest, 1995,108(4): 227S-230S.</a:t>
            </a:r>
          </a:p>
          <a:p>
            <a:r>
              <a:rPr lang="en-US" altLang="zh-CN" dirty="0">
                <a:ea typeface="宋体" pitchFamily="2" charset="-122"/>
              </a:rPr>
              <a:t>http://www.cebm.net/levels_of_evidence.asp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Cook DJ,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et al. Grades of recommendation for antithrombotic agents. Chest, 1998, 114(5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 441S-444S.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S c h </a:t>
            </a:r>
            <a:r>
              <a:rPr lang="en-US" altLang="zh-CN" dirty="0" err="1">
                <a:ea typeface="宋体" pitchFamily="2" charset="-122"/>
              </a:rPr>
              <a:t>ünemann</a:t>
            </a:r>
            <a:r>
              <a:rPr lang="en-US" altLang="zh-CN" dirty="0">
                <a:ea typeface="宋体" pitchFamily="2" charset="-122"/>
              </a:rPr>
              <a:t> H, Cook D, </a:t>
            </a:r>
            <a:r>
              <a:rPr lang="en-US" altLang="zh-CN" dirty="0" err="1">
                <a:ea typeface="宋体" pitchFamily="2" charset="-122"/>
              </a:rPr>
              <a:t>etal.Gradesof</a:t>
            </a:r>
            <a:r>
              <a:rPr lang="en-US" altLang="zh-CN" dirty="0">
                <a:ea typeface="宋体" pitchFamily="2" charset="-122"/>
              </a:rPr>
              <a:t> Recommendation for Antithrombotic Agents. Chest, 2001, 119(1):3S-7S.</a:t>
            </a:r>
          </a:p>
          <a:p>
            <a:r>
              <a:rPr lang="en-US" altLang="zh-CN" dirty="0">
                <a:ea typeface="宋体" pitchFamily="2" charset="-122"/>
              </a:rPr>
              <a:t>Atkins D, Best D, </a:t>
            </a:r>
            <a:r>
              <a:rPr lang="en-US" altLang="zh-CN" dirty="0" err="1">
                <a:ea typeface="宋体" pitchFamily="2" charset="-122"/>
              </a:rPr>
              <a:t>Briss</a:t>
            </a:r>
            <a:r>
              <a:rPr lang="en-US" altLang="zh-CN" dirty="0">
                <a:ea typeface="宋体" pitchFamily="2" charset="-122"/>
              </a:rPr>
              <a:t> PA, et </a:t>
            </a:r>
            <a:r>
              <a:rPr lang="en-US" altLang="zh-CN" dirty="0" err="1">
                <a:ea typeface="宋体" pitchFamily="2" charset="-122"/>
              </a:rPr>
              <a:t>al.Grading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and strength of recommendations. BMJ, 2004, 328(7454):1490-1494</a:t>
            </a:r>
          </a:p>
          <a:p>
            <a:r>
              <a:rPr lang="en-US" altLang="zh-CN" dirty="0">
                <a:ea typeface="宋体" pitchFamily="2" charset="-122"/>
              </a:rPr>
              <a:t>http://www.gradeworkinggroup.org/about_us.htm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</a:t>
            </a:r>
            <a:r>
              <a:rPr lang="en-US" altLang="zh-CN" dirty="0" err="1">
                <a:ea typeface="宋体" pitchFamily="2" charset="-122"/>
              </a:rPr>
              <a:t>Gutterman</a:t>
            </a:r>
            <a:r>
              <a:rPr lang="en-US" altLang="zh-CN" dirty="0">
                <a:ea typeface="宋体" pitchFamily="2" charset="-122"/>
              </a:rPr>
              <a:t> D, Baumann MH, et al. Grading strength of recommendations and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in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guidel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ines:report</a:t>
            </a:r>
            <a:r>
              <a:rPr lang="en-US" altLang="zh-CN" dirty="0">
                <a:ea typeface="宋体" pitchFamily="2" charset="-122"/>
              </a:rPr>
              <a:t> from an </a:t>
            </a:r>
            <a:r>
              <a:rPr lang="en-US" altLang="zh-CN" dirty="0" err="1">
                <a:ea typeface="宋体" pitchFamily="2" charset="-122"/>
              </a:rPr>
              <a:t>american</a:t>
            </a:r>
            <a:r>
              <a:rPr lang="en-US" altLang="zh-CN" dirty="0">
                <a:ea typeface="宋体" pitchFamily="2" charset="-122"/>
              </a:rPr>
              <a:t> college of chest physicians task force. Chest,2006, 129(1):174-181.</a:t>
            </a:r>
          </a:p>
          <a:p>
            <a:r>
              <a:rPr lang="en-US" altLang="zh-CN" dirty="0">
                <a:ea typeface="宋体" pitchFamily="2" charset="-122"/>
              </a:rPr>
              <a:t>Aragon CL, </a:t>
            </a:r>
            <a:r>
              <a:rPr lang="en-US" altLang="zh-CN" dirty="0" err="1">
                <a:ea typeface="宋体" pitchFamily="2" charset="-122"/>
              </a:rPr>
              <a:t>Budsberg</a:t>
            </a:r>
            <a:r>
              <a:rPr lang="en-US" altLang="zh-CN" dirty="0">
                <a:ea typeface="宋体" pitchFamily="2" charset="-122"/>
              </a:rPr>
              <a:t> SC. Applications of Evidence-Based </a:t>
            </a:r>
            <a:r>
              <a:rPr lang="en-US" altLang="zh-CN" dirty="0" err="1">
                <a:ea typeface="宋体" pitchFamily="2" charset="-122"/>
              </a:rPr>
              <a:t>Medicine:Cranial</a:t>
            </a:r>
            <a:r>
              <a:rPr lang="en-US" altLang="zh-CN" dirty="0">
                <a:ea typeface="宋体" pitchFamily="2" charset="-122"/>
              </a:rPr>
              <a:t> Cruciate Ligament Injury Repair in the Dog Veterinary Surgery. 34(2): 93–98.</a:t>
            </a:r>
          </a:p>
          <a:p>
            <a:r>
              <a:rPr lang="en-US" altLang="zh-CN" dirty="0">
                <a:ea typeface="宋体" pitchFamily="2" charset="-122"/>
              </a:rPr>
              <a:t>http://library.downstate.edu/ebmdos/2100.htm</a:t>
            </a:r>
          </a:p>
        </p:txBody>
      </p:sp>
      <p:sp>
        <p:nvSpPr>
          <p:cNvPr id="24580" name="灯片编号占位符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F2A7AC83-3E51-4C36-BE6A-771C72EBD479}" type="slidenum">
              <a:rPr lang="en-US" altLang="zh-CN" smtClean="0"/>
              <a:pPr eaLnBrk="1" hangingPunct="1"/>
              <a:t>8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5911817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24579" name="备注占位符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zh-CN" dirty="0">
              <a:ea typeface="宋体" pitchFamily="2" charset="-122"/>
            </a:endParaRPr>
          </a:p>
          <a:p>
            <a:r>
              <a:rPr lang="en-US" altLang="zh-CN" dirty="0">
                <a:ea typeface="宋体" pitchFamily="2" charset="-122"/>
              </a:rPr>
              <a:t>Canadian Task Force on the Periodic Health </a:t>
            </a:r>
            <a:r>
              <a:rPr lang="en-US" altLang="zh-CN" dirty="0" err="1">
                <a:ea typeface="宋体" pitchFamily="2" charset="-122"/>
              </a:rPr>
              <a:t>Examination:The</a:t>
            </a:r>
            <a:r>
              <a:rPr lang="en-US" altLang="zh-CN" dirty="0">
                <a:ea typeface="宋体" pitchFamily="2" charset="-122"/>
              </a:rPr>
              <a:t> periodic health </a:t>
            </a:r>
            <a:r>
              <a:rPr lang="en-US" altLang="zh-CN" dirty="0" err="1">
                <a:ea typeface="宋体" pitchFamily="2" charset="-122"/>
              </a:rPr>
              <a:t>examination.CMAJ</a:t>
            </a:r>
            <a:r>
              <a:rPr lang="en-US" altLang="zh-CN" dirty="0">
                <a:ea typeface="宋体" pitchFamily="2" charset="-122"/>
              </a:rPr>
              <a:t>, 1979, 121(19):1193-1254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Chest, 1986, 89(2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):2S-3S.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Archives </a:t>
            </a:r>
            <a:r>
              <a:rPr lang="en-US" altLang="zh-CN" dirty="0" err="1">
                <a:ea typeface="宋体" pitchFamily="2" charset="-122"/>
              </a:rPr>
              <a:t>Int</a:t>
            </a:r>
            <a:r>
              <a:rPr lang="en-US" altLang="zh-CN" dirty="0">
                <a:ea typeface="宋体" pitchFamily="2" charset="-122"/>
              </a:rPr>
              <a:t> Med, 1986, 146(3):464-465.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Sinclair JC, et al. Users’ guides to the medical l </a:t>
            </a:r>
            <a:r>
              <a:rPr lang="en-US" altLang="zh-CN" dirty="0" err="1">
                <a:ea typeface="宋体" pitchFamily="2" charset="-122"/>
              </a:rPr>
              <a:t>iterature</a:t>
            </a:r>
            <a:r>
              <a:rPr lang="en-US" altLang="zh-CN" dirty="0">
                <a:ea typeface="宋体" pitchFamily="2" charset="-122"/>
              </a:rPr>
              <a:t>. IX. A method for grading health care recommendations. Evidence-Based Medicine Working Group. JAMA, 1995, 274(22): 1800-1804.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on the use of antithrombotic </a:t>
            </a:r>
            <a:r>
              <a:rPr lang="en-US" altLang="zh-CN" dirty="0" err="1">
                <a:ea typeface="宋体" pitchFamily="2" charset="-122"/>
              </a:rPr>
              <a:t>agents.Chest</a:t>
            </a:r>
            <a:r>
              <a:rPr lang="en-US" altLang="zh-CN" dirty="0">
                <a:ea typeface="宋体" pitchFamily="2" charset="-122"/>
              </a:rPr>
              <a:t>, 1989, 95(2):2S-4S.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Rules of evidence and clinical recommendations on the use of antithrombotic agents. Chest, 1992, 102(4): 305S-311S.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</a:t>
            </a:r>
            <a:r>
              <a:rPr lang="en-US" altLang="zh-CN" dirty="0" err="1">
                <a:ea typeface="宋体" pitchFamily="2" charset="-122"/>
              </a:rPr>
              <a:t>Cl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using levels of evidence for antithrombotic agents. Chest, 1995,108(4): 227S-230S.</a:t>
            </a:r>
          </a:p>
          <a:p>
            <a:r>
              <a:rPr lang="en-US" altLang="zh-CN" dirty="0">
                <a:ea typeface="宋体" pitchFamily="2" charset="-122"/>
              </a:rPr>
              <a:t>http://www.cebm.net/levels_of_evidence.asp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Cook DJ,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et al. Grades of recommendation for antithrombotic agents. Chest, 1998, 114(5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 441S-444S.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S c h </a:t>
            </a:r>
            <a:r>
              <a:rPr lang="en-US" altLang="zh-CN" dirty="0" err="1">
                <a:ea typeface="宋体" pitchFamily="2" charset="-122"/>
              </a:rPr>
              <a:t>ünemann</a:t>
            </a:r>
            <a:r>
              <a:rPr lang="en-US" altLang="zh-CN" dirty="0">
                <a:ea typeface="宋体" pitchFamily="2" charset="-122"/>
              </a:rPr>
              <a:t> H, Cook D, </a:t>
            </a:r>
            <a:r>
              <a:rPr lang="en-US" altLang="zh-CN" dirty="0" err="1">
                <a:ea typeface="宋体" pitchFamily="2" charset="-122"/>
              </a:rPr>
              <a:t>etal.Gradesof</a:t>
            </a:r>
            <a:r>
              <a:rPr lang="en-US" altLang="zh-CN" dirty="0">
                <a:ea typeface="宋体" pitchFamily="2" charset="-122"/>
              </a:rPr>
              <a:t> Recommendation for Antithrombotic Agents. Chest, 2001, 119(1):3S-7S.</a:t>
            </a:r>
          </a:p>
          <a:p>
            <a:r>
              <a:rPr lang="en-US" altLang="zh-CN" dirty="0">
                <a:ea typeface="宋体" pitchFamily="2" charset="-122"/>
              </a:rPr>
              <a:t>Atkins D, Best D, </a:t>
            </a:r>
            <a:r>
              <a:rPr lang="en-US" altLang="zh-CN" dirty="0" err="1">
                <a:ea typeface="宋体" pitchFamily="2" charset="-122"/>
              </a:rPr>
              <a:t>Briss</a:t>
            </a:r>
            <a:r>
              <a:rPr lang="en-US" altLang="zh-CN" dirty="0">
                <a:ea typeface="宋体" pitchFamily="2" charset="-122"/>
              </a:rPr>
              <a:t> PA, et </a:t>
            </a:r>
            <a:r>
              <a:rPr lang="en-US" altLang="zh-CN" dirty="0" err="1">
                <a:ea typeface="宋体" pitchFamily="2" charset="-122"/>
              </a:rPr>
              <a:t>al.Grading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and strength of recommendations. BMJ, 2004, 328(7454):1490-1494</a:t>
            </a:r>
          </a:p>
          <a:p>
            <a:r>
              <a:rPr lang="en-US" altLang="zh-CN" dirty="0">
                <a:ea typeface="宋体" pitchFamily="2" charset="-122"/>
              </a:rPr>
              <a:t>http://www.gradeworkinggroup.org/about_us.htm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</a:t>
            </a:r>
            <a:r>
              <a:rPr lang="en-US" altLang="zh-CN" dirty="0" err="1">
                <a:ea typeface="宋体" pitchFamily="2" charset="-122"/>
              </a:rPr>
              <a:t>Gutterman</a:t>
            </a:r>
            <a:r>
              <a:rPr lang="en-US" altLang="zh-CN" dirty="0">
                <a:ea typeface="宋体" pitchFamily="2" charset="-122"/>
              </a:rPr>
              <a:t> D, Baumann MH, et al. Grading strength of recommendations and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in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guidel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ines:report</a:t>
            </a:r>
            <a:r>
              <a:rPr lang="en-US" altLang="zh-CN" dirty="0">
                <a:ea typeface="宋体" pitchFamily="2" charset="-122"/>
              </a:rPr>
              <a:t> from an </a:t>
            </a:r>
            <a:r>
              <a:rPr lang="en-US" altLang="zh-CN" dirty="0" err="1">
                <a:ea typeface="宋体" pitchFamily="2" charset="-122"/>
              </a:rPr>
              <a:t>american</a:t>
            </a:r>
            <a:r>
              <a:rPr lang="en-US" altLang="zh-CN" dirty="0">
                <a:ea typeface="宋体" pitchFamily="2" charset="-122"/>
              </a:rPr>
              <a:t> college of chest physicians task force. Chest,2006, 129(1):174-181.</a:t>
            </a:r>
          </a:p>
          <a:p>
            <a:r>
              <a:rPr lang="en-US" altLang="zh-CN" dirty="0">
                <a:ea typeface="宋体" pitchFamily="2" charset="-122"/>
              </a:rPr>
              <a:t>Aragon CL, </a:t>
            </a:r>
            <a:r>
              <a:rPr lang="en-US" altLang="zh-CN" dirty="0" err="1">
                <a:ea typeface="宋体" pitchFamily="2" charset="-122"/>
              </a:rPr>
              <a:t>Budsberg</a:t>
            </a:r>
            <a:r>
              <a:rPr lang="en-US" altLang="zh-CN" dirty="0">
                <a:ea typeface="宋体" pitchFamily="2" charset="-122"/>
              </a:rPr>
              <a:t> SC. Applications of Evidence-Based </a:t>
            </a:r>
            <a:r>
              <a:rPr lang="en-US" altLang="zh-CN" dirty="0" err="1">
                <a:ea typeface="宋体" pitchFamily="2" charset="-122"/>
              </a:rPr>
              <a:t>Medicine:Cranial</a:t>
            </a:r>
            <a:r>
              <a:rPr lang="en-US" altLang="zh-CN" dirty="0">
                <a:ea typeface="宋体" pitchFamily="2" charset="-122"/>
              </a:rPr>
              <a:t> Cruciate Ligament Injury Repair in the Dog Veterinary Surgery. 34(2): 93–98.</a:t>
            </a:r>
          </a:p>
          <a:p>
            <a:r>
              <a:rPr lang="en-US" altLang="zh-CN" dirty="0">
                <a:ea typeface="宋体" pitchFamily="2" charset="-122"/>
              </a:rPr>
              <a:t>http://library.downstate.edu/ebmdos/2100.htm</a:t>
            </a:r>
          </a:p>
        </p:txBody>
      </p:sp>
      <p:sp>
        <p:nvSpPr>
          <p:cNvPr id="24580" name="灯片编号占位符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F2A7AC83-3E51-4C36-BE6A-771C72EBD479}" type="slidenum">
              <a:rPr lang="en-US" altLang="zh-CN" smtClean="0"/>
              <a:pPr eaLnBrk="1" hangingPunct="1"/>
              <a:t>9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5911817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24579" name="备注占位符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治療閾值概率方程與我們的直覺相適應：即如果治療的害處大而益處小，則治療閾值概率應該高；如果治療的益處大而害處小，則治療閾值概率應該低。</a:t>
            </a:r>
          </a:p>
          <a:p>
            <a:endParaRPr lang="en-US" altLang="zh-CN" dirty="0">
              <a:ea typeface="宋体" pitchFamily="2" charset="-122"/>
            </a:endParaRPr>
          </a:p>
          <a:p>
            <a:r>
              <a:rPr lang="en-US" altLang="zh-CN" dirty="0">
                <a:ea typeface="宋体" pitchFamily="2" charset="-122"/>
              </a:rPr>
              <a:t>Decision analysis: a progress report.</a:t>
            </a:r>
          </a:p>
          <a:p>
            <a:r>
              <a:rPr lang="zh-CN" altLang="en-US" dirty="0">
                <a:ea typeface="宋体" pitchFamily="2" charset="-122"/>
              </a:rPr>
              <a:t>作 者：</a:t>
            </a:r>
            <a:r>
              <a:rPr lang="en-US" altLang="zh-CN" dirty="0">
                <a:ea typeface="宋体" pitchFamily="2" charset="-122"/>
              </a:rPr>
              <a:t>J P, </a:t>
            </a:r>
            <a:r>
              <a:rPr lang="en-US" altLang="zh-CN" dirty="0" err="1">
                <a:ea typeface="宋体" pitchFamily="2" charset="-122"/>
              </a:rPr>
              <a:t>Kassirer</a:t>
            </a:r>
            <a:r>
              <a:rPr lang="zh-CN" altLang="en-US" dirty="0">
                <a:ea typeface="宋体" pitchFamily="2" charset="-122"/>
              </a:rPr>
              <a:t>；</a:t>
            </a:r>
            <a:r>
              <a:rPr lang="en-US" altLang="zh-CN" dirty="0">
                <a:ea typeface="宋体" pitchFamily="2" charset="-122"/>
              </a:rPr>
              <a:t>A J, </a:t>
            </a:r>
            <a:r>
              <a:rPr lang="en-US" altLang="zh-CN" dirty="0" err="1">
                <a:ea typeface="宋体" pitchFamily="2" charset="-122"/>
              </a:rPr>
              <a:t>Moskowitz</a:t>
            </a:r>
            <a:r>
              <a:rPr lang="zh-CN" altLang="en-US" dirty="0">
                <a:ea typeface="宋体" pitchFamily="2" charset="-122"/>
              </a:rPr>
              <a:t>；</a:t>
            </a:r>
            <a:r>
              <a:rPr lang="en-US" altLang="zh-CN" dirty="0">
                <a:ea typeface="宋体" pitchFamily="2" charset="-122"/>
              </a:rPr>
              <a:t>J, Lau</a:t>
            </a:r>
            <a:r>
              <a:rPr lang="zh-CN" altLang="en-US" dirty="0">
                <a:ea typeface="宋体" pitchFamily="2" charset="-122"/>
              </a:rPr>
              <a:t>；</a:t>
            </a:r>
            <a:r>
              <a:rPr lang="en-US" altLang="zh-CN" dirty="0">
                <a:ea typeface="宋体" pitchFamily="2" charset="-122"/>
              </a:rPr>
              <a:t>S G, </a:t>
            </a:r>
            <a:r>
              <a:rPr lang="en-US" altLang="zh-CN" dirty="0" err="1">
                <a:ea typeface="宋体" pitchFamily="2" charset="-122"/>
              </a:rPr>
              <a:t>Pauker</a:t>
            </a:r>
            <a:endParaRPr lang="en-US" altLang="zh-CN" dirty="0">
              <a:ea typeface="宋体" pitchFamily="2" charset="-122"/>
            </a:endParaRPr>
          </a:p>
          <a:p>
            <a:r>
              <a:rPr lang="zh-CN" altLang="en-US" dirty="0">
                <a:ea typeface="宋体" pitchFamily="2" charset="-122"/>
              </a:rPr>
              <a:t>刊 名：</a:t>
            </a:r>
            <a:r>
              <a:rPr lang="en-US" altLang="zh-CN" dirty="0">
                <a:ea typeface="宋体" pitchFamily="2" charset="-122"/>
              </a:rPr>
              <a:t>Annals of internal medicine  1987</a:t>
            </a:r>
            <a:r>
              <a:rPr lang="zh-CN" altLang="en-US" dirty="0">
                <a:ea typeface="宋体" pitchFamily="2" charset="-122"/>
              </a:rPr>
              <a:t>年</a:t>
            </a:r>
            <a:r>
              <a:rPr lang="en-US" altLang="zh-CN" dirty="0">
                <a:ea typeface="宋体" pitchFamily="2" charset="-122"/>
              </a:rPr>
              <a:t>106</a:t>
            </a:r>
            <a:r>
              <a:rPr lang="zh-CN" altLang="en-US" dirty="0">
                <a:ea typeface="宋体" pitchFamily="2" charset="-122"/>
              </a:rPr>
              <a:t>卷</a:t>
            </a:r>
            <a:r>
              <a:rPr lang="en-US" altLang="zh-CN" dirty="0">
                <a:ea typeface="宋体" pitchFamily="2" charset="-122"/>
              </a:rPr>
              <a:t>2</a:t>
            </a:r>
            <a:r>
              <a:rPr lang="zh-CN" altLang="en-US" dirty="0">
                <a:ea typeface="宋体" pitchFamily="2" charset="-122"/>
              </a:rPr>
              <a:t>期 </a:t>
            </a:r>
            <a:r>
              <a:rPr lang="en-US" altLang="zh-CN" dirty="0">
                <a:ea typeface="宋体" pitchFamily="2" charset="-122"/>
              </a:rPr>
              <a:t>275-291</a:t>
            </a:r>
            <a:r>
              <a:rPr lang="zh-CN" altLang="en-US" dirty="0">
                <a:ea typeface="宋体" pitchFamily="2" charset="-122"/>
              </a:rPr>
              <a:t>頁</a:t>
            </a:r>
          </a:p>
          <a:p>
            <a:endParaRPr lang="en-US" altLang="zh-CN" dirty="0">
              <a:ea typeface="宋体" pitchFamily="2" charset="-122"/>
            </a:endParaRPr>
          </a:p>
          <a:p>
            <a:r>
              <a:rPr lang="en-US" altLang="zh-CN" dirty="0">
                <a:ea typeface="宋体" pitchFamily="2" charset="-122"/>
              </a:rPr>
              <a:t>Canadian Task Force on the Periodic Health </a:t>
            </a:r>
            <a:r>
              <a:rPr lang="en-US" altLang="zh-CN" dirty="0" err="1">
                <a:ea typeface="宋体" pitchFamily="2" charset="-122"/>
              </a:rPr>
              <a:t>Examination:The</a:t>
            </a:r>
            <a:r>
              <a:rPr lang="en-US" altLang="zh-CN" dirty="0">
                <a:ea typeface="宋体" pitchFamily="2" charset="-122"/>
              </a:rPr>
              <a:t> periodic health </a:t>
            </a:r>
            <a:r>
              <a:rPr lang="en-US" altLang="zh-CN" dirty="0" err="1">
                <a:ea typeface="宋体" pitchFamily="2" charset="-122"/>
              </a:rPr>
              <a:t>examination.CMAJ</a:t>
            </a:r>
            <a:r>
              <a:rPr lang="en-US" altLang="zh-CN" dirty="0">
                <a:ea typeface="宋体" pitchFamily="2" charset="-122"/>
              </a:rPr>
              <a:t>, 1979, 121(19):1193-1254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Chest, 1986, 89(2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):2S-3S.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Archives </a:t>
            </a:r>
            <a:r>
              <a:rPr lang="en-US" altLang="zh-CN" dirty="0" err="1">
                <a:ea typeface="宋体" pitchFamily="2" charset="-122"/>
              </a:rPr>
              <a:t>Int</a:t>
            </a:r>
            <a:r>
              <a:rPr lang="en-US" altLang="zh-CN" dirty="0">
                <a:ea typeface="宋体" pitchFamily="2" charset="-122"/>
              </a:rPr>
              <a:t> Med, 1986, 146(3):464-465.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Sinclair JC, et al. Users’ guides to the medical l </a:t>
            </a:r>
            <a:r>
              <a:rPr lang="en-US" altLang="zh-CN" dirty="0" err="1">
                <a:ea typeface="宋体" pitchFamily="2" charset="-122"/>
              </a:rPr>
              <a:t>iterature</a:t>
            </a:r>
            <a:r>
              <a:rPr lang="en-US" altLang="zh-CN" dirty="0">
                <a:ea typeface="宋体" pitchFamily="2" charset="-122"/>
              </a:rPr>
              <a:t>. IX. A method for grading health care recommendations. Evidence-Based Medicine Working Group. JAMA, 1995, 274(22): 1800-1804.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on the use of antithrombotic </a:t>
            </a:r>
            <a:r>
              <a:rPr lang="en-US" altLang="zh-CN" dirty="0" err="1">
                <a:ea typeface="宋体" pitchFamily="2" charset="-122"/>
              </a:rPr>
              <a:t>agents.Chest</a:t>
            </a:r>
            <a:r>
              <a:rPr lang="en-US" altLang="zh-CN" dirty="0">
                <a:ea typeface="宋体" pitchFamily="2" charset="-122"/>
              </a:rPr>
              <a:t>, 1989, 95(2):2S-4S.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Rules of evidence and clinical recommendations on the use of antithrombotic agents. Chest, 1992, 102(4): 305S-311S.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</a:t>
            </a:r>
            <a:r>
              <a:rPr lang="en-US" altLang="zh-CN" dirty="0" err="1">
                <a:ea typeface="宋体" pitchFamily="2" charset="-122"/>
              </a:rPr>
              <a:t>Cl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using levels of evidence for antithrombotic agents. Chest, 1995,108(4): 227S-230S.</a:t>
            </a:r>
          </a:p>
          <a:p>
            <a:r>
              <a:rPr lang="en-US" altLang="zh-CN" dirty="0">
                <a:ea typeface="宋体" pitchFamily="2" charset="-122"/>
              </a:rPr>
              <a:t>http://www.cebm.net/levels_of_evidence.asp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Cook DJ,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et al. Grades of recommendation for antithrombotic agents. Chest, 1998, 114(5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 441S-444S.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S c h </a:t>
            </a:r>
            <a:r>
              <a:rPr lang="en-US" altLang="zh-CN" dirty="0" err="1">
                <a:ea typeface="宋体" pitchFamily="2" charset="-122"/>
              </a:rPr>
              <a:t>ünemann</a:t>
            </a:r>
            <a:r>
              <a:rPr lang="en-US" altLang="zh-CN" dirty="0">
                <a:ea typeface="宋体" pitchFamily="2" charset="-122"/>
              </a:rPr>
              <a:t> H, Cook D, </a:t>
            </a:r>
            <a:r>
              <a:rPr lang="en-US" altLang="zh-CN" dirty="0" err="1">
                <a:ea typeface="宋体" pitchFamily="2" charset="-122"/>
              </a:rPr>
              <a:t>etal.Gradesof</a:t>
            </a:r>
            <a:r>
              <a:rPr lang="en-US" altLang="zh-CN" dirty="0">
                <a:ea typeface="宋体" pitchFamily="2" charset="-122"/>
              </a:rPr>
              <a:t> Recommendation for Antithrombotic Agents. Chest, 2001, 119(1):3S-7S.</a:t>
            </a:r>
          </a:p>
          <a:p>
            <a:r>
              <a:rPr lang="en-US" altLang="zh-CN" dirty="0">
                <a:ea typeface="宋体" pitchFamily="2" charset="-122"/>
              </a:rPr>
              <a:t>Atkins D, Best D, </a:t>
            </a:r>
            <a:r>
              <a:rPr lang="en-US" altLang="zh-CN" dirty="0" err="1">
                <a:ea typeface="宋体" pitchFamily="2" charset="-122"/>
              </a:rPr>
              <a:t>Briss</a:t>
            </a:r>
            <a:r>
              <a:rPr lang="en-US" altLang="zh-CN" dirty="0">
                <a:ea typeface="宋体" pitchFamily="2" charset="-122"/>
              </a:rPr>
              <a:t> PA, et </a:t>
            </a:r>
            <a:r>
              <a:rPr lang="en-US" altLang="zh-CN" dirty="0" err="1">
                <a:ea typeface="宋体" pitchFamily="2" charset="-122"/>
              </a:rPr>
              <a:t>al.Grading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and strength of recommendations. BMJ, 2004, 328(7454):1490-1494</a:t>
            </a:r>
          </a:p>
          <a:p>
            <a:r>
              <a:rPr lang="en-US" altLang="zh-CN" dirty="0">
                <a:ea typeface="宋体" pitchFamily="2" charset="-122"/>
              </a:rPr>
              <a:t>http://www.gradeworkinggroup.org/about_us.htm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</a:t>
            </a:r>
            <a:r>
              <a:rPr lang="en-US" altLang="zh-CN" dirty="0" err="1">
                <a:ea typeface="宋体" pitchFamily="2" charset="-122"/>
              </a:rPr>
              <a:t>Gutterman</a:t>
            </a:r>
            <a:r>
              <a:rPr lang="en-US" altLang="zh-CN" dirty="0">
                <a:ea typeface="宋体" pitchFamily="2" charset="-122"/>
              </a:rPr>
              <a:t> D, Baumann MH, et al. Grading strength of recommendations and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in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guidel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ines:report</a:t>
            </a:r>
            <a:r>
              <a:rPr lang="en-US" altLang="zh-CN" dirty="0">
                <a:ea typeface="宋体" pitchFamily="2" charset="-122"/>
              </a:rPr>
              <a:t> from an </a:t>
            </a:r>
            <a:r>
              <a:rPr lang="en-US" altLang="zh-CN" dirty="0" err="1">
                <a:ea typeface="宋体" pitchFamily="2" charset="-122"/>
              </a:rPr>
              <a:t>american</a:t>
            </a:r>
            <a:r>
              <a:rPr lang="en-US" altLang="zh-CN" dirty="0">
                <a:ea typeface="宋体" pitchFamily="2" charset="-122"/>
              </a:rPr>
              <a:t> college of chest physicians task force. Chest,2006, 129(1):174-181.</a:t>
            </a:r>
          </a:p>
          <a:p>
            <a:r>
              <a:rPr lang="en-US" altLang="zh-CN" dirty="0">
                <a:ea typeface="宋体" pitchFamily="2" charset="-122"/>
              </a:rPr>
              <a:t>Aragon CL, </a:t>
            </a:r>
            <a:r>
              <a:rPr lang="en-US" altLang="zh-CN" dirty="0" err="1">
                <a:ea typeface="宋体" pitchFamily="2" charset="-122"/>
              </a:rPr>
              <a:t>Budsberg</a:t>
            </a:r>
            <a:r>
              <a:rPr lang="en-US" altLang="zh-CN" dirty="0">
                <a:ea typeface="宋体" pitchFamily="2" charset="-122"/>
              </a:rPr>
              <a:t> SC. Applications of Evidence-Based </a:t>
            </a:r>
            <a:r>
              <a:rPr lang="en-US" altLang="zh-CN" dirty="0" err="1">
                <a:ea typeface="宋体" pitchFamily="2" charset="-122"/>
              </a:rPr>
              <a:t>Medicine:Cranial</a:t>
            </a:r>
            <a:r>
              <a:rPr lang="en-US" altLang="zh-CN" dirty="0">
                <a:ea typeface="宋体" pitchFamily="2" charset="-122"/>
              </a:rPr>
              <a:t> Cruciate Ligament Injury Repair in the Dog Veterinary Surgery. 34(2): 93–98.</a:t>
            </a:r>
          </a:p>
          <a:p>
            <a:r>
              <a:rPr lang="en-US" altLang="zh-CN" dirty="0">
                <a:ea typeface="宋体" pitchFamily="2" charset="-122"/>
              </a:rPr>
              <a:t>http://library.downstate.edu/ebmdos/2100.htm</a:t>
            </a:r>
          </a:p>
        </p:txBody>
      </p:sp>
      <p:sp>
        <p:nvSpPr>
          <p:cNvPr id="24580" name="灯片编号占位符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F2A7AC83-3E51-4C36-BE6A-771C72EBD479}" type="slidenum">
              <a:rPr lang="en-US" altLang="zh-CN" smtClean="0"/>
              <a:pPr eaLnBrk="1" hangingPunct="1"/>
              <a:t>10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1771356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24579" name="备注占位符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r>
              <a:rPr lang="zh-TW" altLang="en-US" dirty="0">
                <a:ea typeface="宋体" pitchFamily="2" charset="-122"/>
              </a:rPr>
              <a:t>缺鐵性貧血 </a:t>
            </a:r>
            <a:r>
              <a:rPr lang="en-US" altLang="zh-TW" dirty="0">
                <a:ea typeface="宋体" pitchFamily="2" charset="-122"/>
              </a:rPr>
              <a:t>[ treatment threshold ] = 90% </a:t>
            </a:r>
            <a:r>
              <a:rPr lang="zh-CN" altLang="en-US" dirty="0">
                <a:ea typeface="宋体" pitchFamily="2" charset="-122"/>
              </a:rPr>
              <a:t>只是假設，真實沒有這麼高。</a:t>
            </a:r>
            <a:endParaRPr lang="en-US" altLang="zh-CN" dirty="0">
              <a:ea typeface="宋体" pitchFamily="2" charset="-122"/>
            </a:endParaRPr>
          </a:p>
          <a:p>
            <a:endParaRPr lang="en-US" altLang="zh-CN" dirty="0">
              <a:ea typeface="宋体" pitchFamily="2" charset="-122"/>
            </a:endParaRPr>
          </a:p>
          <a:p>
            <a:r>
              <a:rPr lang="en-US" altLang="zh-CN" dirty="0">
                <a:ea typeface="宋体" pitchFamily="2" charset="-122"/>
              </a:rPr>
              <a:t>Decision analysis: a progress report.</a:t>
            </a:r>
          </a:p>
          <a:p>
            <a:r>
              <a:rPr lang="zh-CN" altLang="en-US" dirty="0">
                <a:ea typeface="宋体" pitchFamily="2" charset="-122"/>
              </a:rPr>
              <a:t>作 者：</a:t>
            </a:r>
            <a:r>
              <a:rPr lang="en-US" altLang="zh-CN" dirty="0">
                <a:ea typeface="宋体" pitchFamily="2" charset="-122"/>
              </a:rPr>
              <a:t>J P, </a:t>
            </a:r>
            <a:r>
              <a:rPr lang="en-US" altLang="zh-CN" dirty="0" err="1">
                <a:ea typeface="宋体" pitchFamily="2" charset="-122"/>
              </a:rPr>
              <a:t>Kassirer</a:t>
            </a:r>
            <a:r>
              <a:rPr lang="zh-CN" altLang="en-US" dirty="0">
                <a:ea typeface="宋体" pitchFamily="2" charset="-122"/>
              </a:rPr>
              <a:t>；</a:t>
            </a:r>
            <a:r>
              <a:rPr lang="en-US" altLang="zh-CN" dirty="0">
                <a:ea typeface="宋体" pitchFamily="2" charset="-122"/>
              </a:rPr>
              <a:t>A J, </a:t>
            </a:r>
            <a:r>
              <a:rPr lang="en-US" altLang="zh-CN" dirty="0" err="1">
                <a:ea typeface="宋体" pitchFamily="2" charset="-122"/>
              </a:rPr>
              <a:t>Moskowitz</a:t>
            </a:r>
            <a:r>
              <a:rPr lang="zh-CN" altLang="en-US" dirty="0">
                <a:ea typeface="宋体" pitchFamily="2" charset="-122"/>
              </a:rPr>
              <a:t>；</a:t>
            </a:r>
            <a:r>
              <a:rPr lang="en-US" altLang="zh-CN" dirty="0">
                <a:ea typeface="宋体" pitchFamily="2" charset="-122"/>
              </a:rPr>
              <a:t>J, Lau</a:t>
            </a:r>
            <a:r>
              <a:rPr lang="zh-CN" altLang="en-US" dirty="0">
                <a:ea typeface="宋体" pitchFamily="2" charset="-122"/>
              </a:rPr>
              <a:t>；</a:t>
            </a:r>
            <a:r>
              <a:rPr lang="en-US" altLang="zh-CN" dirty="0">
                <a:ea typeface="宋体" pitchFamily="2" charset="-122"/>
              </a:rPr>
              <a:t>S G, </a:t>
            </a:r>
            <a:r>
              <a:rPr lang="en-US" altLang="zh-CN" dirty="0" err="1">
                <a:ea typeface="宋体" pitchFamily="2" charset="-122"/>
              </a:rPr>
              <a:t>Pauker</a:t>
            </a:r>
            <a:endParaRPr lang="en-US" altLang="zh-CN" dirty="0">
              <a:ea typeface="宋体" pitchFamily="2" charset="-122"/>
            </a:endParaRPr>
          </a:p>
          <a:p>
            <a:r>
              <a:rPr lang="zh-CN" altLang="en-US" dirty="0">
                <a:ea typeface="宋体" pitchFamily="2" charset="-122"/>
              </a:rPr>
              <a:t>刊 名：</a:t>
            </a:r>
            <a:r>
              <a:rPr lang="en-US" altLang="zh-CN" dirty="0">
                <a:ea typeface="宋体" pitchFamily="2" charset="-122"/>
              </a:rPr>
              <a:t>Annals of internal medicine  1987</a:t>
            </a:r>
            <a:r>
              <a:rPr lang="zh-CN" altLang="en-US" dirty="0">
                <a:ea typeface="宋体" pitchFamily="2" charset="-122"/>
              </a:rPr>
              <a:t>年</a:t>
            </a:r>
            <a:r>
              <a:rPr lang="en-US" altLang="zh-CN" dirty="0">
                <a:ea typeface="宋体" pitchFamily="2" charset="-122"/>
              </a:rPr>
              <a:t>106</a:t>
            </a:r>
            <a:r>
              <a:rPr lang="zh-CN" altLang="en-US" dirty="0">
                <a:ea typeface="宋体" pitchFamily="2" charset="-122"/>
              </a:rPr>
              <a:t>卷</a:t>
            </a:r>
            <a:r>
              <a:rPr lang="en-US" altLang="zh-CN" dirty="0">
                <a:ea typeface="宋体" pitchFamily="2" charset="-122"/>
              </a:rPr>
              <a:t>2</a:t>
            </a:r>
            <a:r>
              <a:rPr lang="zh-CN" altLang="en-US" dirty="0">
                <a:ea typeface="宋体" pitchFamily="2" charset="-122"/>
              </a:rPr>
              <a:t>期 </a:t>
            </a:r>
            <a:r>
              <a:rPr lang="en-US" altLang="zh-CN" dirty="0">
                <a:ea typeface="宋体" pitchFamily="2" charset="-122"/>
              </a:rPr>
              <a:t>275-291</a:t>
            </a:r>
            <a:r>
              <a:rPr lang="zh-CN" altLang="en-US" dirty="0">
                <a:ea typeface="宋体" pitchFamily="2" charset="-122"/>
              </a:rPr>
              <a:t>頁</a:t>
            </a:r>
          </a:p>
          <a:p>
            <a:endParaRPr lang="en-US" altLang="zh-CN" dirty="0">
              <a:ea typeface="宋体" pitchFamily="2" charset="-122"/>
            </a:endParaRPr>
          </a:p>
          <a:p>
            <a:r>
              <a:rPr lang="en-US" altLang="zh-CN" dirty="0">
                <a:ea typeface="宋体" pitchFamily="2" charset="-122"/>
              </a:rPr>
              <a:t>Canadian Task Force on the Periodic Health </a:t>
            </a:r>
            <a:r>
              <a:rPr lang="en-US" altLang="zh-CN" dirty="0" err="1">
                <a:ea typeface="宋体" pitchFamily="2" charset="-122"/>
              </a:rPr>
              <a:t>Examination:The</a:t>
            </a:r>
            <a:r>
              <a:rPr lang="en-US" altLang="zh-CN" dirty="0">
                <a:ea typeface="宋体" pitchFamily="2" charset="-122"/>
              </a:rPr>
              <a:t> periodic health </a:t>
            </a:r>
            <a:r>
              <a:rPr lang="en-US" altLang="zh-CN" dirty="0" err="1">
                <a:ea typeface="宋体" pitchFamily="2" charset="-122"/>
              </a:rPr>
              <a:t>examination.CMAJ</a:t>
            </a:r>
            <a:r>
              <a:rPr lang="en-US" altLang="zh-CN" dirty="0">
                <a:ea typeface="宋体" pitchFamily="2" charset="-122"/>
              </a:rPr>
              <a:t>, 1979, 121(19):1193-1254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Chest, 1986, 89(2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):2S-3S.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Archives </a:t>
            </a:r>
            <a:r>
              <a:rPr lang="en-US" altLang="zh-CN" dirty="0" err="1">
                <a:ea typeface="宋体" pitchFamily="2" charset="-122"/>
              </a:rPr>
              <a:t>Int</a:t>
            </a:r>
            <a:r>
              <a:rPr lang="en-US" altLang="zh-CN" dirty="0">
                <a:ea typeface="宋体" pitchFamily="2" charset="-122"/>
              </a:rPr>
              <a:t> Med, 1986, 146(3):464-465.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Sinclair JC, et al. Users’ guides to the medical l </a:t>
            </a:r>
            <a:r>
              <a:rPr lang="en-US" altLang="zh-CN" dirty="0" err="1">
                <a:ea typeface="宋体" pitchFamily="2" charset="-122"/>
              </a:rPr>
              <a:t>iterature</a:t>
            </a:r>
            <a:r>
              <a:rPr lang="en-US" altLang="zh-CN" dirty="0">
                <a:ea typeface="宋体" pitchFamily="2" charset="-122"/>
              </a:rPr>
              <a:t>. IX. A method for grading health care recommendations. Evidence-Based Medicine Working Group. JAMA, 1995, 274(22): 1800-1804.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on the use of antithrombotic </a:t>
            </a:r>
            <a:r>
              <a:rPr lang="en-US" altLang="zh-CN" dirty="0" err="1">
                <a:ea typeface="宋体" pitchFamily="2" charset="-122"/>
              </a:rPr>
              <a:t>agents.Chest</a:t>
            </a:r>
            <a:r>
              <a:rPr lang="en-US" altLang="zh-CN" dirty="0">
                <a:ea typeface="宋体" pitchFamily="2" charset="-122"/>
              </a:rPr>
              <a:t>, 1989, 95(2):2S-4S.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Rules of evidence and clinical recommendations on the use of antithrombotic agents. Chest, 1992, 102(4): 305S-311S.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</a:t>
            </a:r>
            <a:r>
              <a:rPr lang="en-US" altLang="zh-CN" dirty="0" err="1">
                <a:ea typeface="宋体" pitchFamily="2" charset="-122"/>
              </a:rPr>
              <a:t>Cl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using levels of evidence for antithrombotic agents. Chest, 1995,108(4): 227S-230S.</a:t>
            </a:r>
          </a:p>
          <a:p>
            <a:r>
              <a:rPr lang="en-US" altLang="zh-CN" dirty="0">
                <a:ea typeface="宋体" pitchFamily="2" charset="-122"/>
              </a:rPr>
              <a:t>http://www.cebm.net/levels_of_evidence.asp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Cook DJ,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et al. Grades of recommendation for antithrombotic agents. Chest, 1998, 114(5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 441S-444S.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S c h </a:t>
            </a:r>
            <a:r>
              <a:rPr lang="en-US" altLang="zh-CN" dirty="0" err="1">
                <a:ea typeface="宋体" pitchFamily="2" charset="-122"/>
              </a:rPr>
              <a:t>ünemann</a:t>
            </a:r>
            <a:r>
              <a:rPr lang="en-US" altLang="zh-CN" dirty="0">
                <a:ea typeface="宋体" pitchFamily="2" charset="-122"/>
              </a:rPr>
              <a:t> H, Cook D, </a:t>
            </a:r>
            <a:r>
              <a:rPr lang="en-US" altLang="zh-CN" dirty="0" err="1">
                <a:ea typeface="宋体" pitchFamily="2" charset="-122"/>
              </a:rPr>
              <a:t>etal.Gradesof</a:t>
            </a:r>
            <a:r>
              <a:rPr lang="en-US" altLang="zh-CN" dirty="0">
                <a:ea typeface="宋体" pitchFamily="2" charset="-122"/>
              </a:rPr>
              <a:t> Recommendation for Antithrombotic Agents. Chest, 2001, 119(1):3S-7S.</a:t>
            </a:r>
          </a:p>
          <a:p>
            <a:r>
              <a:rPr lang="en-US" altLang="zh-CN" dirty="0">
                <a:ea typeface="宋体" pitchFamily="2" charset="-122"/>
              </a:rPr>
              <a:t>Atkins D, Best D, </a:t>
            </a:r>
            <a:r>
              <a:rPr lang="en-US" altLang="zh-CN" dirty="0" err="1">
                <a:ea typeface="宋体" pitchFamily="2" charset="-122"/>
              </a:rPr>
              <a:t>Briss</a:t>
            </a:r>
            <a:r>
              <a:rPr lang="en-US" altLang="zh-CN" dirty="0">
                <a:ea typeface="宋体" pitchFamily="2" charset="-122"/>
              </a:rPr>
              <a:t> PA, et </a:t>
            </a:r>
            <a:r>
              <a:rPr lang="en-US" altLang="zh-CN" dirty="0" err="1">
                <a:ea typeface="宋体" pitchFamily="2" charset="-122"/>
              </a:rPr>
              <a:t>al.Grading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and strength of recommendations. BMJ, 2004, 328(7454):1490-1494</a:t>
            </a:r>
          </a:p>
          <a:p>
            <a:r>
              <a:rPr lang="en-US" altLang="zh-CN" dirty="0">
                <a:ea typeface="宋体" pitchFamily="2" charset="-122"/>
              </a:rPr>
              <a:t>http://www.gradeworkinggroup.org/about_us.htm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</a:t>
            </a:r>
            <a:r>
              <a:rPr lang="en-US" altLang="zh-CN" dirty="0" err="1">
                <a:ea typeface="宋体" pitchFamily="2" charset="-122"/>
              </a:rPr>
              <a:t>Gutterman</a:t>
            </a:r>
            <a:r>
              <a:rPr lang="en-US" altLang="zh-CN" dirty="0">
                <a:ea typeface="宋体" pitchFamily="2" charset="-122"/>
              </a:rPr>
              <a:t> D, Baumann MH, et al. Grading strength of recommendations and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in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guidel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ines:report</a:t>
            </a:r>
            <a:r>
              <a:rPr lang="en-US" altLang="zh-CN" dirty="0">
                <a:ea typeface="宋体" pitchFamily="2" charset="-122"/>
              </a:rPr>
              <a:t> from an </a:t>
            </a:r>
            <a:r>
              <a:rPr lang="en-US" altLang="zh-CN" dirty="0" err="1">
                <a:ea typeface="宋体" pitchFamily="2" charset="-122"/>
              </a:rPr>
              <a:t>american</a:t>
            </a:r>
            <a:r>
              <a:rPr lang="en-US" altLang="zh-CN" dirty="0">
                <a:ea typeface="宋体" pitchFamily="2" charset="-122"/>
              </a:rPr>
              <a:t> college of chest physicians task force. Chest,2006, 129(1):174-181.</a:t>
            </a:r>
          </a:p>
          <a:p>
            <a:r>
              <a:rPr lang="en-US" altLang="zh-CN" dirty="0">
                <a:ea typeface="宋体" pitchFamily="2" charset="-122"/>
              </a:rPr>
              <a:t>Aragon CL, </a:t>
            </a:r>
            <a:r>
              <a:rPr lang="en-US" altLang="zh-CN" dirty="0" err="1">
                <a:ea typeface="宋体" pitchFamily="2" charset="-122"/>
              </a:rPr>
              <a:t>Budsberg</a:t>
            </a:r>
            <a:r>
              <a:rPr lang="en-US" altLang="zh-CN" dirty="0">
                <a:ea typeface="宋体" pitchFamily="2" charset="-122"/>
              </a:rPr>
              <a:t> SC. Applications of Evidence-Based </a:t>
            </a:r>
            <a:r>
              <a:rPr lang="en-US" altLang="zh-CN" dirty="0" err="1">
                <a:ea typeface="宋体" pitchFamily="2" charset="-122"/>
              </a:rPr>
              <a:t>Medicine:Cranial</a:t>
            </a:r>
            <a:r>
              <a:rPr lang="en-US" altLang="zh-CN" dirty="0">
                <a:ea typeface="宋体" pitchFamily="2" charset="-122"/>
              </a:rPr>
              <a:t> Cruciate Ligament Injury Repair in the Dog Veterinary Surgery. 34(2): 93–98.</a:t>
            </a:r>
          </a:p>
          <a:p>
            <a:r>
              <a:rPr lang="en-US" altLang="zh-CN" dirty="0">
                <a:ea typeface="宋体" pitchFamily="2" charset="-122"/>
              </a:rPr>
              <a:t>http://library.downstate.edu/ebmdos/2100.htm</a:t>
            </a:r>
          </a:p>
        </p:txBody>
      </p:sp>
      <p:sp>
        <p:nvSpPr>
          <p:cNvPr id="24580" name="灯片编号占位符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F2A7AC83-3E51-4C36-BE6A-771C72EBD479}" type="slidenum">
              <a:rPr lang="en-US" altLang="zh-CN" smtClean="0"/>
              <a:pPr eaLnBrk="1" hangingPunct="1"/>
              <a:t>11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6802891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24579" name="备注占位符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latin typeface="Times New Roman" pitchFamily="18" charset="0"/>
                <a:cs typeface="Times New Roman" pitchFamily="18" charset="0"/>
              </a:rPr>
              <a:t>假設篩查技術的靈敏度為</a:t>
            </a:r>
            <a:r>
              <a:rPr lang="en-US" altLang="zh-CN" sz="1200" dirty="0">
                <a:latin typeface="Times New Roman" pitchFamily="18" charset="0"/>
                <a:cs typeface="Times New Roman" pitchFamily="18" charset="0"/>
              </a:rPr>
              <a:t>80%</a:t>
            </a:r>
            <a:r>
              <a:rPr lang="zh-CN" altLang="en-US" sz="1200" dirty="0">
                <a:latin typeface="Times New Roman" pitchFamily="18" charset="0"/>
                <a:cs typeface="Times New Roman" pitchFamily="18" charset="0"/>
              </a:rPr>
              <a:t>、特異度為</a:t>
            </a:r>
            <a:r>
              <a:rPr lang="en-US" altLang="zh-CN" sz="1200" dirty="0">
                <a:latin typeface="Times New Roman" pitchFamily="18" charset="0"/>
                <a:cs typeface="Times New Roman" pitchFamily="18" charset="0"/>
              </a:rPr>
              <a:t>70%</a:t>
            </a:r>
            <a:r>
              <a:rPr lang="zh-CN" altLang="en-US" sz="1200" dirty="0">
                <a:latin typeface="Times New Roman" pitchFamily="18" charset="0"/>
                <a:cs typeface="Times New Roman" pitchFamily="18" charset="0"/>
              </a:rPr>
              <a:t>，篩查過程本身對健康和癌症患者都有可能產生相同的</a:t>
            </a:r>
            <a:r>
              <a:rPr lang="en-US" altLang="zh-CN" sz="1200" dirty="0">
                <a:latin typeface="Times New Roman" pitchFamily="18" charset="0"/>
                <a:cs typeface="Times New Roman" pitchFamily="18" charset="0"/>
              </a:rPr>
              <a:t>1%</a:t>
            </a:r>
            <a:r>
              <a:rPr lang="zh-CN" altLang="en-US" sz="1200" dirty="0">
                <a:latin typeface="Times New Roman" pitchFamily="18" charset="0"/>
                <a:cs typeface="Times New Roman" pitchFamily="18" charset="0"/>
              </a:rPr>
              <a:t>的死亡率，確診過程本身對健康和癌症患者都有可能產生相同的</a:t>
            </a:r>
            <a:r>
              <a:rPr lang="en-US" altLang="zh-CN" sz="1200" dirty="0">
                <a:latin typeface="Times New Roman" pitchFamily="18" charset="0"/>
                <a:cs typeface="Times New Roman" pitchFamily="18" charset="0"/>
              </a:rPr>
              <a:t>1%</a:t>
            </a:r>
            <a:r>
              <a:rPr lang="zh-CN" altLang="en-US" sz="1200" dirty="0">
                <a:latin typeface="Times New Roman" pitchFamily="18" charset="0"/>
                <a:cs typeface="Times New Roman" pitchFamily="18" charset="0"/>
              </a:rPr>
              <a:t>的死亡率，治療過程本身對健康和癌症患者都有可能產生</a:t>
            </a:r>
            <a:r>
              <a:rPr lang="en-US" altLang="zh-CN" sz="1200" dirty="0">
                <a:latin typeface="Times New Roman" pitchFamily="18" charset="0"/>
                <a:cs typeface="Times New Roman" pitchFamily="18" charset="0"/>
              </a:rPr>
              <a:t>1%</a:t>
            </a:r>
            <a:r>
              <a:rPr lang="zh-CN" altLang="en-US" sz="1200" dirty="0">
                <a:latin typeface="Times New Roman" pitchFamily="18" charset="0"/>
                <a:cs typeface="Times New Roman" pitchFamily="18" charset="0"/>
              </a:rPr>
              <a:t>的死亡率，治療可以使原有的癌症狀態轉化為死亡狀態的概率降低為</a:t>
            </a:r>
            <a:r>
              <a:rPr lang="en-US" altLang="zh-CN" sz="1200" dirty="0">
                <a:latin typeface="Times New Roman" pitchFamily="18" charset="0"/>
                <a:cs typeface="Times New Roman" pitchFamily="18" charset="0"/>
              </a:rPr>
              <a:t>20%</a:t>
            </a:r>
            <a:r>
              <a:rPr lang="zh-CN" altLang="en-US" sz="1200" dirty="0">
                <a:latin typeface="Times New Roman" pitchFamily="18" charset="0"/>
                <a:cs typeface="Times New Roman" pitchFamily="18" charset="0"/>
              </a:rPr>
              <a:t>、轉化為健康狀態的概率為</a:t>
            </a:r>
            <a:r>
              <a:rPr lang="en-US" altLang="zh-CN" sz="1200" dirty="0">
                <a:latin typeface="Times New Roman" pitchFamily="18" charset="0"/>
                <a:cs typeface="Times New Roman" pitchFamily="18" charset="0"/>
              </a:rPr>
              <a:t>60%</a:t>
            </a:r>
            <a:r>
              <a:rPr lang="zh-CN" altLang="en-US" sz="1200" dirty="0">
                <a:latin typeface="Times New Roman" pitchFamily="18" charset="0"/>
                <a:cs typeface="Times New Roman" pitchFamily="18" charset="0"/>
              </a:rPr>
              <a:t>、仍然保留在癌症狀態的概率為</a:t>
            </a:r>
            <a:r>
              <a:rPr lang="en-US" altLang="zh-CN" sz="1200" dirty="0">
                <a:latin typeface="Times New Roman" pitchFamily="18" charset="0"/>
                <a:cs typeface="Times New Roman" pitchFamily="18" charset="0"/>
              </a:rPr>
              <a:t>20%</a:t>
            </a:r>
            <a:r>
              <a:rPr lang="zh-CN" altLang="en-US" sz="1200" dirty="0">
                <a:latin typeface="Times New Roman" pitchFamily="18" charset="0"/>
                <a:cs typeface="Times New Roman" pitchFamily="18" charset="0"/>
              </a:rPr>
              <a:t>；假設人群起始狀態為</a:t>
            </a:r>
            <a:r>
              <a:rPr lang="en-US" altLang="zh-CN" sz="1200" dirty="0">
                <a:latin typeface="Times New Roman" pitchFamily="18" charset="0"/>
                <a:cs typeface="Times New Roman" pitchFamily="18" charset="0"/>
              </a:rPr>
              <a:t>100%</a:t>
            </a:r>
            <a:r>
              <a:rPr lang="zh-CN" altLang="en-US" sz="1200" dirty="0">
                <a:latin typeface="Times New Roman" pitchFamily="18" charset="0"/>
                <a:cs typeface="Times New Roman" pitchFamily="18" charset="0"/>
              </a:rPr>
              <a:t>健康，其中每年健康到癌症狀態的轉化率是</a:t>
            </a:r>
            <a:r>
              <a:rPr lang="en-US" altLang="zh-CN" sz="1200" dirty="0">
                <a:latin typeface="Times New Roman" pitchFamily="18" charset="0"/>
                <a:cs typeface="Times New Roman" pitchFamily="18" charset="0"/>
              </a:rPr>
              <a:t>6%</a:t>
            </a:r>
            <a:r>
              <a:rPr lang="zh-CN" altLang="en-US" sz="1200" dirty="0">
                <a:latin typeface="Times New Roman" pitchFamily="18" charset="0"/>
                <a:cs typeface="Times New Roman" pitchFamily="18" charset="0"/>
              </a:rPr>
              <a:t>，每年健康到死亡狀態的轉化率是</a:t>
            </a:r>
            <a:r>
              <a:rPr lang="en-US" altLang="zh-CN" sz="1200" dirty="0">
                <a:latin typeface="Times New Roman" pitchFamily="18" charset="0"/>
                <a:cs typeface="Times New Roman" pitchFamily="18" charset="0"/>
              </a:rPr>
              <a:t>4%</a:t>
            </a:r>
            <a:r>
              <a:rPr lang="zh-CN" altLang="en-US" sz="1200" dirty="0">
                <a:latin typeface="Times New Roman" pitchFamily="18" charset="0"/>
                <a:cs typeface="Times New Roman" pitchFamily="18" charset="0"/>
              </a:rPr>
              <a:t>，每年癌症到死亡狀態的轉化率是</a:t>
            </a:r>
            <a:r>
              <a:rPr lang="en-US" altLang="zh-CN" sz="1200" dirty="0">
                <a:latin typeface="Times New Roman" pitchFamily="18" charset="0"/>
                <a:cs typeface="Times New Roman" pitchFamily="18" charset="0"/>
              </a:rPr>
              <a:t>60%</a:t>
            </a:r>
            <a:r>
              <a:rPr lang="zh-CN" altLang="en-US" sz="1200" dirty="0">
                <a:latin typeface="Times New Roman" pitchFamily="18" charset="0"/>
                <a:cs typeface="Times New Roman" pitchFamily="18" charset="0"/>
              </a:rPr>
              <a:t>，癌症狀態無法自然轉變為健康狀態，那麼對該人群制定每年一次的篩查策略，考察該篩查行為對五年後人群各狀態比率的變化的影響；</a:t>
            </a:r>
            <a:endParaRPr lang="en-US" altLang="zh-CN" sz="1200" dirty="0">
              <a:latin typeface="Times New Roman" pitchFamily="18" charset="0"/>
              <a:cs typeface="Times New Roman" pitchFamily="18" charset="0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dirty="0">
                <a:solidFill>
                  <a:schemeClr val="tx2"/>
                </a:solidFill>
                <a:ea typeface="宋体" panose="02010600030101010101" pitchFamily="2" charset="-122"/>
              </a:rPr>
              <a:t>[1] </a:t>
            </a:r>
            <a:r>
              <a:rPr lang="en-US" altLang="zh-CN" sz="1200" dirty="0" err="1">
                <a:solidFill>
                  <a:schemeClr val="tx2"/>
                </a:solidFill>
                <a:ea typeface="宋体" panose="02010600030101010101" pitchFamily="2" charset="-122"/>
              </a:rPr>
              <a:t>Shortliffe</a:t>
            </a:r>
            <a:r>
              <a:rPr lang="en-US" altLang="zh-CN" sz="1200" dirty="0">
                <a:solidFill>
                  <a:schemeClr val="tx2"/>
                </a:solidFill>
                <a:ea typeface="宋体" panose="02010600030101010101" pitchFamily="2" charset="-122"/>
              </a:rPr>
              <a:t> EH, </a:t>
            </a:r>
            <a:r>
              <a:rPr lang="en-US" altLang="zh-CN" sz="1200" dirty="0" err="1">
                <a:solidFill>
                  <a:schemeClr val="tx2"/>
                </a:solidFill>
                <a:ea typeface="宋体" panose="02010600030101010101" pitchFamily="2" charset="-122"/>
              </a:rPr>
              <a:t>Cimino</a:t>
            </a:r>
            <a:r>
              <a:rPr lang="en-US" altLang="zh-CN" sz="1200" dirty="0">
                <a:solidFill>
                  <a:schemeClr val="tx2"/>
                </a:solidFill>
                <a:ea typeface="宋体" panose="02010600030101010101" pitchFamily="2" charset="-122"/>
              </a:rPr>
              <a:t> JJ. Biomedical Informatics(Third Edition)[M].Springer,2006.</a:t>
            </a:r>
            <a:endParaRPr lang="zh-CN" altLang="en-US" sz="1200" dirty="0">
              <a:solidFill>
                <a:schemeClr val="tx2"/>
              </a:solidFill>
              <a:ea typeface="宋体" panose="02010600030101010101" pitchFamily="2" charset="-122"/>
            </a:endParaRPr>
          </a:p>
          <a:p>
            <a:endParaRPr lang="en-US" altLang="zh-CN" dirty="0">
              <a:ea typeface="宋体" pitchFamily="2" charset="-122"/>
            </a:endParaRPr>
          </a:p>
          <a:p>
            <a:r>
              <a:rPr lang="en-US" altLang="zh-CN" dirty="0">
                <a:ea typeface="宋体" pitchFamily="2" charset="-122"/>
              </a:rPr>
              <a:t>Decision analysis: a progress report.</a:t>
            </a:r>
          </a:p>
          <a:p>
            <a:r>
              <a:rPr lang="zh-CN" altLang="en-US" dirty="0">
                <a:ea typeface="宋体" pitchFamily="2" charset="-122"/>
              </a:rPr>
              <a:t>作 者：</a:t>
            </a:r>
            <a:r>
              <a:rPr lang="en-US" altLang="zh-CN" dirty="0">
                <a:ea typeface="宋体" pitchFamily="2" charset="-122"/>
              </a:rPr>
              <a:t>J P, </a:t>
            </a:r>
            <a:r>
              <a:rPr lang="en-US" altLang="zh-CN" dirty="0" err="1">
                <a:ea typeface="宋体" pitchFamily="2" charset="-122"/>
              </a:rPr>
              <a:t>Kassirer</a:t>
            </a:r>
            <a:r>
              <a:rPr lang="zh-CN" altLang="en-US" dirty="0">
                <a:ea typeface="宋体" pitchFamily="2" charset="-122"/>
              </a:rPr>
              <a:t>；</a:t>
            </a:r>
            <a:r>
              <a:rPr lang="en-US" altLang="zh-CN" dirty="0">
                <a:ea typeface="宋体" pitchFamily="2" charset="-122"/>
              </a:rPr>
              <a:t>A J, </a:t>
            </a:r>
            <a:r>
              <a:rPr lang="en-US" altLang="zh-CN" dirty="0" err="1">
                <a:ea typeface="宋体" pitchFamily="2" charset="-122"/>
              </a:rPr>
              <a:t>Moskowitz</a:t>
            </a:r>
            <a:r>
              <a:rPr lang="zh-CN" altLang="en-US" dirty="0">
                <a:ea typeface="宋体" pitchFamily="2" charset="-122"/>
              </a:rPr>
              <a:t>；</a:t>
            </a:r>
            <a:r>
              <a:rPr lang="en-US" altLang="zh-CN" dirty="0">
                <a:ea typeface="宋体" pitchFamily="2" charset="-122"/>
              </a:rPr>
              <a:t>J, Lau</a:t>
            </a:r>
            <a:r>
              <a:rPr lang="zh-CN" altLang="en-US" dirty="0">
                <a:ea typeface="宋体" pitchFamily="2" charset="-122"/>
              </a:rPr>
              <a:t>；</a:t>
            </a:r>
            <a:r>
              <a:rPr lang="en-US" altLang="zh-CN" dirty="0">
                <a:ea typeface="宋体" pitchFamily="2" charset="-122"/>
              </a:rPr>
              <a:t>S G, </a:t>
            </a:r>
            <a:r>
              <a:rPr lang="en-US" altLang="zh-CN" dirty="0" err="1">
                <a:ea typeface="宋体" pitchFamily="2" charset="-122"/>
              </a:rPr>
              <a:t>Pauker</a:t>
            </a:r>
            <a:endParaRPr lang="en-US" altLang="zh-CN" dirty="0">
              <a:ea typeface="宋体" pitchFamily="2" charset="-122"/>
            </a:endParaRPr>
          </a:p>
          <a:p>
            <a:r>
              <a:rPr lang="zh-CN" altLang="en-US" dirty="0">
                <a:ea typeface="宋体" pitchFamily="2" charset="-122"/>
              </a:rPr>
              <a:t>刊 名：</a:t>
            </a:r>
            <a:r>
              <a:rPr lang="en-US" altLang="zh-CN" dirty="0">
                <a:ea typeface="宋体" pitchFamily="2" charset="-122"/>
              </a:rPr>
              <a:t>Annals of internal medicine  1987</a:t>
            </a:r>
            <a:r>
              <a:rPr lang="zh-CN" altLang="en-US" dirty="0">
                <a:ea typeface="宋体" pitchFamily="2" charset="-122"/>
              </a:rPr>
              <a:t>年</a:t>
            </a:r>
            <a:r>
              <a:rPr lang="en-US" altLang="zh-CN" dirty="0">
                <a:ea typeface="宋体" pitchFamily="2" charset="-122"/>
              </a:rPr>
              <a:t>106</a:t>
            </a:r>
            <a:r>
              <a:rPr lang="zh-CN" altLang="en-US" dirty="0">
                <a:ea typeface="宋体" pitchFamily="2" charset="-122"/>
              </a:rPr>
              <a:t>卷</a:t>
            </a:r>
            <a:r>
              <a:rPr lang="en-US" altLang="zh-CN" dirty="0">
                <a:ea typeface="宋体" pitchFamily="2" charset="-122"/>
              </a:rPr>
              <a:t>2</a:t>
            </a:r>
            <a:r>
              <a:rPr lang="zh-CN" altLang="en-US" dirty="0">
                <a:ea typeface="宋体" pitchFamily="2" charset="-122"/>
              </a:rPr>
              <a:t>期 </a:t>
            </a:r>
            <a:r>
              <a:rPr lang="en-US" altLang="zh-CN" dirty="0">
                <a:ea typeface="宋体" pitchFamily="2" charset="-122"/>
              </a:rPr>
              <a:t>275-291</a:t>
            </a:r>
            <a:r>
              <a:rPr lang="zh-CN" altLang="en-US" dirty="0">
                <a:ea typeface="宋体" pitchFamily="2" charset="-122"/>
              </a:rPr>
              <a:t>頁</a:t>
            </a:r>
          </a:p>
          <a:p>
            <a:endParaRPr lang="en-US" altLang="zh-CN" dirty="0">
              <a:ea typeface="宋体" pitchFamily="2" charset="-122"/>
            </a:endParaRPr>
          </a:p>
          <a:p>
            <a:r>
              <a:rPr lang="en-US" altLang="zh-CN" dirty="0">
                <a:ea typeface="宋体" pitchFamily="2" charset="-122"/>
              </a:rPr>
              <a:t>Canadian Task Force on the Periodic Health </a:t>
            </a:r>
            <a:r>
              <a:rPr lang="en-US" altLang="zh-CN" dirty="0" err="1">
                <a:ea typeface="宋体" pitchFamily="2" charset="-122"/>
              </a:rPr>
              <a:t>Examination:The</a:t>
            </a:r>
            <a:r>
              <a:rPr lang="en-US" altLang="zh-CN" dirty="0">
                <a:ea typeface="宋体" pitchFamily="2" charset="-122"/>
              </a:rPr>
              <a:t> periodic health </a:t>
            </a:r>
            <a:r>
              <a:rPr lang="en-US" altLang="zh-CN" dirty="0" err="1">
                <a:ea typeface="宋体" pitchFamily="2" charset="-122"/>
              </a:rPr>
              <a:t>examination.CMAJ</a:t>
            </a:r>
            <a:r>
              <a:rPr lang="en-US" altLang="zh-CN" dirty="0">
                <a:ea typeface="宋体" pitchFamily="2" charset="-122"/>
              </a:rPr>
              <a:t>, 1979, 121(19):1193-1254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Chest, 1986, 89(2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):2S-3S.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Archives </a:t>
            </a:r>
            <a:r>
              <a:rPr lang="en-US" altLang="zh-CN" dirty="0" err="1">
                <a:ea typeface="宋体" pitchFamily="2" charset="-122"/>
              </a:rPr>
              <a:t>Int</a:t>
            </a:r>
            <a:r>
              <a:rPr lang="en-US" altLang="zh-CN" dirty="0">
                <a:ea typeface="宋体" pitchFamily="2" charset="-122"/>
              </a:rPr>
              <a:t> Med, 1986, 146(3):464-465.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Sinclair JC, et al. Users’ guides to the medical l </a:t>
            </a:r>
            <a:r>
              <a:rPr lang="en-US" altLang="zh-CN" dirty="0" err="1">
                <a:ea typeface="宋体" pitchFamily="2" charset="-122"/>
              </a:rPr>
              <a:t>iterature</a:t>
            </a:r>
            <a:r>
              <a:rPr lang="en-US" altLang="zh-CN" dirty="0">
                <a:ea typeface="宋体" pitchFamily="2" charset="-122"/>
              </a:rPr>
              <a:t>. IX. A method for grading health care recommendations. Evidence-Based Medicine Working Group. JAMA, 1995, 274(22): 1800-1804.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on the use of antithrombotic </a:t>
            </a:r>
            <a:r>
              <a:rPr lang="en-US" altLang="zh-CN" dirty="0" err="1">
                <a:ea typeface="宋体" pitchFamily="2" charset="-122"/>
              </a:rPr>
              <a:t>agents.Chest</a:t>
            </a:r>
            <a:r>
              <a:rPr lang="en-US" altLang="zh-CN" dirty="0">
                <a:ea typeface="宋体" pitchFamily="2" charset="-122"/>
              </a:rPr>
              <a:t>, 1989, 95(2):2S-4S.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Rules of evidence and clinical recommendations on the use of antithrombotic agents. Chest, 1992, 102(4): 305S-311S.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</a:t>
            </a:r>
            <a:r>
              <a:rPr lang="en-US" altLang="zh-CN" dirty="0" err="1">
                <a:ea typeface="宋体" pitchFamily="2" charset="-122"/>
              </a:rPr>
              <a:t>Cl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using levels of evidence for antithrombotic agents. Chest, 1995,108(4): 227S-230S.</a:t>
            </a:r>
          </a:p>
          <a:p>
            <a:r>
              <a:rPr lang="en-US" altLang="zh-CN" dirty="0">
                <a:ea typeface="宋体" pitchFamily="2" charset="-122"/>
              </a:rPr>
              <a:t>http://www.cebm.net/levels_of_evidence.asp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Cook DJ,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et al. Grades of recommendation for antithrombotic agents. Chest, 1998, 114(5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 441S-444S.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S c h </a:t>
            </a:r>
            <a:r>
              <a:rPr lang="en-US" altLang="zh-CN" dirty="0" err="1">
                <a:ea typeface="宋体" pitchFamily="2" charset="-122"/>
              </a:rPr>
              <a:t>ünemann</a:t>
            </a:r>
            <a:r>
              <a:rPr lang="en-US" altLang="zh-CN" dirty="0">
                <a:ea typeface="宋体" pitchFamily="2" charset="-122"/>
              </a:rPr>
              <a:t> H, Cook D, </a:t>
            </a:r>
            <a:r>
              <a:rPr lang="en-US" altLang="zh-CN" dirty="0" err="1">
                <a:ea typeface="宋体" pitchFamily="2" charset="-122"/>
              </a:rPr>
              <a:t>etal.Gradesof</a:t>
            </a:r>
            <a:r>
              <a:rPr lang="en-US" altLang="zh-CN" dirty="0">
                <a:ea typeface="宋体" pitchFamily="2" charset="-122"/>
              </a:rPr>
              <a:t> Recommendation for Antithrombotic Agents. Chest, 2001, 119(1):3S-7S.</a:t>
            </a:r>
          </a:p>
          <a:p>
            <a:r>
              <a:rPr lang="en-US" altLang="zh-CN" dirty="0">
                <a:ea typeface="宋体" pitchFamily="2" charset="-122"/>
              </a:rPr>
              <a:t>Atkins D, Best D, </a:t>
            </a:r>
            <a:r>
              <a:rPr lang="en-US" altLang="zh-CN" dirty="0" err="1">
                <a:ea typeface="宋体" pitchFamily="2" charset="-122"/>
              </a:rPr>
              <a:t>Briss</a:t>
            </a:r>
            <a:r>
              <a:rPr lang="en-US" altLang="zh-CN" dirty="0">
                <a:ea typeface="宋体" pitchFamily="2" charset="-122"/>
              </a:rPr>
              <a:t> PA, et </a:t>
            </a:r>
            <a:r>
              <a:rPr lang="en-US" altLang="zh-CN" dirty="0" err="1">
                <a:ea typeface="宋体" pitchFamily="2" charset="-122"/>
              </a:rPr>
              <a:t>al.Grading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and strength of recommendations. BMJ, 2004, 328(7454):1490-1494</a:t>
            </a:r>
          </a:p>
          <a:p>
            <a:r>
              <a:rPr lang="en-US" altLang="zh-CN" dirty="0">
                <a:ea typeface="宋体" pitchFamily="2" charset="-122"/>
              </a:rPr>
              <a:t>http://www.gradeworkinggroup.org/about_us.htm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</a:t>
            </a:r>
            <a:r>
              <a:rPr lang="en-US" altLang="zh-CN" dirty="0" err="1">
                <a:ea typeface="宋体" pitchFamily="2" charset="-122"/>
              </a:rPr>
              <a:t>Gutterman</a:t>
            </a:r>
            <a:r>
              <a:rPr lang="en-US" altLang="zh-CN" dirty="0">
                <a:ea typeface="宋体" pitchFamily="2" charset="-122"/>
              </a:rPr>
              <a:t> D, Baumann MH, et al. Grading strength of recommendations and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in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guidel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ines:report</a:t>
            </a:r>
            <a:r>
              <a:rPr lang="en-US" altLang="zh-CN" dirty="0">
                <a:ea typeface="宋体" pitchFamily="2" charset="-122"/>
              </a:rPr>
              <a:t> from an </a:t>
            </a:r>
            <a:r>
              <a:rPr lang="en-US" altLang="zh-CN" dirty="0" err="1">
                <a:ea typeface="宋体" pitchFamily="2" charset="-122"/>
              </a:rPr>
              <a:t>american</a:t>
            </a:r>
            <a:r>
              <a:rPr lang="en-US" altLang="zh-CN" dirty="0">
                <a:ea typeface="宋体" pitchFamily="2" charset="-122"/>
              </a:rPr>
              <a:t> college of chest physicians task force. Chest,2006, 129(1):174-181.</a:t>
            </a:r>
          </a:p>
          <a:p>
            <a:r>
              <a:rPr lang="en-US" altLang="zh-CN" dirty="0">
                <a:ea typeface="宋体" pitchFamily="2" charset="-122"/>
              </a:rPr>
              <a:t>Aragon CL, </a:t>
            </a:r>
            <a:r>
              <a:rPr lang="en-US" altLang="zh-CN" dirty="0" err="1">
                <a:ea typeface="宋体" pitchFamily="2" charset="-122"/>
              </a:rPr>
              <a:t>Budsberg</a:t>
            </a:r>
            <a:r>
              <a:rPr lang="en-US" altLang="zh-CN" dirty="0">
                <a:ea typeface="宋体" pitchFamily="2" charset="-122"/>
              </a:rPr>
              <a:t> SC. Applications of Evidence-Based </a:t>
            </a:r>
            <a:r>
              <a:rPr lang="en-US" altLang="zh-CN" dirty="0" err="1">
                <a:ea typeface="宋体" pitchFamily="2" charset="-122"/>
              </a:rPr>
              <a:t>Medicine:Cranial</a:t>
            </a:r>
            <a:r>
              <a:rPr lang="en-US" altLang="zh-CN" dirty="0">
                <a:ea typeface="宋体" pitchFamily="2" charset="-122"/>
              </a:rPr>
              <a:t> Cruciate Ligament Injury Repair in the Dog Veterinary Surgery. 34(2): 93–98.</a:t>
            </a:r>
          </a:p>
          <a:p>
            <a:r>
              <a:rPr lang="en-US" altLang="zh-CN" dirty="0">
                <a:ea typeface="宋体" pitchFamily="2" charset="-122"/>
              </a:rPr>
              <a:t>http://library.downstate.edu/ebmdos/2100.htm</a:t>
            </a:r>
          </a:p>
        </p:txBody>
      </p:sp>
      <p:sp>
        <p:nvSpPr>
          <p:cNvPr id="24580" name="灯片编号占位符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F2A7AC83-3E51-4C36-BE6A-771C72EBD479}" type="slidenum">
              <a:rPr lang="en-US" altLang="zh-CN" smtClean="0"/>
              <a:pPr eaLnBrk="1" hangingPunct="1"/>
              <a:t>12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3776479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24579" name="备注占位符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>
                <a:solidFill>
                  <a:schemeClr val="tx2"/>
                </a:solidFill>
                <a:ea typeface="宋体" panose="02010600030101010101" pitchFamily="2" charset="-122"/>
              </a:rPr>
              <a:t>假設某種疾病後期懷疑有癌變可能，可以進行藥物化療，也可以採用手術探查，如發現腫瘤，則可進行腫瘤切除治療，但在手術探查的過程中有死亡於手術的風險，藥物治療無副作用，假設這類病人患有腫瘤的可能性為</a:t>
            </a:r>
            <a:r>
              <a:rPr lang="en-US" altLang="zh-CN" sz="1200" dirty="0">
                <a:solidFill>
                  <a:schemeClr val="tx2"/>
                </a:solidFill>
                <a:ea typeface="宋体" panose="02010600030101010101" pitchFamily="2" charset="-122"/>
              </a:rPr>
              <a:t>30%</a:t>
            </a:r>
            <a:r>
              <a:rPr lang="zh-CN" altLang="en-US" sz="1200" dirty="0">
                <a:solidFill>
                  <a:schemeClr val="tx2"/>
                </a:solidFill>
                <a:ea typeface="宋体" panose="02010600030101010101" pitchFamily="2" charset="-122"/>
              </a:rPr>
              <a:t>，不進行治療病死率為</a:t>
            </a:r>
            <a:r>
              <a:rPr lang="en-US" altLang="zh-CN" sz="1200" dirty="0">
                <a:solidFill>
                  <a:schemeClr val="tx2"/>
                </a:solidFill>
                <a:ea typeface="宋体" panose="02010600030101010101" pitchFamily="2" charset="-122"/>
              </a:rPr>
              <a:t>90%</a:t>
            </a:r>
            <a:r>
              <a:rPr lang="zh-CN" altLang="en-US" sz="1200" dirty="0">
                <a:solidFill>
                  <a:schemeClr val="tx2"/>
                </a:solidFill>
                <a:ea typeface="宋体" panose="02010600030101010101" pitchFamily="2" charset="-122"/>
              </a:rPr>
              <a:t>，藥物化療的死亡率為</a:t>
            </a:r>
            <a:r>
              <a:rPr lang="en-US" altLang="zh-CN" sz="1200" dirty="0">
                <a:solidFill>
                  <a:schemeClr val="tx2"/>
                </a:solidFill>
                <a:ea typeface="宋体" panose="02010600030101010101" pitchFamily="2" charset="-122"/>
              </a:rPr>
              <a:t>5%</a:t>
            </a:r>
            <a:r>
              <a:rPr lang="zh-CN" altLang="en-US" sz="1200" dirty="0">
                <a:solidFill>
                  <a:schemeClr val="tx2"/>
                </a:solidFill>
                <a:ea typeface="宋体" panose="02010600030101010101" pitchFamily="2" charset="-122"/>
              </a:rPr>
              <a:t>，手術中死亡的風險為</a:t>
            </a:r>
            <a:r>
              <a:rPr lang="en-US" altLang="zh-CN" sz="1200" dirty="0">
                <a:solidFill>
                  <a:schemeClr val="tx2"/>
                </a:solidFill>
                <a:ea typeface="宋体" panose="02010600030101010101" pitchFamily="2" charset="-122"/>
              </a:rPr>
              <a:t>12%</a:t>
            </a:r>
            <a:r>
              <a:rPr lang="zh-CN" altLang="en-US" sz="1200" dirty="0">
                <a:solidFill>
                  <a:schemeClr val="tx2"/>
                </a:solidFill>
                <a:ea typeface="宋体" panose="02010600030101010101" pitchFamily="2" charset="-122"/>
              </a:rPr>
              <a:t>，術後治癒的概率為</a:t>
            </a:r>
            <a:r>
              <a:rPr lang="en-US" altLang="zh-CN" sz="1200" dirty="0">
                <a:solidFill>
                  <a:schemeClr val="tx2"/>
                </a:solidFill>
                <a:ea typeface="宋体" panose="02010600030101010101" pitchFamily="2" charset="-122"/>
              </a:rPr>
              <a:t>90%</a:t>
            </a:r>
            <a:r>
              <a:rPr lang="zh-CN" altLang="en-US" sz="1200" dirty="0">
                <a:solidFill>
                  <a:schemeClr val="tx2"/>
                </a:solidFill>
                <a:ea typeface="宋体" panose="02010600030101010101" pitchFamily="2" charset="-122"/>
              </a:rPr>
              <a:t>，藥物化療治癒的概率為</a:t>
            </a:r>
            <a:r>
              <a:rPr lang="en-US" altLang="zh-CN" sz="1200" dirty="0">
                <a:solidFill>
                  <a:schemeClr val="tx2"/>
                </a:solidFill>
                <a:ea typeface="宋体" panose="02010600030101010101" pitchFamily="2" charset="-122"/>
              </a:rPr>
              <a:t>5%</a:t>
            </a:r>
            <a:r>
              <a:rPr lang="zh-CN" altLang="en-US" sz="1200" dirty="0">
                <a:solidFill>
                  <a:schemeClr val="tx2"/>
                </a:solidFill>
                <a:ea typeface="宋体" panose="02010600030101010101" pitchFamily="2" charset="-122"/>
              </a:rPr>
              <a:t>，加入術後治癒的期望壽命是</a:t>
            </a:r>
            <a:r>
              <a:rPr lang="en-US" altLang="zh-CN" sz="1200" dirty="0">
                <a:solidFill>
                  <a:schemeClr val="tx2"/>
                </a:solidFill>
                <a:ea typeface="宋体" panose="02010600030101010101" pitchFamily="2" charset="-122"/>
              </a:rPr>
              <a:t>10</a:t>
            </a:r>
            <a:r>
              <a:rPr lang="zh-CN" altLang="en-US" sz="1200" dirty="0">
                <a:solidFill>
                  <a:schemeClr val="tx2"/>
                </a:solidFill>
                <a:ea typeface="宋体" panose="02010600030101010101" pitchFamily="2" charset="-122"/>
              </a:rPr>
              <a:t>年，未達到臨床治癒患者的期望壽命是</a:t>
            </a:r>
            <a:r>
              <a:rPr lang="en-US" altLang="zh-CN" sz="1200" dirty="0">
                <a:solidFill>
                  <a:schemeClr val="tx2"/>
                </a:solidFill>
                <a:ea typeface="宋体" panose="02010600030101010101" pitchFamily="2" charset="-122"/>
              </a:rPr>
              <a:t>1</a:t>
            </a:r>
            <a:r>
              <a:rPr lang="zh-CN" altLang="en-US" sz="1200" dirty="0">
                <a:solidFill>
                  <a:schemeClr val="tx2"/>
                </a:solidFill>
                <a:ea typeface="宋体" panose="02010600030101010101" pitchFamily="2" charset="-122"/>
              </a:rPr>
              <a:t>年，死亡是</a:t>
            </a:r>
            <a:r>
              <a:rPr lang="en-US" altLang="zh-CN" sz="1200" dirty="0">
                <a:solidFill>
                  <a:schemeClr val="tx2"/>
                </a:solidFill>
                <a:ea typeface="宋体" panose="02010600030101010101" pitchFamily="2" charset="-122"/>
              </a:rPr>
              <a:t>0</a:t>
            </a:r>
            <a:r>
              <a:rPr lang="zh-CN" altLang="en-US" sz="1200" dirty="0">
                <a:solidFill>
                  <a:schemeClr val="tx2"/>
                </a:solidFill>
                <a:ea typeface="宋体" panose="02010600030101010101" pitchFamily="2" charset="-122"/>
              </a:rPr>
              <a:t>年。</a:t>
            </a:r>
            <a:endParaRPr lang="en-US" altLang="zh-CN" sz="1200" dirty="0">
              <a:solidFill>
                <a:schemeClr val="tx2"/>
              </a:solidFill>
              <a:ea typeface="宋体" panose="02010600030101010101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dirty="0">
              <a:solidFill>
                <a:schemeClr val="tx2"/>
              </a:solidFill>
              <a:ea typeface="宋体" panose="02010600030101010101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dirty="0">
                <a:solidFill>
                  <a:schemeClr val="tx2"/>
                </a:solidFill>
                <a:ea typeface="宋体" panose="02010600030101010101" pitchFamily="2" charset="-122"/>
              </a:rPr>
              <a:t>[1] </a:t>
            </a:r>
            <a:r>
              <a:rPr lang="en-US" altLang="zh-CN" sz="1200" dirty="0" err="1">
                <a:solidFill>
                  <a:schemeClr val="tx2"/>
                </a:solidFill>
                <a:ea typeface="宋体" panose="02010600030101010101" pitchFamily="2" charset="-122"/>
              </a:rPr>
              <a:t>Shortliffe</a:t>
            </a:r>
            <a:r>
              <a:rPr lang="en-US" altLang="zh-CN" sz="1200" dirty="0">
                <a:solidFill>
                  <a:schemeClr val="tx2"/>
                </a:solidFill>
                <a:ea typeface="宋体" panose="02010600030101010101" pitchFamily="2" charset="-122"/>
              </a:rPr>
              <a:t> EH, </a:t>
            </a:r>
            <a:r>
              <a:rPr lang="en-US" altLang="zh-CN" sz="1200" dirty="0" err="1">
                <a:solidFill>
                  <a:schemeClr val="tx2"/>
                </a:solidFill>
                <a:ea typeface="宋体" panose="02010600030101010101" pitchFamily="2" charset="-122"/>
              </a:rPr>
              <a:t>Cimino</a:t>
            </a:r>
            <a:r>
              <a:rPr lang="en-US" altLang="zh-CN" sz="1200" dirty="0">
                <a:solidFill>
                  <a:schemeClr val="tx2"/>
                </a:solidFill>
                <a:ea typeface="宋体" panose="02010600030101010101" pitchFamily="2" charset="-122"/>
              </a:rPr>
              <a:t> JJ. Biomedical Informatics(Third Edition)[M].Springer,2006.</a:t>
            </a:r>
            <a:endParaRPr lang="zh-CN" altLang="en-US" sz="1200" dirty="0">
              <a:solidFill>
                <a:schemeClr val="tx2"/>
              </a:solidFill>
              <a:ea typeface="宋体" panose="02010600030101010101" pitchFamily="2" charset="-122"/>
            </a:endParaRPr>
          </a:p>
          <a:p>
            <a:endParaRPr lang="en-US" altLang="zh-CN" dirty="0">
              <a:ea typeface="宋体" pitchFamily="2" charset="-122"/>
            </a:endParaRPr>
          </a:p>
          <a:p>
            <a:r>
              <a:rPr lang="en-US" altLang="zh-CN" dirty="0">
                <a:ea typeface="宋体" pitchFamily="2" charset="-122"/>
              </a:rPr>
              <a:t>Decision analysis: a progress report.</a:t>
            </a:r>
          </a:p>
          <a:p>
            <a:r>
              <a:rPr lang="zh-CN" altLang="en-US" dirty="0">
                <a:ea typeface="宋体" pitchFamily="2" charset="-122"/>
              </a:rPr>
              <a:t>作 者：</a:t>
            </a:r>
            <a:r>
              <a:rPr lang="en-US" altLang="zh-CN" dirty="0">
                <a:ea typeface="宋体" pitchFamily="2" charset="-122"/>
              </a:rPr>
              <a:t>J P, </a:t>
            </a:r>
            <a:r>
              <a:rPr lang="en-US" altLang="zh-CN" dirty="0" err="1">
                <a:ea typeface="宋体" pitchFamily="2" charset="-122"/>
              </a:rPr>
              <a:t>Kassirer</a:t>
            </a:r>
            <a:r>
              <a:rPr lang="zh-CN" altLang="en-US" dirty="0">
                <a:ea typeface="宋体" pitchFamily="2" charset="-122"/>
              </a:rPr>
              <a:t>；</a:t>
            </a:r>
            <a:r>
              <a:rPr lang="en-US" altLang="zh-CN" dirty="0">
                <a:ea typeface="宋体" pitchFamily="2" charset="-122"/>
              </a:rPr>
              <a:t>A J, </a:t>
            </a:r>
            <a:r>
              <a:rPr lang="en-US" altLang="zh-CN" dirty="0" err="1">
                <a:ea typeface="宋体" pitchFamily="2" charset="-122"/>
              </a:rPr>
              <a:t>Moskowitz</a:t>
            </a:r>
            <a:r>
              <a:rPr lang="zh-CN" altLang="en-US" dirty="0">
                <a:ea typeface="宋体" pitchFamily="2" charset="-122"/>
              </a:rPr>
              <a:t>；</a:t>
            </a:r>
            <a:r>
              <a:rPr lang="en-US" altLang="zh-CN" dirty="0">
                <a:ea typeface="宋体" pitchFamily="2" charset="-122"/>
              </a:rPr>
              <a:t>J, Lau</a:t>
            </a:r>
            <a:r>
              <a:rPr lang="zh-CN" altLang="en-US" dirty="0">
                <a:ea typeface="宋体" pitchFamily="2" charset="-122"/>
              </a:rPr>
              <a:t>；</a:t>
            </a:r>
            <a:r>
              <a:rPr lang="en-US" altLang="zh-CN" dirty="0">
                <a:ea typeface="宋体" pitchFamily="2" charset="-122"/>
              </a:rPr>
              <a:t>S G, </a:t>
            </a:r>
            <a:r>
              <a:rPr lang="en-US" altLang="zh-CN" dirty="0" err="1">
                <a:ea typeface="宋体" pitchFamily="2" charset="-122"/>
              </a:rPr>
              <a:t>Pauker</a:t>
            </a:r>
            <a:endParaRPr lang="en-US" altLang="zh-CN" dirty="0">
              <a:ea typeface="宋体" pitchFamily="2" charset="-122"/>
            </a:endParaRPr>
          </a:p>
          <a:p>
            <a:r>
              <a:rPr lang="zh-CN" altLang="en-US" dirty="0">
                <a:ea typeface="宋体" pitchFamily="2" charset="-122"/>
              </a:rPr>
              <a:t>刊 名：</a:t>
            </a:r>
            <a:r>
              <a:rPr lang="en-US" altLang="zh-CN" dirty="0">
                <a:ea typeface="宋体" pitchFamily="2" charset="-122"/>
              </a:rPr>
              <a:t>Annals of internal medicine  1987</a:t>
            </a:r>
            <a:r>
              <a:rPr lang="zh-CN" altLang="en-US" dirty="0">
                <a:ea typeface="宋体" pitchFamily="2" charset="-122"/>
              </a:rPr>
              <a:t>年</a:t>
            </a:r>
            <a:r>
              <a:rPr lang="en-US" altLang="zh-CN" dirty="0">
                <a:ea typeface="宋体" pitchFamily="2" charset="-122"/>
              </a:rPr>
              <a:t>106</a:t>
            </a:r>
            <a:r>
              <a:rPr lang="zh-CN" altLang="en-US" dirty="0">
                <a:ea typeface="宋体" pitchFamily="2" charset="-122"/>
              </a:rPr>
              <a:t>卷</a:t>
            </a:r>
            <a:r>
              <a:rPr lang="en-US" altLang="zh-CN" dirty="0">
                <a:ea typeface="宋体" pitchFamily="2" charset="-122"/>
              </a:rPr>
              <a:t>2</a:t>
            </a:r>
            <a:r>
              <a:rPr lang="zh-CN" altLang="en-US" dirty="0">
                <a:ea typeface="宋体" pitchFamily="2" charset="-122"/>
              </a:rPr>
              <a:t>期 </a:t>
            </a:r>
            <a:r>
              <a:rPr lang="en-US" altLang="zh-CN" dirty="0">
                <a:ea typeface="宋体" pitchFamily="2" charset="-122"/>
              </a:rPr>
              <a:t>275-291</a:t>
            </a:r>
            <a:r>
              <a:rPr lang="zh-CN" altLang="en-US" dirty="0">
                <a:ea typeface="宋体" pitchFamily="2" charset="-122"/>
              </a:rPr>
              <a:t>頁</a:t>
            </a:r>
          </a:p>
          <a:p>
            <a:endParaRPr lang="en-US" altLang="zh-CN" dirty="0">
              <a:ea typeface="宋体" pitchFamily="2" charset="-122"/>
            </a:endParaRPr>
          </a:p>
          <a:p>
            <a:r>
              <a:rPr lang="en-US" altLang="zh-CN" dirty="0">
                <a:ea typeface="宋体" pitchFamily="2" charset="-122"/>
              </a:rPr>
              <a:t>Canadian Task Force on the Periodic Health </a:t>
            </a:r>
            <a:r>
              <a:rPr lang="en-US" altLang="zh-CN" dirty="0" err="1">
                <a:ea typeface="宋体" pitchFamily="2" charset="-122"/>
              </a:rPr>
              <a:t>Examination:The</a:t>
            </a:r>
            <a:r>
              <a:rPr lang="en-US" altLang="zh-CN" dirty="0">
                <a:ea typeface="宋体" pitchFamily="2" charset="-122"/>
              </a:rPr>
              <a:t> periodic health </a:t>
            </a:r>
            <a:r>
              <a:rPr lang="en-US" altLang="zh-CN" dirty="0" err="1">
                <a:ea typeface="宋体" pitchFamily="2" charset="-122"/>
              </a:rPr>
              <a:t>examination.CMAJ</a:t>
            </a:r>
            <a:r>
              <a:rPr lang="en-US" altLang="zh-CN" dirty="0">
                <a:ea typeface="宋体" pitchFamily="2" charset="-122"/>
              </a:rPr>
              <a:t>, 1979, 121(19):1193-1254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Chest, 1986, 89(2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):2S-3S.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Archives </a:t>
            </a:r>
            <a:r>
              <a:rPr lang="en-US" altLang="zh-CN" dirty="0" err="1">
                <a:ea typeface="宋体" pitchFamily="2" charset="-122"/>
              </a:rPr>
              <a:t>Int</a:t>
            </a:r>
            <a:r>
              <a:rPr lang="en-US" altLang="zh-CN" dirty="0">
                <a:ea typeface="宋体" pitchFamily="2" charset="-122"/>
              </a:rPr>
              <a:t> Med, 1986, 146(3):464-465.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Sinclair JC, et al. Users’ guides to the medical l </a:t>
            </a:r>
            <a:r>
              <a:rPr lang="en-US" altLang="zh-CN" dirty="0" err="1">
                <a:ea typeface="宋体" pitchFamily="2" charset="-122"/>
              </a:rPr>
              <a:t>iterature</a:t>
            </a:r>
            <a:r>
              <a:rPr lang="en-US" altLang="zh-CN" dirty="0">
                <a:ea typeface="宋体" pitchFamily="2" charset="-122"/>
              </a:rPr>
              <a:t>. IX. A method for grading health care recommendations. Evidence-Based Medicine Working Group. JAMA, 1995, 274(22): 1800-1804.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on the use of antithrombotic </a:t>
            </a:r>
            <a:r>
              <a:rPr lang="en-US" altLang="zh-CN" dirty="0" err="1">
                <a:ea typeface="宋体" pitchFamily="2" charset="-122"/>
              </a:rPr>
              <a:t>agents.Chest</a:t>
            </a:r>
            <a:r>
              <a:rPr lang="en-US" altLang="zh-CN" dirty="0">
                <a:ea typeface="宋体" pitchFamily="2" charset="-122"/>
              </a:rPr>
              <a:t>, 1989, 95(2):2S-4S.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Rules of evidence and clinical recommendations on the use of antithrombotic agents. Chest, 1992, 102(4): 305S-311S.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</a:t>
            </a:r>
            <a:r>
              <a:rPr lang="en-US" altLang="zh-CN" dirty="0" err="1">
                <a:ea typeface="宋体" pitchFamily="2" charset="-122"/>
              </a:rPr>
              <a:t>Cl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using levels of evidence for antithrombotic agents. Chest, 1995,108(4): 227S-230S.</a:t>
            </a:r>
          </a:p>
          <a:p>
            <a:r>
              <a:rPr lang="en-US" altLang="zh-CN" dirty="0">
                <a:ea typeface="宋体" pitchFamily="2" charset="-122"/>
              </a:rPr>
              <a:t>http://www.cebm.net/levels_of_evidence.asp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Cook DJ,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et al. Grades of recommendation for antithrombotic agents. Chest, 1998, 114(5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 441S-444S.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S c h </a:t>
            </a:r>
            <a:r>
              <a:rPr lang="en-US" altLang="zh-CN" dirty="0" err="1">
                <a:ea typeface="宋体" pitchFamily="2" charset="-122"/>
              </a:rPr>
              <a:t>ünemann</a:t>
            </a:r>
            <a:r>
              <a:rPr lang="en-US" altLang="zh-CN" dirty="0">
                <a:ea typeface="宋体" pitchFamily="2" charset="-122"/>
              </a:rPr>
              <a:t> H, Cook D, </a:t>
            </a:r>
            <a:r>
              <a:rPr lang="en-US" altLang="zh-CN" dirty="0" err="1">
                <a:ea typeface="宋体" pitchFamily="2" charset="-122"/>
              </a:rPr>
              <a:t>etal.Gradesof</a:t>
            </a:r>
            <a:r>
              <a:rPr lang="en-US" altLang="zh-CN" dirty="0">
                <a:ea typeface="宋体" pitchFamily="2" charset="-122"/>
              </a:rPr>
              <a:t> Recommendation for Antithrombotic Agents. Chest, 2001, 119(1):3S-7S.</a:t>
            </a:r>
          </a:p>
          <a:p>
            <a:r>
              <a:rPr lang="en-US" altLang="zh-CN" dirty="0">
                <a:ea typeface="宋体" pitchFamily="2" charset="-122"/>
              </a:rPr>
              <a:t>Atkins D, Best D, </a:t>
            </a:r>
            <a:r>
              <a:rPr lang="en-US" altLang="zh-CN" dirty="0" err="1">
                <a:ea typeface="宋体" pitchFamily="2" charset="-122"/>
              </a:rPr>
              <a:t>Briss</a:t>
            </a:r>
            <a:r>
              <a:rPr lang="en-US" altLang="zh-CN" dirty="0">
                <a:ea typeface="宋体" pitchFamily="2" charset="-122"/>
              </a:rPr>
              <a:t> PA, et </a:t>
            </a:r>
            <a:r>
              <a:rPr lang="en-US" altLang="zh-CN" dirty="0" err="1">
                <a:ea typeface="宋体" pitchFamily="2" charset="-122"/>
              </a:rPr>
              <a:t>al.Grading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and strength of recommendations. BMJ, 2004, 328(7454):1490-1494</a:t>
            </a:r>
          </a:p>
          <a:p>
            <a:r>
              <a:rPr lang="en-US" altLang="zh-CN" dirty="0">
                <a:ea typeface="宋体" pitchFamily="2" charset="-122"/>
              </a:rPr>
              <a:t>http://www.gradeworkinggroup.org/about_us.htm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</a:t>
            </a:r>
            <a:r>
              <a:rPr lang="en-US" altLang="zh-CN" dirty="0" err="1">
                <a:ea typeface="宋体" pitchFamily="2" charset="-122"/>
              </a:rPr>
              <a:t>Gutterman</a:t>
            </a:r>
            <a:r>
              <a:rPr lang="en-US" altLang="zh-CN" dirty="0">
                <a:ea typeface="宋体" pitchFamily="2" charset="-122"/>
              </a:rPr>
              <a:t> D, Baumann MH, et al. Grading strength of recommendations and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in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guidel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ines:report</a:t>
            </a:r>
            <a:r>
              <a:rPr lang="en-US" altLang="zh-CN" dirty="0">
                <a:ea typeface="宋体" pitchFamily="2" charset="-122"/>
              </a:rPr>
              <a:t> from an </a:t>
            </a:r>
            <a:r>
              <a:rPr lang="en-US" altLang="zh-CN" dirty="0" err="1">
                <a:ea typeface="宋体" pitchFamily="2" charset="-122"/>
              </a:rPr>
              <a:t>american</a:t>
            </a:r>
            <a:r>
              <a:rPr lang="en-US" altLang="zh-CN" dirty="0">
                <a:ea typeface="宋体" pitchFamily="2" charset="-122"/>
              </a:rPr>
              <a:t> college of chest physicians task force. Chest,2006, 129(1):174-181.</a:t>
            </a:r>
          </a:p>
          <a:p>
            <a:r>
              <a:rPr lang="en-US" altLang="zh-CN" dirty="0">
                <a:ea typeface="宋体" pitchFamily="2" charset="-122"/>
              </a:rPr>
              <a:t>Aragon CL, </a:t>
            </a:r>
            <a:r>
              <a:rPr lang="en-US" altLang="zh-CN" dirty="0" err="1">
                <a:ea typeface="宋体" pitchFamily="2" charset="-122"/>
              </a:rPr>
              <a:t>Budsberg</a:t>
            </a:r>
            <a:r>
              <a:rPr lang="en-US" altLang="zh-CN" dirty="0">
                <a:ea typeface="宋体" pitchFamily="2" charset="-122"/>
              </a:rPr>
              <a:t> SC. Applications of Evidence-Based </a:t>
            </a:r>
            <a:r>
              <a:rPr lang="en-US" altLang="zh-CN" dirty="0" err="1">
                <a:ea typeface="宋体" pitchFamily="2" charset="-122"/>
              </a:rPr>
              <a:t>Medicine:Cranial</a:t>
            </a:r>
            <a:r>
              <a:rPr lang="en-US" altLang="zh-CN" dirty="0">
                <a:ea typeface="宋体" pitchFamily="2" charset="-122"/>
              </a:rPr>
              <a:t> Cruciate Ligament Injury Repair in the Dog Veterinary Surgery. 34(2): 93–98.</a:t>
            </a:r>
          </a:p>
          <a:p>
            <a:r>
              <a:rPr lang="en-US" altLang="zh-CN" dirty="0">
                <a:ea typeface="宋体" pitchFamily="2" charset="-122"/>
              </a:rPr>
              <a:t>http://library.downstate.edu/ebmdos/2100.htm</a:t>
            </a:r>
          </a:p>
        </p:txBody>
      </p:sp>
      <p:sp>
        <p:nvSpPr>
          <p:cNvPr id="24580" name="灯片编号占位符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F2A7AC83-3E51-4C36-BE6A-771C72EBD479}" type="slidenum">
              <a:rPr lang="en-US" altLang="zh-CN" smtClean="0"/>
              <a:pPr eaLnBrk="1" hangingPunct="1"/>
              <a:t>13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3776479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24579" name="备注占位符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dirty="0">
                <a:solidFill>
                  <a:schemeClr val="tx2"/>
                </a:solidFill>
                <a:ea typeface="宋体" panose="02010600030101010101" pitchFamily="2" charset="-122"/>
              </a:rPr>
              <a:t>假設某種疾病後期懷疑有癌變可能，可以進行藥物化療，也可以採用手術探查，如發現腫瘤，則可進行腫瘤切除治療，但在手術探查的過程中有死亡於手術的風險，藥物治療無副作用，假設這類病人患有腫瘤的可能性為</a:t>
            </a:r>
            <a:r>
              <a:rPr lang="en-US" altLang="zh-CN" sz="1200" dirty="0">
                <a:solidFill>
                  <a:schemeClr val="tx2"/>
                </a:solidFill>
                <a:ea typeface="宋体" panose="02010600030101010101" pitchFamily="2" charset="-122"/>
              </a:rPr>
              <a:t>30%</a:t>
            </a:r>
            <a:r>
              <a:rPr lang="zh-CN" altLang="en-US" sz="1200" dirty="0">
                <a:solidFill>
                  <a:schemeClr val="tx2"/>
                </a:solidFill>
                <a:ea typeface="宋体" panose="02010600030101010101" pitchFamily="2" charset="-122"/>
              </a:rPr>
              <a:t>，不進行治療病死率為</a:t>
            </a:r>
            <a:r>
              <a:rPr lang="en-US" altLang="zh-CN" sz="1200" dirty="0">
                <a:solidFill>
                  <a:schemeClr val="tx2"/>
                </a:solidFill>
                <a:ea typeface="宋体" panose="02010600030101010101" pitchFamily="2" charset="-122"/>
              </a:rPr>
              <a:t>90%</a:t>
            </a:r>
            <a:r>
              <a:rPr lang="zh-CN" altLang="en-US" sz="1200" dirty="0">
                <a:solidFill>
                  <a:schemeClr val="tx2"/>
                </a:solidFill>
                <a:ea typeface="宋体" panose="02010600030101010101" pitchFamily="2" charset="-122"/>
              </a:rPr>
              <a:t>，藥物化療的死亡率為</a:t>
            </a:r>
            <a:r>
              <a:rPr lang="en-US" altLang="zh-CN" sz="1200" dirty="0">
                <a:solidFill>
                  <a:schemeClr val="tx2"/>
                </a:solidFill>
                <a:ea typeface="宋体" panose="02010600030101010101" pitchFamily="2" charset="-122"/>
              </a:rPr>
              <a:t>5%</a:t>
            </a:r>
            <a:r>
              <a:rPr lang="zh-CN" altLang="en-US" sz="1200" dirty="0">
                <a:solidFill>
                  <a:schemeClr val="tx2"/>
                </a:solidFill>
                <a:ea typeface="宋体" panose="02010600030101010101" pitchFamily="2" charset="-122"/>
              </a:rPr>
              <a:t>，手術中死亡的風險為</a:t>
            </a:r>
            <a:r>
              <a:rPr lang="en-US" altLang="zh-CN" sz="1200" dirty="0">
                <a:solidFill>
                  <a:schemeClr val="tx2"/>
                </a:solidFill>
                <a:ea typeface="宋体" panose="02010600030101010101" pitchFamily="2" charset="-122"/>
              </a:rPr>
              <a:t>12%</a:t>
            </a:r>
            <a:r>
              <a:rPr lang="zh-CN" altLang="en-US" sz="1200" dirty="0">
                <a:solidFill>
                  <a:schemeClr val="tx2"/>
                </a:solidFill>
                <a:ea typeface="宋体" panose="02010600030101010101" pitchFamily="2" charset="-122"/>
              </a:rPr>
              <a:t>，術後治癒的概率為</a:t>
            </a:r>
            <a:r>
              <a:rPr lang="en-US" altLang="zh-CN" sz="1200" dirty="0">
                <a:solidFill>
                  <a:schemeClr val="tx2"/>
                </a:solidFill>
                <a:ea typeface="宋体" panose="02010600030101010101" pitchFamily="2" charset="-122"/>
              </a:rPr>
              <a:t>90%</a:t>
            </a:r>
            <a:r>
              <a:rPr lang="zh-CN" altLang="en-US" sz="1200" dirty="0">
                <a:solidFill>
                  <a:schemeClr val="tx2"/>
                </a:solidFill>
                <a:ea typeface="宋体" panose="02010600030101010101" pitchFamily="2" charset="-122"/>
              </a:rPr>
              <a:t>，藥物化療治癒的概率為</a:t>
            </a:r>
            <a:r>
              <a:rPr lang="en-US" altLang="zh-CN" sz="1200" dirty="0">
                <a:solidFill>
                  <a:schemeClr val="tx2"/>
                </a:solidFill>
                <a:ea typeface="宋体" panose="02010600030101010101" pitchFamily="2" charset="-122"/>
              </a:rPr>
              <a:t>5%</a:t>
            </a:r>
            <a:r>
              <a:rPr lang="zh-CN" altLang="en-US" sz="1200" dirty="0">
                <a:solidFill>
                  <a:schemeClr val="tx2"/>
                </a:solidFill>
                <a:ea typeface="宋体" panose="02010600030101010101" pitchFamily="2" charset="-122"/>
              </a:rPr>
              <a:t>，加入術後治癒的期望壽命是</a:t>
            </a:r>
            <a:r>
              <a:rPr lang="en-US" altLang="zh-CN" sz="1200" dirty="0">
                <a:solidFill>
                  <a:schemeClr val="tx2"/>
                </a:solidFill>
                <a:ea typeface="宋体" panose="02010600030101010101" pitchFamily="2" charset="-122"/>
              </a:rPr>
              <a:t>10</a:t>
            </a:r>
            <a:r>
              <a:rPr lang="zh-CN" altLang="en-US" sz="1200" dirty="0">
                <a:solidFill>
                  <a:schemeClr val="tx2"/>
                </a:solidFill>
                <a:ea typeface="宋体" panose="02010600030101010101" pitchFamily="2" charset="-122"/>
              </a:rPr>
              <a:t>年，未達到臨床治癒患者的期望壽命是</a:t>
            </a:r>
            <a:r>
              <a:rPr lang="en-US" altLang="zh-CN" sz="1200" dirty="0">
                <a:solidFill>
                  <a:schemeClr val="tx2"/>
                </a:solidFill>
                <a:ea typeface="宋体" panose="02010600030101010101" pitchFamily="2" charset="-122"/>
              </a:rPr>
              <a:t>1</a:t>
            </a:r>
            <a:r>
              <a:rPr lang="zh-CN" altLang="en-US" sz="1200" dirty="0">
                <a:solidFill>
                  <a:schemeClr val="tx2"/>
                </a:solidFill>
                <a:ea typeface="宋体" panose="02010600030101010101" pitchFamily="2" charset="-122"/>
              </a:rPr>
              <a:t>年，死亡是</a:t>
            </a:r>
            <a:r>
              <a:rPr lang="en-US" altLang="zh-CN" sz="1200" dirty="0">
                <a:solidFill>
                  <a:schemeClr val="tx2"/>
                </a:solidFill>
                <a:ea typeface="宋体" panose="02010600030101010101" pitchFamily="2" charset="-122"/>
              </a:rPr>
              <a:t>0</a:t>
            </a:r>
            <a:r>
              <a:rPr lang="zh-CN" altLang="en-US" sz="1200" dirty="0">
                <a:solidFill>
                  <a:schemeClr val="tx2"/>
                </a:solidFill>
                <a:ea typeface="宋体" panose="02010600030101010101" pitchFamily="2" charset="-122"/>
              </a:rPr>
              <a:t>年。</a:t>
            </a:r>
            <a:endParaRPr lang="en-US" altLang="zh-CN" sz="1200" dirty="0">
              <a:solidFill>
                <a:schemeClr val="tx2"/>
              </a:solidFill>
              <a:ea typeface="宋体" panose="02010600030101010101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dirty="0">
              <a:solidFill>
                <a:schemeClr val="tx2"/>
              </a:solidFill>
              <a:ea typeface="宋体" panose="02010600030101010101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dirty="0">
                <a:solidFill>
                  <a:schemeClr val="tx2"/>
                </a:solidFill>
                <a:ea typeface="宋体" panose="02010600030101010101" pitchFamily="2" charset="-122"/>
              </a:rPr>
              <a:t>[1] </a:t>
            </a:r>
            <a:r>
              <a:rPr lang="en-US" altLang="zh-CN" sz="1200" dirty="0" err="1">
                <a:solidFill>
                  <a:schemeClr val="tx2"/>
                </a:solidFill>
                <a:ea typeface="宋体" panose="02010600030101010101" pitchFamily="2" charset="-122"/>
              </a:rPr>
              <a:t>Shortliffe</a:t>
            </a:r>
            <a:r>
              <a:rPr lang="en-US" altLang="zh-CN" sz="1200" dirty="0">
                <a:solidFill>
                  <a:schemeClr val="tx2"/>
                </a:solidFill>
                <a:ea typeface="宋体" panose="02010600030101010101" pitchFamily="2" charset="-122"/>
              </a:rPr>
              <a:t> EH, </a:t>
            </a:r>
            <a:r>
              <a:rPr lang="en-US" altLang="zh-CN" sz="1200" dirty="0" err="1">
                <a:solidFill>
                  <a:schemeClr val="tx2"/>
                </a:solidFill>
                <a:ea typeface="宋体" panose="02010600030101010101" pitchFamily="2" charset="-122"/>
              </a:rPr>
              <a:t>Cimino</a:t>
            </a:r>
            <a:r>
              <a:rPr lang="en-US" altLang="zh-CN" sz="1200" dirty="0">
                <a:solidFill>
                  <a:schemeClr val="tx2"/>
                </a:solidFill>
                <a:ea typeface="宋体" panose="02010600030101010101" pitchFamily="2" charset="-122"/>
              </a:rPr>
              <a:t> JJ. Biomedical Informatics(Third Edition)[M].Springer,2006.</a:t>
            </a:r>
            <a:endParaRPr lang="zh-CN" altLang="en-US" sz="1200" dirty="0">
              <a:solidFill>
                <a:schemeClr val="tx2"/>
              </a:solidFill>
              <a:ea typeface="宋体" panose="02010600030101010101" pitchFamily="2" charset="-122"/>
            </a:endParaRPr>
          </a:p>
          <a:p>
            <a:endParaRPr lang="en-US" altLang="zh-CN" dirty="0">
              <a:ea typeface="宋体" pitchFamily="2" charset="-122"/>
            </a:endParaRPr>
          </a:p>
          <a:p>
            <a:r>
              <a:rPr lang="en-US" altLang="zh-CN" dirty="0">
                <a:ea typeface="宋体" pitchFamily="2" charset="-122"/>
              </a:rPr>
              <a:t>Decision analysis: a progress report.</a:t>
            </a:r>
          </a:p>
          <a:p>
            <a:r>
              <a:rPr lang="zh-CN" altLang="en-US" dirty="0">
                <a:ea typeface="宋体" pitchFamily="2" charset="-122"/>
              </a:rPr>
              <a:t>作 者：</a:t>
            </a:r>
            <a:r>
              <a:rPr lang="en-US" altLang="zh-CN" dirty="0">
                <a:ea typeface="宋体" pitchFamily="2" charset="-122"/>
              </a:rPr>
              <a:t>J P, </a:t>
            </a:r>
            <a:r>
              <a:rPr lang="en-US" altLang="zh-CN" dirty="0" err="1">
                <a:ea typeface="宋体" pitchFamily="2" charset="-122"/>
              </a:rPr>
              <a:t>Kassirer</a:t>
            </a:r>
            <a:r>
              <a:rPr lang="zh-CN" altLang="en-US" dirty="0">
                <a:ea typeface="宋体" pitchFamily="2" charset="-122"/>
              </a:rPr>
              <a:t>；</a:t>
            </a:r>
            <a:r>
              <a:rPr lang="en-US" altLang="zh-CN" dirty="0">
                <a:ea typeface="宋体" pitchFamily="2" charset="-122"/>
              </a:rPr>
              <a:t>A J, </a:t>
            </a:r>
            <a:r>
              <a:rPr lang="en-US" altLang="zh-CN" dirty="0" err="1">
                <a:ea typeface="宋体" pitchFamily="2" charset="-122"/>
              </a:rPr>
              <a:t>Moskowitz</a:t>
            </a:r>
            <a:r>
              <a:rPr lang="zh-CN" altLang="en-US" dirty="0">
                <a:ea typeface="宋体" pitchFamily="2" charset="-122"/>
              </a:rPr>
              <a:t>；</a:t>
            </a:r>
            <a:r>
              <a:rPr lang="en-US" altLang="zh-CN" dirty="0">
                <a:ea typeface="宋体" pitchFamily="2" charset="-122"/>
              </a:rPr>
              <a:t>J, Lau</a:t>
            </a:r>
            <a:r>
              <a:rPr lang="zh-CN" altLang="en-US" dirty="0">
                <a:ea typeface="宋体" pitchFamily="2" charset="-122"/>
              </a:rPr>
              <a:t>；</a:t>
            </a:r>
            <a:r>
              <a:rPr lang="en-US" altLang="zh-CN" dirty="0">
                <a:ea typeface="宋体" pitchFamily="2" charset="-122"/>
              </a:rPr>
              <a:t>S G, </a:t>
            </a:r>
            <a:r>
              <a:rPr lang="en-US" altLang="zh-CN" dirty="0" err="1">
                <a:ea typeface="宋体" pitchFamily="2" charset="-122"/>
              </a:rPr>
              <a:t>Pauker</a:t>
            </a:r>
            <a:endParaRPr lang="en-US" altLang="zh-CN" dirty="0">
              <a:ea typeface="宋体" pitchFamily="2" charset="-122"/>
            </a:endParaRPr>
          </a:p>
          <a:p>
            <a:r>
              <a:rPr lang="zh-CN" altLang="en-US" dirty="0">
                <a:ea typeface="宋体" pitchFamily="2" charset="-122"/>
              </a:rPr>
              <a:t>刊 名：</a:t>
            </a:r>
            <a:r>
              <a:rPr lang="en-US" altLang="zh-CN" dirty="0">
                <a:ea typeface="宋体" pitchFamily="2" charset="-122"/>
              </a:rPr>
              <a:t>Annals of internal medicine  1987</a:t>
            </a:r>
            <a:r>
              <a:rPr lang="zh-CN" altLang="en-US" dirty="0">
                <a:ea typeface="宋体" pitchFamily="2" charset="-122"/>
              </a:rPr>
              <a:t>年</a:t>
            </a:r>
            <a:r>
              <a:rPr lang="en-US" altLang="zh-CN" dirty="0">
                <a:ea typeface="宋体" pitchFamily="2" charset="-122"/>
              </a:rPr>
              <a:t>106</a:t>
            </a:r>
            <a:r>
              <a:rPr lang="zh-CN" altLang="en-US" dirty="0">
                <a:ea typeface="宋体" pitchFamily="2" charset="-122"/>
              </a:rPr>
              <a:t>卷</a:t>
            </a:r>
            <a:r>
              <a:rPr lang="en-US" altLang="zh-CN" dirty="0">
                <a:ea typeface="宋体" pitchFamily="2" charset="-122"/>
              </a:rPr>
              <a:t>2</a:t>
            </a:r>
            <a:r>
              <a:rPr lang="zh-CN" altLang="en-US" dirty="0">
                <a:ea typeface="宋体" pitchFamily="2" charset="-122"/>
              </a:rPr>
              <a:t>期 </a:t>
            </a:r>
            <a:r>
              <a:rPr lang="en-US" altLang="zh-CN" dirty="0">
                <a:ea typeface="宋体" pitchFamily="2" charset="-122"/>
              </a:rPr>
              <a:t>275-291</a:t>
            </a:r>
            <a:r>
              <a:rPr lang="zh-CN" altLang="en-US" dirty="0">
                <a:ea typeface="宋体" pitchFamily="2" charset="-122"/>
              </a:rPr>
              <a:t>頁</a:t>
            </a:r>
          </a:p>
          <a:p>
            <a:endParaRPr lang="en-US" altLang="zh-CN" dirty="0">
              <a:ea typeface="宋体" pitchFamily="2" charset="-122"/>
            </a:endParaRPr>
          </a:p>
          <a:p>
            <a:r>
              <a:rPr lang="en-US" altLang="zh-CN" dirty="0">
                <a:ea typeface="宋体" pitchFamily="2" charset="-122"/>
              </a:rPr>
              <a:t>Canadian Task Force on the Periodic Health </a:t>
            </a:r>
            <a:r>
              <a:rPr lang="en-US" altLang="zh-CN" dirty="0" err="1">
                <a:ea typeface="宋体" pitchFamily="2" charset="-122"/>
              </a:rPr>
              <a:t>Examination:The</a:t>
            </a:r>
            <a:r>
              <a:rPr lang="en-US" altLang="zh-CN" dirty="0">
                <a:ea typeface="宋体" pitchFamily="2" charset="-122"/>
              </a:rPr>
              <a:t> periodic health </a:t>
            </a:r>
            <a:r>
              <a:rPr lang="en-US" altLang="zh-CN" dirty="0" err="1">
                <a:ea typeface="宋体" pitchFamily="2" charset="-122"/>
              </a:rPr>
              <a:t>examination.CMAJ</a:t>
            </a:r>
            <a:r>
              <a:rPr lang="en-US" altLang="zh-CN" dirty="0">
                <a:ea typeface="宋体" pitchFamily="2" charset="-122"/>
              </a:rPr>
              <a:t>, 1979, 121(19):1193-1254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Chest, 1986, 89(2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):2S-3S.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Archives </a:t>
            </a:r>
            <a:r>
              <a:rPr lang="en-US" altLang="zh-CN" dirty="0" err="1">
                <a:ea typeface="宋体" pitchFamily="2" charset="-122"/>
              </a:rPr>
              <a:t>Int</a:t>
            </a:r>
            <a:r>
              <a:rPr lang="en-US" altLang="zh-CN" dirty="0">
                <a:ea typeface="宋体" pitchFamily="2" charset="-122"/>
              </a:rPr>
              <a:t> Med, 1986, 146(3):464-465.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Sinclair JC, et al. Users’ guides to the medical l </a:t>
            </a:r>
            <a:r>
              <a:rPr lang="en-US" altLang="zh-CN" dirty="0" err="1">
                <a:ea typeface="宋体" pitchFamily="2" charset="-122"/>
              </a:rPr>
              <a:t>iterature</a:t>
            </a:r>
            <a:r>
              <a:rPr lang="en-US" altLang="zh-CN" dirty="0">
                <a:ea typeface="宋体" pitchFamily="2" charset="-122"/>
              </a:rPr>
              <a:t>. IX. A method for grading health care recommendations. Evidence-Based Medicine Working Group. JAMA, 1995, 274(22): 1800-1804.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on the use of antithrombotic </a:t>
            </a:r>
            <a:r>
              <a:rPr lang="en-US" altLang="zh-CN" dirty="0" err="1">
                <a:ea typeface="宋体" pitchFamily="2" charset="-122"/>
              </a:rPr>
              <a:t>agents.Chest</a:t>
            </a:r>
            <a:r>
              <a:rPr lang="en-US" altLang="zh-CN" dirty="0">
                <a:ea typeface="宋体" pitchFamily="2" charset="-122"/>
              </a:rPr>
              <a:t>, 1989, 95(2):2S-4S.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Rules of evidence and clinical recommendations on the use of antithrombotic agents. Chest, 1992, 102(4): 305S-311S.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</a:t>
            </a:r>
            <a:r>
              <a:rPr lang="en-US" altLang="zh-CN" dirty="0" err="1">
                <a:ea typeface="宋体" pitchFamily="2" charset="-122"/>
              </a:rPr>
              <a:t>Cl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using levels of evidence for antithrombotic agents. Chest, 1995,108(4): 227S-230S.</a:t>
            </a:r>
          </a:p>
          <a:p>
            <a:r>
              <a:rPr lang="en-US" altLang="zh-CN" dirty="0">
                <a:ea typeface="宋体" pitchFamily="2" charset="-122"/>
              </a:rPr>
              <a:t>http://www.cebm.net/levels_of_evidence.asp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Cook DJ,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et al. Grades of recommendation for antithrombotic agents. Chest, 1998, 114(5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 441S-444S.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S c h </a:t>
            </a:r>
            <a:r>
              <a:rPr lang="en-US" altLang="zh-CN" dirty="0" err="1">
                <a:ea typeface="宋体" pitchFamily="2" charset="-122"/>
              </a:rPr>
              <a:t>ünemann</a:t>
            </a:r>
            <a:r>
              <a:rPr lang="en-US" altLang="zh-CN" dirty="0">
                <a:ea typeface="宋体" pitchFamily="2" charset="-122"/>
              </a:rPr>
              <a:t> H, Cook D, </a:t>
            </a:r>
            <a:r>
              <a:rPr lang="en-US" altLang="zh-CN" dirty="0" err="1">
                <a:ea typeface="宋体" pitchFamily="2" charset="-122"/>
              </a:rPr>
              <a:t>etal.Gradesof</a:t>
            </a:r>
            <a:r>
              <a:rPr lang="en-US" altLang="zh-CN" dirty="0">
                <a:ea typeface="宋体" pitchFamily="2" charset="-122"/>
              </a:rPr>
              <a:t> Recommendation for Antithrombotic Agents. Chest, 2001, 119(1):3S-7S.</a:t>
            </a:r>
          </a:p>
          <a:p>
            <a:r>
              <a:rPr lang="en-US" altLang="zh-CN" dirty="0">
                <a:ea typeface="宋体" pitchFamily="2" charset="-122"/>
              </a:rPr>
              <a:t>Atkins D, Best D, </a:t>
            </a:r>
            <a:r>
              <a:rPr lang="en-US" altLang="zh-CN" dirty="0" err="1">
                <a:ea typeface="宋体" pitchFamily="2" charset="-122"/>
              </a:rPr>
              <a:t>Briss</a:t>
            </a:r>
            <a:r>
              <a:rPr lang="en-US" altLang="zh-CN" dirty="0">
                <a:ea typeface="宋体" pitchFamily="2" charset="-122"/>
              </a:rPr>
              <a:t> PA, et </a:t>
            </a:r>
            <a:r>
              <a:rPr lang="en-US" altLang="zh-CN" dirty="0" err="1">
                <a:ea typeface="宋体" pitchFamily="2" charset="-122"/>
              </a:rPr>
              <a:t>al.Grading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and strength of recommendations. BMJ, 2004, 328(7454):1490-1494</a:t>
            </a:r>
          </a:p>
          <a:p>
            <a:r>
              <a:rPr lang="en-US" altLang="zh-CN" dirty="0">
                <a:ea typeface="宋体" pitchFamily="2" charset="-122"/>
              </a:rPr>
              <a:t>http://www.gradeworkinggroup.org/about_us.htm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</a:t>
            </a:r>
            <a:r>
              <a:rPr lang="en-US" altLang="zh-CN" dirty="0" err="1">
                <a:ea typeface="宋体" pitchFamily="2" charset="-122"/>
              </a:rPr>
              <a:t>Gutterman</a:t>
            </a:r>
            <a:r>
              <a:rPr lang="en-US" altLang="zh-CN" dirty="0">
                <a:ea typeface="宋体" pitchFamily="2" charset="-122"/>
              </a:rPr>
              <a:t> D, Baumann MH, et al. Grading strength of recommendations and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in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guidel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ines:report</a:t>
            </a:r>
            <a:r>
              <a:rPr lang="en-US" altLang="zh-CN" dirty="0">
                <a:ea typeface="宋体" pitchFamily="2" charset="-122"/>
              </a:rPr>
              <a:t> from an </a:t>
            </a:r>
            <a:r>
              <a:rPr lang="en-US" altLang="zh-CN" dirty="0" err="1">
                <a:ea typeface="宋体" pitchFamily="2" charset="-122"/>
              </a:rPr>
              <a:t>american</a:t>
            </a:r>
            <a:r>
              <a:rPr lang="en-US" altLang="zh-CN" dirty="0">
                <a:ea typeface="宋体" pitchFamily="2" charset="-122"/>
              </a:rPr>
              <a:t> college of chest physicians task force. Chest,2006, 129(1):174-181.</a:t>
            </a:r>
          </a:p>
          <a:p>
            <a:r>
              <a:rPr lang="en-US" altLang="zh-CN" dirty="0">
                <a:ea typeface="宋体" pitchFamily="2" charset="-122"/>
              </a:rPr>
              <a:t>Aragon CL, </a:t>
            </a:r>
            <a:r>
              <a:rPr lang="en-US" altLang="zh-CN" dirty="0" err="1">
                <a:ea typeface="宋体" pitchFamily="2" charset="-122"/>
              </a:rPr>
              <a:t>Budsberg</a:t>
            </a:r>
            <a:r>
              <a:rPr lang="en-US" altLang="zh-CN" dirty="0">
                <a:ea typeface="宋体" pitchFamily="2" charset="-122"/>
              </a:rPr>
              <a:t> SC. Applications of Evidence-Based </a:t>
            </a:r>
            <a:r>
              <a:rPr lang="en-US" altLang="zh-CN" dirty="0" err="1">
                <a:ea typeface="宋体" pitchFamily="2" charset="-122"/>
              </a:rPr>
              <a:t>Medicine:Cranial</a:t>
            </a:r>
            <a:r>
              <a:rPr lang="en-US" altLang="zh-CN" dirty="0">
                <a:ea typeface="宋体" pitchFamily="2" charset="-122"/>
              </a:rPr>
              <a:t> Cruciate Ligament Injury Repair in the Dog Veterinary Surgery. 34(2): 93–98.</a:t>
            </a:r>
          </a:p>
          <a:p>
            <a:r>
              <a:rPr lang="en-US" altLang="zh-CN" dirty="0">
                <a:ea typeface="宋体" pitchFamily="2" charset="-122"/>
              </a:rPr>
              <a:t>http://library.downstate.edu/ebmdos/2100.htm</a:t>
            </a:r>
          </a:p>
        </p:txBody>
      </p:sp>
      <p:sp>
        <p:nvSpPr>
          <p:cNvPr id="24580" name="灯片编号占位符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F2A7AC83-3E51-4C36-BE6A-771C72EBD479}" type="slidenum">
              <a:rPr lang="en-US" altLang="zh-CN" smtClean="0"/>
              <a:pPr eaLnBrk="1" hangingPunct="1"/>
              <a:t>14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9044083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24579" name="备注占位符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r>
              <a:rPr lang="zh-CN" altLang="en-US" dirty="0"/>
              <a:t>假設你懷疑你的一位患者可能感染了</a:t>
            </a:r>
            <a:r>
              <a:rPr lang="en-US" altLang="zh-CN" dirty="0"/>
              <a:t>HIV</a:t>
            </a:r>
            <a:r>
              <a:rPr lang="zh-CN" altLang="en-US" dirty="0"/>
              <a:t>，現在你需要選擇</a:t>
            </a:r>
            <a:r>
              <a:rPr lang="zh-CN" altLang="en-US" dirty="0">
                <a:sym typeface="Wingdings" panose="05000000000000000000" pitchFamily="2" charset="2"/>
              </a:rPr>
              <a:t>：（</a:t>
            </a:r>
            <a:r>
              <a:rPr lang="en-US" altLang="zh-CN" dirty="0">
                <a:sym typeface="Wingdings" panose="05000000000000000000" pitchFamily="2" charset="2"/>
              </a:rPr>
              <a:t>1</a:t>
            </a:r>
            <a:r>
              <a:rPr lang="zh-CN" altLang="en-US" dirty="0">
                <a:sym typeface="Wingdings" panose="05000000000000000000" pitchFamily="2" charset="2"/>
              </a:rPr>
              <a:t>）不做處理，即不檢驗也不治療；（</a:t>
            </a:r>
            <a:r>
              <a:rPr lang="en-US" altLang="zh-CN" dirty="0">
                <a:sym typeface="Wingdings" panose="05000000000000000000" pitchFamily="2" charset="2"/>
              </a:rPr>
              <a:t>2</a:t>
            </a:r>
            <a:r>
              <a:rPr lang="zh-CN" altLang="en-US" dirty="0">
                <a:sym typeface="Wingdings" panose="05000000000000000000" pitchFamily="2" charset="2"/>
              </a:rPr>
              <a:t>）先做檢驗，再決定做不做治療；（</a:t>
            </a:r>
            <a:r>
              <a:rPr lang="en-US" altLang="zh-CN" dirty="0">
                <a:sym typeface="Wingdings" panose="05000000000000000000" pitchFamily="2" charset="2"/>
              </a:rPr>
              <a:t>3</a:t>
            </a:r>
            <a:r>
              <a:rPr lang="zh-CN" altLang="en-US" dirty="0">
                <a:sym typeface="Wingdings" panose="05000000000000000000" pitchFamily="2" charset="2"/>
              </a:rPr>
              <a:t>）不用做檢驗，直接治療。那麼，</a:t>
            </a:r>
            <a:endParaRPr lang="en-US" altLang="zh-CN" dirty="0"/>
          </a:p>
          <a:p>
            <a:r>
              <a:rPr lang="zh-CN" altLang="en-US" dirty="0"/>
              <a:t>第一步，你需要確定治療的概率閾值。通過</a:t>
            </a:r>
            <a:r>
              <a:rPr lang="en-US" altLang="zh-CN" dirty="0"/>
              <a:t>Value table</a:t>
            </a:r>
            <a:r>
              <a:rPr lang="zh-CN" altLang="en-US" dirty="0"/>
              <a:t>計算出：</a:t>
            </a:r>
            <a:r>
              <a:rPr lang="en-US" altLang="zh-CN" dirty="0"/>
              <a:t>H=U</a:t>
            </a:r>
            <a:r>
              <a:rPr lang="zh-CN" altLang="en-US" dirty="0"/>
              <a:t>（</a:t>
            </a:r>
            <a:r>
              <a:rPr lang="en-US" altLang="zh-CN" dirty="0"/>
              <a:t>HIV-</a:t>
            </a:r>
            <a:r>
              <a:rPr lang="zh-CN" altLang="en-US" dirty="0"/>
              <a:t>，不治療）</a:t>
            </a:r>
            <a:r>
              <a:rPr lang="en-US" altLang="zh-CN" dirty="0"/>
              <a:t>-U</a:t>
            </a:r>
            <a:r>
              <a:rPr lang="zh-CN" altLang="en-US" dirty="0"/>
              <a:t>（</a:t>
            </a:r>
            <a:r>
              <a:rPr lang="en-US" altLang="zh-CN" dirty="0"/>
              <a:t>HIV-</a:t>
            </a:r>
            <a:r>
              <a:rPr lang="zh-CN" altLang="en-US" dirty="0"/>
              <a:t>，治療）</a:t>
            </a:r>
            <a:r>
              <a:rPr lang="en-US" altLang="zh-CN" dirty="0"/>
              <a:t>=75.5-75.46=0.04 QALE</a:t>
            </a:r>
            <a:r>
              <a:rPr lang="zh-CN" altLang="en-US" dirty="0"/>
              <a:t>；</a:t>
            </a:r>
            <a:endParaRPr lang="en-US" altLang="zh-CN" dirty="0"/>
          </a:p>
          <a:p>
            <a:r>
              <a:rPr lang="en-US" altLang="zh-CN" dirty="0"/>
              <a:t>B=U</a:t>
            </a:r>
            <a:r>
              <a:rPr lang="zh-CN" altLang="en-US" dirty="0"/>
              <a:t>（</a:t>
            </a:r>
            <a:r>
              <a:rPr lang="en-US" altLang="zh-CN" dirty="0"/>
              <a:t>HIV+</a:t>
            </a:r>
            <a:r>
              <a:rPr lang="zh-CN" altLang="en-US" dirty="0"/>
              <a:t>，治療）</a:t>
            </a:r>
            <a:r>
              <a:rPr lang="en-US" altLang="zh-CN" dirty="0"/>
              <a:t>-U</a:t>
            </a:r>
            <a:r>
              <a:rPr lang="zh-CN" altLang="en-US" dirty="0"/>
              <a:t>（</a:t>
            </a:r>
            <a:r>
              <a:rPr lang="en-US" altLang="zh-CN" dirty="0"/>
              <a:t>HIV+</a:t>
            </a:r>
            <a:r>
              <a:rPr lang="zh-CN" altLang="en-US" dirty="0"/>
              <a:t>，不治療）</a:t>
            </a:r>
            <a:r>
              <a:rPr lang="en-US" altLang="zh-CN" dirty="0"/>
              <a:t>=10.50-10.00=0.50 QALE</a:t>
            </a:r>
            <a:r>
              <a:rPr lang="zh-CN" altLang="en-US" dirty="0"/>
              <a:t>；</a:t>
            </a:r>
            <a:endParaRPr lang="en-US" altLang="zh-CN" dirty="0"/>
          </a:p>
          <a:p>
            <a:r>
              <a:rPr lang="zh-CN" altLang="en-US" dirty="0"/>
              <a:t>治療閾值概率</a:t>
            </a:r>
            <a:r>
              <a:rPr lang="en-US" altLang="zh-CN" dirty="0"/>
              <a:t>=H/</a:t>
            </a:r>
            <a:r>
              <a:rPr lang="zh-CN" altLang="en-US" dirty="0"/>
              <a:t>（</a:t>
            </a:r>
            <a:r>
              <a:rPr lang="en-US" altLang="zh-CN" dirty="0"/>
              <a:t>H+B</a:t>
            </a:r>
            <a:r>
              <a:rPr lang="zh-CN" altLang="en-US" dirty="0"/>
              <a:t>）</a:t>
            </a:r>
            <a:r>
              <a:rPr lang="en-US" altLang="zh-CN" dirty="0"/>
              <a:t>=0.04/0.54=0.074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第二步，通過查閱文獻或諮詢有經驗的醫生，得知</a:t>
            </a:r>
            <a:r>
              <a:rPr lang="en-US" altLang="zh-CN" dirty="0"/>
              <a:t>HIV</a:t>
            </a:r>
            <a:r>
              <a:rPr lang="zh-CN" altLang="en-US" dirty="0"/>
              <a:t>的驗前概率為</a:t>
            </a:r>
            <a:r>
              <a:rPr lang="en-US" altLang="zh-CN" dirty="0"/>
              <a:t>0.08</a:t>
            </a:r>
            <a:r>
              <a:rPr lang="zh-CN" altLang="en-US" dirty="0"/>
              <a:t>＞治療閾值概率</a:t>
            </a:r>
            <a:r>
              <a:rPr lang="en-US" altLang="zh-CN" dirty="0"/>
              <a:t>0.074</a:t>
            </a:r>
            <a:r>
              <a:rPr lang="zh-CN" altLang="en-US" dirty="0"/>
              <a:t>；選擇實施檢驗減少診斷的不確定性。</a:t>
            </a:r>
            <a:endParaRPr lang="en-US" altLang="zh-CN" dirty="0"/>
          </a:p>
          <a:p>
            <a:r>
              <a:rPr lang="zh-CN" altLang="en-US" dirty="0"/>
              <a:t>第三步，通過查閱文獻或諮詢有經驗的醫生，得知</a:t>
            </a:r>
            <a:r>
              <a:rPr lang="en-US" altLang="zh-CN" dirty="0"/>
              <a:t>PCR</a:t>
            </a:r>
            <a:r>
              <a:rPr lang="zh-CN" altLang="en-US" dirty="0"/>
              <a:t>檢驗的敏感度和特異度都為</a:t>
            </a:r>
            <a:r>
              <a:rPr lang="en-US" altLang="zh-CN" dirty="0"/>
              <a:t>0.98</a:t>
            </a:r>
            <a:r>
              <a:rPr lang="zh-CN" altLang="en-US" dirty="0"/>
              <a:t>；</a:t>
            </a:r>
            <a:endParaRPr lang="en-US" altLang="zh-CN" dirty="0"/>
          </a:p>
          <a:p>
            <a:r>
              <a:rPr lang="zh-CN" altLang="en-US" dirty="0"/>
              <a:t>根據貝葉斯原理，若檢驗結果為陽性，則驗後概率為</a:t>
            </a:r>
            <a:r>
              <a:rPr lang="en-US" altLang="zh-CN" dirty="0"/>
              <a:t>0.8099</a:t>
            </a:r>
            <a:r>
              <a:rPr lang="zh-CN" altLang="en-US" dirty="0"/>
              <a:t>＞治療閾值概率</a:t>
            </a:r>
            <a:r>
              <a:rPr lang="en-US" altLang="zh-CN" dirty="0"/>
              <a:t>0.074</a:t>
            </a:r>
            <a:r>
              <a:rPr lang="zh-CN" altLang="en-US" dirty="0"/>
              <a:t>，進行治療；</a:t>
            </a:r>
            <a:endParaRPr lang="en-US" altLang="zh-CN" dirty="0"/>
          </a:p>
          <a:p>
            <a:r>
              <a:rPr lang="zh-CN" altLang="en-US" dirty="0"/>
              <a:t>若檢驗結果為陰性，則驗後概率為：</a:t>
            </a:r>
            <a:r>
              <a:rPr lang="en-US" altLang="zh-CN" dirty="0"/>
              <a:t>0.0018</a:t>
            </a:r>
            <a:r>
              <a:rPr lang="zh-CN" altLang="en-US" dirty="0"/>
              <a:t>＜治療閾值概率</a:t>
            </a:r>
            <a:r>
              <a:rPr lang="en-US" altLang="zh-CN" dirty="0"/>
              <a:t>0.074</a:t>
            </a:r>
            <a:r>
              <a:rPr lang="zh-CN" altLang="en-US" dirty="0"/>
              <a:t>，不進行治療。</a:t>
            </a:r>
            <a:endParaRPr lang="en-US" altLang="zh-CN" dirty="0"/>
          </a:p>
          <a:p>
            <a:r>
              <a:rPr lang="zh-CN" altLang="en-US" dirty="0"/>
              <a:t>臨床上決策問題與相應的決策支持方法還有很多，我們這裡僅取較為常見的問題及決策方法進行了簡單介紹，下面我們再來瞭解下臨床決策支援系統。</a:t>
            </a:r>
            <a:endParaRPr lang="en-US" altLang="zh-CN" dirty="0"/>
          </a:p>
          <a:p>
            <a:endParaRPr lang="en-US" altLang="zh-CN" dirty="0">
              <a:ea typeface="宋体" pitchFamily="2" charset="-122"/>
            </a:endParaRPr>
          </a:p>
          <a:p>
            <a:r>
              <a:rPr lang="en-US" altLang="zh-CN" dirty="0">
                <a:ea typeface="宋体" pitchFamily="2" charset="-122"/>
              </a:rPr>
              <a:t>Decision analysis: a progress report.</a:t>
            </a:r>
          </a:p>
          <a:p>
            <a:r>
              <a:rPr lang="zh-CN" altLang="en-US" dirty="0">
                <a:ea typeface="宋体" pitchFamily="2" charset="-122"/>
              </a:rPr>
              <a:t>作 者：</a:t>
            </a:r>
            <a:r>
              <a:rPr lang="en-US" altLang="zh-CN" dirty="0">
                <a:ea typeface="宋体" pitchFamily="2" charset="-122"/>
              </a:rPr>
              <a:t>J P, </a:t>
            </a:r>
            <a:r>
              <a:rPr lang="en-US" altLang="zh-CN" dirty="0" err="1">
                <a:ea typeface="宋体" pitchFamily="2" charset="-122"/>
              </a:rPr>
              <a:t>Kassirer</a:t>
            </a:r>
            <a:r>
              <a:rPr lang="zh-CN" altLang="en-US" dirty="0">
                <a:ea typeface="宋体" pitchFamily="2" charset="-122"/>
              </a:rPr>
              <a:t>；</a:t>
            </a:r>
            <a:r>
              <a:rPr lang="en-US" altLang="zh-CN" dirty="0">
                <a:ea typeface="宋体" pitchFamily="2" charset="-122"/>
              </a:rPr>
              <a:t>A J, </a:t>
            </a:r>
            <a:r>
              <a:rPr lang="en-US" altLang="zh-CN" dirty="0" err="1">
                <a:ea typeface="宋体" pitchFamily="2" charset="-122"/>
              </a:rPr>
              <a:t>Moskowitz</a:t>
            </a:r>
            <a:r>
              <a:rPr lang="zh-CN" altLang="en-US" dirty="0">
                <a:ea typeface="宋体" pitchFamily="2" charset="-122"/>
              </a:rPr>
              <a:t>；</a:t>
            </a:r>
            <a:r>
              <a:rPr lang="en-US" altLang="zh-CN" dirty="0">
                <a:ea typeface="宋体" pitchFamily="2" charset="-122"/>
              </a:rPr>
              <a:t>J, Lau</a:t>
            </a:r>
            <a:r>
              <a:rPr lang="zh-CN" altLang="en-US" dirty="0">
                <a:ea typeface="宋体" pitchFamily="2" charset="-122"/>
              </a:rPr>
              <a:t>；</a:t>
            </a:r>
            <a:r>
              <a:rPr lang="en-US" altLang="zh-CN" dirty="0">
                <a:ea typeface="宋体" pitchFamily="2" charset="-122"/>
              </a:rPr>
              <a:t>S G, </a:t>
            </a:r>
            <a:r>
              <a:rPr lang="en-US" altLang="zh-CN" dirty="0" err="1">
                <a:ea typeface="宋体" pitchFamily="2" charset="-122"/>
              </a:rPr>
              <a:t>Pauker</a:t>
            </a:r>
            <a:endParaRPr lang="en-US" altLang="zh-CN" dirty="0">
              <a:ea typeface="宋体" pitchFamily="2" charset="-122"/>
            </a:endParaRPr>
          </a:p>
          <a:p>
            <a:r>
              <a:rPr lang="zh-CN" altLang="en-US" dirty="0">
                <a:ea typeface="宋体" pitchFamily="2" charset="-122"/>
              </a:rPr>
              <a:t>刊 名：</a:t>
            </a:r>
            <a:r>
              <a:rPr lang="en-US" altLang="zh-CN" dirty="0">
                <a:ea typeface="宋体" pitchFamily="2" charset="-122"/>
              </a:rPr>
              <a:t>Annals of internal medicine  1987</a:t>
            </a:r>
            <a:r>
              <a:rPr lang="zh-CN" altLang="en-US" dirty="0">
                <a:ea typeface="宋体" pitchFamily="2" charset="-122"/>
              </a:rPr>
              <a:t>年</a:t>
            </a:r>
            <a:r>
              <a:rPr lang="en-US" altLang="zh-CN" dirty="0">
                <a:ea typeface="宋体" pitchFamily="2" charset="-122"/>
              </a:rPr>
              <a:t>106</a:t>
            </a:r>
            <a:r>
              <a:rPr lang="zh-CN" altLang="en-US" dirty="0">
                <a:ea typeface="宋体" pitchFamily="2" charset="-122"/>
              </a:rPr>
              <a:t>卷</a:t>
            </a:r>
            <a:r>
              <a:rPr lang="en-US" altLang="zh-CN" dirty="0">
                <a:ea typeface="宋体" pitchFamily="2" charset="-122"/>
              </a:rPr>
              <a:t>2</a:t>
            </a:r>
            <a:r>
              <a:rPr lang="zh-CN" altLang="en-US" dirty="0">
                <a:ea typeface="宋体" pitchFamily="2" charset="-122"/>
              </a:rPr>
              <a:t>期 </a:t>
            </a:r>
            <a:r>
              <a:rPr lang="en-US" altLang="zh-CN" dirty="0">
                <a:ea typeface="宋体" pitchFamily="2" charset="-122"/>
              </a:rPr>
              <a:t>275-291</a:t>
            </a:r>
            <a:r>
              <a:rPr lang="zh-CN" altLang="en-US" dirty="0">
                <a:ea typeface="宋体" pitchFamily="2" charset="-122"/>
              </a:rPr>
              <a:t>頁</a:t>
            </a:r>
          </a:p>
          <a:p>
            <a:endParaRPr lang="en-US" altLang="zh-CN" dirty="0">
              <a:ea typeface="宋体" pitchFamily="2" charset="-122"/>
            </a:endParaRPr>
          </a:p>
          <a:p>
            <a:r>
              <a:rPr lang="en-US" altLang="zh-CN" dirty="0">
                <a:ea typeface="宋体" pitchFamily="2" charset="-122"/>
              </a:rPr>
              <a:t>Canadian Task Force on the Periodic Health </a:t>
            </a:r>
            <a:r>
              <a:rPr lang="en-US" altLang="zh-CN" dirty="0" err="1">
                <a:ea typeface="宋体" pitchFamily="2" charset="-122"/>
              </a:rPr>
              <a:t>Examination:The</a:t>
            </a:r>
            <a:r>
              <a:rPr lang="en-US" altLang="zh-CN" dirty="0">
                <a:ea typeface="宋体" pitchFamily="2" charset="-122"/>
              </a:rPr>
              <a:t> periodic health </a:t>
            </a:r>
            <a:r>
              <a:rPr lang="en-US" altLang="zh-CN" dirty="0" err="1">
                <a:ea typeface="宋体" pitchFamily="2" charset="-122"/>
              </a:rPr>
              <a:t>examination.CMAJ</a:t>
            </a:r>
            <a:r>
              <a:rPr lang="en-US" altLang="zh-CN" dirty="0">
                <a:ea typeface="宋体" pitchFamily="2" charset="-122"/>
              </a:rPr>
              <a:t>, 1979, 121(19):1193-1254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Chest, 1986, 89(2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):2S-3S.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Archives </a:t>
            </a:r>
            <a:r>
              <a:rPr lang="en-US" altLang="zh-CN" dirty="0" err="1">
                <a:ea typeface="宋体" pitchFamily="2" charset="-122"/>
              </a:rPr>
              <a:t>Int</a:t>
            </a:r>
            <a:r>
              <a:rPr lang="en-US" altLang="zh-CN" dirty="0">
                <a:ea typeface="宋体" pitchFamily="2" charset="-122"/>
              </a:rPr>
              <a:t> Med, 1986, 146(3):464-465.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Sinclair JC, et al. Users’ guides to the medical l </a:t>
            </a:r>
            <a:r>
              <a:rPr lang="en-US" altLang="zh-CN" dirty="0" err="1">
                <a:ea typeface="宋体" pitchFamily="2" charset="-122"/>
              </a:rPr>
              <a:t>iterature</a:t>
            </a:r>
            <a:r>
              <a:rPr lang="en-US" altLang="zh-CN" dirty="0">
                <a:ea typeface="宋体" pitchFamily="2" charset="-122"/>
              </a:rPr>
              <a:t>. IX. A method for grading health care recommendations. Evidence-Based Medicine Working Group. JAMA, 1995, 274(22): 1800-1804.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on the use of antithrombotic </a:t>
            </a:r>
            <a:r>
              <a:rPr lang="en-US" altLang="zh-CN" dirty="0" err="1">
                <a:ea typeface="宋体" pitchFamily="2" charset="-122"/>
              </a:rPr>
              <a:t>agents.Chest</a:t>
            </a:r>
            <a:r>
              <a:rPr lang="en-US" altLang="zh-CN" dirty="0">
                <a:ea typeface="宋体" pitchFamily="2" charset="-122"/>
              </a:rPr>
              <a:t>, 1989, 95(2):2S-4S.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Rules of evidence and clinical recommendations on the use of antithrombotic agents. Chest, 1992, 102(4): 305S-311S.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</a:t>
            </a:r>
            <a:r>
              <a:rPr lang="en-US" altLang="zh-CN" dirty="0" err="1">
                <a:ea typeface="宋体" pitchFamily="2" charset="-122"/>
              </a:rPr>
              <a:t>Cl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using levels of evidence for antithrombotic agents. Chest, 1995,108(4): 227S-230S.</a:t>
            </a:r>
          </a:p>
          <a:p>
            <a:r>
              <a:rPr lang="en-US" altLang="zh-CN" dirty="0">
                <a:ea typeface="宋体" pitchFamily="2" charset="-122"/>
              </a:rPr>
              <a:t>http://www.cebm.net/levels_of_evidence.asp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Cook DJ,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et al. Grades of recommendation for antithrombotic agents. Chest, 1998, 114(5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 441S-444S.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S c h </a:t>
            </a:r>
            <a:r>
              <a:rPr lang="en-US" altLang="zh-CN" dirty="0" err="1">
                <a:ea typeface="宋体" pitchFamily="2" charset="-122"/>
              </a:rPr>
              <a:t>ünemann</a:t>
            </a:r>
            <a:r>
              <a:rPr lang="en-US" altLang="zh-CN" dirty="0">
                <a:ea typeface="宋体" pitchFamily="2" charset="-122"/>
              </a:rPr>
              <a:t> H, Cook D, </a:t>
            </a:r>
            <a:r>
              <a:rPr lang="en-US" altLang="zh-CN" dirty="0" err="1">
                <a:ea typeface="宋体" pitchFamily="2" charset="-122"/>
              </a:rPr>
              <a:t>etal.Gradesof</a:t>
            </a:r>
            <a:r>
              <a:rPr lang="en-US" altLang="zh-CN" dirty="0">
                <a:ea typeface="宋体" pitchFamily="2" charset="-122"/>
              </a:rPr>
              <a:t> Recommendation for Antithrombotic Agents. Chest, 2001, 119(1):3S-7S.</a:t>
            </a:r>
          </a:p>
          <a:p>
            <a:r>
              <a:rPr lang="en-US" altLang="zh-CN" dirty="0">
                <a:ea typeface="宋体" pitchFamily="2" charset="-122"/>
              </a:rPr>
              <a:t>Atkins D, Best D, </a:t>
            </a:r>
            <a:r>
              <a:rPr lang="en-US" altLang="zh-CN" dirty="0" err="1">
                <a:ea typeface="宋体" pitchFamily="2" charset="-122"/>
              </a:rPr>
              <a:t>Briss</a:t>
            </a:r>
            <a:r>
              <a:rPr lang="en-US" altLang="zh-CN" dirty="0">
                <a:ea typeface="宋体" pitchFamily="2" charset="-122"/>
              </a:rPr>
              <a:t> PA, et </a:t>
            </a:r>
            <a:r>
              <a:rPr lang="en-US" altLang="zh-CN" dirty="0" err="1">
                <a:ea typeface="宋体" pitchFamily="2" charset="-122"/>
              </a:rPr>
              <a:t>al.Grading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and strength of recommendations. BMJ, 2004, 328(7454):1490-1494</a:t>
            </a:r>
          </a:p>
          <a:p>
            <a:r>
              <a:rPr lang="en-US" altLang="zh-CN" dirty="0">
                <a:ea typeface="宋体" pitchFamily="2" charset="-122"/>
              </a:rPr>
              <a:t>http://www.gradeworkinggroup.org/about_us.htm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</a:t>
            </a:r>
            <a:r>
              <a:rPr lang="en-US" altLang="zh-CN" dirty="0" err="1">
                <a:ea typeface="宋体" pitchFamily="2" charset="-122"/>
              </a:rPr>
              <a:t>Gutterman</a:t>
            </a:r>
            <a:r>
              <a:rPr lang="en-US" altLang="zh-CN" dirty="0">
                <a:ea typeface="宋体" pitchFamily="2" charset="-122"/>
              </a:rPr>
              <a:t> D, Baumann MH, et al. Grading strength of recommendations and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in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guidel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ines:report</a:t>
            </a:r>
            <a:r>
              <a:rPr lang="en-US" altLang="zh-CN" dirty="0">
                <a:ea typeface="宋体" pitchFamily="2" charset="-122"/>
              </a:rPr>
              <a:t> from an </a:t>
            </a:r>
            <a:r>
              <a:rPr lang="en-US" altLang="zh-CN" dirty="0" err="1">
                <a:ea typeface="宋体" pitchFamily="2" charset="-122"/>
              </a:rPr>
              <a:t>american</a:t>
            </a:r>
            <a:r>
              <a:rPr lang="en-US" altLang="zh-CN" dirty="0">
                <a:ea typeface="宋体" pitchFamily="2" charset="-122"/>
              </a:rPr>
              <a:t> college of chest physicians task force. Chest,2006, 129(1):174-181.</a:t>
            </a:r>
          </a:p>
          <a:p>
            <a:r>
              <a:rPr lang="en-US" altLang="zh-CN" dirty="0">
                <a:ea typeface="宋体" pitchFamily="2" charset="-122"/>
              </a:rPr>
              <a:t>Aragon CL, </a:t>
            </a:r>
            <a:r>
              <a:rPr lang="en-US" altLang="zh-CN" dirty="0" err="1">
                <a:ea typeface="宋体" pitchFamily="2" charset="-122"/>
              </a:rPr>
              <a:t>Budsberg</a:t>
            </a:r>
            <a:r>
              <a:rPr lang="en-US" altLang="zh-CN" dirty="0">
                <a:ea typeface="宋体" pitchFamily="2" charset="-122"/>
              </a:rPr>
              <a:t> SC. Applications of Evidence-Based </a:t>
            </a:r>
            <a:r>
              <a:rPr lang="en-US" altLang="zh-CN" dirty="0" err="1">
                <a:ea typeface="宋体" pitchFamily="2" charset="-122"/>
              </a:rPr>
              <a:t>Medicine:Cranial</a:t>
            </a:r>
            <a:r>
              <a:rPr lang="en-US" altLang="zh-CN" dirty="0">
                <a:ea typeface="宋体" pitchFamily="2" charset="-122"/>
              </a:rPr>
              <a:t> Cruciate Ligament Injury Repair in the Dog Veterinary Surgery. 34(2): 93–98.</a:t>
            </a:r>
          </a:p>
          <a:p>
            <a:r>
              <a:rPr lang="en-US" altLang="zh-CN" dirty="0">
                <a:ea typeface="宋体" pitchFamily="2" charset="-122"/>
              </a:rPr>
              <a:t>http://library.downstate.edu/ebmdos/2100.htm</a:t>
            </a:r>
          </a:p>
        </p:txBody>
      </p:sp>
      <p:sp>
        <p:nvSpPr>
          <p:cNvPr id="24580" name="灯片编号占位符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F2A7AC83-3E51-4C36-BE6A-771C72EBD479}" type="slidenum">
              <a:rPr lang="en-US" altLang="zh-CN" smtClean="0"/>
              <a:pPr eaLnBrk="1" hangingPunct="1"/>
              <a:t>15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7403724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24579" name="备注占位符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r>
              <a:rPr lang="zh-CN" altLang="en-US" dirty="0"/>
              <a:t>假設你懷疑你的一位患者可能感染了</a:t>
            </a:r>
            <a:r>
              <a:rPr lang="en-US" altLang="zh-CN" dirty="0"/>
              <a:t>HIV</a:t>
            </a:r>
            <a:r>
              <a:rPr lang="zh-CN" altLang="en-US" dirty="0"/>
              <a:t>，現在你需要選擇</a:t>
            </a:r>
            <a:r>
              <a:rPr lang="zh-CN" altLang="en-US" dirty="0">
                <a:sym typeface="Wingdings" panose="05000000000000000000" pitchFamily="2" charset="2"/>
              </a:rPr>
              <a:t>：（</a:t>
            </a:r>
            <a:r>
              <a:rPr lang="en-US" altLang="zh-CN" dirty="0">
                <a:sym typeface="Wingdings" panose="05000000000000000000" pitchFamily="2" charset="2"/>
              </a:rPr>
              <a:t>1</a:t>
            </a:r>
            <a:r>
              <a:rPr lang="zh-CN" altLang="en-US" dirty="0">
                <a:sym typeface="Wingdings" panose="05000000000000000000" pitchFamily="2" charset="2"/>
              </a:rPr>
              <a:t>）不做處理，即不檢驗也不治療；（</a:t>
            </a:r>
            <a:r>
              <a:rPr lang="en-US" altLang="zh-CN" dirty="0">
                <a:sym typeface="Wingdings" panose="05000000000000000000" pitchFamily="2" charset="2"/>
              </a:rPr>
              <a:t>2</a:t>
            </a:r>
            <a:r>
              <a:rPr lang="zh-CN" altLang="en-US" dirty="0">
                <a:sym typeface="Wingdings" panose="05000000000000000000" pitchFamily="2" charset="2"/>
              </a:rPr>
              <a:t>）先做檢驗，再決定做不做治療；（</a:t>
            </a:r>
            <a:r>
              <a:rPr lang="en-US" altLang="zh-CN" dirty="0">
                <a:sym typeface="Wingdings" panose="05000000000000000000" pitchFamily="2" charset="2"/>
              </a:rPr>
              <a:t>3</a:t>
            </a:r>
            <a:r>
              <a:rPr lang="zh-CN" altLang="en-US" dirty="0">
                <a:sym typeface="Wingdings" panose="05000000000000000000" pitchFamily="2" charset="2"/>
              </a:rPr>
              <a:t>）不用做檢驗，直接治療。那麼，</a:t>
            </a:r>
            <a:endParaRPr lang="en-US" altLang="zh-CN" dirty="0"/>
          </a:p>
          <a:p>
            <a:r>
              <a:rPr lang="zh-CN" altLang="en-US" dirty="0"/>
              <a:t>第一步，你需要確定治療的概率閾值。通過</a:t>
            </a:r>
            <a:r>
              <a:rPr lang="en-US" altLang="zh-CN" dirty="0"/>
              <a:t>Value table</a:t>
            </a:r>
            <a:r>
              <a:rPr lang="zh-CN" altLang="en-US" dirty="0"/>
              <a:t>計算出：</a:t>
            </a:r>
            <a:r>
              <a:rPr lang="en-US" altLang="zh-CN" dirty="0"/>
              <a:t>H=U</a:t>
            </a:r>
            <a:r>
              <a:rPr lang="zh-CN" altLang="en-US" dirty="0"/>
              <a:t>（</a:t>
            </a:r>
            <a:r>
              <a:rPr lang="en-US" altLang="zh-CN" dirty="0"/>
              <a:t>HIV-</a:t>
            </a:r>
            <a:r>
              <a:rPr lang="zh-CN" altLang="en-US" dirty="0"/>
              <a:t>，不治療）</a:t>
            </a:r>
            <a:r>
              <a:rPr lang="en-US" altLang="zh-CN" dirty="0"/>
              <a:t>-U</a:t>
            </a:r>
            <a:r>
              <a:rPr lang="zh-CN" altLang="en-US" dirty="0"/>
              <a:t>（</a:t>
            </a:r>
            <a:r>
              <a:rPr lang="en-US" altLang="zh-CN" dirty="0"/>
              <a:t>HIV-</a:t>
            </a:r>
            <a:r>
              <a:rPr lang="zh-CN" altLang="en-US" dirty="0"/>
              <a:t>，治療）</a:t>
            </a:r>
            <a:r>
              <a:rPr lang="en-US" altLang="zh-CN" dirty="0"/>
              <a:t>=75.5-75.46=0.04 QALE</a:t>
            </a:r>
            <a:r>
              <a:rPr lang="zh-CN" altLang="en-US" dirty="0"/>
              <a:t>；</a:t>
            </a:r>
            <a:endParaRPr lang="en-US" altLang="zh-CN" dirty="0"/>
          </a:p>
          <a:p>
            <a:r>
              <a:rPr lang="en-US" altLang="zh-CN" dirty="0"/>
              <a:t>B=U</a:t>
            </a:r>
            <a:r>
              <a:rPr lang="zh-CN" altLang="en-US" dirty="0"/>
              <a:t>（</a:t>
            </a:r>
            <a:r>
              <a:rPr lang="en-US" altLang="zh-CN" dirty="0"/>
              <a:t>HIV+</a:t>
            </a:r>
            <a:r>
              <a:rPr lang="zh-CN" altLang="en-US" dirty="0"/>
              <a:t>，治療）</a:t>
            </a:r>
            <a:r>
              <a:rPr lang="en-US" altLang="zh-CN" dirty="0"/>
              <a:t>-U</a:t>
            </a:r>
            <a:r>
              <a:rPr lang="zh-CN" altLang="en-US" dirty="0"/>
              <a:t>（</a:t>
            </a:r>
            <a:r>
              <a:rPr lang="en-US" altLang="zh-CN" dirty="0"/>
              <a:t>HIV+</a:t>
            </a:r>
            <a:r>
              <a:rPr lang="zh-CN" altLang="en-US" dirty="0"/>
              <a:t>，不治療）</a:t>
            </a:r>
            <a:r>
              <a:rPr lang="en-US" altLang="zh-CN" dirty="0"/>
              <a:t>=10.50-10.00=0.50 QALE</a:t>
            </a:r>
            <a:r>
              <a:rPr lang="zh-CN" altLang="en-US" dirty="0"/>
              <a:t>；</a:t>
            </a:r>
            <a:endParaRPr lang="en-US" altLang="zh-CN" dirty="0"/>
          </a:p>
          <a:p>
            <a:r>
              <a:rPr lang="zh-CN" altLang="en-US" dirty="0"/>
              <a:t>治療閾值概率</a:t>
            </a:r>
            <a:r>
              <a:rPr lang="en-US" altLang="zh-CN" dirty="0"/>
              <a:t>=H/</a:t>
            </a:r>
            <a:r>
              <a:rPr lang="zh-CN" altLang="en-US" dirty="0"/>
              <a:t>（</a:t>
            </a:r>
            <a:r>
              <a:rPr lang="en-US" altLang="zh-CN" dirty="0"/>
              <a:t>H+B</a:t>
            </a:r>
            <a:r>
              <a:rPr lang="zh-CN" altLang="en-US" dirty="0"/>
              <a:t>）</a:t>
            </a:r>
            <a:r>
              <a:rPr lang="en-US" altLang="zh-CN" dirty="0"/>
              <a:t>=0.04/0.54=0.074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第二步，通過查閱文獻或諮詢有經驗的醫生，得知</a:t>
            </a:r>
            <a:r>
              <a:rPr lang="en-US" altLang="zh-CN" dirty="0"/>
              <a:t>HIV</a:t>
            </a:r>
            <a:r>
              <a:rPr lang="zh-CN" altLang="en-US" dirty="0"/>
              <a:t>的驗前概率為</a:t>
            </a:r>
            <a:r>
              <a:rPr lang="en-US" altLang="zh-CN" dirty="0"/>
              <a:t>0.08</a:t>
            </a:r>
            <a:r>
              <a:rPr lang="zh-CN" altLang="en-US" dirty="0"/>
              <a:t>＞治療閾值概率</a:t>
            </a:r>
            <a:r>
              <a:rPr lang="en-US" altLang="zh-CN" dirty="0"/>
              <a:t>0.074</a:t>
            </a:r>
            <a:r>
              <a:rPr lang="zh-CN" altLang="en-US" dirty="0"/>
              <a:t>；選擇實施檢驗減少診斷的不確定性。</a:t>
            </a:r>
            <a:endParaRPr lang="en-US" altLang="zh-CN" dirty="0"/>
          </a:p>
          <a:p>
            <a:r>
              <a:rPr lang="zh-CN" altLang="en-US" dirty="0"/>
              <a:t>第三步，通過查閱文獻或諮詢有經驗的醫生，得知</a:t>
            </a:r>
            <a:r>
              <a:rPr lang="en-US" altLang="zh-CN" dirty="0"/>
              <a:t>PCR</a:t>
            </a:r>
            <a:r>
              <a:rPr lang="zh-CN" altLang="en-US" dirty="0"/>
              <a:t>檢驗的敏感度和特異度都為</a:t>
            </a:r>
            <a:r>
              <a:rPr lang="en-US" altLang="zh-CN" dirty="0"/>
              <a:t>0.98</a:t>
            </a:r>
            <a:r>
              <a:rPr lang="zh-CN" altLang="en-US" dirty="0"/>
              <a:t>；</a:t>
            </a:r>
            <a:endParaRPr lang="en-US" altLang="zh-CN" dirty="0"/>
          </a:p>
          <a:p>
            <a:r>
              <a:rPr lang="zh-CN" altLang="en-US" dirty="0"/>
              <a:t>根據貝葉斯原理，若檢驗結果為陽性，則驗後概率為</a:t>
            </a:r>
            <a:r>
              <a:rPr lang="en-US" altLang="zh-CN" dirty="0"/>
              <a:t>0.8099</a:t>
            </a:r>
            <a:r>
              <a:rPr lang="zh-CN" altLang="en-US" dirty="0"/>
              <a:t>＞治療閾值概率</a:t>
            </a:r>
            <a:r>
              <a:rPr lang="en-US" altLang="zh-CN" dirty="0"/>
              <a:t>0.074</a:t>
            </a:r>
            <a:r>
              <a:rPr lang="zh-CN" altLang="en-US" dirty="0"/>
              <a:t>，進行治療；</a:t>
            </a:r>
            <a:endParaRPr lang="en-US" altLang="zh-CN" dirty="0"/>
          </a:p>
          <a:p>
            <a:r>
              <a:rPr lang="zh-CN" altLang="en-US" dirty="0"/>
              <a:t>若檢驗結果為陰性，則驗後概率為：</a:t>
            </a:r>
            <a:r>
              <a:rPr lang="en-US" altLang="zh-CN" dirty="0"/>
              <a:t>0.0018</a:t>
            </a:r>
            <a:r>
              <a:rPr lang="zh-CN" altLang="en-US" dirty="0"/>
              <a:t>＜治療閾值概率</a:t>
            </a:r>
            <a:r>
              <a:rPr lang="en-US" altLang="zh-CN" dirty="0"/>
              <a:t>0.074</a:t>
            </a:r>
            <a:r>
              <a:rPr lang="zh-CN" altLang="en-US" dirty="0"/>
              <a:t>，不進行治療。</a:t>
            </a:r>
            <a:endParaRPr lang="en-US" altLang="zh-CN" dirty="0"/>
          </a:p>
          <a:p>
            <a:r>
              <a:rPr lang="zh-CN" altLang="en-US" dirty="0"/>
              <a:t>臨床上決策問題與相應的決策支持方法還有很多，我們這裡僅取較為常見的問題及決策方法進行了簡單介紹，下面我們再來瞭解下臨床決策支援系統。</a:t>
            </a:r>
            <a:endParaRPr lang="en-US" altLang="zh-CN" dirty="0"/>
          </a:p>
          <a:p>
            <a:endParaRPr lang="en-US" altLang="zh-CN" dirty="0">
              <a:ea typeface="宋体" pitchFamily="2" charset="-122"/>
            </a:endParaRPr>
          </a:p>
          <a:p>
            <a:r>
              <a:rPr lang="en-US" altLang="zh-CN" dirty="0">
                <a:ea typeface="宋体" pitchFamily="2" charset="-122"/>
              </a:rPr>
              <a:t>Decision analysis: a progress report.</a:t>
            </a:r>
          </a:p>
          <a:p>
            <a:r>
              <a:rPr lang="zh-CN" altLang="en-US" dirty="0">
                <a:ea typeface="宋体" pitchFamily="2" charset="-122"/>
              </a:rPr>
              <a:t>作 者：</a:t>
            </a:r>
            <a:r>
              <a:rPr lang="en-US" altLang="zh-CN" dirty="0">
                <a:ea typeface="宋体" pitchFamily="2" charset="-122"/>
              </a:rPr>
              <a:t>J P, </a:t>
            </a:r>
            <a:r>
              <a:rPr lang="en-US" altLang="zh-CN" dirty="0" err="1">
                <a:ea typeface="宋体" pitchFamily="2" charset="-122"/>
              </a:rPr>
              <a:t>Kassirer</a:t>
            </a:r>
            <a:r>
              <a:rPr lang="zh-CN" altLang="en-US" dirty="0">
                <a:ea typeface="宋体" pitchFamily="2" charset="-122"/>
              </a:rPr>
              <a:t>；</a:t>
            </a:r>
            <a:r>
              <a:rPr lang="en-US" altLang="zh-CN" dirty="0">
                <a:ea typeface="宋体" pitchFamily="2" charset="-122"/>
              </a:rPr>
              <a:t>A J, </a:t>
            </a:r>
            <a:r>
              <a:rPr lang="en-US" altLang="zh-CN" dirty="0" err="1">
                <a:ea typeface="宋体" pitchFamily="2" charset="-122"/>
              </a:rPr>
              <a:t>Moskowitz</a:t>
            </a:r>
            <a:r>
              <a:rPr lang="zh-CN" altLang="en-US" dirty="0">
                <a:ea typeface="宋体" pitchFamily="2" charset="-122"/>
              </a:rPr>
              <a:t>；</a:t>
            </a:r>
            <a:r>
              <a:rPr lang="en-US" altLang="zh-CN" dirty="0">
                <a:ea typeface="宋体" pitchFamily="2" charset="-122"/>
              </a:rPr>
              <a:t>J, Lau</a:t>
            </a:r>
            <a:r>
              <a:rPr lang="zh-CN" altLang="en-US" dirty="0">
                <a:ea typeface="宋体" pitchFamily="2" charset="-122"/>
              </a:rPr>
              <a:t>；</a:t>
            </a:r>
            <a:r>
              <a:rPr lang="en-US" altLang="zh-CN" dirty="0">
                <a:ea typeface="宋体" pitchFamily="2" charset="-122"/>
              </a:rPr>
              <a:t>S G, </a:t>
            </a:r>
            <a:r>
              <a:rPr lang="en-US" altLang="zh-CN" dirty="0" err="1">
                <a:ea typeface="宋体" pitchFamily="2" charset="-122"/>
              </a:rPr>
              <a:t>Pauker</a:t>
            </a:r>
            <a:endParaRPr lang="en-US" altLang="zh-CN" dirty="0">
              <a:ea typeface="宋体" pitchFamily="2" charset="-122"/>
            </a:endParaRPr>
          </a:p>
          <a:p>
            <a:r>
              <a:rPr lang="zh-CN" altLang="en-US" dirty="0">
                <a:ea typeface="宋体" pitchFamily="2" charset="-122"/>
              </a:rPr>
              <a:t>刊 名：</a:t>
            </a:r>
            <a:r>
              <a:rPr lang="en-US" altLang="zh-CN" dirty="0">
                <a:ea typeface="宋体" pitchFamily="2" charset="-122"/>
              </a:rPr>
              <a:t>Annals of internal medicine  1987</a:t>
            </a:r>
            <a:r>
              <a:rPr lang="zh-CN" altLang="en-US" dirty="0">
                <a:ea typeface="宋体" pitchFamily="2" charset="-122"/>
              </a:rPr>
              <a:t>年</a:t>
            </a:r>
            <a:r>
              <a:rPr lang="en-US" altLang="zh-CN" dirty="0">
                <a:ea typeface="宋体" pitchFamily="2" charset="-122"/>
              </a:rPr>
              <a:t>106</a:t>
            </a:r>
            <a:r>
              <a:rPr lang="zh-CN" altLang="en-US" dirty="0">
                <a:ea typeface="宋体" pitchFamily="2" charset="-122"/>
              </a:rPr>
              <a:t>卷</a:t>
            </a:r>
            <a:r>
              <a:rPr lang="en-US" altLang="zh-CN" dirty="0">
                <a:ea typeface="宋体" pitchFamily="2" charset="-122"/>
              </a:rPr>
              <a:t>2</a:t>
            </a:r>
            <a:r>
              <a:rPr lang="zh-CN" altLang="en-US" dirty="0">
                <a:ea typeface="宋体" pitchFamily="2" charset="-122"/>
              </a:rPr>
              <a:t>期 </a:t>
            </a:r>
            <a:r>
              <a:rPr lang="en-US" altLang="zh-CN" dirty="0">
                <a:ea typeface="宋体" pitchFamily="2" charset="-122"/>
              </a:rPr>
              <a:t>275-291</a:t>
            </a:r>
            <a:r>
              <a:rPr lang="zh-CN" altLang="en-US" dirty="0">
                <a:ea typeface="宋体" pitchFamily="2" charset="-122"/>
              </a:rPr>
              <a:t>頁</a:t>
            </a:r>
          </a:p>
          <a:p>
            <a:endParaRPr lang="en-US" altLang="zh-CN" dirty="0">
              <a:ea typeface="宋体" pitchFamily="2" charset="-122"/>
            </a:endParaRPr>
          </a:p>
          <a:p>
            <a:r>
              <a:rPr lang="en-US" altLang="zh-CN" dirty="0">
                <a:ea typeface="宋体" pitchFamily="2" charset="-122"/>
              </a:rPr>
              <a:t>Canadian Task Force on the Periodic Health </a:t>
            </a:r>
            <a:r>
              <a:rPr lang="en-US" altLang="zh-CN" dirty="0" err="1">
                <a:ea typeface="宋体" pitchFamily="2" charset="-122"/>
              </a:rPr>
              <a:t>Examination:The</a:t>
            </a:r>
            <a:r>
              <a:rPr lang="en-US" altLang="zh-CN" dirty="0">
                <a:ea typeface="宋体" pitchFamily="2" charset="-122"/>
              </a:rPr>
              <a:t> periodic health </a:t>
            </a:r>
            <a:r>
              <a:rPr lang="en-US" altLang="zh-CN" dirty="0" err="1">
                <a:ea typeface="宋体" pitchFamily="2" charset="-122"/>
              </a:rPr>
              <a:t>examination.CMAJ</a:t>
            </a:r>
            <a:r>
              <a:rPr lang="en-US" altLang="zh-CN" dirty="0">
                <a:ea typeface="宋体" pitchFamily="2" charset="-122"/>
              </a:rPr>
              <a:t>, 1979, 121(19):1193-1254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Chest, 1986, 89(2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):2S-3S.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Archives </a:t>
            </a:r>
            <a:r>
              <a:rPr lang="en-US" altLang="zh-CN" dirty="0" err="1">
                <a:ea typeface="宋体" pitchFamily="2" charset="-122"/>
              </a:rPr>
              <a:t>Int</a:t>
            </a:r>
            <a:r>
              <a:rPr lang="en-US" altLang="zh-CN" dirty="0">
                <a:ea typeface="宋体" pitchFamily="2" charset="-122"/>
              </a:rPr>
              <a:t> Med, 1986, 146(3):464-465.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Sinclair JC, et al. Users’ guides to the medical l </a:t>
            </a:r>
            <a:r>
              <a:rPr lang="en-US" altLang="zh-CN" dirty="0" err="1">
                <a:ea typeface="宋体" pitchFamily="2" charset="-122"/>
              </a:rPr>
              <a:t>iterature</a:t>
            </a:r>
            <a:r>
              <a:rPr lang="en-US" altLang="zh-CN" dirty="0">
                <a:ea typeface="宋体" pitchFamily="2" charset="-122"/>
              </a:rPr>
              <a:t>. IX. A method for grading health care recommendations. Evidence-Based Medicine Working Group. JAMA, 1995, 274(22): 1800-1804.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on the use of antithrombotic </a:t>
            </a:r>
            <a:r>
              <a:rPr lang="en-US" altLang="zh-CN" dirty="0" err="1">
                <a:ea typeface="宋体" pitchFamily="2" charset="-122"/>
              </a:rPr>
              <a:t>agents.Chest</a:t>
            </a:r>
            <a:r>
              <a:rPr lang="en-US" altLang="zh-CN" dirty="0">
                <a:ea typeface="宋体" pitchFamily="2" charset="-122"/>
              </a:rPr>
              <a:t>, 1989, 95(2):2S-4S.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Rules of evidence and clinical recommendations on the use of antithrombotic agents. Chest, 1992, 102(4): 305S-311S.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</a:t>
            </a:r>
            <a:r>
              <a:rPr lang="en-US" altLang="zh-CN" dirty="0" err="1">
                <a:ea typeface="宋体" pitchFamily="2" charset="-122"/>
              </a:rPr>
              <a:t>Cl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using levels of evidence for antithrombotic agents. Chest, 1995,108(4): 227S-230S.</a:t>
            </a:r>
          </a:p>
          <a:p>
            <a:r>
              <a:rPr lang="en-US" altLang="zh-CN" dirty="0">
                <a:ea typeface="宋体" pitchFamily="2" charset="-122"/>
              </a:rPr>
              <a:t>http://www.cebm.net/levels_of_evidence.asp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Cook DJ,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et al. Grades of recommendation for antithrombotic agents. Chest, 1998, 114(5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 441S-444S.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S c h </a:t>
            </a:r>
            <a:r>
              <a:rPr lang="en-US" altLang="zh-CN" dirty="0" err="1">
                <a:ea typeface="宋体" pitchFamily="2" charset="-122"/>
              </a:rPr>
              <a:t>ünemann</a:t>
            </a:r>
            <a:r>
              <a:rPr lang="en-US" altLang="zh-CN" dirty="0">
                <a:ea typeface="宋体" pitchFamily="2" charset="-122"/>
              </a:rPr>
              <a:t> H, Cook D, </a:t>
            </a:r>
            <a:r>
              <a:rPr lang="en-US" altLang="zh-CN" dirty="0" err="1">
                <a:ea typeface="宋体" pitchFamily="2" charset="-122"/>
              </a:rPr>
              <a:t>etal.Gradesof</a:t>
            </a:r>
            <a:r>
              <a:rPr lang="en-US" altLang="zh-CN" dirty="0">
                <a:ea typeface="宋体" pitchFamily="2" charset="-122"/>
              </a:rPr>
              <a:t> Recommendation for Antithrombotic Agents. Chest, 2001, 119(1):3S-7S.</a:t>
            </a:r>
          </a:p>
          <a:p>
            <a:r>
              <a:rPr lang="en-US" altLang="zh-CN" dirty="0">
                <a:ea typeface="宋体" pitchFamily="2" charset="-122"/>
              </a:rPr>
              <a:t>Atkins D, Best D, </a:t>
            </a:r>
            <a:r>
              <a:rPr lang="en-US" altLang="zh-CN" dirty="0" err="1">
                <a:ea typeface="宋体" pitchFamily="2" charset="-122"/>
              </a:rPr>
              <a:t>Briss</a:t>
            </a:r>
            <a:r>
              <a:rPr lang="en-US" altLang="zh-CN" dirty="0">
                <a:ea typeface="宋体" pitchFamily="2" charset="-122"/>
              </a:rPr>
              <a:t> PA, et </a:t>
            </a:r>
            <a:r>
              <a:rPr lang="en-US" altLang="zh-CN" dirty="0" err="1">
                <a:ea typeface="宋体" pitchFamily="2" charset="-122"/>
              </a:rPr>
              <a:t>al.Grading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and strength of recommendations. BMJ, 2004, 328(7454):1490-1494</a:t>
            </a:r>
          </a:p>
          <a:p>
            <a:r>
              <a:rPr lang="en-US" altLang="zh-CN" dirty="0">
                <a:ea typeface="宋体" pitchFamily="2" charset="-122"/>
              </a:rPr>
              <a:t>http://www.gradeworkinggroup.org/about_us.htm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</a:t>
            </a:r>
            <a:r>
              <a:rPr lang="en-US" altLang="zh-CN" dirty="0" err="1">
                <a:ea typeface="宋体" pitchFamily="2" charset="-122"/>
              </a:rPr>
              <a:t>Gutterman</a:t>
            </a:r>
            <a:r>
              <a:rPr lang="en-US" altLang="zh-CN" dirty="0">
                <a:ea typeface="宋体" pitchFamily="2" charset="-122"/>
              </a:rPr>
              <a:t> D, Baumann MH, et al. Grading strength of recommendations and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in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guidel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ines:report</a:t>
            </a:r>
            <a:r>
              <a:rPr lang="en-US" altLang="zh-CN" dirty="0">
                <a:ea typeface="宋体" pitchFamily="2" charset="-122"/>
              </a:rPr>
              <a:t> from an </a:t>
            </a:r>
            <a:r>
              <a:rPr lang="en-US" altLang="zh-CN" dirty="0" err="1">
                <a:ea typeface="宋体" pitchFamily="2" charset="-122"/>
              </a:rPr>
              <a:t>american</a:t>
            </a:r>
            <a:r>
              <a:rPr lang="en-US" altLang="zh-CN" dirty="0">
                <a:ea typeface="宋体" pitchFamily="2" charset="-122"/>
              </a:rPr>
              <a:t> college of chest physicians task force. Chest,2006, 129(1):174-181.</a:t>
            </a:r>
          </a:p>
          <a:p>
            <a:r>
              <a:rPr lang="en-US" altLang="zh-CN" dirty="0">
                <a:ea typeface="宋体" pitchFamily="2" charset="-122"/>
              </a:rPr>
              <a:t>Aragon CL, </a:t>
            </a:r>
            <a:r>
              <a:rPr lang="en-US" altLang="zh-CN" dirty="0" err="1">
                <a:ea typeface="宋体" pitchFamily="2" charset="-122"/>
              </a:rPr>
              <a:t>Budsberg</a:t>
            </a:r>
            <a:r>
              <a:rPr lang="en-US" altLang="zh-CN" dirty="0">
                <a:ea typeface="宋体" pitchFamily="2" charset="-122"/>
              </a:rPr>
              <a:t> SC. Applications of Evidence-Based </a:t>
            </a:r>
            <a:r>
              <a:rPr lang="en-US" altLang="zh-CN" dirty="0" err="1">
                <a:ea typeface="宋体" pitchFamily="2" charset="-122"/>
              </a:rPr>
              <a:t>Medicine:Cranial</a:t>
            </a:r>
            <a:r>
              <a:rPr lang="en-US" altLang="zh-CN" dirty="0">
                <a:ea typeface="宋体" pitchFamily="2" charset="-122"/>
              </a:rPr>
              <a:t> Cruciate Ligament Injury Repair in the Dog Veterinary Surgery. 34(2): 93–98.</a:t>
            </a:r>
          </a:p>
          <a:p>
            <a:r>
              <a:rPr lang="en-US" altLang="zh-CN" dirty="0">
                <a:ea typeface="宋体" pitchFamily="2" charset="-122"/>
              </a:rPr>
              <a:t>http://library.downstate.edu/ebmdos/2100.htm</a:t>
            </a:r>
          </a:p>
        </p:txBody>
      </p:sp>
      <p:sp>
        <p:nvSpPr>
          <p:cNvPr id="24580" name="灯片编号占位符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F2A7AC83-3E51-4C36-BE6A-771C72EBD479}" type="slidenum">
              <a:rPr lang="en-US" altLang="zh-CN" smtClean="0"/>
              <a:pPr eaLnBrk="1" hangingPunct="1"/>
              <a:t>16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5492553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DAFD7-0DC5-2F37-0031-1D3B416A4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幻灯片图像占位符 1">
            <a:extLst>
              <a:ext uri="{FF2B5EF4-FFF2-40B4-BE49-F238E27FC236}">
                <a16:creationId xmlns:a16="http://schemas.microsoft.com/office/drawing/2014/main" id="{73E9AD6B-F262-4267-F43D-979875DF0D26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24579" name="备注占位符 2">
            <a:extLst>
              <a:ext uri="{FF2B5EF4-FFF2-40B4-BE49-F238E27FC236}">
                <a16:creationId xmlns:a16="http://schemas.microsoft.com/office/drawing/2014/main" id="{F1AB646B-74C4-F059-A10B-F52551B5F1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r>
              <a:rPr lang="zh-CN" altLang="en-US" dirty="0"/>
              <a:t>假設你懷疑你的一位患者可能感染了</a:t>
            </a:r>
            <a:r>
              <a:rPr lang="en-US" altLang="zh-CN" dirty="0"/>
              <a:t>HIV</a:t>
            </a:r>
            <a:r>
              <a:rPr lang="zh-CN" altLang="en-US" dirty="0"/>
              <a:t>，現在你需要選擇</a:t>
            </a:r>
            <a:r>
              <a:rPr lang="zh-CN" altLang="en-US" dirty="0">
                <a:sym typeface="Wingdings" panose="05000000000000000000" pitchFamily="2" charset="2"/>
              </a:rPr>
              <a:t>：（</a:t>
            </a:r>
            <a:r>
              <a:rPr lang="en-US" altLang="zh-CN" dirty="0">
                <a:sym typeface="Wingdings" panose="05000000000000000000" pitchFamily="2" charset="2"/>
              </a:rPr>
              <a:t>1</a:t>
            </a:r>
            <a:r>
              <a:rPr lang="zh-CN" altLang="en-US" dirty="0">
                <a:sym typeface="Wingdings" panose="05000000000000000000" pitchFamily="2" charset="2"/>
              </a:rPr>
              <a:t>）不做處理，即不檢驗也不治療；（</a:t>
            </a:r>
            <a:r>
              <a:rPr lang="en-US" altLang="zh-CN" dirty="0">
                <a:sym typeface="Wingdings" panose="05000000000000000000" pitchFamily="2" charset="2"/>
              </a:rPr>
              <a:t>2</a:t>
            </a:r>
            <a:r>
              <a:rPr lang="zh-CN" altLang="en-US" dirty="0">
                <a:sym typeface="Wingdings" panose="05000000000000000000" pitchFamily="2" charset="2"/>
              </a:rPr>
              <a:t>）先做檢驗，再決定做不做治療；（</a:t>
            </a:r>
            <a:r>
              <a:rPr lang="en-US" altLang="zh-CN" dirty="0">
                <a:sym typeface="Wingdings" panose="05000000000000000000" pitchFamily="2" charset="2"/>
              </a:rPr>
              <a:t>3</a:t>
            </a:r>
            <a:r>
              <a:rPr lang="zh-CN" altLang="en-US" dirty="0">
                <a:sym typeface="Wingdings" panose="05000000000000000000" pitchFamily="2" charset="2"/>
              </a:rPr>
              <a:t>）不用做檢驗，直接治療。那麼，</a:t>
            </a:r>
            <a:endParaRPr lang="en-US" altLang="zh-CN" dirty="0"/>
          </a:p>
          <a:p>
            <a:r>
              <a:rPr lang="zh-CN" altLang="en-US" dirty="0"/>
              <a:t>第一步，你需要確定治療的概率閾值。通過</a:t>
            </a:r>
            <a:r>
              <a:rPr lang="en-US" altLang="zh-CN" dirty="0"/>
              <a:t>Value table</a:t>
            </a:r>
            <a:r>
              <a:rPr lang="zh-CN" altLang="en-US" dirty="0"/>
              <a:t>計算出：</a:t>
            </a:r>
            <a:r>
              <a:rPr lang="en-US" altLang="zh-CN" dirty="0"/>
              <a:t>H=U</a:t>
            </a:r>
            <a:r>
              <a:rPr lang="zh-CN" altLang="en-US" dirty="0"/>
              <a:t>（</a:t>
            </a:r>
            <a:r>
              <a:rPr lang="en-US" altLang="zh-CN" dirty="0"/>
              <a:t>HIV-</a:t>
            </a:r>
            <a:r>
              <a:rPr lang="zh-CN" altLang="en-US" dirty="0"/>
              <a:t>，不治療）</a:t>
            </a:r>
            <a:r>
              <a:rPr lang="en-US" altLang="zh-CN" dirty="0"/>
              <a:t>-U</a:t>
            </a:r>
            <a:r>
              <a:rPr lang="zh-CN" altLang="en-US" dirty="0"/>
              <a:t>（</a:t>
            </a:r>
            <a:r>
              <a:rPr lang="en-US" altLang="zh-CN" dirty="0"/>
              <a:t>HIV-</a:t>
            </a:r>
            <a:r>
              <a:rPr lang="zh-CN" altLang="en-US" dirty="0"/>
              <a:t>，治療）</a:t>
            </a:r>
            <a:r>
              <a:rPr lang="en-US" altLang="zh-CN" dirty="0"/>
              <a:t>=75.5-75.46=0.04 QALE</a:t>
            </a:r>
            <a:r>
              <a:rPr lang="zh-CN" altLang="en-US" dirty="0"/>
              <a:t>；</a:t>
            </a:r>
            <a:endParaRPr lang="en-US" altLang="zh-CN" dirty="0"/>
          </a:p>
          <a:p>
            <a:r>
              <a:rPr lang="en-US" altLang="zh-CN" dirty="0"/>
              <a:t>B=U</a:t>
            </a:r>
            <a:r>
              <a:rPr lang="zh-CN" altLang="en-US" dirty="0"/>
              <a:t>（</a:t>
            </a:r>
            <a:r>
              <a:rPr lang="en-US" altLang="zh-CN" dirty="0"/>
              <a:t>HIV+</a:t>
            </a:r>
            <a:r>
              <a:rPr lang="zh-CN" altLang="en-US" dirty="0"/>
              <a:t>，治療）</a:t>
            </a:r>
            <a:r>
              <a:rPr lang="en-US" altLang="zh-CN" dirty="0"/>
              <a:t>-U</a:t>
            </a:r>
            <a:r>
              <a:rPr lang="zh-CN" altLang="en-US" dirty="0"/>
              <a:t>（</a:t>
            </a:r>
            <a:r>
              <a:rPr lang="en-US" altLang="zh-CN" dirty="0"/>
              <a:t>HIV+</a:t>
            </a:r>
            <a:r>
              <a:rPr lang="zh-CN" altLang="en-US" dirty="0"/>
              <a:t>，不治療）</a:t>
            </a:r>
            <a:r>
              <a:rPr lang="en-US" altLang="zh-CN" dirty="0"/>
              <a:t>=10.50-10.00=0.50 QALE</a:t>
            </a:r>
            <a:r>
              <a:rPr lang="zh-CN" altLang="en-US" dirty="0"/>
              <a:t>；</a:t>
            </a:r>
            <a:endParaRPr lang="en-US" altLang="zh-CN" dirty="0"/>
          </a:p>
          <a:p>
            <a:r>
              <a:rPr lang="zh-CN" altLang="en-US" dirty="0"/>
              <a:t>治療閾值概率</a:t>
            </a:r>
            <a:r>
              <a:rPr lang="en-US" altLang="zh-CN" dirty="0"/>
              <a:t>=H/</a:t>
            </a:r>
            <a:r>
              <a:rPr lang="zh-CN" altLang="en-US" dirty="0"/>
              <a:t>（</a:t>
            </a:r>
            <a:r>
              <a:rPr lang="en-US" altLang="zh-CN" dirty="0"/>
              <a:t>H+B</a:t>
            </a:r>
            <a:r>
              <a:rPr lang="zh-CN" altLang="en-US" dirty="0"/>
              <a:t>）</a:t>
            </a:r>
            <a:r>
              <a:rPr lang="en-US" altLang="zh-CN" dirty="0"/>
              <a:t>=0.04/0.54=0.074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第二步，通過查閱文獻或諮詢有經驗的醫生，得知</a:t>
            </a:r>
            <a:r>
              <a:rPr lang="en-US" altLang="zh-CN" dirty="0"/>
              <a:t>HIV</a:t>
            </a:r>
            <a:r>
              <a:rPr lang="zh-CN" altLang="en-US" dirty="0"/>
              <a:t>的驗前概率為</a:t>
            </a:r>
            <a:r>
              <a:rPr lang="en-US" altLang="zh-CN" dirty="0"/>
              <a:t>0.08</a:t>
            </a:r>
            <a:r>
              <a:rPr lang="zh-CN" altLang="en-US" dirty="0"/>
              <a:t>＞治療閾值概率</a:t>
            </a:r>
            <a:r>
              <a:rPr lang="en-US" altLang="zh-CN" dirty="0"/>
              <a:t>0.074</a:t>
            </a:r>
            <a:r>
              <a:rPr lang="zh-CN" altLang="en-US" dirty="0"/>
              <a:t>；選擇實施檢驗減少診斷的不確定性。</a:t>
            </a:r>
            <a:endParaRPr lang="en-US" altLang="zh-CN" dirty="0"/>
          </a:p>
          <a:p>
            <a:r>
              <a:rPr lang="zh-CN" altLang="en-US" dirty="0"/>
              <a:t>第三步，通過查閱文獻或諮詢有經驗的醫生，得知</a:t>
            </a:r>
            <a:r>
              <a:rPr lang="en-US" altLang="zh-CN" dirty="0"/>
              <a:t>PCR</a:t>
            </a:r>
            <a:r>
              <a:rPr lang="zh-CN" altLang="en-US" dirty="0"/>
              <a:t>檢驗的敏感度和特異度都為</a:t>
            </a:r>
            <a:r>
              <a:rPr lang="en-US" altLang="zh-CN" dirty="0"/>
              <a:t>0.98</a:t>
            </a:r>
            <a:r>
              <a:rPr lang="zh-CN" altLang="en-US" dirty="0"/>
              <a:t>；</a:t>
            </a:r>
            <a:endParaRPr lang="en-US" altLang="zh-CN" dirty="0"/>
          </a:p>
          <a:p>
            <a:r>
              <a:rPr lang="zh-CN" altLang="en-US" dirty="0"/>
              <a:t>根據貝葉斯原理，若檢驗結果為陽性，則驗後概率為</a:t>
            </a:r>
            <a:r>
              <a:rPr lang="en-US" altLang="zh-CN" dirty="0"/>
              <a:t>0.8099</a:t>
            </a:r>
            <a:r>
              <a:rPr lang="zh-CN" altLang="en-US" dirty="0"/>
              <a:t>＞治療閾值概率</a:t>
            </a:r>
            <a:r>
              <a:rPr lang="en-US" altLang="zh-CN" dirty="0"/>
              <a:t>0.074</a:t>
            </a:r>
            <a:r>
              <a:rPr lang="zh-CN" altLang="en-US" dirty="0"/>
              <a:t>，進行治療；</a:t>
            </a:r>
            <a:endParaRPr lang="en-US" altLang="zh-CN" dirty="0"/>
          </a:p>
          <a:p>
            <a:r>
              <a:rPr lang="zh-CN" altLang="en-US" dirty="0"/>
              <a:t>若檢驗結果為陰性，則驗後概率為：</a:t>
            </a:r>
            <a:r>
              <a:rPr lang="en-US" altLang="zh-CN" dirty="0"/>
              <a:t>0.0018</a:t>
            </a:r>
            <a:r>
              <a:rPr lang="zh-CN" altLang="en-US" dirty="0"/>
              <a:t>＜治療閾值概率</a:t>
            </a:r>
            <a:r>
              <a:rPr lang="en-US" altLang="zh-CN" dirty="0"/>
              <a:t>0.074</a:t>
            </a:r>
            <a:r>
              <a:rPr lang="zh-CN" altLang="en-US" dirty="0"/>
              <a:t>，不進行治療。</a:t>
            </a:r>
            <a:endParaRPr lang="en-US" altLang="zh-CN" dirty="0"/>
          </a:p>
          <a:p>
            <a:r>
              <a:rPr lang="zh-CN" altLang="en-US" dirty="0"/>
              <a:t>臨床上決策問題與相應的決策支持方法還有很多，我們這裡僅取較為常見的問題及決策方法進行了簡單介紹，下面我們再來瞭解下臨床決策支援系統。</a:t>
            </a:r>
            <a:endParaRPr lang="en-US" altLang="zh-CN" dirty="0"/>
          </a:p>
          <a:p>
            <a:endParaRPr lang="en-US" altLang="zh-CN" dirty="0">
              <a:ea typeface="宋体" pitchFamily="2" charset="-122"/>
            </a:endParaRPr>
          </a:p>
          <a:p>
            <a:r>
              <a:rPr lang="en-US" altLang="zh-CN" dirty="0">
                <a:ea typeface="宋体" pitchFamily="2" charset="-122"/>
              </a:rPr>
              <a:t>Decision analysis: a progress report.</a:t>
            </a:r>
          </a:p>
          <a:p>
            <a:r>
              <a:rPr lang="zh-CN" altLang="en-US" dirty="0">
                <a:ea typeface="宋体" pitchFamily="2" charset="-122"/>
              </a:rPr>
              <a:t>作 者：</a:t>
            </a:r>
            <a:r>
              <a:rPr lang="en-US" altLang="zh-CN" dirty="0">
                <a:ea typeface="宋体" pitchFamily="2" charset="-122"/>
              </a:rPr>
              <a:t>J P, </a:t>
            </a:r>
            <a:r>
              <a:rPr lang="en-US" altLang="zh-CN" dirty="0" err="1">
                <a:ea typeface="宋体" pitchFamily="2" charset="-122"/>
              </a:rPr>
              <a:t>Kassirer</a:t>
            </a:r>
            <a:r>
              <a:rPr lang="zh-CN" altLang="en-US" dirty="0">
                <a:ea typeface="宋体" pitchFamily="2" charset="-122"/>
              </a:rPr>
              <a:t>；</a:t>
            </a:r>
            <a:r>
              <a:rPr lang="en-US" altLang="zh-CN" dirty="0">
                <a:ea typeface="宋体" pitchFamily="2" charset="-122"/>
              </a:rPr>
              <a:t>A J, </a:t>
            </a:r>
            <a:r>
              <a:rPr lang="en-US" altLang="zh-CN" dirty="0" err="1">
                <a:ea typeface="宋体" pitchFamily="2" charset="-122"/>
              </a:rPr>
              <a:t>Moskowitz</a:t>
            </a:r>
            <a:r>
              <a:rPr lang="zh-CN" altLang="en-US" dirty="0">
                <a:ea typeface="宋体" pitchFamily="2" charset="-122"/>
              </a:rPr>
              <a:t>；</a:t>
            </a:r>
            <a:r>
              <a:rPr lang="en-US" altLang="zh-CN" dirty="0">
                <a:ea typeface="宋体" pitchFamily="2" charset="-122"/>
              </a:rPr>
              <a:t>J, Lau</a:t>
            </a:r>
            <a:r>
              <a:rPr lang="zh-CN" altLang="en-US" dirty="0">
                <a:ea typeface="宋体" pitchFamily="2" charset="-122"/>
              </a:rPr>
              <a:t>；</a:t>
            </a:r>
            <a:r>
              <a:rPr lang="en-US" altLang="zh-CN" dirty="0">
                <a:ea typeface="宋体" pitchFamily="2" charset="-122"/>
              </a:rPr>
              <a:t>S G, </a:t>
            </a:r>
            <a:r>
              <a:rPr lang="en-US" altLang="zh-CN" dirty="0" err="1">
                <a:ea typeface="宋体" pitchFamily="2" charset="-122"/>
              </a:rPr>
              <a:t>Pauker</a:t>
            </a:r>
            <a:endParaRPr lang="en-US" altLang="zh-CN" dirty="0">
              <a:ea typeface="宋体" pitchFamily="2" charset="-122"/>
            </a:endParaRPr>
          </a:p>
          <a:p>
            <a:r>
              <a:rPr lang="zh-CN" altLang="en-US" dirty="0">
                <a:ea typeface="宋体" pitchFamily="2" charset="-122"/>
              </a:rPr>
              <a:t>刊 名：</a:t>
            </a:r>
            <a:r>
              <a:rPr lang="en-US" altLang="zh-CN" dirty="0">
                <a:ea typeface="宋体" pitchFamily="2" charset="-122"/>
              </a:rPr>
              <a:t>Annals of internal medicine  1987</a:t>
            </a:r>
            <a:r>
              <a:rPr lang="zh-CN" altLang="en-US" dirty="0">
                <a:ea typeface="宋体" pitchFamily="2" charset="-122"/>
              </a:rPr>
              <a:t>年</a:t>
            </a:r>
            <a:r>
              <a:rPr lang="en-US" altLang="zh-CN" dirty="0">
                <a:ea typeface="宋体" pitchFamily="2" charset="-122"/>
              </a:rPr>
              <a:t>106</a:t>
            </a:r>
            <a:r>
              <a:rPr lang="zh-CN" altLang="en-US" dirty="0">
                <a:ea typeface="宋体" pitchFamily="2" charset="-122"/>
              </a:rPr>
              <a:t>卷</a:t>
            </a:r>
            <a:r>
              <a:rPr lang="en-US" altLang="zh-CN" dirty="0">
                <a:ea typeface="宋体" pitchFamily="2" charset="-122"/>
              </a:rPr>
              <a:t>2</a:t>
            </a:r>
            <a:r>
              <a:rPr lang="zh-CN" altLang="en-US" dirty="0">
                <a:ea typeface="宋体" pitchFamily="2" charset="-122"/>
              </a:rPr>
              <a:t>期 </a:t>
            </a:r>
            <a:r>
              <a:rPr lang="en-US" altLang="zh-CN" dirty="0">
                <a:ea typeface="宋体" pitchFamily="2" charset="-122"/>
              </a:rPr>
              <a:t>275-291</a:t>
            </a:r>
            <a:r>
              <a:rPr lang="zh-CN" altLang="en-US" dirty="0">
                <a:ea typeface="宋体" pitchFamily="2" charset="-122"/>
              </a:rPr>
              <a:t>頁</a:t>
            </a:r>
          </a:p>
          <a:p>
            <a:endParaRPr lang="en-US" altLang="zh-CN" dirty="0">
              <a:ea typeface="宋体" pitchFamily="2" charset="-122"/>
            </a:endParaRPr>
          </a:p>
          <a:p>
            <a:r>
              <a:rPr lang="en-US" altLang="zh-CN" dirty="0">
                <a:ea typeface="宋体" pitchFamily="2" charset="-122"/>
              </a:rPr>
              <a:t>Canadian Task Force on the Periodic Health </a:t>
            </a:r>
            <a:r>
              <a:rPr lang="en-US" altLang="zh-CN" dirty="0" err="1">
                <a:ea typeface="宋体" pitchFamily="2" charset="-122"/>
              </a:rPr>
              <a:t>Examination:The</a:t>
            </a:r>
            <a:r>
              <a:rPr lang="en-US" altLang="zh-CN" dirty="0">
                <a:ea typeface="宋体" pitchFamily="2" charset="-122"/>
              </a:rPr>
              <a:t> periodic health </a:t>
            </a:r>
            <a:r>
              <a:rPr lang="en-US" altLang="zh-CN" dirty="0" err="1">
                <a:ea typeface="宋体" pitchFamily="2" charset="-122"/>
              </a:rPr>
              <a:t>examination.CMAJ</a:t>
            </a:r>
            <a:r>
              <a:rPr lang="en-US" altLang="zh-CN" dirty="0">
                <a:ea typeface="宋体" pitchFamily="2" charset="-122"/>
              </a:rPr>
              <a:t>, 1979, 121(19):1193-1254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Chest, 1986, 89(2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):2S-3S.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Archives </a:t>
            </a:r>
            <a:r>
              <a:rPr lang="en-US" altLang="zh-CN" dirty="0" err="1">
                <a:ea typeface="宋体" pitchFamily="2" charset="-122"/>
              </a:rPr>
              <a:t>Int</a:t>
            </a:r>
            <a:r>
              <a:rPr lang="en-US" altLang="zh-CN" dirty="0">
                <a:ea typeface="宋体" pitchFamily="2" charset="-122"/>
              </a:rPr>
              <a:t> Med, 1986, 146(3):464-465.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Sinclair JC, et al. Users’ guides to the medical l </a:t>
            </a:r>
            <a:r>
              <a:rPr lang="en-US" altLang="zh-CN" dirty="0" err="1">
                <a:ea typeface="宋体" pitchFamily="2" charset="-122"/>
              </a:rPr>
              <a:t>iterature</a:t>
            </a:r>
            <a:r>
              <a:rPr lang="en-US" altLang="zh-CN" dirty="0">
                <a:ea typeface="宋体" pitchFamily="2" charset="-122"/>
              </a:rPr>
              <a:t>. IX. A method for grading health care recommendations. Evidence-Based Medicine Working Group. JAMA, 1995, 274(22): 1800-1804.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on the use of antithrombotic </a:t>
            </a:r>
            <a:r>
              <a:rPr lang="en-US" altLang="zh-CN" dirty="0" err="1">
                <a:ea typeface="宋体" pitchFamily="2" charset="-122"/>
              </a:rPr>
              <a:t>agents.Chest</a:t>
            </a:r>
            <a:r>
              <a:rPr lang="en-US" altLang="zh-CN" dirty="0">
                <a:ea typeface="宋体" pitchFamily="2" charset="-122"/>
              </a:rPr>
              <a:t>, 1989, 95(2):2S-4S.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Rules of evidence and clinical recommendations on the use of antithrombotic agents. Chest, 1992, 102(4): 305S-311S.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</a:t>
            </a:r>
            <a:r>
              <a:rPr lang="en-US" altLang="zh-CN" dirty="0" err="1">
                <a:ea typeface="宋体" pitchFamily="2" charset="-122"/>
              </a:rPr>
              <a:t>Cl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using levels of evidence for antithrombotic agents. Chest, 1995,108(4): 227S-230S.</a:t>
            </a:r>
          </a:p>
          <a:p>
            <a:r>
              <a:rPr lang="en-US" altLang="zh-CN" dirty="0">
                <a:ea typeface="宋体" pitchFamily="2" charset="-122"/>
              </a:rPr>
              <a:t>http://www.cebm.net/levels_of_evidence.asp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Cook DJ,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et al. Grades of recommendation for antithrombotic agents. Chest, 1998, 114(5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 441S-444S.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S c h </a:t>
            </a:r>
            <a:r>
              <a:rPr lang="en-US" altLang="zh-CN" dirty="0" err="1">
                <a:ea typeface="宋体" pitchFamily="2" charset="-122"/>
              </a:rPr>
              <a:t>ünemann</a:t>
            </a:r>
            <a:r>
              <a:rPr lang="en-US" altLang="zh-CN" dirty="0">
                <a:ea typeface="宋体" pitchFamily="2" charset="-122"/>
              </a:rPr>
              <a:t> H, Cook D, </a:t>
            </a:r>
            <a:r>
              <a:rPr lang="en-US" altLang="zh-CN" dirty="0" err="1">
                <a:ea typeface="宋体" pitchFamily="2" charset="-122"/>
              </a:rPr>
              <a:t>etal.Gradesof</a:t>
            </a:r>
            <a:r>
              <a:rPr lang="en-US" altLang="zh-CN" dirty="0">
                <a:ea typeface="宋体" pitchFamily="2" charset="-122"/>
              </a:rPr>
              <a:t> Recommendation for Antithrombotic Agents. Chest, 2001, 119(1):3S-7S.</a:t>
            </a:r>
          </a:p>
          <a:p>
            <a:r>
              <a:rPr lang="en-US" altLang="zh-CN" dirty="0">
                <a:ea typeface="宋体" pitchFamily="2" charset="-122"/>
              </a:rPr>
              <a:t>Atkins D, Best D, </a:t>
            </a:r>
            <a:r>
              <a:rPr lang="en-US" altLang="zh-CN" dirty="0" err="1">
                <a:ea typeface="宋体" pitchFamily="2" charset="-122"/>
              </a:rPr>
              <a:t>Briss</a:t>
            </a:r>
            <a:r>
              <a:rPr lang="en-US" altLang="zh-CN" dirty="0">
                <a:ea typeface="宋体" pitchFamily="2" charset="-122"/>
              </a:rPr>
              <a:t> PA, et </a:t>
            </a:r>
            <a:r>
              <a:rPr lang="en-US" altLang="zh-CN" dirty="0" err="1">
                <a:ea typeface="宋体" pitchFamily="2" charset="-122"/>
              </a:rPr>
              <a:t>al.Grading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and strength of recommendations. BMJ, 2004, 328(7454):1490-1494</a:t>
            </a:r>
          </a:p>
          <a:p>
            <a:r>
              <a:rPr lang="en-US" altLang="zh-CN" dirty="0">
                <a:ea typeface="宋体" pitchFamily="2" charset="-122"/>
              </a:rPr>
              <a:t>http://www.gradeworkinggroup.org/about_us.htm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</a:t>
            </a:r>
            <a:r>
              <a:rPr lang="en-US" altLang="zh-CN" dirty="0" err="1">
                <a:ea typeface="宋体" pitchFamily="2" charset="-122"/>
              </a:rPr>
              <a:t>Gutterman</a:t>
            </a:r>
            <a:r>
              <a:rPr lang="en-US" altLang="zh-CN" dirty="0">
                <a:ea typeface="宋体" pitchFamily="2" charset="-122"/>
              </a:rPr>
              <a:t> D, Baumann MH, et al. Grading strength of recommendations and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in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guidel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ines:report</a:t>
            </a:r>
            <a:r>
              <a:rPr lang="en-US" altLang="zh-CN" dirty="0">
                <a:ea typeface="宋体" pitchFamily="2" charset="-122"/>
              </a:rPr>
              <a:t> from an </a:t>
            </a:r>
            <a:r>
              <a:rPr lang="en-US" altLang="zh-CN" dirty="0" err="1">
                <a:ea typeface="宋体" pitchFamily="2" charset="-122"/>
              </a:rPr>
              <a:t>american</a:t>
            </a:r>
            <a:r>
              <a:rPr lang="en-US" altLang="zh-CN" dirty="0">
                <a:ea typeface="宋体" pitchFamily="2" charset="-122"/>
              </a:rPr>
              <a:t> college of chest physicians task force. Chest,2006, 129(1):174-181.</a:t>
            </a:r>
          </a:p>
          <a:p>
            <a:r>
              <a:rPr lang="en-US" altLang="zh-CN" dirty="0">
                <a:ea typeface="宋体" pitchFamily="2" charset="-122"/>
              </a:rPr>
              <a:t>Aragon CL, </a:t>
            </a:r>
            <a:r>
              <a:rPr lang="en-US" altLang="zh-CN" dirty="0" err="1">
                <a:ea typeface="宋体" pitchFamily="2" charset="-122"/>
              </a:rPr>
              <a:t>Budsberg</a:t>
            </a:r>
            <a:r>
              <a:rPr lang="en-US" altLang="zh-CN" dirty="0">
                <a:ea typeface="宋体" pitchFamily="2" charset="-122"/>
              </a:rPr>
              <a:t> SC. Applications of Evidence-Based </a:t>
            </a:r>
            <a:r>
              <a:rPr lang="en-US" altLang="zh-CN" dirty="0" err="1">
                <a:ea typeface="宋体" pitchFamily="2" charset="-122"/>
              </a:rPr>
              <a:t>Medicine:Cranial</a:t>
            </a:r>
            <a:r>
              <a:rPr lang="en-US" altLang="zh-CN" dirty="0">
                <a:ea typeface="宋体" pitchFamily="2" charset="-122"/>
              </a:rPr>
              <a:t> Cruciate Ligament Injury Repair in the Dog Veterinary Surgery. 34(2): 93–98.</a:t>
            </a:r>
          </a:p>
          <a:p>
            <a:r>
              <a:rPr lang="en-US" altLang="zh-CN" dirty="0">
                <a:ea typeface="宋体" pitchFamily="2" charset="-122"/>
              </a:rPr>
              <a:t>http://library.downstate.edu/ebmdos/2100.htm</a:t>
            </a:r>
          </a:p>
        </p:txBody>
      </p:sp>
      <p:sp>
        <p:nvSpPr>
          <p:cNvPr id="24580" name="灯片编号占位符 3">
            <a:extLst>
              <a:ext uri="{FF2B5EF4-FFF2-40B4-BE49-F238E27FC236}">
                <a16:creationId xmlns:a16="http://schemas.microsoft.com/office/drawing/2014/main" id="{17A24107-FC24-6F2E-6B95-9B5D489641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F2A7AC83-3E51-4C36-BE6A-771C72EBD479}" type="slidenum">
              <a:rPr lang="en-US" altLang="zh-CN" smtClean="0"/>
              <a:pPr eaLnBrk="1" hangingPunct="1"/>
              <a:t>17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40997397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24579" name="备注占位符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r>
              <a:rPr lang="zh-CN" altLang="en-US" dirty="0"/>
              <a:t>假設你懷疑你的一位患者可能感染了</a:t>
            </a:r>
            <a:r>
              <a:rPr lang="en-US" altLang="zh-CN" dirty="0"/>
              <a:t>HIV</a:t>
            </a:r>
            <a:r>
              <a:rPr lang="zh-CN" altLang="en-US" dirty="0"/>
              <a:t>，現在你需要選擇</a:t>
            </a:r>
            <a:r>
              <a:rPr lang="zh-CN" altLang="en-US" dirty="0">
                <a:sym typeface="Wingdings" panose="05000000000000000000" pitchFamily="2" charset="2"/>
              </a:rPr>
              <a:t>：（</a:t>
            </a:r>
            <a:r>
              <a:rPr lang="en-US" altLang="zh-CN" dirty="0">
                <a:sym typeface="Wingdings" panose="05000000000000000000" pitchFamily="2" charset="2"/>
              </a:rPr>
              <a:t>1</a:t>
            </a:r>
            <a:r>
              <a:rPr lang="zh-CN" altLang="en-US" dirty="0">
                <a:sym typeface="Wingdings" panose="05000000000000000000" pitchFamily="2" charset="2"/>
              </a:rPr>
              <a:t>）不做處理，即不檢驗也不治療；（</a:t>
            </a:r>
            <a:r>
              <a:rPr lang="en-US" altLang="zh-CN" dirty="0">
                <a:sym typeface="Wingdings" panose="05000000000000000000" pitchFamily="2" charset="2"/>
              </a:rPr>
              <a:t>2</a:t>
            </a:r>
            <a:r>
              <a:rPr lang="zh-CN" altLang="en-US" dirty="0">
                <a:sym typeface="Wingdings" panose="05000000000000000000" pitchFamily="2" charset="2"/>
              </a:rPr>
              <a:t>）先做檢驗，再決定做不做治療；（</a:t>
            </a:r>
            <a:r>
              <a:rPr lang="en-US" altLang="zh-CN" dirty="0">
                <a:sym typeface="Wingdings" panose="05000000000000000000" pitchFamily="2" charset="2"/>
              </a:rPr>
              <a:t>3</a:t>
            </a:r>
            <a:r>
              <a:rPr lang="zh-CN" altLang="en-US" dirty="0">
                <a:sym typeface="Wingdings" panose="05000000000000000000" pitchFamily="2" charset="2"/>
              </a:rPr>
              <a:t>）不用做檢驗，直接治療。那麼，</a:t>
            </a:r>
            <a:endParaRPr lang="en-US" altLang="zh-CN" dirty="0"/>
          </a:p>
          <a:p>
            <a:r>
              <a:rPr lang="zh-CN" altLang="en-US" dirty="0"/>
              <a:t>第一步，你需要確定治療的概率閾值。通過</a:t>
            </a:r>
            <a:r>
              <a:rPr lang="en-US" altLang="zh-CN" dirty="0"/>
              <a:t>Value table</a:t>
            </a:r>
            <a:r>
              <a:rPr lang="zh-CN" altLang="en-US" dirty="0"/>
              <a:t>計算出：</a:t>
            </a:r>
            <a:r>
              <a:rPr lang="en-US" altLang="zh-CN" dirty="0"/>
              <a:t>H=U</a:t>
            </a:r>
            <a:r>
              <a:rPr lang="zh-CN" altLang="en-US" dirty="0"/>
              <a:t>（</a:t>
            </a:r>
            <a:r>
              <a:rPr lang="en-US" altLang="zh-CN" dirty="0"/>
              <a:t>HIV-</a:t>
            </a:r>
            <a:r>
              <a:rPr lang="zh-CN" altLang="en-US" dirty="0"/>
              <a:t>，不治療）</a:t>
            </a:r>
            <a:r>
              <a:rPr lang="en-US" altLang="zh-CN" dirty="0"/>
              <a:t>-U</a:t>
            </a:r>
            <a:r>
              <a:rPr lang="zh-CN" altLang="en-US" dirty="0"/>
              <a:t>（</a:t>
            </a:r>
            <a:r>
              <a:rPr lang="en-US" altLang="zh-CN" dirty="0"/>
              <a:t>HIV-</a:t>
            </a:r>
            <a:r>
              <a:rPr lang="zh-CN" altLang="en-US" dirty="0"/>
              <a:t>，治療）</a:t>
            </a:r>
            <a:r>
              <a:rPr lang="en-US" altLang="zh-CN" dirty="0"/>
              <a:t>=75.5-75.46=0.04 QALE</a:t>
            </a:r>
            <a:r>
              <a:rPr lang="zh-CN" altLang="en-US" dirty="0"/>
              <a:t>；</a:t>
            </a:r>
            <a:endParaRPr lang="en-US" altLang="zh-CN" dirty="0"/>
          </a:p>
          <a:p>
            <a:r>
              <a:rPr lang="en-US" altLang="zh-CN" dirty="0"/>
              <a:t>B=U</a:t>
            </a:r>
            <a:r>
              <a:rPr lang="zh-CN" altLang="en-US" dirty="0"/>
              <a:t>（</a:t>
            </a:r>
            <a:r>
              <a:rPr lang="en-US" altLang="zh-CN" dirty="0"/>
              <a:t>HIV+</a:t>
            </a:r>
            <a:r>
              <a:rPr lang="zh-CN" altLang="en-US" dirty="0"/>
              <a:t>，治療）</a:t>
            </a:r>
            <a:r>
              <a:rPr lang="en-US" altLang="zh-CN" dirty="0"/>
              <a:t>-U</a:t>
            </a:r>
            <a:r>
              <a:rPr lang="zh-CN" altLang="en-US" dirty="0"/>
              <a:t>（</a:t>
            </a:r>
            <a:r>
              <a:rPr lang="en-US" altLang="zh-CN" dirty="0"/>
              <a:t>HIV+</a:t>
            </a:r>
            <a:r>
              <a:rPr lang="zh-CN" altLang="en-US" dirty="0"/>
              <a:t>，不治療）</a:t>
            </a:r>
            <a:r>
              <a:rPr lang="en-US" altLang="zh-CN" dirty="0"/>
              <a:t>=10.50-10.00=0.50 QALE</a:t>
            </a:r>
            <a:r>
              <a:rPr lang="zh-CN" altLang="en-US" dirty="0"/>
              <a:t>；</a:t>
            </a:r>
            <a:endParaRPr lang="en-US" altLang="zh-CN" dirty="0"/>
          </a:p>
          <a:p>
            <a:r>
              <a:rPr lang="zh-CN" altLang="en-US" dirty="0"/>
              <a:t>治療閾值概率</a:t>
            </a:r>
            <a:r>
              <a:rPr lang="en-US" altLang="zh-CN" dirty="0"/>
              <a:t>=H/</a:t>
            </a:r>
            <a:r>
              <a:rPr lang="zh-CN" altLang="en-US" dirty="0"/>
              <a:t>（</a:t>
            </a:r>
            <a:r>
              <a:rPr lang="en-US" altLang="zh-CN" dirty="0"/>
              <a:t>H+B</a:t>
            </a:r>
            <a:r>
              <a:rPr lang="zh-CN" altLang="en-US" dirty="0"/>
              <a:t>）</a:t>
            </a:r>
            <a:r>
              <a:rPr lang="en-US" altLang="zh-CN" dirty="0"/>
              <a:t>=0.04/0.54=0.074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第二步，通過查閱文獻或諮詢有經驗的醫生，得知</a:t>
            </a:r>
            <a:r>
              <a:rPr lang="en-US" altLang="zh-CN" dirty="0"/>
              <a:t>HIV</a:t>
            </a:r>
            <a:r>
              <a:rPr lang="zh-CN" altLang="en-US" dirty="0"/>
              <a:t>的驗前概率為</a:t>
            </a:r>
            <a:r>
              <a:rPr lang="en-US" altLang="zh-CN" dirty="0"/>
              <a:t>0.08</a:t>
            </a:r>
            <a:r>
              <a:rPr lang="zh-CN" altLang="en-US" dirty="0"/>
              <a:t>＞治療閾值概率</a:t>
            </a:r>
            <a:r>
              <a:rPr lang="en-US" altLang="zh-CN" dirty="0"/>
              <a:t>0.074</a:t>
            </a:r>
            <a:r>
              <a:rPr lang="zh-CN" altLang="en-US" dirty="0"/>
              <a:t>；選擇實施檢驗減少診斷的不確定性。</a:t>
            </a:r>
            <a:endParaRPr lang="en-US" altLang="zh-CN" dirty="0"/>
          </a:p>
          <a:p>
            <a:r>
              <a:rPr lang="zh-CN" altLang="en-US" dirty="0"/>
              <a:t>第三步，通過查閱文獻或諮詢有經驗的醫生，得知</a:t>
            </a:r>
            <a:r>
              <a:rPr lang="en-US" altLang="zh-CN" dirty="0"/>
              <a:t>PCR</a:t>
            </a:r>
            <a:r>
              <a:rPr lang="zh-CN" altLang="en-US" dirty="0"/>
              <a:t>檢驗的敏感度和特異度都為</a:t>
            </a:r>
            <a:r>
              <a:rPr lang="en-US" altLang="zh-CN" dirty="0"/>
              <a:t>0.98</a:t>
            </a:r>
            <a:r>
              <a:rPr lang="zh-CN" altLang="en-US" dirty="0"/>
              <a:t>；</a:t>
            </a:r>
            <a:endParaRPr lang="en-US" altLang="zh-CN" dirty="0"/>
          </a:p>
          <a:p>
            <a:r>
              <a:rPr lang="zh-CN" altLang="en-US" dirty="0"/>
              <a:t>根據貝葉斯原理，若檢驗結果為陽性，則驗後概率為</a:t>
            </a:r>
            <a:r>
              <a:rPr lang="en-US" altLang="zh-CN" dirty="0"/>
              <a:t>0.8099</a:t>
            </a:r>
            <a:r>
              <a:rPr lang="zh-CN" altLang="en-US" dirty="0"/>
              <a:t>＞治療閾值概率</a:t>
            </a:r>
            <a:r>
              <a:rPr lang="en-US" altLang="zh-CN" dirty="0"/>
              <a:t>0.074</a:t>
            </a:r>
            <a:r>
              <a:rPr lang="zh-CN" altLang="en-US" dirty="0"/>
              <a:t>，進行治療；</a:t>
            </a:r>
            <a:endParaRPr lang="en-US" altLang="zh-CN" dirty="0"/>
          </a:p>
          <a:p>
            <a:r>
              <a:rPr lang="zh-CN" altLang="en-US" dirty="0"/>
              <a:t>若檢驗結果為陰性，則驗後概率為：</a:t>
            </a:r>
            <a:r>
              <a:rPr lang="en-US" altLang="zh-CN" dirty="0"/>
              <a:t>0.0018</a:t>
            </a:r>
            <a:r>
              <a:rPr lang="zh-CN" altLang="en-US" dirty="0"/>
              <a:t>＜治療閾值概率</a:t>
            </a:r>
            <a:r>
              <a:rPr lang="en-US" altLang="zh-CN" dirty="0"/>
              <a:t>0.074</a:t>
            </a:r>
            <a:r>
              <a:rPr lang="zh-CN" altLang="en-US" dirty="0"/>
              <a:t>，不進行治療。</a:t>
            </a:r>
            <a:endParaRPr lang="en-US" altLang="zh-CN" dirty="0"/>
          </a:p>
          <a:p>
            <a:r>
              <a:rPr lang="zh-CN" altLang="en-US" dirty="0"/>
              <a:t>臨床上決策問題與相應的決策支持方法還有很多，我們這裡僅取較為常見的問題及決策方法進行了簡單介紹，下面我們再來瞭解下臨床決策支援系統。</a:t>
            </a:r>
            <a:endParaRPr lang="en-US" altLang="zh-CN" dirty="0"/>
          </a:p>
          <a:p>
            <a:endParaRPr lang="en-US" altLang="zh-CN" dirty="0">
              <a:ea typeface="宋体" pitchFamily="2" charset="-122"/>
            </a:endParaRPr>
          </a:p>
          <a:p>
            <a:r>
              <a:rPr lang="en-US" altLang="zh-CN" dirty="0">
                <a:ea typeface="宋体" pitchFamily="2" charset="-122"/>
              </a:rPr>
              <a:t>Decision analysis: a progress report.</a:t>
            </a:r>
          </a:p>
          <a:p>
            <a:r>
              <a:rPr lang="zh-CN" altLang="en-US" dirty="0">
                <a:ea typeface="宋体" pitchFamily="2" charset="-122"/>
              </a:rPr>
              <a:t>作 者：</a:t>
            </a:r>
            <a:r>
              <a:rPr lang="en-US" altLang="zh-CN" dirty="0">
                <a:ea typeface="宋体" pitchFamily="2" charset="-122"/>
              </a:rPr>
              <a:t>J P, </a:t>
            </a:r>
            <a:r>
              <a:rPr lang="en-US" altLang="zh-CN" dirty="0" err="1">
                <a:ea typeface="宋体" pitchFamily="2" charset="-122"/>
              </a:rPr>
              <a:t>Kassirer</a:t>
            </a:r>
            <a:r>
              <a:rPr lang="zh-CN" altLang="en-US" dirty="0">
                <a:ea typeface="宋体" pitchFamily="2" charset="-122"/>
              </a:rPr>
              <a:t>；</a:t>
            </a:r>
            <a:r>
              <a:rPr lang="en-US" altLang="zh-CN" dirty="0">
                <a:ea typeface="宋体" pitchFamily="2" charset="-122"/>
              </a:rPr>
              <a:t>A J, </a:t>
            </a:r>
            <a:r>
              <a:rPr lang="en-US" altLang="zh-CN" dirty="0" err="1">
                <a:ea typeface="宋体" pitchFamily="2" charset="-122"/>
              </a:rPr>
              <a:t>Moskowitz</a:t>
            </a:r>
            <a:r>
              <a:rPr lang="zh-CN" altLang="en-US" dirty="0">
                <a:ea typeface="宋体" pitchFamily="2" charset="-122"/>
              </a:rPr>
              <a:t>；</a:t>
            </a:r>
            <a:r>
              <a:rPr lang="en-US" altLang="zh-CN" dirty="0">
                <a:ea typeface="宋体" pitchFamily="2" charset="-122"/>
              </a:rPr>
              <a:t>J, Lau</a:t>
            </a:r>
            <a:r>
              <a:rPr lang="zh-CN" altLang="en-US" dirty="0">
                <a:ea typeface="宋体" pitchFamily="2" charset="-122"/>
              </a:rPr>
              <a:t>；</a:t>
            </a:r>
            <a:r>
              <a:rPr lang="en-US" altLang="zh-CN" dirty="0">
                <a:ea typeface="宋体" pitchFamily="2" charset="-122"/>
              </a:rPr>
              <a:t>S G, </a:t>
            </a:r>
            <a:r>
              <a:rPr lang="en-US" altLang="zh-CN" dirty="0" err="1">
                <a:ea typeface="宋体" pitchFamily="2" charset="-122"/>
              </a:rPr>
              <a:t>Pauker</a:t>
            </a:r>
            <a:endParaRPr lang="en-US" altLang="zh-CN" dirty="0">
              <a:ea typeface="宋体" pitchFamily="2" charset="-122"/>
            </a:endParaRPr>
          </a:p>
          <a:p>
            <a:r>
              <a:rPr lang="zh-CN" altLang="en-US" dirty="0">
                <a:ea typeface="宋体" pitchFamily="2" charset="-122"/>
              </a:rPr>
              <a:t>刊 名：</a:t>
            </a:r>
            <a:r>
              <a:rPr lang="en-US" altLang="zh-CN" dirty="0">
                <a:ea typeface="宋体" pitchFamily="2" charset="-122"/>
              </a:rPr>
              <a:t>Annals of internal medicine  1987</a:t>
            </a:r>
            <a:r>
              <a:rPr lang="zh-CN" altLang="en-US" dirty="0">
                <a:ea typeface="宋体" pitchFamily="2" charset="-122"/>
              </a:rPr>
              <a:t>年</a:t>
            </a:r>
            <a:r>
              <a:rPr lang="en-US" altLang="zh-CN" dirty="0">
                <a:ea typeface="宋体" pitchFamily="2" charset="-122"/>
              </a:rPr>
              <a:t>106</a:t>
            </a:r>
            <a:r>
              <a:rPr lang="zh-CN" altLang="en-US" dirty="0">
                <a:ea typeface="宋体" pitchFamily="2" charset="-122"/>
              </a:rPr>
              <a:t>卷</a:t>
            </a:r>
            <a:r>
              <a:rPr lang="en-US" altLang="zh-CN" dirty="0">
                <a:ea typeface="宋体" pitchFamily="2" charset="-122"/>
              </a:rPr>
              <a:t>2</a:t>
            </a:r>
            <a:r>
              <a:rPr lang="zh-CN" altLang="en-US" dirty="0">
                <a:ea typeface="宋体" pitchFamily="2" charset="-122"/>
              </a:rPr>
              <a:t>期 </a:t>
            </a:r>
            <a:r>
              <a:rPr lang="en-US" altLang="zh-CN" dirty="0">
                <a:ea typeface="宋体" pitchFamily="2" charset="-122"/>
              </a:rPr>
              <a:t>275-291</a:t>
            </a:r>
            <a:r>
              <a:rPr lang="zh-CN" altLang="en-US" dirty="0">
                <a:ea typeface="宋体" pitchFamily="2" charset="-122"/>
              </a:rPr>
              <a:t>頁</a:t>
            </a:r>
          </a:p>
          <a:p>
            <a:endParaRPr lang="en-US" altLang="zh-CN" dirty="0">
              <a:ea typeface="宋体" pitchFamily="2" charset="-122"/>
            </a:endParaRPr>
          </a:p>
          <a:p>
            <a:r>
              <a:rPr lang="en-US" altLang="zh-CN" dirty="0">
                <a:ea typeface="宋体" pitchFamily="2" charset="-122"/>
              </a:rPr>
              <a:t>Canadian Task Force on the Periodic Health </a:t>
            </a:r>
            <a:r>
              <a:rPr lang="en-US" altLang="zh-CN" dirty="0" err="1">
                <a:ea typeface="宋体" pitchFamily="2" charset="-122"/>
              </a:rPr>
              <a:t>Examination:The</a:t>
            </a:r>
            <a:r>
              <a:rPr lang="en-US" altLang="zh-CN" dirty="0">
                <a:ea typeface="宋体" pitchFamily="2" charset="-122"/>
              </a:rPr>
              <a:t> periodic health </a:t>
            </a:r>
            <a:r>
              <a:rPr lang="en-US" altLang="zh-CN" dirty="0" err="1">
                <a:ea typeface="宋体" pitchFamily="2" charset="-122"/>
              </a:rPr>
              <a:t>examination.CMAJ</a:t>
            </a:r>
            <a:r>
              <a:rPr lang="en-US" altLang="zh-CN" dirty="0">
                <a:ea typeface="宋体" pitchFamily="2" charset="-122"/>
              </a:rPr>
              <a:t>, 1979, 121(19):1193-1254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Chest, 1986, 89(2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):2S-3S.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clinical recommendations on the use of antithrombotic agents. Archives </a:t>
            </a:r>
            <a:r>
              <a:rPr lang="en-US" altLang="zh-CN" dirty="0" err="1">
                <a:ea typeface="宋体" pitchFamily="2" charset="-122"/>
              </a:rPr>
              <a:t>Int</a:t>
            </a:r>
            <a:r>
              <a:rPr lang="en-US" altLang="zh-CN" dirty="0">
                <a:ea typeface="宋体" pitchFamily="2" charset="-122"/>
              </a:rPr>
              <a:t> Med, 1986, 146(3):464-465.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Sinclair JC, et al. Users’ guides to the medical l </a:t>
            </a:r>
            <a:r>
              <a:rPr lang="en-US" altLang="zh-CN" dirty="0" err="1">
                <a:ea typeface="宋体" pitchFamily="2" charset="-122"/>
              </a:rPr>
              <a:t>iterature</a:t>
            </a:r>
            <a:r>
              <a:rPr lang="en-US" altLang="zh-CN" dirty="0">
                <a:ea typeface="宋体" pitchFamily="2" charset="-122"/>
              </a:rPr>
              <a:t>. IX. A method for grading health care recommendations. Evidence-Based Medicine Working Group. JAMA, 1995, 274(22): 1800-1804.</a:t>
            </a:r>
          </a:p>
          <a:p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DL. Rules of evidence and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on the use of antithrombotic </a:t>
            </a:r>
            <a:r>
              <a:rPr lang="en-US" altLang="zh-CN" dirty="0" err="1">
                <a:ea typeface="宋体" pitchFamily="2" charset="-122"/>
              </a:rPr>
              <a:t>agents.Chest</a:t>
            </a:r>
            <a:r>
              <a:rPr lang="en-US" altLang="zh-CN" dirty="0">
                <a:ea typeface="宋体" pitchFamily="2" charset="-122"/>
              </a:rPr>
              <a:t>, 1989, 95(2):2S-4S.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Rules of evidence and clinical recommendations on the use of antithrombotic agents. Chest, 1992, 102(4): 305S-311S.</a:t>
            </a:r>
          </a:p>
          <a:p>
            <a:r>
              <a:rPr lang="en-US" altLang="zh-CN" dirty="0">
                <a:ea typeface="宋体" pitchFamily="2" charset="-122"/>
              </a:rPr>
              <a:t>Cook DJ, </a:t>
            </a:r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</a:t>
            </a:r>
            <a:r>
              <a:rPr lang="en-US" altLang="zh-CN" dirty="0" err="1">
                <a:ea typeface="宋体" pitchFamily="2" charset="-122"/>
              </a:rPr>
              <a:t>Laupacis</a:t>
            </a:r>
            <a:r>
              <a:rPr lang="en-US" altLang="zh-CN" dirty="0">
                <a:ea typeface="宋体" pitchFamily="2" charset="-122"/>
              </a:rPr>
              <a:t> A, et al. </a:t>
            </a:r>
            <a:r>
              <a:rPr lang="en-US" altLang="zh-CN" dirty="0" err="1">
                <a:ea typeface="宋体" pitchFamily="2" charset="-122"/>
              </a:rPr>
              <a:t>Cl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recommendations using levels of evidence for antithrombotic agents. Chest, 1995,108(4): 227S-230S.</a:t>
            </a:r>
          </a:p>
          <a:p>
            <a:r>
              <a:rPr lang="en-US" altLang="zh-CN" dirty="0">
                <a:ea typeface="宋体" pitchFamily="2" charset="-122"/>
              </a:rPr>
              <a:t>http://www.cebm.net/levels_of_evidence.asp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GH, Cook DJ, </a:t>
            </a:r>
            <a:r>
              <a:rPr lang="en-US" altLang="zh-CN" dirty="0" err="1">
                <a:ea typeface="宋体" pitchFamily="2" charset="-122"/>
              </a:rPr>
              <a:t>Sackett</a:t>
            </a:r>
            <a:r>
              <a:rPr lang="en-US" altLang="zh-CN" dirty="0">
                <a:ea typeface="宋体" pitchFamily="2" charset="-122"/>
              </a:rPr>
              <a:t> DL, et al. Grades of recommendation for antithrombotic agents. Chest, 1998, 114(5 </a:t>
            </a:r>
            <a:r>
              <a:rPr lang="en-US" altLang="zh-CN" dirty="0" err="1">
                <a:ea typeface="宋体" pitchFamily="2" charset="-122"/>
              </a:rPr>
              <a:t>Suppl</a:t>
            </a:r>
            <a:r>
              <a:rPr lang="en-US" altLang="zh-CN" dirty="0">
                <a:ea typeface="宋体" pitchFamily="2" charset="-122"/>
              </a:rPr>
              <a:t>): 441S-444S.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S c h </a:t>
            </a:r>
            <a:r>
              <a:rPr lang="en-US" altLang="zh-CN" dirty="0" err="1">
                <a:ea typeface="宋体" pitchFamily="2" charset="-122"/>
              </a:rPr>
              <a:t>ünemann</a:t>
            </a:r>
            <a:r>
              <a:rPr lang="en-US" altLang="zh-CN" dirty="0">
                <a:ea typeface="宋体" pitchFamily="2" charset="-122"/>
              </a:rPr>
              <a:t> H, Cook D, </a:t>
            </a:r>
            <a:r>
              <a:rPr lang="en-US" altLang="zh-CN" dirty="0" err="1">
                <a:ea typeface="宋体" pitchFamily="2" charset="-122"/>
              </a:rPr>
              <a:t>etal.Gradesof</a:t>
            </a:r>
            <a:r>
              <a:rPr lang="en-US" altLang="zh-CN" dirty="0">
                <a:ea typeface="宋体" pitchFamily="2" charset="-122"/>
              </a:rPr>
              <a:t> Recommendation for Antithrombotic Agents. Chest, 2001, 119(1):3S-7S.</a:t>
            </a:r>
          </a:p>
          <a:p>
            <a:r>
              <a:rPr lang="en-US" altLang="zh-CN" dirty="0">
                <a:ea typeface="宋体" pitchFamily="2" charset="-122"/>
              </a:rPr>
              <a:t>Atkins D, Best D, </a:t>
            </a:r>
            <a:r>
              <a:rPr lang="en-US" altLang="zh-CN" dirty="0" err="1">
                <a:ea typeface="宋体" pitchFamily="2" charset="-122"/>
              </a:rPr>
              <a:t>Briss</a:t>
            </a:r>
            <a:r>
              <a:rPr lang="en-US" altLang="zh-CN" dirty="0">
                <a:ea typeface="宋体" pitchFamily="2" charset="-122"/>
              </a:rPr>
              <a:t> PA, et </a:t>
            </a:r>
            <a:r>
              <a:rPr lang="en-US" altLang="zh-CN" dirty="0" err="1">
                <a:ea typeface="宋体" pitchFamily="2" charset="-122"/>
              </a:rPr>
              <a:t>al.Grading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and strength of recommendations. BMJ, 2004, 328(7454):1490-1494</a:t>
            </a:r>
          </a:p>
          <a:p>
            <a:r>
              <a:rPr lang="en-US" altLang="zh-CN" dirty="0">
                <a:ea typeface="宋体" pitchFamily="2" charset="-122"/>
              </a:rPr>
              <a:t>http://www.gradeworkinggroup.org/about_us.htm</a:t>
            </a:r>
          </a:p>
          <a:p>
            <a:r>
              <a:rPr lang="en-US" altLang="zh-CN" dirty="0" err="1">
                <a:ea typeface="宋体" pitchFamily="2" charset="-122"/>
              </a:rPr>
              <a:t>Guyatt</a:t>
            </a:r>
            <a:r>
              <a:rPr lang="en-US" altLang="zh-CN" dirty="0">
                <a:ea typeface="宋体" pitchFamily="2" charset="-122"/>
              </a:rPr>
              <a:t> G, </a:t>
            </a:r>
            <a:r>
              <a:rPr lang="en-US" altLang="zh-CN" dirty="0" err="1">
                <a:ea typeface="宋体" pitchFamily="2" charset="-122"/>
              </a:rPr>
              <a:t>Gutterman</a:t>
            </a:r>
            <a:r>
              <a:rPr lang="en-US" altLang="zh-CN" dirty="0">
                <a:ea typeface="宋体" pitchFamily="2" charset="-122"/>
              </a:rPr>
              <a:t> D, Baumann MH, et al. Grading strength of recommendations and </a:t>
            </a:r>
            <a:r>
              <a:rPr lang="en-US" altLang="zh-CN" dirty="0" err="1">
                <a:ea typeface="宋体" pitchFamily="2" charset="-122"/>
              </a:rPr>
              <a:t>qual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ity</a:t>
            </a:r>
            <a:r>
              <a:rPr lang="en-US" altLang="zh-CN" dirty="0">
                <a:ea typeface="宋体" pitchFamily="2" charset="-122"/>
              </a:rPr>
              <a:t> of evidence in cl </a:t>
            </a:r>
            <a:r>
              <a:rPr lang="en-US" altLang="zh-CN" dirty="0" err="1">
                <a:ea typeface="宋体" pitchFamily="2" charset="-122"/>
              </a:rPr>
              <a:t>inical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guidel</a:t>
            </a:r>
            <a:r>
              <a:rPr lang="en-US" altLang="zh-CN" dirty="0">
                <a:ea typeface="宋体" pitchFamily="2" charset="-122"/>
              </a:rPr>
              <a:t> </a:t>
            </a:r>
            <a:r>
              <a:rPr lang="en-US" altLang="zh-CN" dirty="0" err="1">
                <a:ea typeface="宋体" pitchFamily="2" charset="-122"/>
              </a:rPr>
              <a:t>ines:report</a:t>
            </a:r>
            <a:r>
              <a:rPr lang="en-US" altLang="zh-CN" dirty="0">
                <a:ea typeface="宋体" pitchFamily="2" charset="-122"/>
              </a:rPr>
              <a:t> from an </a:t>
            </a:r>
            <a:r>
              <a:rPr lang="en-US" altLang="zh-CN" dirty="0" err="1">
                <a:ea typeface="宋体" pitchFamily="2" charset="-122"/>
              </a:rPr>
              <a:t>american</a:t>
            </a:r>
            <a:r>
              <a:rPr lang="en-US" altLang="zh-CN" dirty="0">
                <a:ea typeface="宋体" pitchFamily="2" charset="-122"/>
              </a:rPr>
              <a:t> college of chest physicians task force. Chest,2006, 129(1):174-181.</a:t>
            </a:r>
          </a:p>
          <a:p>
            <a:r>
              <a:rPr lang="en-US" altLang="zh-CN" dirty="0">
                <a:ea typeface="宋体" pitchFamily="2" charset="-122"/>
              </a:rPr>
              <a:t>Aragon CL, </a:t>
            </a:r>
            <a:r>
              <a:rPr lang="en-US" altLang="zh-CN" dirty="0" err="1">
                <a:ea typeface="宋体" pitchFamily="2" charset="-122"/>
              </a:rPr>
              <a:t>Budsberg</a:t>
            </a:r>
            <a:r>
              <a:rPr lang="en-US" altLang="zh-CN" dirty="0">
                <a:ea typeface="宋体" pitchFamily="2" charset="-122"/>
              </a:rPr>
              <a:t> SC. Applications of Evidence-Based </a:t>
            </a:r>
            <a:r>
              <a:rPr lang="en-US" altLang="zh-CN" dirty="0" err="1">
                <a:ea typeface="宋体" pitchFamily="2" charset="-122"/>
              </a:rPr>
              <a:t>Medicine:Cranial</a:t>
            </a:r>
            <a:r>
              <a:rPr lang="en-US" altLang="zh-CN" dirty="0">
                <a:ea typeface="宋体" pitchFamily="2" charset="-122"/>
              </a:rPr>
              <a:t> Cruciate Ligament Injury Repair in the Dog Veterinary Surgery. 34(2): 93–98.</a:t>
            </a:r>
          </a:p>
          <a:p>
            <a:r>
              <a:rPr lang="en-US" altLang="zh-CN" dirty="0">
                <a:ea typeface="宋体" pitchFamily="2" charset="-122"/>
              </a:rPr>
              <a:t>http://library.downstate.edu/ebmdos/2100.htm</a:t>
            </a:r>
          </a:p>
        </p:txBody>
      </p:sp>
      <p:sp>
        <p:nvSpPr>
          <p:cNvPr id="24580" name="灯片编号占位符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 eaLnBrk="1" hangingPunct="1"/>
            <a:fld id="{F2A7AC83-3E51-4C36-BE6A-771C72EBD479}" type="slidenum">
              <a:rPr lang="en-US" altLang="zh-CN" smtClean="0"/>
              <a:pPr eaLnBrk="1" hangingPunct="1"/>
              <a:t>18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5492553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4.wmf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4.xml"/><Relationship Id="rId4" Type="http://schemas.openxmlformats.org/officeDocument/2006/relationships/image" Target="../media/image4.wmf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9" descr="PPT用图2 16 9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968" b="2744"/>
          <a:stretch>
            <a:fillRect/>
          </a:stretch>
        </p:blipFill>
        <p:spPr bwMode="auto">
          <a:xfrm>
            <a:off x="3" y="0"/>
            <a:ext cx="11522075" cy="572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 Box 10"/>
          <p:cNvSpPr txBox="1">
            <a:spLocks noChangeArrowheads="1"/>
          </p:cNvSpPr>
          <p:nvPr userDrawn="1"/>
        </p:nvSpPr>
        <p:spPr bwMode="auto">
          <a:xfrm>
            <a:off x="387350" y="6092825"/>
            <a:ext cx="1906589" cy="20955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lIns="80115" tIns="40058" rIns="80115" bIns="40058"/>
          <a:lstStyle>
            <a:lvl1pPr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1pPr>
            <a:lvl2pPr marL="742950" indent="-28575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2pPr>
            <a:lvl3pPr marL="11430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3pPr>
            <a:lvl4pPr marL="16002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4pPr>
            <a:lvl5pPr marL="20574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5pPr>
            <a:lvl6pPr marL="25146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6pPr>
            <a:lvl7pPr marL="29718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7pPr>
            <a:lvl8pPr marL="34290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8pPr>
            <a:lvl9pPr marL="38862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9pPr>
          </a:lstStyle>
          <a:p>
            <a:pPr eaLnBrk="0" hangingPunct="0">
              <a:spcBef>
                <a:spcPct val="70000"/>
              </a:spcBef>
              <a:buClr>
                <a:srgbClr val="990000"/>
              </a:buClr>
              <a:buFont typeface="Wingdings" pitchFamily="2" charset="2"/>
              <a:buNone/>
              <a:defRPr/>
            </a:pPr>
            <a:endParaRPr lang="zh-CN" altLang="zh-CN" sz="800">
              <a:ea typeface="Arial Unicode MS" pitchFamily="34" charset="-122"/>
              <a:cs typeface="Arial Unicode MS" pitchFamily="34" charset="-122"/>
            </a:endParaRPr>
          </a:p>
        </p:txBody>
      </p:sp>
      <p:sp>
        <p:nvSpPr>
          <p:cNvPr id="20495" name="Rectangle 15"/>
          <p:cNvSpPr>
            <a:spLocks noGrp="1" noChangeArrowheads="1"/>
          </p:cNvSpPr>
          <p:nvPr>
            <p:ph type="ctrTitle"/>
          </p:nvPr>
        </p:nvSpPr>
        <p:spPr>
          <a:xfrm>
            <a:off x="620714" y="284165"/>
            <a:ext cx="9793288" cy="1163637"/>
          </a:xfrm>
        </p:spPr>
        <p:txBody>
          <a:bodyPr/>
          <a:lstStyle>
            <a:lvl1pPr>
              <a:defRPr sz="3000">
                <a:solidFill>
                  <a:schemeClr val="bg1"/>
                </a:solidFill>
                <a:latin typeface="方正兰亭黑6_GBK" pitchFamily="2" charset="-122"/>
              </a:defRPr>
            </a:lvl1pPr>
          </a:lstStyle>
          <a:p>
            <a:pPr lvl="0"/>
            <a:r>
              <a:rPr lang="zh-CN" altLang="en-US" noProof="0"/>
              <a:t>主标</a:t>
            </a:r>
            <a:r>
              <a:rPr lang="en-US" altLang="zh-CN" noProof="0"/>
              <a:t>-</a:t>
            </a:r>
            <a:r>
              <a:rPr lang="zh-CN" altLang="en-US" noProof="0"/>
              <a:t>兰亭黑</a:t>
            </a:r>
            <a:r>
              <a:rPr lang="en-US" altLang="zh-CN" noProof="0"/>
              <a:t>6,30</a:t>
            </a:r>
            <a:r>
              <a:rPr lang="zh-CN" altLang="en-US" noProof="0"/>
              <a:t>号字</a:t>
            </a:r>
          </a:p>
        </p:txBody>
      </p:sp>
      <p:sp>
        <p:nvSpPr>
          <p:cNvPr id="20496" name="Rectangle 16"/>
          <p:cNvSpPr>
            <a:spLocks noGrp="1" noChangeArrowheads="1"/>
          </p:cNvSpPr>
          <p:nvPr>
            <p:ph type="subTitle" idx="1"/>
          </p:nvPr>
        </p:nvSpPr>
        <p:spPr>
          <a:xfrm>
            <a:off x="620717" y="1592263"/>
            <a:ext cx="8064500" cy="773112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400">
                <a:solidFill>
                  <a:schemeClr val="bg1"/>
                </a:solidFill>
                <a:latin typeface="方正兰亭黑6_GBK" pitchFamily="2" charset="-122"/>
                <a:ea typeface="方正兰亭黑6_GBK" pitchFamily="2" charset="-122"/>
              </a:defRPr>
            </a:lvl1pPr>
          </a:lstStyle>
          <a:p>
            <a:pPr lvl="0"/>
            <a:r>
              <a:rPr lang="zh-CN" altLang="en-US" noProof="0"/>
              <a:t>副标</a:t>
            </a:r>
            <a:r>
              <a:rPr lang="en-US" altLang="zh-CN" noProof="0"/>
              <a:t>-</a:t>
            </a:r>
            <a:r>
              <a:rPr lang="zh-CN" altLang="en-US" noProof="0"/>
              <a:t>兰亭黑</a:t>
            </a:r>
            <a:r>
              <a:rPr lang="en-US" altLang="zh-CN" noProof="0"/>
              <a:t>6,24</a:t>
            </a:r>
            <a:r>
              <a:rPr lang="zh-CN" altLang="en-US" noProof="0"/>
              <a:t>号字</a:t>
            </a:r>
          </a:p>
        </p:txBody>
      </p:sp>
    </p:spTree>
    <p:extLst>
      <p:ext uri="{BB962C8B-B14F-4D97-AF65-F5344CB8AC3E}">
        <p14:creationId xmlns:p14="http://schemas.microsoft.com/office/powerpoint/2010/main" val="1554619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3105304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09638" y="4164013"/>
            <a:ext cx="9794875" cy="1287462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09638" y="2746375"/>
            <a:ext cx="9794875" cy="1417638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4266025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03217" y="1087438"/>
            <a:ext cx="5356224" cy="477678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811840" y="1087438"/>
            <a:ext cx="5356224" cy="477678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3673478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76263" y="258765"/>
            <a:ext cx="10369550" cy="1081087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76262" y="1450975"/>
            <a:ext cx="5091112" cy="60483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76262" y="2055813"/>
            <a:ext cx="5091112" cy="37322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5853115" y="1450975"/>
            <a:ext cx="5092700" cy="60483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5853115" y="2055813"/>
            <a:ext cx="5092700" cy="37322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3699571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304042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623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76263" y="258763"/>
            <a:ext cx="3790950" cy="1096962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05324" y="258763"/>
            <a:ext cx="6440488" cy="552926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76263" y="1355725"/>
            <a:ext cx="3790950" cy="44323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520361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259015" y="4535490"/>
            <a:ext cx="6911975" cy="5365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259015" y="579438"/>
            <a:ext cx="6911975" cy="38877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259015" y="5072063"/>
            <a:ext cx="6911975" cy="7604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163909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24163220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451850" y="44452"/>
            <a:ext cx="2716213" cy="58197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03216" y="44452"/>
            <a:ext cx="7996237" cy="58197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14024782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03215" y="44450"/>
            <a:ext cx="10864851" cy="1046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303217" y="1087438"/>
            <a:ext cx="5356224" cy="477678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811840" y="1087438"/>
            <a:ext cx="5356224" cy="477678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23046957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标题，文本与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03215" y="44450"/>
            <a:ext cx="10864851" cy="1046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303217" y="1087438"/>
            <a:ext cx="5356224" cy="477678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quarter" idx="2"/>
          </p:nvPr>
        </p:nvSpPr>
        <p:spPr>
          <a:xfrm>
            <a:off x="5811840" y="1087438"/>
            <a:ext cx="5356224" cy="231140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内容占位符 4"/>
          <p:cNvSpPr>
            <a:spLocks noGrp="1"/>
          </p:cNvSpPr>
          <p:nvPr>
            <p:ph sz="quarter" idx="3"/>
          </p:nvPr>
        </p:nvSpPr>
        <p:spPr>
          <a:xfrm>
            <a:off x="5811840" y="3551240"/>
            <a:ext cx="5356224" cy="231298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35748670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3" descr="81785148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224" b="20911"/>
          <a:stretch>
            <a:fillRect/>
          </a:stretch>
        </p:blipFill>
        <p:spPr bwMode="auto">
          <a:xfrm>
            <a:off x="3" y="2"/>
            <a:ext cx="11522075" cy="3908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21" descr="PPT用图16 9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1" t="59732" r="491" b="2483"/>
          <a:stretch>
            <a:fillRect/>
          </a:stretch>
        </p:blipFill>
        <p:spPr bwMode="auto">
          <a:xfrm>
            <a:off x="3" y="3879850"/>
            <a:ext cx="11522075" cy="2476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Box 10"/>
          <p:cNvSpPr txBox="1">
            <a:spLocks noChangeArrowheads="1"/>
          </p:cNvSpPr>
          <p:nvPr/>
        </p:nvSpPr>
        <p:spPr bwMode="auto">
          <a:xfrm>
            <a:off x="387350" y="6092825"/>
            <a:ext cx="1906589" cy="20955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lIns="80115" tIns="40058" rIns="80115" bIns="40058"/>
          <a:lstStyle>
            <a:lvl1pPr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1pPr>
            <a:lvl2pPr marL="742950" indent="-28575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2pPr>
            <a:lvl3pPr marL="11430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3pPr>
            <a:lvl4pPr marL="16002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4pPr>
            <a:lvl5pPr marL="20574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5pPr>
            <a:lvl6pPr marL="25146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6pPr>
            <a:lvl7pPr marL="29718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7pPr>
            <a:lvl8pPr marL="34290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8pPr>
            <a:lvl9pPr marL="38862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9pPr>
          </a:lstStyle>
          <a:p>
            <a:pPr eaLnBrk="0" hangingPunct="0">
              <a:spcBef>
                <a:spcPct val="70000"/>
              </a:spcBef>
              <a:buClr>
                <a:srgbClr val="990000"/>
              </a:buClr>
              <a:buFont typeface="Wingdings" pitchFamily="2" charset="2"/>
              <a:buNone/>
              <a:defRPr/>
            </a:pPr>
            <a:r>
              <a:rPr lang="en-US" altLang="zh-CN" sz="800" dirty="0">
                <a:ea typeface="Arial Unicode MS" pitchFamily="34" charset="-122"/>
                <a:cs typeface="Arial Unicode MS" pitchFamily="34" charset="-122"/>
              </a:rPr>
              <a:t>© 2011 </a:t>
            </a:r>
            <a:r>
              <a:rPr lang="en-US" altLang="zh-CN" sz="800" dirty="0" err="1">
                <a:ea typeface="Arial Unicode MS" pitchFamily="34" charset="-122"/>
                <a:cs typeface="Arial Unicode MS" pitchFamily="34" charset="-122"/>
              </a:rPr>
              <a:t>Mindray</a:t>
            </a:r>
            <a:r>
              <a:rPr lang="en-US" altLang="zh-CN" sz="800" dirty="0">
                <a:ea typeface="Arial Unicode MS" pitchFamily="34" charset="-122"/>
                <a:cs typeface="Arial Unicode MS" pitchFamily="34" charset="-122"/>
              </a:rPr>
              <a:t> Confidential</a:t>
            </a:r>
          </a:p>
        </p:txBody>
      </p:sp>
      <p:pic>
        <p:nvPicPr>
          <p:cNvPr id="7" name="Picture 22" descr="logo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2828" y="5851525"/>
            <a:ext cx="2444749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570" name="Rectangle 18"/>
          <p:cNvSpPr>
            <a:spLocks noGrp="1" noChangeArrowheads="1"/>
          </p:cNvSpPr>
          <p:nvPr>
            <p:ph type="ctrTitle"/>
          </p:nvPr>
        </p:nvSpPr>
        <p:spPr>
          <a:xfrm>
            <a:off x="863601" y="3868739"/>
            <a:ext cx="9794875" cy="1082675"/>
          </a:xfrm>
        </p:spPr>
        <p:txBody>
          <a:bodyPr/>
          <a:lstStyle>
            <a:lvl1pPr>
              <a:defRPr sz="3000">
                <a:solidFill>
                  <a:schemeClr val="bg1"/>
                </a:solidFill>
                <a:latin typeface="方正兰亭黑6_GBK" pitchFamily="2" charset="-122"/>
              </a:defRPr>
            </a:lvl1pPr>
          </a:lstStyle>
          <a:p>
            <a:pPr lvl="0"/>
            <a:r>
              <a:rPr lang="zh-CN" altLang="en-US" noProof="0"/>
              <a:t>主标</a:t>
            </a:r>
            <a:r>
              <a:rPr lang="en-US" altLang="zh-CN" noProof="0"/>
              <a:t>-</a:t>
            </a:r>
            <a:r>
              <a:rPr lang="zh-CN" altLang="en-US" noProof="0"/>
              <a:t>兰亭黑</a:t>
            </a:r>
            <a:r>
              <a:rPr lang="en-US" altLang="zh-CN" noProof="0"/>
              <a:t>6,30</a:t>
            </a:r>
            <a:r>
              <a:rPr lang="zh-CN" altLang="en-US" noProof="0"/>
              <a:t>号字</a:t>
            </a:r>
          </a:p>
        </p:txBody>
      </p:sp>
      <p:sp>
        <p:nvSpPr>
          <p:cNvPr id="23571" name="Rectangle 19"/>
          <p:cNvSpPr>
            <a:spLocks noGrp="1" noChangeArrowheads="1"/>
          </p:cNvSpPr>
          <p:nvPr>
            <p:ph type="subTitle" idx="1"/>
          </p:nvPr>
        </p:nvSpPr>
        <p:spPr>
          <a:xfrm>
            <a:off x="863601" y="5005390"/>
            <a:ext cx="8066088" cy="585787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400">
                <a:solidFill>
                  <a:schemeClr val="bg1"/>
                </a:solidFill>
                <a:latin typeface="方正兰亭黑6_GBK" pitchFamily="2" charset="-122"/>
                <a:ea typeface="方正兰亭黑6_GBK" pitchFamily="2" charset="-122"/>
              </a:defRPr>
            </a:lvl1pPr>
          </a:lstStyle>
          <a:p>
            <a:pPr lvl="0"/>
            <a:r>
              <a:rPr lang="zh-CN" altLang="en-US" noProof="0"/>
              <a:t>副标</a:t>
            </a:r>
            <a:r>
              <a:rPr lang="en-US" altLang="zh-CN" noProof="0"/>
              <a:t>-</a:t>
            </a:r>
            <a:r>
              <a:rPr lang="zh-CN" altLang="en-US" noProof="0"/>
              <a:t>兰亭黑</a:t>
            </a:r>
            <a:r>
              <a:rPr lang="en-US" altLang="zh-CN" noProof="0"/>
              <a:t>6,24</a:t>
            </a:r>
            <a:r>
              <a:rPr lang="zh-CN" altLang="en-US" noProof="0"/>
              <a:t>号字</a:t>
            </a:r>
          </a:p>
        </p:txBody>
      </p:sp>
    </p:spTree>
    <p:extLst>
      <p:ext uri="{BB962C8B-B14F-4D97-AF65-F5344CB8AC3E}">
        <p14:creationId xmlns:p14="http://schemas.microsoft.com/office/powerpoint/2010/main" val="12132814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6906561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09638" y="4164013"/>
            <a:ext cx="9794875" cy="1287462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09638" y="2746375"/>
            <a:ext cx="9794875" cy="1417638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056423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28617" y="1030289"/>
            <a:ext cx="5356224" cy="48291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837241" y="1030289"/>
            <a:ext cx="5356224" cy="48291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291196111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76263" y="258765"/>
            <a:ext cx="10369550" cy="1081087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76262" y="1450975"/>
            <a:ext cx="5091112" cy="60483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76262" y="2055813"/>
            <a:ext cx="5091112" cy="37322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5853115" y="1450975"/>
            <a:ext cx="5092700" cy="60483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5853115" y="2055813"/>
            <a:ext cx="5092700" cy="37322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191157529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91684387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383694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76263" y="258763"/>
            <a:ext cx="3790950" cy="1096962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05324" y="258763"/>
            <a:ext cx="6440488" cy="552926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76263" y="1355725"/>
            <a:ext cx="3790950" cy="44323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422485030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259015" y="4535490"/>
            <a:ext cx="6911975" cy="5365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259015" y="579438"/>
            <a:ext cx="6911975" cy="38877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259015" y="5072063"/>
            <a:ext cx="6911975" cy="7604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58241563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223248639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470903" y="2"/>
            <a:ext cx="2722563" cy="5859463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03216" y="2"/>
            <a:ext cx="8015287" cy="5859463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101364785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8" descr="81785148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224" b="15022"/>
          <a:stretch>
            <a:fillRect/>
          </a:stretch>
        </p:blipFill>
        <p:spPr bwMode="auto">
          <a:xfrm>
            <a:off x="3" y="0"/>
            <a:ext cx="11522075" cy="4360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8" descr="PPT用图红色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58" t="42973" r="9386" b="275"/>
          <a:stretch>
            <a:fillRect/>
          </a:stretch>
        </p:blipFill>
        <p:spPr bwMode="auto">
          <a:xfrm>
            <a:off x="3" y="2343152"/>
            <a:ext cx="11522075" cy="413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Box 10"/>
          <p:cNvSpPr txBox="1">
            <a:spLocks noChangeArrowheads="1"/>
          </p:cNvSpPr>
          <p:nvPr/>
        </p:nvSpPr>
        <p:spPr bwMode="auto">
          <a:xfrm>
            <a:off x="387350" y="6092825"/>
            <a:ext cx="1906589" cy="20955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lIns="80115" tIns="40058" rIns="80115" bIns="40058"/>
          <a:lstStyle>
            <a:lvl1pPr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1pPr>
            <a:lvl2pPr marL="742950" indent="-28575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2pPr>
            <a:lvl3pPr marL="11430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3pPr>
            <a:lvl4pPr marL="16002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4pPr>
            <a:lvl5pPr marL="20574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5pPr>
            <a:lvl6pPr marL="25146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6pPr>
            <a:lvl7pPr marL="29718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7pPr>
            <a:lvl8pPr marL="34290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8pPr>
            <a:lvl9pPr marL="38862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9pPr>
          </a:lstStyle>
          <a:p>
            <a:pPr eaLnBrk="0" hangingPunct="0">
              <a:spcBef>
                <a:spcPct val="70000"/>
              </a:spcBef>
              <a:buClr>
                <a:srgbClr val="990000"/>
              </a:buClr>
              <a:buFont typeface="Wingdings" pitchFamily="2" charset="2"/>
              <a:buNone/>
              <a:defRPr/>
            </a:pPr>
            <a:r>
              <a:rPr lang="en-US" altLang="zh-CN" sz="800" dirty="0">
                <a:solidFill>
                  <a:schemeClr val="bg1"/>
                </a:solidFill>
                <a:ea typeface="Arial Unicode MS" pitchFamily="34" charset="-122"/>
                <a:cs typeface="Arial Unicode MS" pitchFamily="34" charset="-122"/>
              </a:rPr>
              <a:t>© 2011 </a:t>
            </a:r>
            <a:r>
              <a:rPr lang="en-US" altLang="zh-CN" sz="800" dirty="0" err="1">
                <a:solidFill>
                  <a:schemeClr val="bg1"/>
                </a:solidFill>
                <a:ea typeface="Arial Unicode MS" pitchFamily="34" charset="-122"/>
                <a:cs typeface="Arial Unicode MS" pitchFamily="34" charset="-122"/>
              </a:rPr>
              <a:t>Mindray</a:t>
            </a:r>
            <a:r>
              <a:rPr lang="en-US" altLang="zh-CN" sz="800" dirty="0">
                <a:solidFill>
                  <a:schemeClr val="bg1"/>
                </a:solidFill>
                <a:ea typeface="Arial Unicode MS" pitchFamily="34" charset="-122"/>
                <a:cs typeface="Arial Unicode MS" pitchFamily="34" charset="-122"/>
              </a:rPr>
              <a:t> Confidential</a:t>
            </a:r>
          </a:p>
        </p:txBody>
      </p:sp>
      <p:sp>
        <p:nvSpPr>
          <p:cNvPr id="7" name="Freeform 17"/>
          <p:cNvSpPr>
            <a:spLocks noEditPoints="1"/>
          </p:cNvSpPr>
          <p:nvPr/>
        </p:nvSpPr>
        <p:spPr bwMode="auto">
          <a:xfrm>
            <a:off x="8632828" y="5851525"/>
            <a:ext cx="2444749" cy="431800"/>
          </a:xfrm>
          <a:custGeom>
            <a:avLst/>
            <a:gdLst>
              <a:gd name="T0" fmla="*/ 2147483647 w 16940"/>
              <a:gd name="T1" fmla="*/ 2147483647 h 2992"/>
              <a:gd name="T2" fmla="*/ 2147483647 w 16940"/>
              <a:gd name="T3" fmla="*/ 2147483647 h 2992"/>
              <a:gd name="T4" fmla="*/ 2147483647 w 16940"/>
              <a:gd name="T5" fmla="*/ 2147483647 h 2992"/>
              <a:gd name="T6" fmla="*/ 2147483647 w 16940"/>
              <a:gd name="T7" fmla="*/ 2147483647 h 2992"/>
              <a:gd name="T8" fmla="*/ 2147483647 w 16940"/>
              <a:gd name="T9" fmla="*/ 2147483647 h 2992"/>
              <a:gd name="T10" fmla="*/ 2147483647 w 16940"/>
              <a:gd name="T11" fmla="*/ 2147483647 h 2992"/>
              <a:gd name="T12" fmla="*/ 2147483647 w 16940"/>
              <a:gd name="T13" fmla="*/ 2147483647 h 2992"/>
              <a:gd name="T14" fmla="*/ 2147483647 w 16940"/>
              <a:gd name="T15" fmla="*/ 2147483647 h 2992"/>
              <a:gd name="T16" fmla="*/ 2147483647 w 16940"/>
              <a:gd name="T17" fmla="*/ 2147483647 h 2992"/>
              <a:gd name="T18" fmla="*/ 2147483647 w 16940"/>
              <a:gd name="T19" fmla="*/ 2147483647 h 2992"/>
              <a:gd name="T20" fmla="*/ 2147483647 w 16940"/>
              <a:gd name="T21" fmla="*/ 2147483647 h 2992"/>
              <a:gd name="T22" fmla="*/ 2147483647 w 16940"/>
              <a:gd name="T23" fmla="*/ 2147483647 h 2992"/>
              <a:gd name="T24" fmla="*/ 2147483647 w 16940"/>
              <a:gd name="T25" fmla="*/ 2147483647 h 2992"/>
              <a:gd name="T26" fmla="*/ 2147483647 w 16940"/>
              <a:gd name="T27" fmla="*/ 2147483647 h 2992"/>
              <a:gd name="T28" fmla="*/ 2147483647 w 16940"/>
              <a:gd name="T29" fmla="*/ 2147483647 h 2992"/>
              <a:gd name="T30" fmla="*/ 2147483647 w 16940"/>
              <a:gd name="T31" fmla="*/ 2147483647 h 2992"/>
              <a:gd name="T32" fmla="*/ 2147483647 w 16940"/>
              <a:gd name="T33" fmla="*/ 2147483647 h 2992"/>
              <a:gd name="T34" fmla="*/ 2147483647 w 16940"/>
              <a:gd name="T35" fmla="*/ 2147483647 h 2992"/>
              <a:gd name="T36" fmla="*/ 2147483647 w 16940"/>
              <a:gd name="T37" fmla="*/ 2147483647 h 2992"/>
              <a:gd name="T38" fmla="*/ 2147483647 w 16940"/>
              <a:gd name="T39" fmla="*/ 2147483647 h 2992"/>
              <a:gd name="T40" fmla="*/ 2147483647 w 16940"/>
              <a:gd name="T41" fmla="*/ 2147483647 h 2992"/>
              <a:gd name="T42" fmla="*/ 2147483647 w 16940"/>
              <a:gd name="T43" fmla="*/ 2147483647 h 2992"/>
              <a:gd name="T44" fmla="*/ 2147483647 w 16940"/>
              <a:gd name="T45" fmla="*/ 2147483647 h 2992"/>
              <a:gd name="T46" fmla="*/ 2147483647 w 16940"/>
              <a:gd name="T47" fmla="*/ 2147483647 h 2992"/>
              <a:gd name="T48" fmla="*/ 2147483647 w 16940"/>
              <a:gd name="T49" fmla="*/ 2147483647 h 2992"/>
              <a:gd name="T50" fmla="*/ 2147483647 w 16940"/>
              <a:gd name="T51" fmla="*/ 2147483647 h 2992"/>
              <a:gd name="T52" fmla="*/ 2147483647 w 16940"/>
              <a:gd name="T53" fmla="*/ 2147483647 h 2992"/>
              <a:gd name="T54" fmla="*/ 2147483647 w 16940"/>
              <a:gd name="T55" fmla="*/ 2147483647 h 2992"/>
              <a:gd name="T56" fmla="*/ 2147483647 w 16940"/>
              <a:gd name="T57" fmla="*/ 2147483647 h 2992"/>
              <a:gd name="T58" fmla="*/ 2147483647 w 16940"/>
              <a:gd name="T59" fmla="*/ 2147483647 h 2992"/>
              <a:gd name="T60" fmla="*/ 2147483647 w 16940"/>
              <a:gd name="T61" fmla="*/ 2147483647 h 2992"/>
              <a:gd name="T62" fmla="*/ 2147483647 w 16940"/>
              <a:gd name="T63" fmla="*/ 2147483647 h 2992"/>
              <a:gd name="T64" fmla="*/ 2147483647 w 16940"/>
              <a:gd name="T65" fmla="*/ 2147483647 h 2992"/>
              <a:gd name="T66" fmla="*/ 2147483647 w 16940"/>
              <a:gd name="T67" fmla="*/ 2147483647 h 2992"/>
              <a:gd name="T68" fmla="*/ 2147483647 w 16940"/>
              <a:gd name="T69" fmla="*/ 2147483647 h 2992"/>
              <a:gd name="T70" fmla="*/ 2147483647 w 16940"/>
              <a:gd name="T71" fmla="*/ 2147483647 h 2992"/>
              <a:gd name="T72" fmla="*/ 2147483647 w 16940"/>
              <a:gd name="T73" fmla="*/ 2147483647 h 2992"/>
              <a:gd name="T74" fmla="*/ 2147483647 w 16940"/>
              <a:gd name="T75" fmla="*/ 2147483647 h 2992"/>
              <a:gd name="T76" fmla="*/ 2147483647 w 16940"/>
              <a:gd name="T77" fmla="*/ 2147483647 h 2992"/>
              <a:gd name="T78" fmla="*/ 2147483647 w 16940"/>
              <a:gd name="T79" fmla="*/ 2147483647 h 2992"/>
              <a:gd name="T80" fmla="*/ 2147483647 w 16940"/>
              <a:gd name="T81" fmla="*/ 2147483647 h 2992"/>
              <a:gd name="T82" fmla="*/ 2147483647 w 16940"/>
              <a:gd name="T83" fmla="*/ 2147483647 h 2992"/>
              <a:gd name="T84" fmla="*/ 2147483647 w 16940"/>
              <a:gd name="T85" fmla="*/ 2147483647 h 2992"/>
              <a:gd name="T86" fmla="*/ 2147483647 w 16940"/>
              <a:gd name="T87" fmla="*/ 2147483647 h 2992"/>
              <a:gd name="T88" fmla="*/ 2147483647 w 16940"/>
              <a:gd name="T89" fmla="*/ 2147483647 h 2992"/>
              <a:gd name="T90" fmla="*/ 2147483647 w 16940"/>
              <a:gd name="T91" fmla="*/ 2147483647 h 2992"/>
              <a:gd name="T92" fmla="*/ 2147483647 w 16940"/>
              <a:gd name="T93" fmla="*/ 2147483647 h 2992"/>
              <a:gd name="T94" fmla="*/ 2147483647 w 16940"/>
              <a:gd name="T95" fmla="*/ 2147483647 h 2992"/>
              <a:gd name="T96" fmla="*/ 2147483647 w 16940"/>
              <a:gd name="T97" fmla="*/ 0 h 2992"/>
              <a:gd name="T98" fmla="*/ 2147483647 w 16940"/>
              <a:gd name="T99" fmla="*/ 2147483647 h 2992"/>
              <a:gd name="T100" fmla="*/ 2147483647 w 16940"/>
              <a:gd name="T101" fmla="*/ 2147483647 h 2992"/>
              <a:gd name="T102" fmla="*/ 2147483647 w 16940"/>
              <a:gd name="T103" fmla="*/ 2147483647 h 2992"/>
              <a:gd name="T104" fmla="*/ 2147483647 w 16940"/>
              <a:gd name="T105" fmla="*/ 2147483647 h 2992"/>
              <a:gd name="T106" fmla="*/ 2147483647 w 16940"/>
              <a:gd name="T107" fmla="*/ 2147483647 h 2992"/>
              <a:gd name="T108" fmla="*/ 2147483647 w 16940"/>
              <a:gd name="T109" fmla="*/ 2147483647 h 2992"/>
              <a:gd name="T110" fmla="*/ 2147483647 w 16940"/>
              <a:gd name="T111" fmla="*/ 2147483647 h 2992"/>
              <a:gd name="T112" fmla="*/ 2147483647 w 16940"/>
              <a:gd name="T113" fmla="*/ 2147483647 h 2992"/>
              <a:gd name="T114" fmla="*/ 2147483647 w 16940"/>
              <a:gd name="T115" fmla="*/ 2147483647 h 2992"/>
              <a:gd name="T116" fmla="*/ 2147483647 w 16940"/>
              <a:gd name="T117" fmla="*/ 2147483647 h 2992"/>
              <a:gd name="T118" fmla="*/ 2147483647 w 16940"/>
              <a:gd name="T119" fmla="*/ 2147483647 h 2992"/>
              <a:gd name="T120" fmla="*/ 2147483647 w 16940"/>
              <a:gd name="T121" fmla="*/ 2147483647 h 2992"/>
              <a:gd name="T122" fmla="*/ 2147483647 w 16940"/>
              <a:gd name="T123" fmla="*/ 2147483647 h 2992"/>
              <a:gd name="T124" fmla="*/ 2147483647 w 16940"/>
              <a:gd name="T125" fmla="*/ 2147483647 h 2992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60000 65536"/>
              <a:gd name="T184" fmla="*/ 0 60000 65536"/>
              <a:gd name="T185" fmla="*/ 0 60000 65536"/>
              <a:gd name="T186" fmla="*/ 0 60000 65536"/>
              <a:gd name="T187" fmla="*/ 0 60000 65536"/>
              <a:gd name="T188" fmla="*/ 0 60000 65536"/>
            </a:gdLst>
            <a:ahLst/>
            <a:cxnLst>
              <a:cxn ang="T126">
                <a:pos x="T0" y="T1"/>
              </a:cxn>
              <a:cxn ang="T127">
                <a:pos x="T2" y="T3"/>
              </a:cxn>
              <a:cxn ang="T128">
                <a:pos x="T4" y="T5"/>
              </a:cxn>
              <a:cxn ang="T129">
                <a:pos x="T6" y="T7"/>
              </a:cxn>
              <a:cxn ang="T130">
                <a:pos x="T8" y="T9"/>
              </a:cxn>
              <a:cxn ang="T131">
                <a:pos x="T10" y="T11"/>
              </a:cxn>
              <a:cxn ang="T132">
                <a:pos x="T12" y="T13"/>
              </a:cxn>
              <a:cxn ang="T133">
                <a:pos x="T14" y="T15"/>
              </a:cxn>
              <a:cxn ang="T134">
                <a:pos x="T16" y="T17"/>
              </a:cxn>
              <a:cxn ang="T135">
                <a:pos x="T18" y="T19"/>
              </a:cxn>
              <a:cxn ang="T136">
                <a:pos x="T20" y="T21"/>
              </a:cxn>
              <a:cxn ang="T137">
                <a:pos x="T22" y="T23"/>
              </a:cxn>
              <a:cxn ang="T138">
                <a:pos x="T24" y="T25"/>
              </a:cxn>
              <a:cxn ang="T139">
                <a:pos x="T26" y="T27"/>
              </a:cxn>
              <a:cxn ang="T140">
                <a:pos x="T28" y="T29"/>
              </a:cxn>
              <a:cxn ang="T141">
                <a:pos x="T30" y="T31"/>
              </a:cxn>
              <a:cxn ang="T142">
                <a:pos x="T32" y="T33"/>
              </a:cxn>
              <a:cxn ang="T143">
                <a:pos x="T34" y="T35"/>
              </a:cxn>
              <a:cxn ang="T144">
                <a:pos x="T36" y="T37"/>
              </a:cxn>
              <a:cxn ang="T145">
                <a:pos x="T38" y="T39"/>
              </a:cxn>
              <a:cxn ang="T146">
                <a:pos x="T40" y="T41"/>
              </a:cxn>
              <a:cxn ang="T147">
                <a:pos x="T42" y="T43"/>
              </a:cxn>
              <a:cxn ang="T148">
                <a:pos x="T44" y="T45"/>
              </a:cxn>
              <a:cxn ang="T149">
                <a:pos x="T46" y="T47"/>
              </a:cxn>
              <a:cxn ang="T150">
                <a:pos x="T48" y="T49"/>
              </a:cxn>
              <a:cxn ang="T151">
                <a:pos x="T50" y="T51"/>
              </a:cxn>
              <a:cxn ang="T152">
                <a:pos x="T52" y="T53"/>
              </a:cxn>
              <a:cxn ang="T153">
                <a:pos x="T54" y="T55"/>
              </a:cxn>
              <a:cxn ang="T154">
                <a:pos x="T56" y="T57"/>
              </a:cxn>
              <a:cxn ang="T155">
                <a:pos x="T58" y="T59"/>
              </a:cxn>
              <a:cxn ang="T156">
                <a:pos x="T60" y="T61"/>
              </a:cxn>
              <a:cxn ang="T157">
                <a:pos x="T62" y="T63"/>
              </a:cxn>
              <a:cxn ang="T158">
                <a:pos x="T64" y="T65"/>
              </a:cxn>
              <a:cxn ang="T159">
                <a:pos x="T66" y="T67"/>
              </a:cxn>
              <a:cxn ang="T160">
                <a:pos x="T68" y="T69"/>
              </a:cxn>
              <a:cxn ang="T161">
                <a:pos x="T70" y="T71"/>
              </a:cxn>
              <a:cxn ang="T162">
                <a:pos x="T72" y="T73"/>
              </a:cxn>
              <a:cxn ang="T163">
                <a:pos x="T74" y="T75"/>
              </a:cxn>
              <a:cxn ang="T164">
                <a:pos x="T76" y="T77"/>
              </a:cxn>
              <a:cxn ang="T165">
                <a:pos x="T78" y="T79"/>
              </a:cxn>
              <a:cxn ang="T166">
                <a:pos x="T80" y="T81"/>
              </a:cxn>
              <a:cxn ang="T167">
                <a:pos x="T82" y="T83"/>
              </a:cxn>
              <a:cxn ang="T168">
                <a:pos x="T84" y="T85"/>
              </a:cxn>
              <a:cxn ang="T169">
                <a:pos x="T86" y="T87"/>
              </a:cxn>
              <a:cxn ang="T170">
                <a:pos x="T88" y="T89"/>
              </a:cxn>
              <a:cxn ang="T171">
                <a:pos x="T90" y="T91"/>
              </a:cxn>
              <a:cxn ang="T172">
                <a:pos x="T92" y="T93"/>
              </a:cxn>
              <a:cxn ang="T173">
                <a:pos x="T94" y="T95"/>
              </a:cxn>
              <a:cxn ang="T174">
                <a:pos x="T96" y="T97"/>
              </a:cxn>
              <a:cxn ang="T175">
                <a:pos x="T98" y="T99"/>
              </a:cxn>
              <a:cxn ang="T176">
                <a:pos x="T100" y="T101"/>
              </a:cxn>
              <a:cxn ang="T177">
                <a:pos x="T102" y="T103"/>
              </a:cxn>
              <a:cxn ang="T178">
                <a:pos x="T104" y="T105"/>
              </a:cxn>
              <a:cxn ang="T179">
                <a:pos x="T106" y="T107"/>
              </a:cxn>
              <a:cxn ang="T180">
                <a:pos x="T108" y="T109"/>
              </a:cxn>
              <a:cxn ang="T181">
                <a:pos x="T110" y="T111"/>
              </a:cxn>
              <a:cxn ang="T182">
                <a:pos x="T112" y="T113"/>
              </a:cxn>
              <a:cxn ang="T183">
                <a:pos x="T114" y="T115"/>
              </a:cxn>
              <a:cxn ang="T184">
                <a:pos x="T116" y="T117"/>
              </a:cxn>
              <a:cxn ang="T185">
                <a:pos x="T118" y="T119"/>
              </a:cxn>
              <a:cxn ang="T186">
                <a:pos x="T120" y="T121"/>
              </a:cxn>
              <a:cxn ang="T187">
                <a:pos x="T122" y="T123"/>
              </a:cxn>
              <a:cxn ang="T188">
                <a:pos x="T124" y="T125"/>
              </a:cxn>
            </a:cxnLst>
            <a:rect l="0" t="0" r="r" b="b"/>
            <a:pathLst>
              <a:path w="16940" h="2992">
                <a:moveTo>
                  <a:pt x="12947" y="1611"/>
                </a:moveTo>
                <a:lnTo>
                  <a:pt x="12974" y="1588"/>
                </a:lnTo>
                <a:lnTo>
                  <a:pt x="12998" y="1565"/>
                </a:lnTo>
                <a:lnTo>
                  <a:pt x="13022" y="1539"/>
                </a:lnTo>
                <a:lnTo>
                  <a:pt x="13044" y="1514"/>
                </a:lnTo>
                <a:lnTo>
                  <a:pt x="13066" y="1488"/>
                </a:lnTo>
                <a:lnTo>
                  <a:pt x="13085" y="1459"/>
                </a:lnTo>
                <a:lnTo>
                  <a:pt x="13104" y="1430"/>
                </a:lnTo>
                <a:lnTo>
                  <a:pt x="13122" y="1402"/>
                </a:lnTo>
                <a:lnTo>
                  <a:pt x="13138" y="1371"/>
                </a:lnTo>
                <a:lnTo>
                  <a:pt x="13153" y="1341"/>
                </a:lnTo>
                <a:lnTo>
                  <a:pt x="13167" y="1310"/>
                </a:lnTo>
                <a:lnTo>
                  <a:pt x="13179" y="1279"/>
                </a:lnTo>
                <a:lnTo>
                  <a:pt x="13191" y="1247"/>
                </a:lnTo>
                <a:lnTo>
                  <a:pt x="13200" y="1214"/>
                </a:lnTo>
                <a:lnTo>
                  <a:pt x="13209" y="1182"/>
                </a:lnTo>
                <a:lnTo>
                  <a:pt x="13216" y="1150"/>
                </a:lnTo>
                <a:lnTo>
                  <a:pt x="13230" y="1074"/>
                </a:lnTo>
                <a:lnTo>
                  <a:pt x="13241" y="1002"/>
                </a:lnTo>
                <a:lnTo>
                  <a:pt x="13246" y="967"/>
                </a:lnTo>
                <a:lnTo>
                  <a:pt x="13249" y="932"/>
                </a:lnTo>
                <a:lnTo>
                  <a:pt x="13253" y="896"/>
                </a:lnTo>
                <a:lnTo>
                  <a:pt x="13256" y="860"/>
                </a:lnTo>
                <a:lnTo>
                  <a:pt x="13261" y="784"/>
                </a:lnTo>
                <a:lnTo>
                  <a:pt x="13263" y="700"/>
                </a:lnTo>
                <a:lnTo>
                  <a:pt x="13265" y="608"/>
                </a:lnTo>
                <a:lnTo>
                  <a:pt x="13265" y="503"/>
                </a:lnTo>
                <a:lnTo>
                  <a:pt x="13253" y="503"/>
                </a:lnTo>
                <a:lnTo>
                  <a:pt x="13222" y="503"/>
                </a:lnTo>
                <a:lnTo>
                  <a:pt x="13176" y="503"/>
                </a:lnTo>
                <a:lnTo>
                  <a:pt x="13124" y="503"/>
                </a:lnTo>
                <a:lnTo>
                  <a:pt x="13073" y="503"/>
                </a:lnTo>
                <a:lnTo>
                  <a:pt x="13028" y="503"/>
                </a:lnTo>
                <a:lnTo>
                  <a:pt x="12996" y="503"/>
                </a:lnTo>
                <a:lnTo>
                  <a:pt x="12985" y="503"/>
                </a:lnTo>
                <a:lnTo>
                  <a:pt x="12985" y="493"/>
                </a:lnTo>
                <a:lnTo>
                  <a:pt x="12985" y="465"/>
                </a:lnTo>
                <a:lnTo>
                  <a:pt x="12985" y="427"/>
                </a:lnTo>
                <a:lnTo>
                  <a:pt x="12985" y="382"/>
                </a:lnTo>
                <a:lnTo>
                  <a:pt x="12985" y="339"/>
                </a:lnTo>
                <a:lnTo>
                  <a:pt x="12985" y="300"/>
                </a:lnTo>
                <a:lnTo>
                  <a:pt x="12985" y="273"/>
                </a:lnTo>
                <a:lnTo>
                  <a:pt x="12985" y="263"/>
                </a:lnTo>
                <a:lnTo>
                  <a:pt x="13001" y="263"/>
                </a:lnTo>
                <a:lnTo>
                  <a:pt x="13050" y="263"/>
                </a:lnTo>
                <a:lnTo>
                  <a:pt x="13126" y="263"/>
                </a:lnTo>
                <a:lnTo>
                  <a:pt x="13226" y="263"/>
                </a:lnTo>
                <a:lnTo>
                  <a:pt x="13343" y="263"/>
                </a:lnTo>
                <a:lnTo>
                  <a:pt x="13474" y="263"/>
                </a:lnTo>
                <a:lnTo>
                  <a:pt x="13613" y="263"/>
                </a:lnTo>
                <a:lnTo>
                  <a:pt x="13757" y="263"/>
                </a:lnTo>
                <a:lnTo>
                  <a:pt x="13902" y="263"/>
                </a:lnTo>
                <a:lnTo>
                  <a:pt x="14042" y="263"/>
                </a:lnTo>
                <a:lnTo>
                  <a:pt x="14172" y="263"/>
                </a:lnTo>
                <a:lnTo>
                  <a:pt x="14290" y="263"/>
                </a:lnTo>
                <a:lnTo>
                  <a:pt x="14388" y="263"/>
                </a:lnTo>
                <a:lnTo>
                  <a:pt x="14465" y="263"/>
                </a:lnTo>
                <a:lnTo>
                  <a:pt x="14514" y="263"/>
                </a:lnTo>
                <a:lnTo>
                  <a:pt x="14531" y="263"/>
                </a:lnTo>
                <a:lnTo>
                  <a:pt x="14528" y="273"/>
                </a:lnTo>
                <a:lnTo>
                  <a:pt x="14521" y="300"/>
                </a:lnTo>
                <a:lnTo>
                  <a:pt x="14510" y="339"/>
                </a:lnTo>
                <a:lnTo>
                  <a:pt x="14497" y="382"/>
                </a:lnTo>
                <a:lnTo>
                  <a:pt x="14485" y="427"/>
                </a:lnTo>
                <a:lnTo>
                  <a:pt x="14474" y="465"/>
                </a:lnTo>
                <a:lnTo>
                  <a:pt x="14467" y="493"/>
                </a:lnTo>
                <a:lnTo>
                  <a:pt x="14464" y="503"/>
                </a:lnTo>
                <a:lnTo>
                  <a:pt x="14454" y="503"/>
                </a:lnTo>
                <a:lnTo>
                  <a:pt x="14425" y="503"/>
                </a:lnTo>
                <a:lnTo>
                  <a:pt x="14382" y="503"/>
                </a:lnTo>
                <a:lnTo>
                  <a:pt x="14325" y="503"/>
                </a:lnTo>
                <a:lnTo>
                  <a:pt x="14258" y="503"/>
                </a:lnTo>
                <a:lnTo>
                  <a:pt x="14183" y="503"/>
                </a:lnTo>
                <a:lnTo>
                  <a:pt x="14103" y="503"/>
                </a:lnTo>
                <a:lnTo>
                  <a:pt x="14020" y="503"/>
                </a:lnTo>
                <a:lnTo>
                  <a:pt x="13937" y="503"/>
                </a:lnTo>
                <a:lnTo>
                  <a:pt x="13858" y="503"/>
                </a:lnTo>
                <a:lnTo>
                  <a:pt x="13783" y="503"/>
                </a:lnTo>
                <a:lnTo>
                  <a:pt x="13715" y="503"/>
                </a:lnTo>
                <a:lnTo>
                  <a:pt x="13659" y="503"/>
                </a:lnTo>
                <a:lnTo>
                  <a:pt x="13616" y="503"/>
                </a:lnTo>
                <a:lnTo>
                  <a:pt x="13587" y="503"/>
                </a:lnTo>
                <a:lnTo>
                  <a:pt x="13577" y="503"/>
                </a:lnTo>
                <a:lnTo>
                  <a:pt x="13577" y="513"/>
                </a:lnTo>
                <a:lnTo>
                  <a:pt x="13576" y="539"/>
                </a:lnTo>
                <a:lnTo>
                  <a:pt x="13576" y="577"/>
                </a:lnTo>
                <a:lnTo>
                  <a:pt x="13576" y="620"/>
                </a:lnTo>
                <a:lnTo>
                  <a:pt x="13576" y="662"/>
                </a:lnTo>
                <a:lnTo>
                  <a:pt x="13576" y="700"/>
                </a:lnTo>
                <a:lnTo>
                  <a:pt x="13576" y="727"/>
                </a:lnTo>
                <a:lnTo>
                  <a:pt x="13576" y="736"/>
                </a:lnTo>
                <a:lnTo>
                  <a:pt x="13600" y="736"/>
                </a:lnTo>
                <a:lnTo>
                  <a:pt x="13663" y="736"/>
                </a:lnTo>
                <a:lnTo>
                  <a:pt x="13754" y="736"/>
                </a:lnTo>
                <a:lnTo>
                  <a:pt x="13862" y="736"/>
                </a:lnTo>
                <a:lnTo>
                  <a:pt x="13976" y="736"/>
                </a:lnTo>
                <a:lnTo>
                  <a:pt x="14085" y="736"/>
                </a:lnTo>
                <a:lnTo>
                  <a:pt x="14177" y="736"/>
                </a:lnTo>
                <a:lnTo>
                  <a:pt x="14240" y="736"/>
                </a:lnTo>
                <a:lnTo>
                  <a:pt x="14255" y="736"/>
                </a:lnTo>
                <a:lnTo>
                  <a:pt x="14270" y="738"/>
                </a:lnTo>
                <a:lnTo>
                  <a:pt x="14284" y="740"/>
                </a:lnTo>
                <a:lnTo>
                  <a:pt x="14296" y="743"/>
                </a:lnTo>
                <a:lnTo>
                  <a:pt x="14309" y="745"/>
                </a:lnTo>
                <a:lnTo>
                  <a:pt x="14321" y="749"/>
                </a:lnTo>
                <a:lnTo>
                  <a:pt x="14331" y="753"/>
                </a:lnTo>
                <a:lnTo>
                  <a:pt x="14342" y="758"/>
                </a:lnTo>
                <a:lnTo>
                  <a:pt x="14351" y="763"/>
                </a:lnTo>
                <a:lnTo>
                  <a:pt x="14361" y="768"/>
                </a:lnTo>
                <a:lnTo>
                  <a:pt x="14369" y="774"/>
                </a:lnTo>
                <a:lnTo>
                  <a:pt x="14378" y="780"/>
                </a:lnTo>
                <a:lnTo>
                  <a:pt x="14392" y="794"/>
                </a:lnTo>
                <a:lnTo>
                  <a:pt x="14404" y="806"/>
                </a:lnTo>
                <a:lnTo>
                  <a:pt x="14415" y="821"/>
                </a:lnTo>
                <a:lnTo>
                  <a:pt x="14423" y="835"/>
                </a:lnTo>
                <a:lnTo>
                  <a:pt x="14431" y="848"/>
                </a:lnTo>
                <a:lnTo>
                  <a:pt x="14436" y="860"/>
                </a:lnTo>
                <a:lnTo>
                  <a:pt x="14440" y="872"/>
                </a:lnTo>
                <a:lnTo>
                  <a:pt x="14442" y="881"/>
                </a:lnTo>
                <a:lnTo>
                  <a:pt x="14443" y="890"/>
                </a:lnTo>
                <a:lnTo>
                  <a:pt x="14445" y="896"/>
                </a:lnTo>
                <a:lnTo>
                  <a:pt x="14446" y="908"/>
                </a:lnTo>
                <a:lnTo>
                  <a:pt x="14446" y="914"/>
                </a:lnTo>
                <a:lnTo>
                  <a:pt x="14446" y="939"/>
                </a:lnTo>
                <a:lnTo>
                  <a:pt x="14446" y="1003"/>
                </a:lnTo>
                <a:lnTo>
                  <a:pt x="14446" y="1094"/>
                </a:lnTo>
                <a:lnTo>
                  <a:pt x="14446" y="1198"/>
                </a:lnTo>
                <a:lnTo>
                  <a:pt x="14446" y="1303"/>
                </a:lnTo>
                <a:lnTo>
                  <a:pt x="14446" y="1394"/>
                </a:lnTo>
                <a:lnTo>
                  <a:pt x="14446" y="1458"/>
                </a:lnTo>
                <a:lnTo>
                  <a:pt x="14446" y="1482"/>
                </a:lnTo>
                <a:lnTo>
                  <a:pt x="14443" y="1504"/>
                </a:lnTo>
                <a:lnTo>
                  <a:pt x="14442" y="1526"/>
                </a:lnTo>
                <a:lnTo>
                  <a:pt x="14439" y="1547"/>
                </a:lnTo>
                <a:lnTo>
                  <a:pt x="14436" y="1567"/>
                </a:lnTo>
                <a:lnTo>
                  <a:pt x="14432" y="1586"/>
                </a:lnTo>
                <a:lnTo>
                  <a:pt x="14428" y="1604"/>
                </a:lnTo>
                <a:lnTo>
                  <a:pt x="14422" y="1623"/>
                </a:lnTo>
                <a:lnTo>
                  <a:pt x="14416" y="1640"/>
                </a:lnTo>
                <a:lnTo>
                  <a:pt x="14409" y="1657"/>
                </a:lnTo>
                <a:lnTo>
                  <a:pt x="14401" y="1673"/>
                </a:lnTo>
                <a:lnTo>
                  <a:pt x="14394" y="1688"/>
                </a:lnTo>
                <a:lnTo>
                  <a:pt x="14384" y="1703"/>
                </a:lnTo>
                <a:lnTo>
                  <a:pt x="14375" y="1717"/>
                </a:lnTo>
                <a:lnTo>
                  <a:pt x="14365" y="1730"/>
                </a:lnTo>
                <a:lnTo>
                  <a:pt x="14355" y="1743"/>
                </a:lnTo>
                <a:lnTo>
                  <a:pt x="14343" y="1756"/>
                </a:lnTo>
                <a:lnTo>
                  <a:pt x="14331" y="1766"/>
                </a:lnTo>
                <a:lnTo>
                  <a:pt x="14320" y="1778"/>
                </a:lnTo>
                <a:lnTo>
                  <a:pt x="14306" y="1787"/>
                </a:lnTo>
                <a:lnTo>
                  <a:pt x="14293" y="1797"/>
                </a:lnTo>
                <a:lnTo>
                  <a:pt x="14278" y="1805"/>
                </a:lnTo>
                <a:lnTo>
                  <a:pt x="14265" y="1814"/>
                </a:lnTo>
                <a:lnTo>
                  <a:pt x="14249" y="1820"/>
                </a:lnTo>
                <a:lnTo>
                  <a:pt x="14233" y="1828"/>
                </a:lnTo>
                <a:lnTo>
                  <a:pt x="14217" y="1833"/>
                </a:lnTo>
                <a:lnTo>
                  <a:pt x="14201" y="1838"/>
                </a:lnTo>
                <a:lnTo>
                  <a:pt x="14183" y="1842"/>
                </a:lnTo>
                <a:lnTo>
                  <a:pt x="14166" y="1847"/>
                </a:lnTo>
                <a:lnTo>
                  <a:pt x="14148" y="1850"/>
                </a:lnTo>
                <a:lnTo>
                  <a:pt x="14129" y="1852"/>
                </a:lnTo>
                <a:lnTo>
                  <a:pt x="14110" y="1853"/>
                </a:lnTo>
                <a:lnTo>
                  <a:pt x="14091" y="1854"/>
                </a:lnTo>
                <a:lnTo>
                  <a:pt x="14054" y="1856"/>
                </a:lnTo>
                <a:lnTo>
                  <a:pt x="14001" y="1858"/>
                </a:lnTo>
                <a:lnTo>
                  <a:pt x="13937" y="1860"/>
                </a:lnTo>
                <a:lnTo>
                  <a:pt x="13871" y="1862"/>
                </a:lnTo>
                <a:lnTo>
                  <a:pt x="13807" y="1863"/>
                </a:lnTo>
                <a:lnTo>
                  <a:pt x="13753" y="1864"/>
                </a:lnTo>
                <a:lnTo>
                  <a:pt x="13716" y="1864"/>
                </a:lnTo>
                <a:lnTo>
                  <a:pt x="13702" y="1864"/>
                </a:lnTo>
                <a:lnTo>
                  <a:pt x="13699" y="1851"/>
                </a:lnTo>
                <a:lnTo>
                  <a:pt x="13691" y="1819"/>
                </a:lnTo>
                <a:lnTo>
                  <a:pt x="13679" y="1773"/>
                </a:lnTo>
                <a:lnTo>
                  <a:pt x="13666" y="1720"/>
                </a:lnTo>
                <a:lnTo>
                  <a:pt x="13653" y="1667"/>
                </a:lnTo>
                <a:lnTo>
                  <a:pt x="13641" y="1620"/>
                </a:lnTo>
                <a:lnTo>
                  <a:pt x="13632" y="1587"/>
                </a:lnTo>
                <a:lnTo>
                  <a:pt x="13629" y="1574"/>
                </a:lnTo>
                <a:lnTo>
                  <a:pt x="13639" y="1575"/>
                </a:lnTo>
                <a:lnTo>
                  <a:pt x="13664" y="1578"/>
                </a:lnTo>
                <a:lnTo>
                  <a:pt x="13701" y="1581"/>
                </a:lnTo>
                <a:lnTo>
                  <a:pt x="13748" y="1585"/>
                </a:lnTo>
                <a:lnTo>
                  <a:pt x="13798" y="1588"/>
                </a:lnTo>
                <a:lnTo>
                  <a:pt x="13848" y="1591"/>
                </a:lnTo>
                <a:lnTo>
                  <a:pt x="13895" y="1593"/>
                </a:lnTo>
                <a:lnTo>
                  <a:pt x="13935" y="1595"/>
                </a:lnTo>
                <a:lnTo>
                  <a:pt x="13960" y="1593"/>
                </a:lnTo>
                <a:lnTo>
                  <a:pt x="13982" y="1591"/>
                </a:lnTo>
                <a:lnTo>
                  <a:pt x="14003" y="1588"/>
                </a:lnTo>
                <a:lnTo>
                  <a:pt x="14023" y="1583"/>
                </a:lnTo>
                <a:lnTo>
                  <a:pt x="14041" y="1577"/>
                </a:lnTo>
                <a:lnTo>
                  <a:pt x="14058" y="1569"/>
                </a:lnTo>
                <a:lnTo>
                  <a:pt x="14074" y="1560"/>
                </a:lnTo>
                <a:lnTo>
                  <a:pt x="14088" y="1549"/>
                </a:lnTo>
                <a:lnTo>
                  <a:pt x="14100" y="1537"/>
                </a:lnTo>
                <a:lnTo>
                  <a:pt x="14112" y="1525"/>
                </a:lnTo>
                <a:lnTo>
                  <a:pt x="14122" y="1510"/>
                </a:lnTo>
                <a:lnTo>
                  <a:pt x="14129" y="1494"/>
                </a:lnTo>
                <a:lnTo>
                  <a:pt x="14135" y="1476"/>
                </a:lnTo>
                <a:lnTo>
                  <a:pt x="14140" y="1457"/>
                </a:lnTo>
                <a:lnTo>
                  <a:pt x="14143" y="1437"/>
                </a:lnTo>
                <a:lnTo>
                  <a:pt x="14144" y="1415"/>
                </a:lnTo>
                <a:lnTo>
                  <a:pt x="14144" y="1402"/>
                </a:lnTo>
                <a:lnTo>
                  <a:pt x="14144" y="1365"/>
                </a:lnTo>
                <a:lnTo>
                  <a:pt x="14144" y="1312"/>
                </a:lnTo>
                <a:lnTo>
                  <a:pt x="14144" y="1252"/>
                </a:lnTo>
                <a:lnTo>
                  <a:pt x="14144" y="1192"/>
                </a:lnTo>
                <a:lnTo>
                  <a:pt x="14144" y="1140"/>
                </a:lnTo>
                <a:lnTo>
                  <a:pt x="14144" y="1103"/>
                </a:lnTo>
                <a:lnTo>
                  <a:pt x="14144" y="1088"/>
                </a:lnTo>
                <a:lnTo>
                  <a:pt x="14144" y="1083"/>
                </a:lnTo>
                <a:lnTo>
                  <a:pt x="14142" y="1070"/>
                </a:lnTo>
                <a:lnTo>
                  <a:pt x="14141" y="1062"/>
                </a:lnTo>
                <a:lnTo>
                  <a:pt x="14137" y="1053"/>
                </a:lnTo>
                <a:lnTo>
                  <a:pt x="14134" y="1043"/>
                </a:lnTo>
                <a:lnTo>
                  <a:pt x="14129" y="1033"/>
                </a:lnTo>
                <a:lnTo>
                  <a:pt x="14124" y="1022"/>
                </a:lnTo>
                <a:lnTo>
                  <a:pt x="14116" y="1013"/>
                </a:lnTo>
                <a:lnTo>
                  <a:pt x="14107" y="1004"/>
                </a:lnTo>
                <a:lnTo>
                  <a:pt x="14096" y="996"/>
                </a:lnTo>
                <a:lnTo>
                  <a:pt x="14091" y="993"/>
                </a:lnTo>
                <a:lnTo>
                  <a:pt x="14083" y="990"/>
                </a:lnTo>
                <a:lnTo>
                  <a:pt x="14077" y="986"/>
                </a:lnTo>
                <a:lnTo>
                  <a:pt x="14070" y="984"/>
                </a:lnTo>
                <a:lnTo>
                  <a:pt x="14061" y="982"/>
                </a:lnTo>
                <a:lnTo>
                  <a:pt x="14053" y="981"/>
                </a:lnTo>
                <a:lnTo>
                  <a:pt x="14043" y="980"/>
                </a:lnTo>
                <a:lnTo>
                  <a:pt x="14034" y="980"/>
                </a:lnTo>
                <a:lnTo>
                  <a:pt x="13984" y="980"/>
                </a:lnTo>
                <a:lnTo>
                  <a:pt x="13920" y="980"/>
                </a:lnTo>
                <a:lnTo>
                  <a:pt x="13847" y="980"/>
                </a:lnTo>
                <a:lnTo>
                  <a:pt x="13772" y="980"/>
                </a:lnTo>
                <a:lnTo>
                  <a:pt x="13699" y="980"/>
                </a:lnTo>
                <a:lnTo>
                  <a:pt x="13636" y="980"/>
                </a:lnTo>
                <a:lnTo>
                  <a:pt x="13588" y="980"/>
                </a:lnTo>
                <a:lnTo>
                  <a:pt x="13559" y="980"/>
                </a:lnTo>
                <a:lnTo>
                  <a:pt x="13557" y="1018"/>
                </a:lnTo>
                <a:lnTo>
                  <a:pt x="13553" y="1056"/>
                </a:lnTo>
                <a:lnTo>
                  <a:pt x="13549" y="1093"/>
                </a:lnTo>
                <a:lnTo>
                  <a:pt x="13544" y="1129"/>
                </a:lnTo>
                <a:lnTo>
                  <a:pt x="13537" y="1164"/>
                </a:lnTo>
                <a:lnTo>
                  <a:pt x="13530" y="1199"/>
                </a:lnTo>
                <a:lnTo>
                  <a:pt x="13522" y="1233"/>
                </a:lnTo>
                <a:lnTo>
                  <a:pt x="13514" y="1266"/>
                </a:lnTo>
                <a:lnTo>
                  <a:pt x="13504" y="1299"/>
                </a:lnTo>
                <a:lnTo>
                  <a:pt x="13494" y="1331"/>
                </a:lnTo>
                <a:lnTo>
                  <a:pt x="13482" y="1361"/>
                </a:lnTo>
                <a:lnTo>
                  <a:pt x="13470" y="1392"/>
                </a:lnTo>
                <a:lnTo>
                  <a:pt x="13459" y="1422"/>
                </a:lnTo>
                <a:lnTo>
                  <a:pt x="13445" y="1452"/>
                </a:lnTo>
                <a:lnTo>
                  <a:pt x="13431" y="1479"/>
                </a:lnTo>
                <a:lnTo>
                  <a:pt x="13416" y="1507"/>
                </a:lnTo>
                <a:lnTo>
                  <a:pt x="13402" y="1534"/>
                </a:lnTo>
                <a:lnTo>
                  <a:pt x="13386" y="1561"/>
                </a:lnTo>
                <a:lnTo>
                  <a:pt x="13369" y="1586"/>
                </a:lnTo>
                <a:lnTo>
                  <a:pt x="13352" y="1611"/>
                </a:lnTo>
                <a:lnTo>
                  <a:pt x="13334" y="1636"/>
                </a:lnTo>
                <a:lnTo>
                  <a:pt x="13316" y="1660"/>
                </a:lnTo>
                <a:lnTo>
                  <a:pt x="13297" y="1684"/>
                </a:lnTo>
                <a:lnTo>
                  <a:pt x="13277" y="1706"/>
                </a:lnTo>
                <a:lnTo>
                  <a:pt x="13257" y="1728"/>
                </a:lnTo>
                <a:lnTo>
                  <a:pt x="13236" y="1749"/>
                </a:lnTo>
                <a:lnTo>
                  <a:pt x="13215" y="1770"/>
                </a:lnTo>
                <a:lnTo>
                  <a:pt x="13193" y="1791"/>
                </a:lnTo>
                <a:lnTo>
                  <a:pt x="13172" y="1811"/>
                </a:lnTo>
                <a:lnTo>
                  <a:pt x="13149" y="1830"/>
                </a:lnTo>
                <a:lnTo>
                  <a:pt x="13125" y="1849"/>
                </a:lnTo>
                <a:lnTo>
                  <a:pt x="13102" y="1867"/>
                </a:lnTo>
                <a:lnTo>
                  <a:pt x="13096" y="1856"/>
                </a:lnTo>
                <a:lnTo>
                  <a:pt x="13078" y="1827"/>
                </a:lnTo>
                <a:lnTo>
                  <a:pt x="13053" y="1786"/>
                </a:lnTo>
                <a:lnTo>
                  <a:pt x="13025" y="1739"/>
                </a:lnTo>
                <a:lnTo>
                  <a:pt x="12996" y="1692"/>
                </a:lnTo>
                <a:lnTo>
                  <a:pt x="12972" y="1651"/>
                </a:lnTo>
                <a:lnTo>
                  <a:pt x="12955" y="1622"/>
                </a:lnTo>
                <a:lnTo>
                  <a:pt x="12947" y="1611"/>
                </a:lnTo>
                <a:close/>
                <a:moveTo>
                  <a:pt x="12325" y="1930"/>
                </a:moveTo>
                <a:lnTo>
                  <a:pt x="12334" y="1925"/>
                </a:lnTo>
                <a:lnTo>
                  <a:pt x="12358" y="1911"/>
                </a:lnTo>
                <a:lnTo>
                  <a:pt x="12392" y="1891"/>
                </a:lnTo>
                <a:lnTo>
                  <a:pt x="12430" y="1868"/>
                </a:lnTo>
                <a:lnTo>
                  <a:pt x="12469" y="1846"/>
                </a:lnTo>
                <a:lnTo>
                  <a:pt x="12502" y="1826"/>
                </a:lnTo>
                <a:lnTo>
                  <a:pt x="12526" y="1812"/>
                </a:lnTo>
                <a:lnTo>
                  <a:pt x="12535" y="1806"/>
                </a:lnTo>
                <a:lnTo>
                  <a:pt x="12535" y="1778"/>
                </a:lnTo>
                <a:lnTo>
                  <a:pt x="12535" y="1702"/>
                </a:lnTo>
                <a:lnTo>
                  <a:pt x="12535" y="1595"/>
                </a:lnTo>
                <a:lnTo>
                  <a:pt x="12535" y="1472"/>
                </a:lnTo>
                <a:lnTo>
                  <a:pt x="12536" y="1349"/>
                </a:lnTo>
                <a:lnTo>
                  <a:pt x="12536" y="1242"/>
                </a:lnTo>
                <a:lnTo>
                  <a:pt x="12536" y="1166"/>
                </a:lnTo>
                <a:lnTo>
                  <a:pt x="12536" y="1137"/>
                </a:lnTo>
                <a:lnTo>
                  <a:pt x="12526" y="1137"/>
                </a:lnTo>
                <a:lnTo>
                  <a:pt x="12503" y="1137"/>
                </a:lnTo>
                <a:lnTo>
                  <a:pt x="12470" y="1137"/>
                </a:lnTo>
                <a:lnTo>
                  <a:pt x="12432" y="1137"/>
                </a:lnTo>
                <a:lnTo>
                  <a:pt x="12394" y="1137"/>
                </a:lnTo>
                <a:lnTo>
                  <a:pt x="12361" y="1137"/>
                </a:lnTo>
                <a:lnTo>
                  <a:pt x="12338" y="1137"/>
                </a:lnTo>
                <a:lnTo>
                  <a:pt x="12328" y="1137"/>
                </a:lnTo>
                <a:lnTo>
                  <a:pt x="12328" y="1126"/>
                </a:lnTo>
                <a:lnTo>
                  <a:pt x="12328" y="1099"/>
                </a:lnTo>
                <a:lnTo>
                  <a:pt x="12328" y="1061"/>
                </a:lnTo>
                <a:lnTo>
                  <a:pt x="12328" y="1015"/>
                </a:lnTo>
                <a:lnTo>
                  <a:pt x="12328" y="970"/>
                </a:lnTo>
                <a:lnTo>
                  <a:pt x="12328" y="931"/>
                </a:lnTo>
                <a:lnTo>
                  <a:pt x="12328" y="904"/>
                </a:lnTo>
                <a:lnTo>
                  <a:pt x="12328" y="893"/>
                </a:lnTo>
                <a:lnTo>
                  <a:pt x="12343" y="893"/>
                </a:lnTo>
                <a:lnTo>
                  <a:pt x="12382" y="893"/>
                </a:lnTo>
                <a:lnTo>
                  <a:pt x="12438" y="893"/>
                </a:lnTo>
                <a:lnTo>
                  <a:pt x="12502" y="893"/>
                </a:lnTo>
                <a:lnTo>
                  <a:pt x="12566" y="893"/>
                </a:lnTo>
                <a:lnTo>
                  <a:pt x="12623" y="893"/>
                </a:lnTo>
                <a:lnTo>
                  <a:pt x="12667" y="893"/>
                </a:lnTo>
                <a:lnTo>
                  <a:pt x="12686" y="893"/>
                </a:lnTo>
                <a:lnTo>
                  <a:pt x="12701" y="894"/>
                </a:lnTo>
                <a:lnTo>
                  <a:pt x="12721" y="898"/>
                </a:lnTo>
                <a:lnTo>
                  <a:pt x="12734" y="902"/>
                </a:lnTo>
                <a:lnTo>
                  <a:pt x="12746" y="907"/>
                </a:lnTo>
                <a:lnTo>
                  <a:pt x="12759" y="913"/>
                </a:lnTo>
                <a:lnTo>
                  <a:pt x="12772" y="922"/>
                </a:lnTo>
                <a:lnTo>
                  <a:pt x="12784" y="931"/>
                </a:lnTo>
                <a:lnTo>
                  <a:pt x="12796" y="944"/>
                </a:lnTo>
                <a:lnTo>
                  <a:pt x="12801" y="950"/>
                </a:lnTo>
                <a:lnTo>
                  <a:pt x="12808" y="959"/>
                </a:lnTo>
                <a:lnTo>
                  <a:pt x="12812" y="966"/>
                </a:lnTo>
                <a:lnTo>
                  <a:pt x="12817" y="976"/>
                </a:lnTo>
                <a:lnTo>
                  <a:pt x="12821" y="985"/>
                </a:lnTo>
                <a:lnTo>
                  <a:pt x="12825" y="995"/>
                </a:lnTo>
                <a:lnTo>
                  <a:pt x="12829" y="1005"/>
                </a:lnTo>
                <a:lnTo>
                  <a:pt x="12831" y="1017"/>
                </a:lnTo>
                <a:lnTo>
                  <a:pt x="12833" y="1030"/>
                </a:lnTo>
                <a:lnTo>
                  <a:pt x="12835" y="1044"/>
                </a:lnTo>
                <a:lnTo>
                  <a:pt x="12836" y="1057"/>
                </a:lnTo>
                <a:lnTo>
                  <a:pt x="12836" y="1072"/>
                </a:lnTo>
                <a:lnTo>
                  <a:pt x="12836" y="1081"/>
                </a:lnTo>
                <a:lnTo>
                  <a:pt x="12836" y="1104"/>
                </a:lnTo>
                <a:lnTo>
                  <a:pt x="12836" y="1141"/>
                </a:lnTo>
                <a:lnTo>
                  <a:pt x="12836" y="1188"/>
                </a:lnTo>
                <a:lnTo>
                  <a:pt x="12836" y="1244"/>
                </a:lnTo>
                <a:lnTo>
                  <a:pt x="12836" y="1307"/>
                </a:lnTo>
                <a:lnTo>
                  <a:pt x="12836" y="1374"/>
                </a:lnTo>
                <a:lnTo>
                  <a:pt x="12836" y="1443"/>
                </a:lnTo>
                <a:lnTo>
                  <a:pt x="12836" y="1513"/>
                </a:lnTo>
                <a:lnTo>
                  <a:pt x="12836" y="1580"/>
                </a:lnTo>
                <a:lnTo>
                  <a:pt x="12836" y="1642"/>
                </a:lnTo>
                <a:lnTo>
                  <a:pt x="12836" y="1699"/>
                </a:lnTo>
                <a:lnTo>
                  <a:pt x="12836" y="1746"/>
                </a:lnTo>
                <a:lnTo>
                  <a:pt x="12836" y="1783"/>
                </a:lnTo>
                <a:lnTo>
                  <a:pt x="12836" y="1806"/>
                </a:lnTo>
                <a:lnTo>
                  <a:pt x="12836" y="1815"/>
                </a:lnTo>
                <a:lnTo>
                  <a:pt x="12847" y="1827"/>
                </a:lnTo>
                <a:lnTo>
                  <a:pt x="12859" y="1837"/>
                </a:lnTo>
                <a:lnTo>
                  <a:pt x="12870" y="1848"/>
                </a:lnTo>
                <a:lnTo>
                  <a:pt x="12883" y="1858"/>
                </a:lnTo>
                <a:lnTo>
                  <a:pt x="12896" y="1868"/>
                </a:lnTo>
                <a:lnTo>
                  <a:pt x="12908" y="1877"/>
                </a:lnTo>
                <a:lnTo>
                  <a:pt x="12922" y="1886"/>
                </a:lnTo>
                <a:lnTo>
                  <a:pt x="12937" y="1894"/>
                </a:lnTo>
                <a:lnTo>
                  <a:pt x="12951" y="1903"/>
                </a:lnTo>
                <a:lnTo>
                  <a:pt x="12967" y="1910"/>
                </a:lnTo>
                <a:lnTo>
                  <a:pt x="12982" y="1918"/>
                </a:lnTo>
                <a:lnTo>
                  <a:pt x="12998" y="1925"/>
                </a:lnTo>
                <a:lnTo>
                  <a:pt x="13032" y="1938"/>
                </a:lnTo>
                <a:lnTo>
                  <a:pt x="13068" y="1949"/>
                </a:lnTo>
                <a:lnTo>
                  <a:pt x="13105" y="1960"/>
                </a:lnTo>
                <a:lnTo>
                  <a:pt x="13145" y="1969"/>
                </a:lnTo>
                <a:lnTo>
                  <a:pt x="13187" y="1976"/>
                </a:lnTo>
                <a:lnTo>
                  <a:pt x="13231" y="1981"/>
                </a:lnTo>
                <a:lnTo>
                  <a:pt x="13277" y="1985"/>
                </a:lnTo>
                <a:lnTo>
                  <a:pt x="13324" y="1989"/>
                </a:lnTo>
                <a:lnTo>
                  <a:pt x="13374" y="1991"/>
                </a:lnTo>
                <a:lnTo>
                  <a:pt x="13426" y="1992"/>
                </a:lnTo>
                <a:lnTo>
                  <a:pt x="13439" y="1992"/>
                </a:lnTo>
                <a:lnTo>
                  <a:pt x="13474" y="1992"/>
                </a:lnTo>
                <a:lnTo>
                  <a:pt x="13528" y="1992"/>
                </a:lnTo>
                <a:lnTo>
                  <a:pt x="13599" y="1992"/>
                </a:lnTo>
                <a:lnTo>
                  <a:pt x="13682" y="1992"/>
                </a:lnTo>
                <a:lnTo>
                  <a:pt x="13776" y="1992"/>
                </a:lnTo>
                <a:lnTo>
                  <a:pt x="13876" y="1992"/>
                </a:lnTo>
                <a:lnTo>
                  <a:pt x="13980" y="1992"/>
                </a:lnTo>
                <a:lnTo>
                  <a:pt x="14082" y="1992"/>
                </a:lnTo>
                <a:lnTo>
                  <a:pt x="14182" y="1992"/>
                </a:lnTo>
                <a:lnTo>
                  <a:pt x="14276" y="1992"/>
                </a:lnTo>
                <a:lnTo>
                  <a:pt x="14360" y="1992"/>
                </a:lnTo>
                <a:lnTo>
                  <a:pt x="14431" y="1992"/>
                </a:lnTo>
                <a:lnTo>
                  <a:pt x="14485" y="1992"/>
                </a:lnTo>
                <a:lnTo>
                  <a:pt x="14521" y="1992"/>
                </a:lnTo>
                <a:lnTo>
                  <a:pt x="14532" y="1992"/>
                </a:lnTo>
                <a:lnTo>
                  <a:pt x="14529" y="2003"/>
                </a:lnTo>
                <a:lnTo>
                  <a:pt x="14521" y="2034"/>
                </a:lnTo>
                <a:lnTo>
                  <a:pt x="14508" y="2078"/>
                </a:lnTo>
                <a:lnTo>
                  <a:pt x="14494" y="2129"/>
                </a:lnTo>
                <a:lnTo>
                  <a:pt x="14481" y="2178"/>
                </a:lnTo>
                <a:lnTo>
                  <a:pt x="14468" y="2222"/>
                </a:lnTo>
                <a:lnTo>
                  <a:pt x="14459" y="2252"/>
                </a:lnTo>
                <a:lnTo>
                  <a:pt x="14456" y="2264"/>
                </a:lnTo>
                <a:lnTo>
                  <a:pt x="14443" y="2264"/>
                </a:lnTo>
                <a:lnTo>
                  <a:pt x="14411" y="2264"/>
                </a:lnTo>
                <a:lnTo>
                  <a:pt x="14359" y="2264"/>
                </a:lnTo>
                <a:lnTo>
                  <a:pt x="14291" y="2264"/>
                </a:lnTo>
                <a:lnTo>
                  <a:pt x="14211" y="2264"/>
                </a:lnTo>
                <a:lnTo>
                  <a:pt x="14122" y="2264"/>
                </a:lnTo>
                <a:lnTo>
                  <a:pt x="14026" y="2264"/>
                </a:lnTo>
                <a:lnTo>
                  <a:pt x="13928" y="2264"/>
                </a:lnTo>
                <a:lnTo>
                  <a:pt x="13829" y="2264"/>
                </a:lnTo>
                <a:lnTo>
                  <a:pt x="13733" y="2264"/>
                </a:lnTo>
                <a:lnTo>
                  <a:pt x="13644" y="2264"/>
                </a:lnTo>
                <a:lnTo>
                  <a:pt x="13564" y="2264"/>
                </a:lnTo>
                <a:lnTo>
                  <a:pt x="13496" y="2264"/>
                </a:lnTo>
                <a:lnTo>
                  <a:pt x="13443" y="2264"/>
                </a:lnTo>
                <a:lnTo>
                  <a:pt x="13409" y="2264"/>
                </a:lnTo>
                <a:lnTo>
                  <a:pt x="13397" y="2264"/>
                </a:lnTo>
                <a:lnTo>
                  <a:pt x="13337" y="2261"/>
                </a:lnTo>
                <a:lnTo>
                  <a:pt x="13280" y="2256"/>
                </a:lnTo>
                <a:lnTo>
                  <a:pt x="13224" y="2250"/>
                </a:lnTo>
                <a:lnTo>
                  <a:pt x="13171" y="2244"/>
                </a:lnTo>
                <a:lnTo>
                  <a:pt x="13120" y="2237"/>
                </a:lnTo>
                <a:lnTo>
                  <a:pt x="13070" y="2228"/>
                </a:lnTo>
                <a:lnTo>
                  <a:pt x="13024" y="2219"/>
                </a:lnTo>
                <a:lnTo>
                  <a:pt x="12979" y="2208"/>
                </a:lnTo>
                <a:lnTo>
                  <a:pt x="12937" y="2196"/>
                </a:lnTo>
                <a:lnTo>
                  <a:pt x="12897" y="2183"/>
                </a:lnTo>
                <a:lnTo>
                  <a:pt x="12877" y="2175"/>
                </a:lnTo>
                <a:lnTo>
                  <a:pt x="12859" y="2168"/>
                </a:lnTo>
                <a:lnTo>
                  <a:pt x="12839" y="2159"/>
                </a:lnTo>
                <a:lnTo>
                  <a:pt x="12823" y="2151"/>
                </a:lnTo>
                <a:lnTo>
                  <a:pt x="12805" y="2142"/>
                </a:lnTo>
                <a:lnTo>
                  <a:pt x="12789" y="2133"/>
                </a:lnTo>
                <a:lnTo>
                  <a:pt x="12772" y="2123"/>
                </a:lnTo>
                <a:lnTo>
                  <a:pt x="12757" y="2113"/>
                </a:lnTo>
                <a:lnTo>
                  <a:pt x="12741" y="2102"/>
                </a:lnTo>
                <a:lnTo>
                  <a:pt x="12727" y="2091"/>
                </a:lnTo>
                <a:lnTo>
                  <a:pt x="12713" y="2080"/>
                </a:lnTo>
                <a:lnTo>
                  <a:pt x="12700" y="2067"/>
                </a:lnTo>
                <a:lnTo>
                  <a:pt x="12684" y="2077"/>
                </a:lnTo>
                <a:lnTo>
                  <a:pt x="12641" y="2102"/>
                </a:lnTo>
                <a:lnTo>
                  <a:pt x="12581" y="2137"/>
                </a:lnTo>
                <a:lnTo>
                  <a:pt x="12512" y="2176"/>
                </a:lnTo>
                <a:lnTo>
                  <a:pt x="12443" y="2216"/>
                </a:lnTo>
                <a:lnTo>
                  <a:pt x="12384" y="2251"/>
                </a:lnTo>
                <a:lnTo>
                  <a:pt x="12342" y="2276"/>
                </a:lnTo>
                <a:lnTo>
                  <a:pt x="12326" y="2285"/>
                </a:lnTo>
                <a:lnTo>
                  <a:pt x="12326" y="2269"/>
                </a:lnTo>
                <a:lnTo>
                  <a:pt x="12326" y="2229"/>
                </a:lnTo>
                <a:lnTo>
                  <a:pt x="12325" y="2173"/>
                </a:lnTo>
                <a:lnTo>
                  <a:pt x="12325" y="2107"/>
                </a:lnTo>
                <a:lnTo>
                  <a:pt x="12325" y="2043"/>
                </a:lnTo>
                <a:lnTo>
                  <a:pt x="12325" y="1985"/>
                </a:lnTo>
                <a:lnTo>
                  <a:pt x="12325" y="1945"/>
                </a:lnTo>
                <a:lnTo>
                  <a:pt x="12325" y="1930"/>
                </a:lnTo>
                <a:close/>
                <a:moveTo>
                  <a:pt x="12337" y="299"/>
                </a:moveTo>
                <a:lnTo>
                  <a:pt x="12335" y="296"/>
                </a:lnTo>
                <a:lnTo>
                  <a:pt x="12335" y="288"/>
                </a:lnTo>
                <a:lnTo>
                  <a:pt x="12335" y="284"/>
                </a:lnTo>
                <a:lnTo>
                  <a:pt x="12337" y="280"/>
                </a:lnTo>
                <a:lnTo>
                  <a:pt x="12339" y="275"/>
                </a:lnTo>
                <a:lnTo>
                  <a:pt x="12343" y="271"/>
                </a:lnTo>
                <a:lnTo>
                  <a:pt x="12347" y="268"/>
                </a:lnTo>
                <a:lnTo>
                  <a:pt x="12353" y="265"/>
                </a:lnTo>
                <a:lnTo>
                  <a:pt x="12362" y="263"/>
                </a:lnTo>
                <a:lnTo>
                  <a:pt x="12371" y="263"/>
                </a:lnTo>
                <a:lnTo>
                  <a:pt x="12388" y="263"/>
                </a:lnTo>
                <a:lnTo>
                  <a:pt x="12414" y="263"/>
                </a:lnTo>
                <a:lnTo>
                  <a:pt x="12446" y="263"/>
                </a:lnTo>
                <a:lnTo>
                  <a:pt x="12482" y="263"/>
                </a:lnTo>
                <a:lnTo>
                  <a:pt x="12519" y="263"/>
                </a:lnTo>
                <a:lnTo>
                  <a:pt x="12556" y="263"/>
                </a:lnTo>
                <a:lnTo>
                  <a:pt x="12590" y="263"/>
                </a:lnTo>
                <a:lnTo>
                  <a:pt x="12617" y="263"/>
                </a:lnTo>
                <a:lnTo>
                  <a:pt x="12625" y="263"/>
                </a:lnTo>
                <a:lnTo>
                  <a:pt x="12631" y="264"/>
                </a:lnTo>
                <a:lnTo>
                  <a:pt x="12637" y="266"/>
                </a:lnTo>
                <a:lnTo>
                  <a:pt x="12643" y="268"/>
                </a:lnTo>
                <a:lnTo>
                  <a:pt x="12652" y="274"/>
                </a:lnTo>
                <a:lnTo>
                  <a:pt x="12659" y="281"/>
                </a:lnTo>
                <a:lnTo>
                  <a:pt x="12669" y="293"/>
                </a:lnTo>
                <a:lnTo>
                  <a:pt x="12672" y="300"/>
                </a:lnTo>
                <a:lnTo>
                  <a:pt x="12679" y="317"/>
                </a:lnTo>
                <a:lnTo>
                  <a:pt x="12695" y="362"/>
                </a:lnTo>
                <a:lnTo>
                  <a:pt x="12720" y="427"/>
                </a:lnTo>
                <a:lnTo>
                  <a:pt x="12748" y="500"/>
                </a:lnTo>
                <a:lnTo>
                  <a:pt x="12777" y="574"/>
                </a:lnTo>
                <a:lnTo>
                  <a:pt x="12801" y="638"/>
                </a:lnTo>
                <a:lnTo>
                  <a:pt x="12818" y="683"/>
                </a:lnTo>
                <a:lnTo>
                  <a:pt x="12825" y="700"/>
                </a:lnTo>
                <a:lnTo>
                  <a:pt x="12827" y="706"/>
                </a:lnTo>
                <a:lnTo>
                  <a:pt x="12828" y="716"/>
                </a:lnTo>
                <a:lnTo>
                  <a:pt x="12828" y="722"/>
                </a:lnTo>
                <a:lnTo>
                  <a:pt x="12827" y="726"/>
                </a:lnTo>
                <a:lnTo>
                  <a:pt x="12825" y="731"/>
                </a:lnTo>
                <a:lnTo>
                  <a:pt x="12820" y="735"/>
                </a:lnTo>
                <a:lnTo>
                  <a:pt x="12815" y="740"/>
                </a:lnTo>
                <a:lnTo>
                  <a:pt x="12809" y="742"/>
                </a:lnTo>
                <a:lnTo>
                  <a:pt x="12800" y="744"/>
                </a:lnTo>
                <a:lnTo>
                  <a:pt x="12791" y="745"/>
                </a:lnTo>
                <a:lnTo>
                  <a:pt x="12770" y="745"/>
                </a:lnTo>
                <a:lnTo>
                  <a:pt x="12737" y="745"/>
                </a:lnTo>
                <a:lnTo>
                  <a:pt x="12695" y="745"/>
                </a:lnTo>
                <a:lnTo>
                  <a:pt x="12652" y="745"/>
                </a:lnTo>
                <a:lnTo>
                  <a:pt x="12610" y="745"/>
                </a:lnTo>
                <a:lnTo>
                  <a:pt x="12574" y="745"/>
                </a:lnTo>
                <a:lnTo>
                  <a:pt x="12548" y="745"/>
                </a:lnTo>
                <a:lnTo>
                  <a:pt x="12539" y="745"/>
                </a:lnTo>
                <a:lnTo>
                  <a:pt x="12533" y="744"/>
                </a:lnTo>
                <a:lnTo>
                  <a:pt x="12527" y="743"/>
                </a:lnTo>
                <a:lnTo>
                  <a:pt x="12521" y="741"/>
                </a:lnTo>
                <a:lnTo>
                  <a:pt x="12514" y="737"/>
                </a:lnTo>
                <a:lnTo>
                  <a:pt x="12509" y="734"/>
                </a:lnTo>
                <a:lnTo>
                  <a:pt x="12504" y="729"/>
                </a:lnTo>
                <a:lnTo>
                  <a:pt x="12500" y="724"/>
                </a:lnTo>
                <a:lnTo>
                  <a:pt x="12496" y="717"/>
                </a:lnTo>
                <a:lnTo>
                  <a:pt x="12489" y="698"/>
                </a:lnTo>
                <a:lnTo>
                  <a:pt x="12471" y="651"/>
                </a:lnTo>
                <a:lnTo>
                  <a:pt x="12445" y="584"/>
                </a:lnTo>
                <a:lnTo>
                  <a:pt x="12416" y="506"/>
                </a:lnTo>
                <a:lnTo>
                  <a:pt x="12387" y="430"/>
                </a:lnTo>
                <a:lnTo>
                  <a:pt x="12362" y="363"/>
                </a:lnTo>
                <a:lnTo>
                  <a:pt x="12344" y="317"/>
                </a:lnTo>
                <a:lnTo>
                  <a:pt x="12337" y="299"/>
                </a:lnTo>
                <a:close/>
                <a:moveTo>
                  <a:pt x="15547" y="784"/>
                </a:moveTo>
                <a:lnTo>
                  <a:pt x="15547" y="762"/>
                </a:lnTo>
                <a:lnTo>
                  <a:pt x="15547" y="702"/>
                </a:lnTo>
                <a:lnTo>
                  <a:pt x="15547" y="619"/>
                </a:lnTo>
                <a:lnTo>
                  <a:pt x="15547" y="523"/>
                </a:lnTo>
                <a:lnTo>
                  <a:pt x="15547" y="428"/>
                </a:lnTo>
                <a:lnTo>
                  <a:pt x="15547" y="344"/>
                </a:lnTo>
                <a:lnTo>
                  <a:pt x="15547" y="285"/>
                </a:lnTo>
                <a:lnTo>
                  <a:pt x="15547" y="263"/>
                </a:lnTo>
                <a:lnTo>
                  <a:pt x="15559" y="263"/>
                </a:lnTo>
                <a:lnTo>
                  <a:pt x="15594" y="263"/>
                </a:lnTo>
                <a:lnTo>
                  <a:pt x="15642" y="263"/>
                </a:lnTo>
                <a:lnTo>
                  <a:pt x="15698" y="263"/>
                </a:lnTo>
                <a:lnTo>
                  <a:pt x="15754" y="263"/>
                </a:lnTo>
                <a:lnTo>
                  <a:pt x="15802" y="263"/>
                </a:lnTo>
                <a:lnTo>
                  <a:pt x="15837" y="263"/>
                </a:lnTo>
                <a:lnTo>
                  <a:pt x="15849" y="263"/>
                </a:lnTo>
                <a:lnTo>
                  <a:pt x="15849" y="274"/>
                </a:lnTo>
                <a:lnTo>
                  <a:pt x="15849" y="306"/>
                </a:lnTo>
                <a:lnTo>
                  <a:pt x="15849" y="352"/>
                </a:lnTo>
                <a:lnTo>
                  <a:pt x="15849" y="403"/>
                </a:lnTo>
                <a:lnTo>
                  <a:pt x="15849" y="455"/>
                </a:lnTo>
                <a:lnTo>
                  <a:pt x="15849" y="499"/>
                </a:lnTo>
                <a:lnTo>
                  <a:pt x="15849" y="531"/>
                </a:lnTo>
                <a:lnTo>
                  <a:pt x="15849" y="542"/>
                </a:lnTo>
                <a:lnTo>
                  <a:pt x="15860" y="542"/>
                </a:lnTo>
                <a:lnTo>
                  <a:pt x="15887" y="542"/>
                </a:lnTo>
                <a:lnTo>
                  <a:pt x="15924" y="542"/>
                </a:lnTo>
                <a:lnTo>
                  <a:pt x="15967" y="542"/>
                </a:lnTo>
                <a:lnTo>
                  <a:pt x="16009" y="542"/>
                </a:lnTo>
                <a:lnTo>
                  <a:pt x="16046" y="542"/>
                </a:lnTo>
                <a:lnTo>
                  <a:pt x="16073" y="542"/>
                </a:lnTo>
                <a:lnTo>
                  <a:pt x="16083" y="542"/>
                </a:lnTo>
                <a:lnTo>
                  <a:pt x="16083" y="526"/>
                </a:lnTo>
                <a:lnTo>
                  <a:pt x="16083" y="481"/>
                </a:lnTo>
                <a:lnTo>
                  <a:pt x="16083" y="416"/>
                </a:lnTo>
                <a:lnTo>
                  <a:pt x="16083" y="343"/>
                </a:lnTo>
                <a:lnTo>
                  <a:pt x="16083" y="270"/>
                </a:lnTo>
                <a:lnTo>
                  <a:pt x="16083" y="207"/>
                </a:lnTo>
                <a:lnTo>
                  <a:pt x="16083" y="161"/>
                </a:lnTo>
                <a:lnTo>
                  <a:pt x="16083" y="144"/>
                </a:lnTo>
                <a:lnTo>
                  <a:pt x="16096" y="144"/>
                </a:lnTo>
                <a:lnTo>
                  <a:pt x="16130" y="144"/>
                </a:lnTo>
                <a:lnTo>
                  <a:pt x="16179" y="144"/>
                </a:lnTo>
                <a:lnTo>
                  <a:pt x="16234" y="144"/>
                </a:lnTo>
                <a:lnTo>
                  <a:pt x="16289" y="144"/>
                </a:lnTo>
                <a:lnTo>
                  <a:pt x="16338" y="144"/>
                </a:lnTo>
                <a:lnTo>
                  <a:pt x="16371" y="144"/>
                </a:lnTo>
                <a:lnTo>
                  <a:pt x="16384" y="144"/>
                </a:lnTo>
                <a:lnTo>
                  <a:pt x="16384" y="161"/>
                </a:lnTo>
                <a:lnTo>
                  <a:pt x="16384" y="207"/>
                </a:lnTo>
                <a:lnTo>
                  <a:pt x="16384" y="270"/>
                </a:lnTo>
                <a:lnTo>
                  <a:pt x="16384" y="343"/>
                </a:lnTo>
                <a:lnTo>
                  <a:pt x="16384" y="416"/>
                </a:lnTo>
                <a:lnTo>
                  <a:pt x="16384" y="481"/>
                </a:lnTo>
                <a:lnTo>
                  <a:pt x="16384" y="526"/>
                </a:lnTo>
                <a:lnTo>
                  <a:pt x="16384" y="542"/>
                </a:lnTo>
                <a:lnTo>
                  <a:pt x="16392" y="542"/>
                </a:lnTo>
                <a:lnTo>
                  <a:pt x="16412" y="542"/>
                </a:lnTo>
                <a:lnTo>
                  <a:pt x="16439" y="542"/>
                </a:lnTo>
                <a:lnTo>
                  <a:pt x="16471" y="542"/>
                </a:lnTo>
                <a:lnTo>
                  <a:pt x="16503" y="542"/>
                </a:lnTo>
                <a:lnTo>
                  <a:pt x="16531" y="542"/>
                </a:lnTo>
                <a:lnTo>
                  <a:pt x="16550" y="542"/>
                </a:lnTo>
                <a:lnTo>
                  <a:pt x="16558" y="542"/>
                </a:lnTo>
                <a:lnTo>
                  <a:pt x="16567" y="542"/>
                </a:lnTo>
                <a:lnTo>
                  <a:pt x="16585" y="539"/>
                </a:lnTo>
                <a:lnTo>
                  <a:pt x="16596" y="536"/>
                </a:lnTo>
                <a:lnTo>
                  <a:pt x="16605" y="532"/>
                </a:lnTo>
                <a:lnTo>
                  <a:pt x="16611" y="530"/>
                </a:lnTo>
                <a:lnTo>
                  <a:pt x="16615" y="527"/>
                </a:lnTo>
                <a:lnTo>
                  <a:pt x="16619" y="522"/>
                </a:lnTo>
                <a:lnTo>
                  <a:pt x="16622" y="519"/>
                </a:lnTo>
                <a:lnTo>
                  <a:pt x="16627" y="513"/>
                </a:lnTo>
                <a:lnTo>
                  <a:pt x="16631" y="506"/>
                </a:lnTo>
                <a:lnTo>
                  <a:pt x="16633" y="500"/>
                </a:lnTo>
                <a:lnTo>
                  <a:pt x="16635" y="494"/>
                </a:lnTo>
                <a:lnTo>
                  <a:pt x="16637" y="482"/>
                </a:lnTo>
                <a:lnTo>
                  <a:pt x="16637" y="471"/>
                </a:lnTo>
                <a:lnTo>
                  <a:pt x="16638" y="463"/>
                </a:lnTo>
                <a:lnTo>
                  <a:pt x="16638" y="439"/>
                </a:lnTo>
                <a:lnTo>
                  <a:pt x="16638" y="406"/>
                </a:lnTo>
                <a:lnTo>
                  <a:pt x="16638" y="367"/>
                </a:lnTo>
                <a:lnTo>
                  <a:pt x="16638" y="328"/>
                </a:lnTo>
                <a:lnTo>
                  <a:pt x="16638" y="296"/>
                </a:lnTo>
                <a:lnTo>
                  <a:pt x="16638" y="271"/>
                </a:lnTo>
                <a:lnTo>
                  <a:pt x="16638" y="263"/>
                </a:lnTo>
                <a:lnTo>
                  <a:pt x="16651" y="263"/>
                </a:lnTo>
                <a:lnTo>
                  <a:pt x="16685" y="263"/>
                </a:lnTo>
                <a:lnTo>
                  <a:pt x="16734" y="263"/>
                </a:lnTo>
                <a:lnTo>
                  <a:pt x="16789" y="263"/>
                </a:lnTo>
                <a:lnTo>
                  <a:pt x="16845" y="263"/>
                </a:lnTo>
                <a:lnTo>
                  <a:pt x="16892" y="263"/>
                </a:lnTo>
                <a:lnTo>
                  <a:pt x="16927" y="263"/>
                </a:lnTo>
                <a:lnTo>
                  <a:pt x="16940" y="263"/>
                </a:lnTo>
                <a:lnTo>
                  <a:pt x="16940" y="275"/>
                </a:lnTo>
                <a:lnTo>
                  <a:pt x="16940" y="310"/>
                </a:lnTo>
                <a:lnTo>
                  <a:pt x="16940" y="359"/>
                </a:lnTo>
                <a:lnTo>
                  <a:pt x="16940" y="415"/>
                </a:lnTo>
                <a:lnTo>
                  <a:pt x="16940" y="471"/>
                </a:lnTo>
                <a:lnTo>
                  <a:pt x="16940" y="520"/>
                </a:lnTo>
                <a:lnTo>
                  <a:pt x="16940" y="554"/>
                </a:lnTo>
                <a:lnTo>
                  <a:pt x="16940" y="568"/>
                </a:lnTo>
                <a:lnTo>
                  <a:pt x="16940" y="571"/>
                </a:lnTo>
                <a:lnTo>
                  <a:pt x="16939" y="583"/>
                </a:lnTo>
                <a:lnTo>
                  <a:pt x="16940" y="587"/>
                </a:lnTo>
                <a:lnTo>
                  <a:pt x="16939" y="598"/>
                </a:lnTo>
                <a:lnTo>
                  <a:pt x="16938" y="615"/>
                </a:lnTo>
                <a:lnTo>
                  <a:pt x="16935" y="636"/>
                </a:lnTo>
                <a:lnTo>
                  <a:pt x="16933" y="646"/>
                </a:lnTo>
                <a:lnTo>
                  <a:pt x="16929" y="659"/>
                </a:lnTo>
                <a:lnTo>
                  <a:pt x="16925" y="671"/>
                </a:lnTo>
                <a:lnTo>
                  <a:pt x="16921" y="682"/>
                </a:lnTo>
                <a:lnTo>
                  <a:pt x="16915" y="695"/>
                </a:lnTo>
                <a:lnTo>
                  <a:pt x="16908" y="707"/>
                </a:lnTo>
                <a:lnTo>
                  <a:pt x="16900" y="717"/>
                </a:lnTo>
                <a:lnTo>
                  <a:pt x="16890" y="728"/>
                </a:lnTo>
                <a:lnTo>
                  <a:pt x="16888" y="730"/>
                </a:lnTo>
                <a:lnTo>
                  <a:pt x="16883" y="736"/>
                </a:lnTo>
                <a:lnTo>
                  <a:pt x="16871" y="746"/>
                </a:lnTo>
                <a:lnTo>
                  <a:pt x="16855" y="755"/>
                </a:lnTo>
                <a:lnTo>
                  <a:pt x="16846" y="761"/>
                </a:lnTo>
                <a:lnTo>
                  <a:pt x="16834" y="766"/>
                </a:lnTo>
                <a:lnTo>
                  <a:pt x="16821" y="771"/>
                </a:lnTo>
                <a:lnTo>
                  <a:pt x="16808" y="776"/>
                </a:lnTo>
                <a:lnTo>
                  <a:pt x="16792" y="779"/>
                </a:lnTo>
                <a:lnTo>
                  <a:pt x="16775" y="782"/>
                </a:lnTo>
                <a:lnTo>
                  <a:pt x="16757" y="783"/>
                </a:lnTo>
                <a:lnTo>
                  <a:pt x="16736" y="784"/>
                </a:lnTo>
                <a:lnTo>
                  <a:pt x="16721" y="784"/>
                </a:lnTo>
                <a:lnTo>
                  <a:pt x="16683" y="784"/>
                </a:lnTo>
                <a:lnTo>
                  <a:pt x="16622" y="784"/>
                </a:lnTo>
                <a:lnTo>
                  <a:pt x="16546" y="784"/>
                </a:lnTo>
                <a:lnTo>
                  <a:pt x="16456" y="784"/>
                </a:lnTo>
                <a:lnTo>
                  <a:pt x="16356" y="784"/>
                </a:lnTo>
                <a:lnTo>
                  <a:pt x="16249" y="784"/>
                </a:lnTo>
                <a:lnTo>
                  <a:pt x="16137" y="784"/>
                </a:lnTo>
                <a:lnTo>
                  <a:pt x="16027" y="784"/>
                </a:lnTo>
                <a:lnTo>
                  <a:pt x="15920" y="784"/>
                </a:lnTo>
                <a:lnTo>
                  <a:pt x="15821" y="784"/>
                </a:lnTo>
                <a:lnTo>
                  <a:pt x="15731" y="784"/>
                </a:lnTo>
                <a:lnTo>
                  <a:pt x="15656" y="784"/>
                </a:lnTo>
                <a:lnTo>
                  <a:pt x="15598" y="784"/>
                </a:lnTo>
                <a:lnTo>
                  <a:pt x="15559" y="784"/>
                </a:lnTo>
                <a:lnTo>
                  <a:pt x="15547" y="784"/>
                </a:lnTo>
                <a:close/>
                <a:moveTo>
                  <a:pt x="15547" y="2264"/>
                </a:moveTo>
                <a:lnTo>
                  <a:pt x="15547" y="2254"/>
                </a:lnTo>
                <a:lnTo>
                  <a:pt x="15547" y="2223"/>
                </a:lnTo>
                <a:lnTo>
                  <a:pt x="15547" y="2174"/>
                </a:lnTo>
                <a:lnTo>
                  <a:pt x="15547" y="2112"/>
                </a:lnTo>
                <a:lnTo>
                  <a:pt x="15547" y="2038"/>
                </a:lnTo>
                <a:lnTo>
                  <a:pt x="15547" y="1956"/>
                </a:lnTo>
                <a:lnTo>
                  <a:pt x="15547" y="1867"/>
                </a:lnTo>
                <a:lnTo>
                  <a:pt x="15547" y="1777"/>
                </a:lnTo>
                <a:lnTo>
                  <a:pt x="15547" y="1686"/>
                </a:lnTo>
                <a:lnTo>
                  <a:pt x="15547" y="1597"/>
                </a:lnTo>
                <a:lnTo>
                  <a:pt x="15547" y="1515"/>
                </a:lnTo>
                <a:lnTo>
                  <a:pt x="15547" y="1441"/>
                </a:lnTo>
                <a:lnTo>
                  <a:pt x="15547" y="1378"/>
                </a:lnTo>
                <a:lnTo>
                  <a:pt x="15547" y="1331"/>
                </a:lnTo>
                <a:lnTo>
                  <a:pt x="15547" y="1299"/>
                </a:lnTo>
                <a:lnTo>
                  <a:pt x="15547" y="1288"/>
                </a:lnTo>
                <a:lnTo>
                  <a:pt x="15568" y="1288"/>
                </a:lnTo>
                <a:lnTo>
                  <a:pt x="15623" y="1288"/>
                </a:lnTo>
                <a:lnTo>
                  <a:pt x="15702" y="1288"/>
                </a:lnTo>
                <a:lnTo>
                  <a:pt x="15792" y="1288"/>
                </a:lnTo>
                <a:lnTo>
                  <a:pt x="15883" y="1288"/>
                </a:lnTo>
                <a:lnTo>
                  <a:pt x="15962" y="1288"/>
                </a:lnTo>
                <a:lnTo>
                  <a:pt x="16018" y="1288"/>
                </a:lnTo>
                <a:lnTo>
                  <a:pt x="16039" y="1288"/>
                </a:lnTo>
                <a:lnTo>
                  <a:pt x="16045" y="1265"/>
                </a:lnTo>
                <a:lnTo>
                  <a:pt x="16059" y="1213"/>
                </a:lnTo>
                <a:lnTo>
                  <a:pt x="16074" y="1161"/>
                </a:lnTo>
                <a:lnTo>
                  <a:pt x="16080" y="1137"/>
                </a:lnTo>
                <a:lnTo>
                  <a:pt x="16057" y="1137"/>
                </a:lnTo>
                <a:lnTo>
                  <a:pt x="15996" y="1137"/>
                </a:lnTo>
                <a:lnTo>
                  <a:pt x="15909" y="1137"/>
                </a:lnTo>
                <a:lnTo>
                  <a:pt x="15809" y="1137"/>
                </a:lnTo>
                <a:lnTo>
                  <a:pt x="15709" y="1137"/>
                </a:lnTo>
                <a:lnTo>
                  <a:pt x="15622" y="1137"/>
                </a:lnTo>
                <a:lnTo>
                  <a:pt x="15560" y="1137"/>
                </a:lnTo>
                <a:lnTo>
                  <a:pt x="15537" y="1137"/>
                </a:lnTo>
                <a:lnTo>
                  <a:pt x="15540" y="1126"/>
                </a:lnTo>
                <a:lnTo>
                  <a:pt x="15548" y="1099"/>
                </a:lnTo>
                <a:lnTo>
                  <a:pt x="15558" y="1061"/>
                </a:lnTo>
                <a:lnTo>
                  <a:pt x="15570" y="1015"/>
                </a:lnTo>
                <a:lnTo>
                  <a:pt x="15583" y="970"/>
                </a:lnTo>
                <a:lnTo>
                  <a:pt x="15593" y="932"/>
                </a:lnTo>
                <a:lnTo>
                  <a:pt x="15601" y="905"/>
                </a:lnTo>
                <a:lnTo>
                  <a:pt x="15604" y="894"/>
                </a:lnTo>
                <a:lnTo>
                  <a:pt x="15619" y="894"/>
                </a:lnTo>
                <a:lnTo>
                  <a:pt x="15661" y="894"/>
                </a:lnTo>
                <a:lnTo>
                  <a:pt x="15727" y="894"/>
                </a:lnTo>
                <a:lnTo>
                  <a:pt x="15812" y="894"/>
                </a:lnTo>
                <a:lnTo>
                  <a:pt x="15913" y="894"/>
                </a:lnTo>
                <a:lnTo>
                  <a:pt x="16026" y="894"/>
                </a:lnTo>
                <a:lnTo>
                  <a:pt x="16147" y="894"/>
                </a:lnTo>
                <a:lnTo>
                  <a:pt x="16272" y="894"/>
                </a:lnTo>
                <a:lnTo>
                  <a:pt x="16397" y="894"/>
                </a:lnTo>
                <a:lnTo>
                  <a:pt x="16518" y="894"/>
                </a:lnTo>
                <a:lnTo>
                  <a:pt x="16630" y="894"/>
                </a:lnTo>
                <a:lnTo>
                  <a:pt x="16731" y="894"/>
                </a:lnTo>
                <a:lnTo>
                  <a:pt x="16816" y="894"/>
                </a:lnTo>
                <a:lnTo>
                  <a:pt x="16883" y="894"/>
                </a:lnTo>
                <a:lnTo>
                  <a:pt x="16925" y="894"/>
                </a:lnTo>
                <a:lnTo>
                  <a:pt x="16940" y="894"/>
                </a:lnTo>
                <a:lnTo>
                  <a:pt x="16940" y="905"/>
                </a:lnTo>
                <a:lnTo>
                  <a:pt x="16940" y="932"/>
                </a:lnTo>
                <a:lnTo>
                  <a:pt x="16940" y="970"/>
                </a:lnTo>
                <a:lnTo>
                  <a:pt x="16940" y="1015"/>
                </a:lnTo>
                <a:lnTo>
                  <a:pt x="16940" y="1061"/>
                </a:lnTo>
                <a:lnTo>
                  <a:pt x="16940" y="1099"/>
                </a:lnTo>
                <a:lnTo>
                  <a:pt x="16940" y="1126"/>
                </a:lnTo>
                <a:lnTo>
                  <a:pt x="16940" y="1137"/>
                </a:lnTo>
                <a:lnTo>
                  <a:pt x="16916" y="1137"/>
                </a:lnTo>
                <a:lnTo>
                  <a:pt x="16853" y="1137"/>
                </a:lnTo>
                <a:lnTo>
                  <a:pt x="16764" y="1137"/>
                </a:lnTo>
                <a:lnTo>
                  <a:pt x="16663" y="1137"/>
                </a:lnTo>
                <a:lnTo>
                  <a:pt x="16560" y="1137"/>
                </a:lnTo>
                <a:lnTo>
                  <a:pt x="16471" y="1137"/>
                </a:lnTo>
                <a:lnTo>
                  <a:pt x="16409" y="1137"/>
                </a:lnTo>
                <a:lnTo>
                  <a:pt x="16385" y="1137"/>
                </a:lnTo>
                <a:lnTo>
                  <a:pt x="16378" y="1161"/>
                </a:lnTo>
                <a:lnTo>
                  <a:pt x="16363" y="1213"/>
                </a:lnTo>
                <a:lnTo>
                  <a:pt x="16348" y="1265"/>
                </a:lnTo>
                <a:lnTo>
                  <a:pt x="16342" y="1288"/>
                </a:lnTo>
                <a:lnTo>
                  <a:pt x="16362" y="1288"/>
                </a:lnTo>
                <a:lnTo>
                  <a:pt x="16395" y="1288"/>
                </a:lnTo>
                <a:lnTo>
                  <a:pt x="16438" y="1288"/>
                </a:lnTo>
                <a:lnTo>
                  <a:pt x="16489" y="1288"/>
                </a:lnTo>
                <a:lnTo>
                  <a:pt x="16547" y="1288"/>
                </a:lnTo>
                <a:lnTo>
                  <a:pt x="16609" y="1288"/>
                </a:lnTo>
                <a:lnTo>
                  <a:pt x="16673" y="1288"/>
                </a:lnTo>
                <a:lnTo>
                  <a:pt x="16738" y="1288"/>
                </a:lnTo>
                <a:lnTo>
                  <a:pt x="16755" y="1288"/>
                </a:lnTo>
                <a:lnTo>
                  <a:pt x="16772" y="1290"/>
                </a:lnTo>
                <a:lnTo>
                  <a:pt x="16786" y="1293"/>
                </a:lnTo>
                <a:lnTo>
                  <a:pt x="16800" y="1295"/>
                </a:lnTo>
                <a:lnTo>
                  <a:pt x="16814" y="1299"/>
                </a:lnTo>
                <a:lnTo>
                  <a:pt x="16827" y="1303"/>
                </a:lnTo>
                <a:lnTo>
                  <a:pt x="16838" y="1307"/>
                </a:lnTo>
                <a:lnTo>
                  <a:pt x="16849" y="1313"/>
                </a:lnTo>
                <a:lnTo>
                  <a:pt x="16860" y="1319"/>
                </a:lnTo>
                <a:lnTo>
                  <a:pt x="16869" y="1325"/>
                </a:lnTo>
                <a:lnTo>
                  <a:pt x="16878" y="1332"/>
                </a:lnTo>
                <a:lnTo>
                  <a:pt x="16885" y="1339"/>
                </a:lnTo>
                <a:lnTo>
                  <a:pt x="16892" y="1347"/>
                </a:lnTo>
                <a:lnTo>
                  <a:pt x="16899" y="1354"/>
                </a:lnTo>
                <a:lnTo>
                  <a:pt x="16905" y="1361"/>
                </a:lnTo>
                <a:lnTo>
                  <a:pt x="16910" y="1369"/>
                </a:lnTo>
                <a:lnTo>
                  <a:pt x="16919" y="1385"/>
                </a:lnTo>
                <a:lnTo>
                  <a:pt x="16926" y="1401"/>
                </a:lnTo>
                <a:lnTo>
                  <a:pt x="16932" y="1414"/>
                </a:lnTo>
                <a:lnTo>
                  <a:pt x="16935" y="1428"/>
                </a:lnTo>
                <a:lnTo>
                  <a:pt x="16939" y="1452"/>
                </a:lnTo>
                <a:lnTo>
                  <a:pt x="16940" y="1464"/>
                </a:lnTo>
                <a:lnTo>
                  <a:pt x="16940" y="1491"/>
                </a:lnTo>
                <a:lnTo>
                  <a:pt x="16940" y="1560"/>
                </a:lnTo>
                <a:lnTo>
                  <a:pt x="16940" y="1656"/>
                </a:lnTo>
                <a:lnTo>
                  <a:pt x="16940" y="1768"/>
                </a:lnTo>
                <a:lnTo>
                  <a:pt x="16940" y="1880"/>
                </a:lnTo>
                <a:lnTo>
                  <a:pt x="16940" y="1977"/>
                </a:lnTo>
                <a:lnTo>
                  <a:pt x="16940" y="2046"/>
                </a:lnTo>
                <a:lnTo>
                  <a:pt x="16940" y="2072"/>
                </a:lnTo>
                <a:lnTo>
                  <a:pt x="16939" y="2096"/>
                </a:lnTo>
                <a:lnTo>
                  <a:pt x="16937" y="2117"/>
                </a:lnTo>
                <a:lnTo>
                  <a:pt x="16933" y="2137"/>
                </a:lnTo>
                <a:lnTo>
                  <a:pt x="16926" y="2156"/>
                </a:lnTo>
                <a:lnTo>
                  <a:pt x="16923" y="2166"/>
                </a:lnTo>
                <a:lnTo>
                  <a:pt x="16919" y="2174"/>
                </a:lnTo>
                <a:lnTo>
                  <a:pt x="16915" y="2181"/>
                </a:lnTo>
                <a:lnTo>
                  <a:pt x="16910" y="2190"/>
                </a:lnTo>
                <a:lnTo>
                  <a:pt x="16905" y="2197"/>
                </a:lnTo>
                <a:lnTo>
                  <a:pt x="16899" y="2204"/>
                </a:lnTo>
                <a:lnTo>
                  <a:pt x="16893" y="2211"/>
                </a:lnTo>
                <a:lnTo>
                  <a:pt x="16887" y="2216"/>
                </a:lnTo>
                <a:lnTo>
                  <a:pt x="16880" y="2223"/>
                </a:lnTo>
                <a:lnTo>
                  <a:pt x="16872" y="2228"/>
                </a:lnTo>
                <a:lnTo>
                  <a:pt x="16865" y="2233"/>
                </a:lnTo>
                <a:lnTo>
                  <a:pt x="16856" y="2238"/>
                </a:lnTo>
                <a:lnTo>
                  <a:pt x="16839" y="2246"/>
                </a:lnTo>
                <a:lnTo>
                  <a:pt x="16820" y="2254"/>
                </a:lnTo>
                <a:lnTo>
                  <a:pt x="16799" y="2259"/>
                </a:lnTo>
                <a:lnTo>
                  <a:pt x="16777" y="2262"/>
                </a:lnTo>
                <a:lnTo>
                  <a:pt x="16754" y="2264"/>
                </a:lnTo>
                <a:lnTo>
                  <a:pt x="16728" y="2265"/>
                </a:lnTo>
                <a:lnTo>
                  <a:pt x="16681" y="2265"/>
                </a:lnTo>
                <a:lnTo>
                  <a:pt x="16648" y="2265"/>
                </a:lnTo>
                <a:lnTo>
                  <a:pt x="16631" y="2265"/>
                </a:lnTo>
                <a:lnTo>
                  <a:pt x="16624" y="2265"/>
                </a:lnTo>
                <a:lnTo>
                  <a:pt x="16622" y="2256"/>
                </a:lnTo>
                <a:lnTo>
                  <a:pt x="16615" y="2230"/>
                </a:lnTo>
                <a:lnTo>
                  <a:pt x="16604" y="2195"/>
                </a:lnTo>
                <a:lnTo>
                  <a:pt x="16593" y="2154"/>
                </a:lnTo>
                <a:lnTo>
                  <a:pt x="16581" y="2113"/>
                </a:lnTo>
                <a:lnTo>
                  <a:pt x="16572" y="2078"/>
                </a:lnTo>
                <a:lnTo>
                  <a:pt x="16564" y="2052"/>
                </a:lnTo>
                <a:lnTo>
                  <a:pt x="16561" y="2043"/>
                </a:lnTo>
                <a:lnTo>
                  <a:pt x="16568" y="2042"/>
                </a:lnTo>
                <a:lnTo>
                  <a:pt x="16582" y="2041"/>
                </a:lnTo>
                <a:lnTo>
                  <a:pt x="16597" y="2040"/>
                </a:lnTo>
                <a:lnTo>
                  <a:pt x="16603" y="2038"/>
                </a:lnTo>
                <a:lnTo>
                  <a:pt x="16611" y="2037"/>
                </a:lnTo>
                <a:lnTo>
                  <a:pt x="16616" y="2035"/>
                </a:lnTo>
                <a:lnTo>
                  <a:pt x="16621" y="2032"/>
                </a:lnTo>
                <a:lnTo>
                  <a:pt x="16626" y="2029"/>
                </a:lnTo>
                <a:lnTo>
                  <a:pt x="16629" y="2025"/>
                </a:lnTo>
                <a:lnTo>
                  <a:pt x="16632" y="2020"/>
                </a:lnTo>
                <a:lnTo>
                  <a:pt x="16634" y="2016"/>
                </a:lnTo>
                <a:lnTo>
                  <a:pt x="16635" y="2011"/>
                </a:lnTo>
                <a:lnTo>
                  <a:pt x="16638" y="1994"/>
                </a:lnTo>
                <a:lnTo>
                  <a:pt x="16638" y="1987"/>
                </a:lnTo>
                <a:lnTo>
                  <a:pt x="16638" y="1966"/>
                </a:lnTo>
                <a:lnTo>
                  <a:pt x="16638" y="1914"/>
                </a:lnTo>
                <a:lnTo>
                  <a:pt x="16638" y="1841"/>
                </a:lnTo>
                <a:lnTo>
                  <a:pt x="16638" y="1758"/>
                </a:lnTo>
                <a:lnTo>
                  <a:pt x="16638" y="1673"/>
                </a:lnTo>
                <a:lnTo>
                  <a:pt x="16638" y="1600"/>
                </a:lnTo>
                <a:lnTo>
                  <a:pt x="16638" y="1548"/>
                </a:lnTo>
                <a:lnTo>
                  <a:pt x="16638" y="1529"/>
                </a:lnTo>
                <a:lnTo>
                  <a:pt x="16620" y="1529"/>
                </a:lnTo>
                <a:lnTo>
                  <a:pt x="16581" y="1529"/>
                </a:lnTo>
                <a:lnTo>
                  <a:pt x="16542" y="1529"/>
                </a:lnTo>
                <a:lnTo>
                  <a:pt x="16524" y="1529"/>
                </a:lnTo>
                <a:lnTo>
                  <a:pt x="16524" y="1557"/>
                </a:lnTo>
                <a:lnTo>
                  <a:pt x="16524" y="1633"/>
                </a:lnTo>
                <a:lnTo>
                  <a:pt x="16524" y="1739"/>
                </a:lnTo>
                <a:lnTo>
                  <a:pt x="16524" y="1860"/>
                </a:lnTo>
                <a:lnTo>
                  <a:pt x="16524" y="1982"/>
                </a:lnTo>
                <a:lnTo>
                  <a:pt x="16524" y="2089"/>
                </a:lnTo>
                <a:lnTo>
                  <a:pt x="16524" y="2165"/>
                </a:lnTo>
                <a:lnTo>
                  <a:pt x="16524" y="2192"/>
                </a:lnTo>
                <a:lnTo>
                  <a:pt x="16514" y="2192"/>
                </a:lnTo>
                <a:lnTo>
                  <a:pt x="16488" y="2192"/>
                </a:lnTo>
                <a:lnTo>
                  <a:pt x="16450" y="2193"/>
                </a:lnTo>
                <a:lnTo>
                  <a:pt x="16406" y="2193"/>
                </a:lnTo>
                <a:lnTo>
                  <a:pt x="16364" y="2193"/>
                </a:lnTo>
                <a:lnTo>
                  <a:pt x="16326" y="2193"/>
                </a:lnTo>
                <a:lnTo>
                  <a:pt x="16299" y="2193"/>
                </a:lnTo>
                <a:lnTo>
                  <a:pt x="16290" y="2193"/>
                </a:lnTo>
                <a:lnTo>
                  <a:pt x="16290" y="2165"/>
                </a:lnTo>
                <a:lnTo>
                  <a:pt x="16290" y="2089"/>
                </a:lnTo>
                <a:lnTo>
                  <a:pt x="16290" y="1982"/>
                </a:lnTo>
                <a:lnTo>
                  <a:pt x="16290" y="1860"/>
                </a:lnTo>
                <a:lnTo>
                  <a:pt x="16290" y="1739"/>
                </a:lnTo>
                <a:lnTo>
                  <a:pt x="16290" y="1633"/>
                </a:lnTo>
                <a:lnTo>
                  <a:pt x="16290" y="1557"/>
                </a:lnTo>
                <a:lnTo>
                  <a:pt x="16290" y="1529"/>
                </a:lnTo>
                <a:lnTo>
                  <a:pt x="16273" y="1529"/>
                </a:lnTo>
                <a:lnTo>
                  <a:pt x="16237" y="1529"/>
                </a:lnTo>
                <a:lnTo>
                  <a:pt x="16201" y="1529"/>
                </a:lnTo>
                <a:lnTo>
                  <a:pt x="16184" y="1529"/>
                </a:lnTo>
                <a:lnTo>
                  <a:pt x="16184" y="1557"/>
                </a:lnTo>
                <a:lnTo>
                  <a:pt x="16184" y="1633"/>
                </a:lnTo>
                <a:lnTo>
                  <a:pt x="16184" y="1739"/>
                </a:lnTo>
                <a:lnTo>
                  <a:pt x="16184" y="1860"/>
                </a:lnTo>
                <a:lnTo>
                  <a:pt x="16184" y="1982"/>
                </a:lnTo>
                <a:lnTo>
                  <a:pt x="16184" y="2089"/>
                </a:lnTo>
                <a:lnTo>
                  <a:pt x="16184" y="2165"/>
                </a:lnTo>
                <a:lnTo>
                  <a:pt x="16184" y="2193"/>
                </a:lnTo>
                <a:lnTo>
                  <a:pt x="16175" y="2193"/>
                </a:lnTo>
                <a:lnTo>
                  <a:pt x="16149" y="2193"/>
                </a:lnTo>
                <a:lnTo>
                  <a:pt x="16113" y="2193"/>
                </a:lnTo>
                <a:lnTo>
                  <a:pt x="16072" y="2193"/>
                </a:lnTo>
                <a:lnTo>
                  <a:pt x="16029" y="2193"/>
                </a:lnTo>
                <a:lnTo>
                  <a:pt x="15993" y="2193"/>
                </a:lnTo>
                <a:lnTo>
                  <a:pt x="15968" y="2193"/>
                </a:lnTo>
                <a:lnTo>
                  <a:pt x="15959" y="2193"/>
                </a:lnTo>
                <a:lnTo>
                  <a:pt x="15959" y="2165"/>
                </a:lnTo>
                <a:lnTo>
                  <a:pt x="15959" y="2089"/>
                </a:lnTo>
                <a:lnTo>
                  <a:pt x="15959" y="1982"/>
                </a:lnTo>
                <a:lnTo>
                  <a:pt x="15959" y="1860"/>
                </a:lnTo>
                <a:lnTo>
                  <a:pt x="15959" y="1739"/>
                </a:lnTo>
                <a:lnTo>
                  <a:pt x="15959" y="1633"/>
                </a:lnTo>
                <a:lnTo>
                  <a:pt x="15959" y="1557"/>
                </a:lnTo>
                <a:lnTo>
                  <a:pt x="15959" y="1529"/>
                </a:lnTo>
                <a:lnTo>
                  <a:pt x="15942" y="1529"/>
                </a:lnTo>
                <a:lnTo>
                  <a:pt x="15903" y="1529"/>
                </a:lnTo>
                <a:lnTo>
                  <a:pt x="15865" y="1529"/>
                </a:lnTo>
                <a:lnTo>
                  <a:pt x="15848" y="1529"/>
                </a:lnTo>
                <a:lnTo>
                  <a:pt x="15848" y="1560"/>
                </a:lnTo>
                <a:lnTo>
                  <a:pt x="15848" y="1643"/>
                </a:lnTo>
                <a:lnTo>
                  <a:pt x="15848" y="1761"/>
                </a:lnTo>
                <a:lnTo>
                  <a:pt x="15848" y="1896"/>
                </a:lnTo>
                <a:lnTo>
                  <a:pt x="15848" y="2031"/>
                </a:lnTo>
                <a:lnTo>
                  <a:pt x="15848" y="2150"/>
                </a:lnTo>
                <a:lnTo>
                  <a:pt x="15848" y="2232"/>
                </a:lnTo>
                <a:lnTo>
                  <a:pt x="15848" y="2264"/>
                </a:lnTo>
                <a:lnTo>
                  <a:pt x="15836" y="2264"/>
                </a:lnTo>
                <a:lnTo>
                  <a:pt x="15801" y="2264"/>
                </a:lnTo>
                <a:lnTo>
                  <a:pt x="15753" y="2264"/>
                </a:lnTo>
                <a:lnTo>
                  <a:pt x="15697" y="2264"/>
                </a:lnTo>
                <a:lnTo>
                  <a:pt x="15642" y="2264"/>
                </a:lnTo>
                <a:lnTo>
                  <a:pt x="15593" y="2264"/>
                </a:lnTo>
                <a:lnTo>
                  <a:pt x="15559" y="2264"/>
                </a:lnTo>
                <a:lnTo>
                  <a:pt x="15547" y="2264"/>
                </a:lnTo>
                <a:close/>
                <a:moveTo>
                  <a:pt x="14738" y="1137"/>
                </a:moveTo>
                <a:lnTo>
                  <a:pt x="14738" y="1126"/>
                </a:lnTo>
                <a:lnTo>
                  <a:pt x="14738" y="1099"/>
                </a:lnTo>
                <a:lnTo>
                  <a:pt x="14738" y="1059"/>
                </a:lnTo>
                <a:lnTo>
                  <a:pt x="14738" y="1015"/>
                </a:lnTo>
                <a:lnTo>
                  <a:pt x="14738" y="970"/>
                </a:lnTo>
                <a:lnTo>
                  <a:pt x="14738" y="931"/>
                </a:lnTo>
                <a:lnTo>
                  <a:pt x="14738" y="904"/>
                </a:lnTo>
                <a:lnTo>
                  <a:pt x="14738" y="894"/>
                </a:lnTo>
                <a:lnTo>
                  <a:pt x="14746" y="894"/>
                </a:lnTo>
                <a:lnTo>
                  <a:pt x="14771" y="894"/>
                </a:lnTo>
                <a:lnTo>
                  <a:pt x="14805" y="894"/>
                </a:lnTo>
                <a:lnTo>
                  <a:pt x="14844" y="894"/>
                </a:lnTo>
                <a:lnTo>
                  <a:pt x="14883" y="894"/>
                </a:lnTo>
                <a:lnTo>
                  <a:pt x="14917" y="894"/>
                </a:lnTo>
                <a:lnTo>
                  <a:pt x="14941" y="894"/>
                </a:lnTo>
                <a:lnTo>
                  <a:pt x="14950" y="894"/>
                </a:lnTo>
                <a:lnTo>
                  <a:pt x="14950" y="877"/>
                </a:lnTo>
                <a:lnTo>
                  <a:pt x="14950" y="833"/>
                </a:lnTo>
                <a:lnTo>
                  <a:pt x="14950" y="770"/>
                </a:lnTo>
                <a:lnTo>
                  <a:pt x="14950" y="698"/>
                </a:lnTo>
                <a:lnTo>
                  <a:pt x="14950" y="626"/>
                </a:lnTo>
                <a:lnTo>
                  <a:pt x="14950" y="564"/>
                </a:lnTo>
                <a:lnTo>
                  <a:pt x="14950" y="519"/>
                </a:lnTo>
                <a:lnTo>
                  <a:pt x="14950" y="502"/>
                </a:lnTo>
                <a:lnTo>
                  <a:pt x="14941" y="502"/>
                </a:lnTo>
                <a:lnTo>
                  <a:pt x="14917" y="502"/>
                </a:lnTo>
                <a:lnTo>
                  <a:pt x="14883" y="502"/>
                </a:lnTo>
                <a:lnTo>
                  <a:pt x="14844" y="502"/>
                </a:lnTo>
                <a:lnTo>
                  <a:pt x="14805" y="502"/>
                </a:lnTo>
                <a:lnTo>
                  <a:pt x="14771" y="502"/>
                </a:lnTo>
                <a:lnTo>
                  <a:pt x="14747" y="502"/>
                </a:lnTo>
                <a:lnTo>
                  <a:pt x="14738" y="502"/>
                </a:lnTo>
                <a:lnTo>
                  <a:pt x="14738" y="493"/>
                </a:lnTo>
                <a:lnTo>
                  <a:pt x="14738" y="465"/>
                </a:lnTo>
                <a:lnTo>
                  <a:pt x="14738" y="427"/>
                </a:lnTo>
                <a:lnTo>
                  <a:pt x="14738" y="382"/>
                </a:lnTo>
                <a:lnTo>
                  <a:pt x="14738" y="338"/>
                </a:lnTo>
                <a:lnTo>
                  <a:pt x="14738" y="300"/>
                </a:lnTo>
                <a:lnTo>
                  <a:pt x="14738" y="272"/>
                </a:lnTo>
                <a:lnTo>
                  <a:pt x="14738" y="262"/>
                </a:lnTo>
                <a:lnTo>
                  <a:pt x="14769" y="262"/>
                </a:lnTo>
                <a:lnTo>
                  <a:pt x="14851" y="262"/>
                </a:lnTo>
                <a:lnTo>
                  <a:pt x="14968" y="262"/>
                </a:lnTo>
                <a:lnTo>
                  <a:pt x="15101" y="262"/>
                </a:lnTo>
                <a:lnTo>
                  <a:pt x="15233" y="262"/>
                </a:lnTo>
                <a:lnTo>
                  <a:pt x="15350" y="262"/>
                </a:lnTo>
                <a:lnTo>
                  <a:pt x="15432" y="262"/>
                </a:lnTo>
                <a:lnTo>
                  <a:pt x="15463" y="262"/>
                </a:lnTo>
                <a:lnTo>
                  <a:pt x="15463" y="272"/>
                </a:lnTo>
                <a:lnTo>
                  <a:pt x="15463" y="300"/>
                </a:lnTo>
                <a:lnTo>
                  <a:pt x="15463" y="338"/>
                </a:lnTo>
                <a:lnTo>
                  <a:pt x="15463" y="382"/>
                </a:lnTo>
                <a:lnTo>
                  <a:pt x="15463" y="427"/>
                </a:lnTo>
                <a:lnTo>
                  <a:pt x="15463" y="465"/>
                </a:lnTo>
                <a:lnTo>
                  <a:pt x="15463" y="493"/>
                </a:lnTo>
                <a:lnTo>
                  <a:pt x="15463" y="502"/>
                </a:lnTo>
                <a:lnTo>
                  <a:pt x="15455" y="502"/>
                </a:lnTo>
                <a:lnTo>
                  <a:pt x="15430" y="502"/>
                </a:lnTo>
                <a:lnTo>
                  <a:pt x="15396" y="502"/>
                </a:lnTo>
                <a:lnTo>
                  <a:pt x="15358" y="502"/>
                </a:lnTo>
                <a:lnTo>
                  <a:pt x="15319" y="502"/>
                </a:lnTo>
                <a:lnTo>
                  <a:pt x="15285" y="502"/>
                </a:lnTo>
                <a:lnTo>
                  <a:pt x="15262" y="502"/>
                </a:lnTo>
                <a:lnTo>
                  <a:pt x="15252" y="502"/>
                </a:lnTo>
                <a:lnTo>
                  <a:pt x="15252" y="519"/>
                </a:lnTo>
                <a:lnTo>
                  <a:pt x="15252" y="564"/>
                </a:lnTo>
                <a:lnTo>
                  <a:pt x="15252" y="626"/>
                </a:lnTo>
                <a:lnTo>
                  <a:pt x="15252" y="698"/>
                </a:lnTo>
                <a:lnTo>
                  <a:pt x="15252" y="770"/>
                </a:lnTo>
                <a:lnTo>
                  <a:pt x="15252" y="833"/>
                </a:lnTo>
                <a:lnTo>
                  <a:pt x="15252" y="877"/>
                </a:lnTo>
                <a:lnTo>
                  <a:pt x="15252" y="894"/>
                </a:lnTo>
                <a:lnTo>
                  <a:pt x="15262" y="894"/>
                </a:lnTo>
                <a:lnTo>
                  <a:pt x="15285" y="894"/>
                </a:lnTo>
                <a:lnTo>
                  <a:pt x="15319" y="894"/>
                </a:lnTo>
                <a:lnTo>
                  <a:pt x="15358" y="894"/>
                </a:lnTo>
                <a:lnTo>
                  <a:pt x="15396" y="894"/>
                </a:lnTo>
                <a:lnTo>
                  <a:pt x="15430" y="894"/>
                </a:lnTo>
                <a:lnTo>
                  <a:pt x="15455" y="894"/>
                </a:lnTo>
                <a:lnTo>
                  <a:pt x="15463" y="894"/>
                </a:lnTo>
                <a:lnTo>
                  <a:pt x="15461" y="904"/>
                </a:lnTo>
                <a:lnTo>
                  <a:pt x="15454" y="931"/>
                </a:lnTo>
                <a:lnTo>
                  <a:pt x="15442" y="970"/>
                </a:lnTo>
                <a:lnTo>
                  <a:pt x="15430" y="1015"/>
                </a:lnTo>
                <a:lnTo>
                  <a:pt x="15418" y="1059"/>
                </a:lnTo>
                <a:lnTo>
                  <a:pt x="15407" y="1099"/>
                </a:lnTo>
                <a:lnTo>
                  <a:pt x="15400" y="1126"/>
                </a:lnTo>
                <a:lnTo>
                  <a:pt x="15397" y="1137"/>
                </a:lnTo>
                <a:lnTo>
                  <a:pt x="15374" y="1137"/>
                </a:lnTo>
                <a:lnTo>
                  <a:pt x="15324" y="1137"/>
                </a:lnTo>
                <a:lnTo>
                  <a:pt x="15275" y="1137"/>
                </a:lnTo>
                <a:lnTo>
                  <a:pt x="15252" y="1137"/>
                </a:lnTo>
                <a:lnTo>
                  <a:pt x="15252" y="1166"/>
                </a:lnTo>
                <a:lnTo>
                  <a:pt x="15252" y="1244"/>
                </a:lnTo>
                <a:lnTo>
                  <a:pt x="15252" y="1354"/>
                </a:lnTo>
                <a:lnTo>
                  <a:pt x="15252" y="1480"/>
                </a:lnTo>
                <a:lnTo>
                  <a:pt x="15252" y="1607"/>
                </a:lnTo>
                <a:lnTo>
                  <a:pt x="15252" y="1717"/>
                </a:lnTo>
                <a:lnTo>
                  <a:pt x="15252" y="1795"/>
                </a:lnTo>
                <a:lnTo>
                  <a:pt x="15252" y="1824"/>
                </a:lnTo>
                <a:lnTo>
                  <a:pt x="15261" y="1821"/>
                </a:lnTo>
                <a:lnTo>
                  <a:pt x="15282" y="1812"/>
                </a:lnTo>
                <a:lnTo>
                  <a:pt x="15313" y="1799"/>
                </a:lnTo>
                <a:lnTo>
                  <a:pt x="15349" y="1785"/>
                </a:lnTo>
                <a:lnTo>
                  <a:pt x="15384" y="1770"/>
                </a:lnTo>
                <a:lnTo>
                  <a:pt x="15414" y="1758"/>
                </a:lnTo>
                <a:lnTo>
                  <a:pt x="15436" y="1749"/>
                </a:lnTo>
                <a:lnTo>
                  <a:pt x="15444" y="1745"/>
                </a:lnTo>
                <a:lnTo>
                  <a:pt x="15445" y="1755"/>
                </a:lnTo>
                <a:lnTo>
                  <a:pt x="15447" y="1777"/>
                </a:lnTo>
                <a:lnTo>
                  <a:pt x="15450" y="1809"/>
                </a:lnTo>
                <a:lnTo>
                  <a:pt x="15455" y="1846"/>
                </a:lnTo>
                <a:lnTo>
                  <a:pt x="15459" y="1882"/>
                </a:lnTo>
                <a:lnTo>
                  <a:pt x="15462" y="1913"/>
                </a:lnTo>
                <a:lnTo>
                  <a:pt x="15464" y="1937"/>
                </a:lnTo>
                <a:lnTo>
                  <a:pt x="15465" y="1945"/>
                </a:lnTo>
                <a:lnTo>
                  <a:pt x="15436" y="1970"/>
                </a:lnTo>
                <a:lnTo>
                  <a:pt x="15406" y="1993"/>
                </a:lnTo>
                <a:lnTo>
                  <a:pt x="15376" y="2015"/>
                </a:lnTo>
                <a:lnTo>
                  <a:pt x="15347" y="2036"/>
                </a:lnTo>
                <a:lnTo>
                  <a:pt x="15317" y="2055"/>
                </a:lnTo>
                <a:lnTo>
                  <a:pt x="15287" y="2074"/>
                </a:lnTo>
                <a:lnTo>
                  <a:pt x="15258" y="2092"/>
                </a:lnTo>
                <a:lnTo>
                  <a:pt x="15228" y="2108"/>
                </a:lnTo>
                <a:lnTo>
                  <a:pt x="15199" y="2124"/>
                </a:lnTo>
                <a:lnTo>
                  <a:pt x="15171" y="2139"/>
                </a:lnTo>
                <a:lnTo>
                  <a:pt x="15143" y="2153"/>
                </a:lnTo>
                <a:lnTo>
                  <a:pt x="15116" y="2166"/>
                </a:lnTo>
                <a:lnTo>
                  <a:pt x="15063" y="2189"/>
                </a:lnTo>
                <a:lnTo>
                  <a:pt x="15013" y="2208"/>
                </a:lnTo>
                <a:lnTo>
                  <a:pt x="14966" y="2225"/>
                </a:lnTo>
                <a:lnTo>
                  <a:pt x="14925" y="2239"/>
                </a:lnTo>
                <a:lnTo>
                  <a:pt x="14888" y="2249"/>
                </a:lnTo>
                <a:lnTo>
                  <a:pt x="14856" y="2258"/>
                </a:lnTo>
                <a:lnTo>
                  <a:pt x="14812" y="2268"/>
                </a:lnTo>
                <a:lnTo>
                  <a:pt x="14796" y="2272"/>
                </a:lnTo>
                <a:lnTo>
                  <a:pt x="14793" y="2257"/>
                </a:lnTo>
                <a:lnTo>
                  <a:pt x="14783" y="2218"/>
                </a:lnTo>
                <a:lnTo>
                  <a:pt x="14771" y="2161"/>
                </a:lnTo>
                <a:lnTo>
                  <a:pt x="14756" y="2098"/>
                </a:lnTo>
                <a:lnTo>
                  <a:pt x="14741" y="2034"/>
                </a:lnTo>
                <a:lnTo>
                  <a:pt x="14728" y="1978"/>
                </a:lnTo>
                <a:lnTo>
                  <a:pt x="14719" y="1939"/>
                </a:lnTo>
                <a:lnTo>
                  <a:pt x="14716" y="1924"/>
                </a:lnTo>
                <a:lnTo>
                  <a:pt x="14724" y="1923"/>
                </a:lnTo>
                <a:lnTo>
                  <a:pt x="14747" y="1920"/>
                </a:lnTo>
                <a:lnTo>
                  <a:pt x="14780" y="1914"/>
                </a:lnTo>
                <a:lnTo>
                  <a:pt x="14819" y="1909"/>
                </a:lnTo>
                <a:lnTo>
                  <a:pt x="14861" y="1903"/>
                </a:lnTo>
                <a:lnTo>
                  <a:pt x="14899" y="1896"/>
                </a:lnTo>
                <a:lnTo>
                  <a:pt x="14929" y="1892"/>
                </a:lnTo>
                <a:lnTo>
                  <a:pt x="14950" y="1888"/>
                </a:lnTo>
                <a:lnTo>
                  <a:pt x="14950" y="1880"/>
                </a:lnTo>
                <a:lnTo>
                  <a:pt x="14950" y="1856"/>
                </a:lnTo>
                <a:lnTo>
                  <a:pt x="14950" y="1819"/>
                </a:lnTo>
                <a:lnTo>
                  <a:pt x="14950" y="1770"/>
                </a:lnTo>
                <a:lnTo>
                  <a:pt x="14950" y="1714"/>
                </a:lnTo>
                <a:lnTo>
                  <a:pt x="14950" y="1651"/>
                </a:lnTo>
                <a:lnTo>
                  <a:pt x="14950" y="1583"/>
                </a:lnTo>
                <a:lnTo>
                  <a:pt x="14950" y="1512"/>
                </a:lnTo>
                <a:lnTo>
                  <a:pt x="14950" y="1442"/>
                </a:lnTo>
                <a:lnTo>
                  <a:pt x="14950" y="1374"/>
                </a:lnTo>
                <a:lnTo>
                  <a:pt x="14950" y="1311"/>
                </a:lnTo>
                <a:lnTo>
                  <a:pt x="14950" y="1254"/>
                </a:lnTo>
                <a:lnTo>
                  <a:pt x="14950" y="1206"/>
                </a:lnTo>
                <a:lnTo>
                  <a:pt x="14950" y="1169"/>
                </a:lnTo>
                <a:lnTo>
                  <a:pt x="14950" y="1145"/>
                </a:lnTo>
                <a:lnTo>
                  <a:pt x="14950" y="1137"/>
                </a:lnTo>
                <a:lnTo>
                  <a:pt x="14941" y="1137"/>
                </a:lnTo>
                <a:lnTo>
                  <a:pt x="14917" y="1137"/>
                </a:lnTo>
                <a:lnTo>
                  <a:pt x="14883" y="1137"/>
                </a:lnTo>
                <a:lnTo>
                  <a:pt x="14844" y="1137"/>
                </a:lnTo>
                <a:lnTo>
                  <a:pt x="14805" y="1137"/>
                </a:lnTo>
                <a:lnTo>
                  <a:pt x="14771" y="1137"/>
                </a:lnTo>
                <a:lnTo>
                  <a:pt x="14746" y="1137"/>
                </a:lnTo>
                <a:lnTo>
                  <a:pt x="14738" y="1137"/>
                </a:lnTo>
                <a:close/>
                <a:moveTo>
                  <a:pt x="2783" y="2264"/>
                </a:moveTo>
                <a:lnTo>
                  <a:pt x="2806" y="2264"/>
                </a:lnTo>
                <a:lnTo>
                  <a:pt x="2863" y="2264"/>
                </a:lnTo>
                <a:lnTo>
                  <a:pt x="2943" y="2264"/>
                </a:lnTo>
                <a:lnTo>
                  <a:pt x="3035" y="2264"/>
                </a:lnTo>
                <a:lnTo>
                  <a:pt x="3128" y="2264"/>
                </a:lnTo>
                <a:lnTo>
                  <a:pt x="3208" y="2264"/>
                </a:lnTo>
                <a:lnTo>
                  <a:pt x="3265" y="2264"/>
                </a:lnTo>
                <a:lnTo>
                  <a:pt x="3287" y="2264"/>
                </a:lnTo>
                <a:lnTo>
                  <a:pt x="3287" y="2246"/>
                </a:lnTo>
                <a:lnTo>
                  <a:pt x="3287" y="2194"/>
                </a:lnTo>
                <a:lnTo>
                  <a:pt x="3287" y="2114"/>
                </a:lnTo>
                <a:lnTo>
                  <a:pt x="3287" y="2010"/>
                </a:lnTo>
                <a:lnTo>
                  <a:pt x="3287" y="1886"/>
                </a:lnTo>
                <a:lnTo>
                  <a:pt x="3287" y="1748"/>
                </a:lnTo>
                <a:lnTo>
                  <a:pt x="3287" y="1601"/>
                </a:lnTo>
                <a:lnTo>
                  <a:pt x="3287" y="1448"/>
                </a:lnTo>
                <a:lnTo>
                  <a:pt x="3287" y="1297"/>
                </a:lnTo>
                <a:lnTo>
                  <a:pt x="3287" y="1148"/>
                </a:lnTo>
                <a:lnTo>
                  <a:pt x="3287" y="1011"/>
                </a:lnTo>
                <a:lnTo>
                  <a:pt x="3287" y="888"/>
                </a:lnTo>
                <a:lnTo>
                  <a:pt x="3287" y="783"/>
                </a:lnTo>
                <a:lnTo>
                  <a:pt x="3287" y="702"/>
                </a:lnTo>
                <a:lnTo>
                  <a:pt x="3287" y="651"/>
                </a:lnTo>
                <a:lnTo>
                  <a:pt x="3287" y="633"/>
                </a:lnTo>
                <a:lnTo>
                  <a:pt x="3265" y="633"/>
                </a:lnTo>
                <a:lnTo>
                  <a:pt x="3208" y="633"/>
                </a:lnTo>
                <a:lnTo>
                  <a:pt x="3128" y="633"/>
                </a:lnTo>
                <a:lnTo>
                  <a:pt x="3035" y="633"/>
                </a:lnTo>
                <a:lnTo>
                  <a:pt x="2943" y="633"/>
                </a:lnTo>
                <a:lnTo>
                  <a:pt x="2863" y="633"/>
                </a:lnTo>
                <a:lnTo>
                  <a:pt x="2806" y="633"/>
                </a:lnTo>
                <a:lnTo>
                  <a:pt x="2783" y="633"/>
                </a:lnTo>
                <a:lnTo>
                  <a:pt x="2783" y="651"/>
                </a:lnTo>
                <a:lnTo>
                  <a:pt x="2783" y="702"/>
                </a:lnTo>
                <a:lnTo>
                  <a:pt x="2783" y="783"/>
                </a:lnTo>
                <a:lnTo>
                  <a:pt x="2783" y="888"/>
                </a:lnTo>
                <a:lnTo>
                  <a:pt x="2783" y="1011"/>
                </a:lnTo>
                <a:lnTo>
                  <a:pt x="2783" y="1148"/>
                </a:lnTo>
                <a:lnTo>
                  <a:pt x="2783" y="1297"/>
                </a:lnTo>
                <a:lnTo>
                  <a:pt x="2783" y="1448"/>
                </a:lnTo>
                <a:lnTo>
                  <a:pt x="2783" y="1601"/>
                </a:lnTo>
                <a:lnTo>
                  <a:pt x="2783" y="1748"/>
                </a:lnTo>
                <a:lnTo>
                  <a:pt x="2783" y="1886"/>
                </a:lnTo>
                <a:lnTo>
                  <a:pt x="2783" y="2010"/>
                </a:lnTo>
                <a:lnTo>
                  <a:pt x="2783" y="2114"/>
                </a:lnTo>
                <a:lnTo>
                  <a:pt x="2783" y="2194"/>
                </a:lnTo>
                <a:lnTo>
                  <a:pt x="2783" y="2246"/>
                </a:lnTo>
                <a:lnTo>
                  <a:pt x="2783" y="2264"/>
                </a:lnTo>
                <a:close/>
                <a:moveTo>
                  <a:pt x="9817" y="679"/>
                </a:moveTo>
                <a:lnTo>
                  <a:pt x="9801" y="671"/>
                </a:lnTo>
                <a:lnTo>
                  <a:pt x="9785" y="664"/>
                </a:lnTo>
                <a:lnTo>
                  <a:pt x="9769" y="658"/>
                </a:lnTo>
                <a:lnTo>
                  <a:pt x="9752" y="653"/>
                </a:lnTo>
                <a:lnTo>
                  <a:pt x="9720" y="644"/>
                </a:lnTo>
                <a:lnTo>
                  <a:pt x="9691" y="639"/>
                </a:lnTo>
                <a:lnTo>
                  <a:pt x="9664" y="636"/>
                </a:lnTo>
                <a:lnTo>
                  <a:pt x="9643" y="634"/>
                </a:lnTo>
                <a:lnTo>
                  <a:pt x="9629" y="633"/>
                </a:lnTo>
                <a:lnTo>
                  <a:pt x="9624" y="633"/>
                </a:lnTo>
                <a:lnTo>
                  <a:pt x="9615" y="633"/>
                </a:lnTo>
                <a:lnTo>
                  <a:pt x="9586" y="633"/>
                </a:lnTo>
                <a:lnTo>
                  <a:pt x="9543" y="633"/>
                </a:lnTo>
                <a:lnTo>
                  <a:pt x="9485" y="633"/>
                </a:lnTo>
                <a:lnTo>
                  <a:pt x="9418" y="633"/>
                </a:lnTo>
                <a:lnTo>
                  <a:pt x="9342" y="633"/>
                </a:lnTo>
                <a:lnTo>
                  <a:pt x="9262" y="633"/>
                </a:lnTo>
                <a:lnTo>
                  <a:pt x="9179" y="633"/>
                </a:lnTo>
                <a:lnTo>
                  <a:pt x="9096" y="633"/>
                </a:lnTo>
                <a:lnTo>
                  <a:pt x="9015" y="633"/>
                </a:lnTo>
                <a:lnTo>
                  <a:pt x="8940" y="633"/>
                </a:lnTo>
                <a:lnTo>
                  <a:pt x="8872" y="633"/>
                </a:lnTo>
                <a:lnTo>
                  <a:pt x="8815" y="633"/>
                </a:lnTo>
                <a:lnTo>
                  <a:pt x="8772" y="633"/>
                </a:lnTo>
                <a:lnTo>
                  <a:pt x="8743" y="633"/>
                </a:lnTo>
                <a:lnTo>
                  <a:pt x="8734" y="633"/>
                </a:lnTo>
                <a:lnTo>
                  <a:pt x="8727" y="645"/>
                </a:lnTo>
                <a:lnTo>
                  <a:pt x="8709" y="680"/>
                </a:lnTo>
                <a:lnTo>
                  <a:pt x="8684" y="728"/>
                </a:lnTo>
                <a:lnTo>
                  <a:pt x="8655" y="784"/>
                </a:lnTo>
                <a:lnTo>
                  <a:pt x="8627" y="839"/>
                </a:lnTo>
                <a:lnTo>
                  <a:pt x="8601" y="888"/>
                </a:lnTo>
                <a:lnTo>
                  <a:pt x="8584" y="922"/>
                </a:lnTo>
                <a:lnTo>
                  <a:pt x="8577" y="936"/>
                </a:lnTo>
                <a:lnTo>
                  <a:pt x="8585" y="936"/>
                </a:lnTo>
                <a:lnTo>
                  <a:pt x="8611" y="936"/>
                </a:lnTo>
                <a:lnTo>
                  <a:pt x="8649" y="936"/>
                </a:lnTo>
                <a:lnTo>
                  <a:pt x="8699" y="936"/>
                </a:lnTo>
                <a:lnTo>
                  <a:pt x="8757" y="936"/>
                </a:lnTo>
                <a:lnTo>
                  <a:pt x="8823" y="936"/>
                </a:lnTo>
                <a:lnTo>
                  <a:pt x="8892" y="936"/>
                </a:lnTo>
                <a:lnTo>
                  <a:pt x="8964" y="936"/>
                </a:lnTo>
                <a:lnTo>
                  <a:pt x="9037" y="936"/>
                </a:lnTo>
                <a:lnTo>
                  <a:pt x="9107" y="936"/>
                </a:lnTo>
                <a:lnTo>
                  <a:pt x="9172" y="936"/>
                </a:lnTo>
                <a:lnTo>
                  <a:pt x="9231" y="936"/>
                </a:lnTo>
                <a:lnTo>
                  <a:pt x="9281" y="936"/>
                </a:lnTo>
                <a:lnTo>
                  <a:pt x="9319" y="936"/>
                </a:lnTo>
                <a:lnTo>
                  <a:pt x="9343" y="936"/>
                </a:lnTo>
                <a:lnTo>
                  <a:pt x="9352" y="936"/>
                </a:lnTo>
                <a:lnTo>
                  <a:pt x="9367" y="936"/>
                </a:lnTo>
                <a:lnTo>
                  <a:pt x="9379" y="937"/>
                </a:lnTo>
                <a:lnTo>
                  <a:pt x="9391" y="939"/>
                </a:lnTo>
                <a:lnTo>
                  <a:pt x="9403" y="941"/>
                </a:lnTo>
                <a:lnTo>
                  <a:pt x="9413" y="943"/>
                </a:lnTo>
                <a:lnTo>
                  <a:pt x="9423" y="946"/>
                </a:lnTo>
                <a:lnTo>
                  <a:pt x="9431" y="949"/>
                </a:lnTo>
                <a:lnTo>
                  <a:pt x="9439" y="954"/>
                </a:lnTo>
                <a:lnTo>
                  <a:pt x="9446" y="958"/>
                </a:lnTo>
                <a:lnTo>
                  <a:pt x="9453" y="962"/>
                </a:lnTo>
                <a:lnTo>
                  <a:pt x="9459" y="966"/>
                </a:lnTo>
                <a:lnTo>
                  <a:pt x="9464" y="972"/>
                </a:lnTo>
                <a:lnTo>
                  <a:pt x="9474" y="982"/>
                </a:lnTo>
                <a:lnTo>
                  <a:pt x="9482" y="993"/>
                </a:lnTo>
                <a:lnTo>
                  <a:pt x="9489" y="1004"/>
                </a:lnTo>
                <a:lnTo>
                  <a:pt x="9494" y="1015"/>
                </a:lnTo>
                <a:lnTo>
                  <a:pt x="9497" y="1027"/>
                </a:lnTo>
                <a:lnTo>
                  <a:pt x="9500" y="1037"/>
                </a:lnTo>
                <a:lnTo>
                  <a:pt x="9503" y="1056"/>
                </a:lnTo>
                <a:lnTo>
                  <a:pt x="9503" y="1069"/>
                </a:lnTo>
                <a:lnTo>
                  <a:pt x="9503" y="1080"/>
                </a:lnTo>
                <a:lnTo>
                  <a:pt x="9503" y="1108"/>
                </a:lnTo>
                <a:lnTo>
                  <a:pt x="9503" y="1152"/>
                </a:lnTo>
                <a:lnTo>
                  <a:pt x="9503" y="1209"/>
                </a:lnTo>
                <a:lnTo>
                  <a:pt x="9503" y="1277"/>
                </a:lnTo>
                <a:lnTo>
                  <a:pt x="9503" y="1353"/>
                </a:lnTo>
                <a:lnTo>
                  <a:pt x="9503" y="1433"/>
                </a:lnTo>
                <a:lnTo>
                  <a:pt x="9503" y="1517"/>
                </a:lnTo>
                <a:lnTo>
                  <a:pt x="9503" y="1600"/>
                </a:lnTo>
                <a:lnTo>
                  <a:pt x="9503" y="1681"/>
                </a:lnTo>
                <a:lnTo>
                  <a:pt x="9503" y="1757"/>
                </a:lnTo>
                <a:lnTo>
                  <a:pt x="9503" y="1824"/>
                </a:lnTo>
                <a:lnTo>
                  <a:pt x="9503" y="1882"/>
                </a:lnTo>
                <a:lnTo>
                  <a:pt x="9503" y="1926"/>
                </a:lnTo>
                <a:lnTo>
                  <a:pt x="9503" y="1955"/>
                </a:lnTo>
                <a:lnTo>
                  <a:pt x="9503" y="1964"/>
                </a:lnTo>
                <a:lnTo>
                  <a:pt x="9487" y="1964"/>
                </a:lnTo>
                <a:lnTo>
                  <a:pt x="9446" y="1964"/>
                </a:lnTo>
                <a:lnTo>
                  <a:pt x="9388" y="1964"/>
                </a:lnTo>
                <a:lnTo>
                  <a:pt x="9321" y="1964"/>
                </a:lnTo>
                <a:lnTo>
                  <a:pt x="9253" y="1964"/>
                </a:lnTo>
                <a:lnTo>
                  <a:pt x="9195" y="1964"/>
                </a:lnTo>
                <a:lnTo>
                  <a:pt x="9154" y="1964"/>
                </a:lnTo>
                <a:lnTo>
                  <a:pt x="9138" y="1964"/>
                </a:lnTo>
                <a:lnTo>
                  <a:pt x="9120" y="1963"/>
                </a:lnTo>
                <a:lnTo>
                  <a:pt x="9103" y="1962"/>
                </a:lnTo>
                <a:lnTo>
                  <a:pt x="9087" y="1960"/>
                </a:lnTo>
                <a:lnTo>
                  <a:pt x="9073" y="1956"/>
                </a:lnTo>
                <a:lnTo>
                  <a:pt x="9060" y="1953"/>
                </a:lnTo>
                <a:lnTo>
                  <a:pt x="9047" y="1947"/>
                </a:lnTo>
                <a:lnTo>
                  <a:pt x="9035" y="1942"/>
                </a:lnTo>
                <a:lnTo>
                  <a:pt x="9025" y="1936"/>
                </a:lnTo>
                <a:lnTo>
                  <a:pt x="9015" y="1929"/>
                </a:lnTo>
                <a:lnTo>
                  <a:pt x="9007" y="1922"/>
                </a:lnTo>
                <a:lnTo>
                  <a:pt x="8998" y="1914"/>
                </a:lnTo>
                <a:lnTo>
                  <a:pt x="8991" y="1906"/>
                </a:lnTo>
                <a:lnTo>
                  <a:pt x="8983" y="1898"/>
                </a:lnTo>
                <a:lnTo>
                  <a:pt x="8977" y="1889"/>
                </a:lnTo>
                <a:lnTo>
                  <a:pt x="8971" y="1880"/>
                </a:lnTo>
                <a:lnTo>
                  <a:pt x="8965" y="1870"/>
                </a:lnTo>
                <a:lnTo>
                  <a:pt x="8956" y="1851"/>
                </a:lnTo>
                <a:lnTo>
                  <a:pt x="8950" y="1831"/>
                </a:lnTo>
                <a:lnTo>
                  <a:pt x="8944" y="1812"/>
                </a:lnTo>
                <a:lnTo>
                  <a:pt x="8940" y="1793"/>
                </a:lnTo>
                <a:lnTo>
                  <a:pt x="8937" y="1775"/>
                </a:lnTo>
                <a:lnTo>
                  <a:pt x="8936" y="1759"/>
                </a:lnTo>
                <a:lnTo>
                  <a:pt x="8935" y="1745"/>
                </a:lnTo>
                <a:lnTo>
                  <a:pt x="8935" y="1734"/>
                </a:lnTo>
                <a:lnTo>
                  <a:pt x="8935" y="1727"/>
                </a:lnTo>
                <a:lnTo>
                  <a:pt x="8935" y="1721"/>
                </a:lnTo>
                <a:lnTo>
                  <a:pt x="8936" y="1705"/>
                </a:lnTo>
                <a:lnTo>
                  <a:pt x="8937" y="1690"/>
                </a:lnTo>
                <a:lnTo>
                  <a:pt x="8939" y="1675"/>
                </a:lnTo>
                <a:lnTo>
                  <a:pt x="8941" y="1661"/>
                </a:lnTo>
                <a:lnTo>
                  <a:pt x="8944" y="1649"/>
                </a:lnTo>
                <a:lnTo>
                  <a:pt x="8949" y="1637"/>
                </a:lnTo>
                <a:lnTo>
                  <a:pt x="8953" y="1624"/>
                </a:lnTo>
                <a:lnTo>
                  <a:pt x="8958" y="1614"/>
                </a:lnTo>
                <a:lnTo>
                  <a:pt x="8963" y="1603"/>
                </a:lnTo>
                <a:lnTo>
                  <a:pt x="8969" y="1592"/>
                </a:lnTo>
                <a:lnTo>
                  <a:pt x="8975" y="1583"/>
                </a:lnTo>
                <a:lnTo>
                  <a:pt x="8980" y="1574"/>
                </a:lnTo>
                <a:lnTo>
                  <a:pt x="8994" y="1557"/>
                </a:lnTo>
                <a:lnTo>
                  <a:pt x="9008" y="1543"/>
                </a:lnTo>
                <a:lnTo>
                  <a:pt x="9022" y="1530"/>
                </a:lnTo>
                <a:lnTo>
                  <a:pt x="9034" y="1519"/>
                </a:lnTo>
                <a:lnTo>
                  <a:pt x="9047" y="1511"/>
                </a:lnTo>
                <a:lnTo>
                  <a:pt x="9059" y="1503"/>
                </a:lnTo>
                <a:lnTo>
                  <a:pt x="9077" y="1494"/>
                </a:lnTo>
                <a:lnTo>
                  <a:pt x="9120" y="1472"/>
                </a:lnTo>
                <a:lnTo>
                  <a:pt x="9179" y="1440"/>
                </a:lnTo>
                <a:lnTo>
                  <a:pt x="9248" y="1405"/>
                </a:lnTo>
                <a:lnTo>
                  <a:pt x="9316" y="1369"/>
                </a:lnTo>
                <a:lnTo>
                  <a:pt x="9375" y="1338"/>
                </a:lnTo>
                <a:lnTo>
                  <a:pt x="9417" y="1317"/>
                </a:lnTo>
                <a:lnTo>
                  <a:pt x="9432" y="1308"/>
                </a:lnTo>
                <a:lnTo>
                  <a:pt x="9432" y="1301"/>
                </a:lnTo>
                <a:lnTo>
                  <a:pt x="9432" y="1282"/>
                </a:lnTo>
                <a:lnTo>
                  <a:pt x="9432" y="1255"/>
                </a:lnTo>
                <a:lnTo>
                  <a:pt x="9432" y="1225"/>
                </a:lnTo>
                <a:lnTo>
                  <a:pt x="9432" y="1194"/>
                </a:lnTo>
                <a:lnTo>
                  <a:pt x="9432" y="1168"/>
                </a:lnTo>
                <a:lnTo>
                  <a:pt x="9432" y="1148"/>
                </a:lnTo>
                <a:lnTo>
                  <a:pt x="9432" y="1141"/>
                </a:lnTo>
                <a:lnTo>
                  <a:pt x="9405" y="1145"/>
                </a:lnTo>
                <a:lnTo>
                  <a:pt x="9332" y="1156"/>
                </a:lnTo>
                <a:lnTo>
                  <a:pt x="9228" y="1171"/>
                </a:lnTo>
                <a:lnTo>
                  <a:pt x="9109" y="1188"/>
                </a:lnTo>
                <a:lnTo>
                  <a:pt x="8992" y="1205"/>
                </a:lnTo>
                <a:lnTo>
                  <a:pt x="8888" y="1219"/>
                </a:lnTo>
                <a:lnTo>
                  <a:pt x="8815" y="1229"/>
                </a:lnTo>
                <a:lnTo>
                  <a:pt x="8788" y="1233"/>
                </a:lnTo>
                <a:lnTo>
                  <a:pt x="8772" y="1235"/>
                </a:lnTo>
                <a:lnTo>
                  <a:pt x="8757" y="1239"/>
                </a:lnTo>
                <a:lnTo>
                  <a:pt x="8743" y="1242"/>
                </a:lnTo>
                <a:lnTo>
                  <a:pt x="8728" y="1246"/>
                </a:lnTo>
                <a:lnTo>
                  <a:pt x="8716" y="1250"/>
                </a:lnTo>
                <a:lnTo>
                  <a:pt x="8702" y="1254"/>
                </a:lnTo>
                <a:lnTo>
                  <a:pt x="8689" y="1260"/>
                </a:lnTo>
                <a:lnTo>
                  <a:pt x="8678" y="1266"/>
                </a:lnTo>
                <a:lnTo>
                  <a:pt x="8666" y="1272"/>
                </a:lnTo>
                <a:lnTo>
                  <a:pt x="8654" y="1279"/>
                </a:lnTo>
                <a:lnTo>
                  <a:pt x="8644" y="1286"/>
                </a:lnTo>
                <a:lnTo>
                  <a:pt x="8633" y="1294"/>
                </a:lnTo>
                <a:lnTo>
                  <a:pt x="8613" y="1308"/>
                </a:lnTo>
                <a:lnTo>
                  <a:pt x="8594" y="1326"/>
                </a:lnTo>
                <a:lnTo>
                  <a:pt x="8577" y="1344"/>
                </a:lnTo>
                <a:lnTo>
                  <a:pt x="8562" y="1364"/>
                </a:lnTo>
                <a:lnTo>
                  <a:pt x="8547" y="1384"/>
                </a:lnTo>
                <a:lnTo>
                  <a:pt x="8535" y="1404"/>
                </a:lnTo>
                <a:lnTo>
                  <a:pt x="8523" y="1425"/>
                </a:lnTo>
                <a:lnTo>
                  <a:pt x="8512" y="1446"/>
                </a:lnTo>
                <a:lnTo>
                  <a:pt x="8504" y="1467"/>
                </a:lnTo>
                <a:lnTo>
                  <a:pt x="8495" y="1489"/>
                </a:lnTo>
                <a:lnTo>
                  <a:pt x="8488" y="1510"/>
                </a:lnTo>
                <a:lnTo>
                  <a:pt x="8482" y="1530"/>
                </a:lnTo>
                <a:lnTo>
                  <a:pt x="8476" y="1551"/>
                </a:lnTo>
                <a:lnTo>
                  <a:pt x="8471" y="1571"/>
                </a:lnTo>
                <a:lnTo>
                  <a:pt x="8464" y="1608"/>
                </a:lnTo>
                <a:lnTo>
                  <a:pt x="8459" y="1643"/>
                </a:lnTo>
                <a:lnTo>
                  <a:pt x="8456" y="1673"/>
                </a:lnTo>
                <a:lnTo>
                  <a:pt x="8454" y="1696"/>
                </a:lnTo>
                <a:lnTo>
                  <a:pt x="8454" y="1713"/>
                </a:lnTo>
                <a:lnTo>
                  <a:pt x="8453" y="1722"/>
                </a:lnTo>
                <a:lnTo>
                  <a:pt x="8453" y="1723"/>
                </a:lnTo>
                <a:lnTo>
                  <a:pt x="8453" y="1725"/>
                </a:lnTo>
                <a:lnTo>
                  <a:pt x="8454" y="1770"/>
                </a:lnTo>
                <a:lnTo>
                  <a:pt x="8457" y="1814"/>
                </a:lnTo>
                <a:lnTo>
                  <a:pt x="8463" y="1855"/>
                </a:lnTo>
                <a:lnTo>
                  <a:pt x="8469" y="1893"/>
                </a:lnTo>
                <a:lnTo>
                  <a:pt x="8476" y="1929"/>
                </a:lnTo>
                <a:lnTo>
                  <a:pt x="8486" y="1963"/>
                </a:lnTo>
                <a:lnTo>
                  <a:pt x="8496" y="1995"/>
                </a:lnTo>
                <a:lnTo>
                  <a:pt x="8509" y="2025"/>
                </a:lnTo>
                <a:lnTo>
                  <a:pt x="8522" y="2051"/>
                </a:lnTo>
                <a:lnTo>
                  <a:pt x="8537" y="2077"/>
                </a:lnTo>
                <a:lnTo>
                  <a:pt x="8552" y="2100"/>
                </a:lnTo>
                <a:lnTo>
                  <a:pt x="8567" y="2121"/>
                </a:lnTo>
                <a:lnTo>
                  <a:pt x="8584" y="2140"/>
                </a:lnTo>
                <a:lnTo>
                  <a:pt x="8601" y="2158"/>
                </a:lnTo>
                <a:lnTo>
                  <a:pt x="8619" y="2174"/>
                </a:lnTo>
                <a:lnTo>
                  <a:pt x="8637" y="2188"/>
                </a:lnTo>
                <a:lnTo>
                  <a:pt x="8655" y="2201"/>
                </a:lnTo>
                <a:lnTo>
                  <a:pt x="8673" y="2212"/>
                </a:lnTo>
                <a:lnTo>
                  <a:pt x="8691" y="2222"/>
                </a:lnTo>
                <a:lnTo>
                  <a:pt x="8709" y="2230"/>
                </a:lnTo>
                <a:lnTo>
                  <a:pt x="8727" y="2238"/>
                </a:lnTo>
                <a:lnTo>
                  <a:pt x="8744" y="2244"/>
                </a:lnTo>
                <a:lnTo>
                  <a:pt x="8760" y="2249"/>
                </a:lnTo>
                <a:lnTo>
                  <a:pt x="8776" y="2254"/>
                </a:lnTo>
                <a:lnTo>
                  <a:pt x="8805" y="2259"/>
                </a:lnTo>
                <a:lnTo>
                  <a:pt x="8829" y="2263"/>
                </a:lnTo>
                <a:lnTo>
                  <a:pt x="8848" y="2264"/>
                </a:lnTo>
                <a:lnTo>
                  <a:pt x="8862" y="2265"/>
                </a:lnTo>
                <a:lnTo>
                  <a:pt x="8866" y="2264"/>
                </a:lnTo>
                <a:lnTo>
                  <a:pt x="8867" y="2264"/>
                </a:lnTo>
                <a:lnTo>
                  <a:pt x="8880" y="2264"/>
                </a:lnTo>
                <a:lnTo>
                  <a:pt x="8916" y="2264"/>
                </a:lnTo>
                <a:lnTo>
                  <a:pt x="8972" y="2264"/>
                </a:lnTo>
                <a:lnTo>
                  <a:pt x="9044" y="2264"/>
                </a:lnTo>
                <a:lnTo>
                  <a:pt x="9130" y="2264"/>
                </a:lnTo>
                <a:lnTo>
                  <a:pt x="9225" y="2264"/>
                </a:lnTo>
                <a:lnTo>
                  <a:pt x="9327" y="2264"/>
                </a:lnTo>
                <a:lnTo>
                  <a:pt x="9432" y="2264"/>
                </a:lnTo>
                <a:lnTo>
                  <a:pt x="9537" y="2264"/>
                </a:lnTo>
                <a:lnTo>
                  <a:pt x="9640" y="2264"/>
                </a:lnTo>
                <a:lnTo>
                  <a:pt x="9735" y="2264"/>
                </a:lnTo>
                <a:lnTo>
                  <a:pt x="9820" y="2264"/>
                </a:lnTo>
                <a:lnTo>
                  <a:pt x="9893" y="2264"/>
                </a:lnTo>
                <a:lnTo>
                  <a:pt x="9948" y="2264"/>
                </a:lnTo>
                <a:lnTo>
                  <a:pt x="9984" y="2264"/>
                </a:lnTo>
                <a:lnTo>
                  <a:pt x="9997" y="2264"/>
                </a:lnTo>
                <a:lnTo>
                  <a:pt x="9997" y="2250"/>
                </a:lnTo>
                <a:lnTo>
                  <a:pt x="9997" y="2209"/>
                </a:lnTo>
                <a:lnTo>
                  <a:pt x="9997" y="2145"/>
                </a:lnTo>
                <a:lnTo>
                  <a:pt x="9997" y="2063"/>
                </a:lnTo>
                <a:lnTo>
                  <a:pt x="9997" y="1965"/>
                </a:lnTo>
                <a:lnTo>
                  <a:pt x="9997" y="1856"/>
                </a:lnTo>
                <a:lnTo>
                  <a:pt x="9997" y="1741"/>
                </a:lnTo>
                <a:lnTo>
                  <a:pt x="9997" y="1620"/>
                </a:lnTo>
                <a:lnTo>
                  <a:pt x="9997" y="1500"/>
                </a:lnTo>
                <a:lnTo>
                  <a:pt x="9997" y="1384"/>
                </a:lnTo>
                <a:lnTo>
                  <a:pt x="9997" y="1275"/>
                </a:lnTo>
                <a:lnTo>
                  <a:pt x="9997" y="1177"/>
                </a:lnTo>
                <a:lnTo>
                  <a:pt x="9997" y="1094"/>
                </a:lnTo>
                <a:lnTo>
                  <a:pt x="9997" y="1031"/>
                </a:lnTo>
                <a:lnTo>
                  <a:pt x="9997" y="990"/>
                </a:lnTo>
                <a:lnTo>
                  <a:pt x="9997" y="976"/>
                </a:lnTo>
                <a:lnTo>
                  <a:pt x="9997" y="975"/>
                </a:lnTo>
                <a:lnTo>
                  <a:pt x="9997" y="974"/>
                </a:lnTo>
                <a:lnTo>
                  <a:pt x="9997" y="960"/>
                </a:lnTo>
                <a:lnTo>
                  <a:pt x="9996" y="947"/>
                </a:lnTo>
                <a:lnTo>
                  <a:pt x="9995" y="933"/>
                </a:lnTo>
                <a:lnTo>
                  <a:pt x="9992" y="921"/>
                </a:lnTo>
                <a:lnTo>
                  <a:pt x="9987" y="896"/>
                </a:lnTo>
                <a:lnTo>
                  <a:pt x="9980" y="872"/>
                </a:lnTo>
                <a:lnTo>
                  <a:pt x="9971" y="850"/>
                </a:lnTo>
                <a:lnTo>
                  <a:pt x="9961" y="827"/>
                </a:lnTo>
                <a:lnTo>
                  <a:pt x="9950" y="807"/>
                </a:lnTo>
                <a:lnTo>
                  <a:pt x="9937" y="788"/>
                </a:lnTo>
                <a:lnTo>
                  <a:pt x="9924" y="770"/>
                </a:lnTo>
                <a:lnTo>
                  <a:pt x="9909" y="753"/>
                </a:lnTo>
                <a:lnTo>
                  <a:pt x="9894" y="737"/>
                </a:lnTo>
                <a:lnTo>
                  <a:pt x="9879" y="723"/>
                </a:lnTo>
                <a:lnTo>
                  <a:pt x="9863" y="710"/>
                </a:lnTo>
                <a:lnTo>
                  <a:pt x="9847" y="698"/>
                </a:lnTo>
                <a:lnTo>
                  <a:pt x="9832" y="688"/>
                </a:lnTo>
                <a:lnTo>
                  <a:pt x="9817" y="679"/>
                </a:lnTo>
                <a:close/>
                <a:moveTo>
                  <a:pt x="11516" y="629"/>
                </a:moveTo>
                <a:lnTo>
                  <a:pt x="11512" y="640"/>
                </a:lnTo>
                <a:lnTo>
                  <a:pt x="11498" y="670"/>
                </a:lnTo>
                <a:lnTo>
                  <a:pt x="11477" y="716"/>
                </a:lnTo>
                <a:lnTo>
                  <a:pt x="11449" y="777"/>
                </a:lnTo>
                <a:lnTo>
                  <a:pt x="11418" y="848"/>
                </a:lnTo>
                <a:lnTo>
                  <a:pt x="11382" y="928"/>
                </a:lnTo>
                <a:lnTo>
                  <a:pt x="11342" y="1013"/>
                </a:lnTo>
                <a:lnTo>
                  <a:pt x="11303" y="1101"/>
                </a:lnTo>
                <a:lnTo>
                  <a:pt x="11263" y="1189"/>
                </a:lnTo>
                <a:lnTo>
                  <a:pt x="11225" y="1274"/>
                </a:lnTo>
                <a:lnTo>
                  <a:pt x="11189" y="1353"/>
                </a:lnTo>
                <a:lnTo>
                  <a:pt x="11156" y="1424"/>
                </a:lnTo>
                <a:lnTo>
                  <a:pt x="11129" y="1484"/>
                </a:lnTo>
                <a:lnTo>
                  <a:pt x="11107" y="1531"/>
                </a:lnTo>
                <a:lnTo>
                  <a:pt x="11094" y="1561"/>
                </a:lnTo>
                <a:lnTo>
                  <a:pt x="11089" y="1571"/>
                </a:lnTo>
                <a:lnTo>
                  <a:pt x="11086" y="1575"/>
                </a:lnTo>
                <a:lnTo>
                  <a:pt x="11084" y="1580"/>
                </a:lnTo>
                <a:lnTo>
                  <a:pt x="11080" y="1583"/>
                </a:lnTo>
                <a:lnTo>
                  <a:pt x="11077" y="1585"/>
                </a:lnTo>
                <a:lnTo>
                  <a:pt x="11072" y="1587"/>
                </a:lnTo>
                <a:lnTo>
                  <a:pt x="11067" y="1589"/>
                </a:lnTo>
                <a:lnTo>
                  <a:pt x="11063" y="1590"/>
                </a:lnTo>
                <a:lnTo>
                  <a:pt x="11058" y="1590"/>
                </a:lnTo>
                <a:lnTo>
                  <a:pt x="11051" y="1589"/>
                </a:lnTo>
                <a:lnTo>
                  <a:pt x="11046" y="1588"/>
                </a:lnTo>
                <a:lnTo>
                  <a:pt x="11041" y="1586"/>
                </a:lnTo>
                <a:lnTo>
                  <a:pt x="11036" y="1583"/>
                </a:lnTo>
                <a:lnTo>
                  <a:pt x="11032" y="1579"/>
                </a:lnTo>
                <a:lnTo>
                  <a:pt x="11028" y="1574"/>
                </a:lnTo>
                <a:lnTo>
                  <a:pt x="11026" y="1570"/>
                </a:lnTo>
                <a:lnTo>
                  <a:pt x="11023" y="1566"/>
                </a:lnTo>
                <a:lnTo>
                  <a:pt x="11019" y="1556"/>
                </a:lnTo>
                <a:lnTo>
                  <a:pt x="11009" y="1531"/>
                </a:lnTo>
                <a:lnTo>
                  <a:pt x="10992" y="1490"/>
                </a:lnTo>
                <a:lnTo>
                  <a:pt x="10970" y="1437"/>
                </a:lnTo>
                <a:lnTo>
                  <a:pt x="10944" y="1374"/>
                </a:lnTo>
                <a:lnTo>
                  <a:pt x="10916" y="1304"/>
                </a:lnTo>
                <a:lnTo>
                  <a:pt x="10885" y="1229"/>
                </a:lnTo>
                <a:lnTo>
                  <a:pt x="10853" y="1152"/>
                </a:lnTo>
                <a:lnTo>
                  <a:pt x="10821" y="1074"/>
                </a:lnTo>
                <a:lnTo>
                  <a:pt x="10791" y="999"/>
                </a:lnTo>
                <a:lnTo>
                  <a:pt x="10762" y="929"/>
                </a:lnTo>
                <a:lnTo>
                  <a:pt x="10737" y="867"/>
                </a:lnTo>
                <a:lnTo>
                  <a:pt x="10715" y="814"/>
                </a:lnTo>
                <a:lnTo>
                  <a:pt x="10699" y="772"/>
                </a:lnTo>
                <a:lnTo>
                  <a:pt x="10687" y="746"/>
                </a:lnTo>
                <a:lnTo>
                  <a:pt x="10684" y="736"/>
                </a:lnTo>
                <a:lnTo>
                  <a:pt x="10682" y="732"/>
                </a:lnTo>
                <a:lnTo>
                  <a:pt x="10676" y="719"/>
                </a:lnTo>
                <a:lnTo>
                  <a:pt x="10672" y="712"/>
                </a:lnTo>
                <a:lnTo>
                  <a:pt x="10667" y="702"/>
                </a:lnTo>
                <a:lnTo>
                  <a:pt x="10661" y="693"/>
                </a:lnTo>
                <a:lnTo>
                  <a:pt x="10652" y="683"/>
                </a:lnTo>
                <a:lnTo>
                  <a:pt x="10643" y="673"/>
                </a:lnTo>
                <a:lnTo>
                  <a:pt x="10632" y="663"/>
                </a:lnTo>
                <a:lnTo>
                  <a:pt x="10618" y="655"/>
                </a:lnTo>
                <a:lnTo>
                  <a:pt x="10604" y="646"/>
                </a:lnTo>
                <a:lnTo>
                  <a:pt x="10588" y="640"/>
                </a:lnTo>
                <a:lnTo>
                  <a:pt x="10570" y="635"/>
                </a:lnTo>
                <a:lnTo>
                  <a:pt x="10559" y="633"/>
                </a:lnTo>
                <a:lnTo>
                  <a:pt x="10548" y="630"/>
                </a:lnTo>
                <a:lnTo>
                  <a:pt x="10538" y="630"/>
                </a:lnTo>
                <a:lnTo>
                  <a:pt x="10526" y="629"/>
                </a:lnTo>
                <a:lnTo>
                  <a:pt x="10476" y="629"/>
                </a:lnTo>
                <a:lnTo>
                  <a:pt x="10413" y="629"/>
                </a:lnTo>
                <a:lnTo>
                  <a:pt x="10342" y="629"/>
                </a:lnTo>
                <a:lnTo>
                  <a:pt x="10269" y="629"/>
                </a:lnTo>
                <a:lnTo>
                  <a:pt x="10201" y="629"/>
                </a:lnTo>
                <a:lnTo>
                  <a:pt x="10145" y="629"/>
                </a:lnTo>
                <a:lnTo>
                  <a:pt x="10107" y="629"/>
                </a:lnTo>
                <a:lnTo>
                  <a:pt x="10092" y="629"/>
                </a:lnTo>
                <a:lnTo>
                  <a:pt x="10099" y="645"/>
                </a:lnTo>
                <a:lnTo>
                  <a:pt x="10118" y="690"/>
                </a:lnTo>
                <a:lnTo>
                  <a:pt x="10149" y="760"/>
                </a:lnTo>
                <a:lnTo>
                  <a:pt x="10188" y="850"/>
                </a:lnTo>
                <a:lnTo>
                  <a:pt x="10234" y="957"/>
                </a:lnTo>
                <a:lnTo>
                  <a:pt x="10286" y="1076"/>
                </a:lnTo>
                <a:lnTo>
                  <a:pt x="10342" y="1204"/>
                </a:lnTo>
                <a:lnTo>
                  <a:pt x="10399" y="1335"/>
                </a:lnTo>
                <a:lnTo>
                  <a:pt x="10456" y="1467"/>
                </a:lnTo>
                <a:lnTo>
                  <a:pt x="10511" y="1595"/>
                </a:lnTo>
                <a:lnTo>
                  <a:pt x="10563" y="1713"/>
                </a:lnTo>
                <a:lnTo>
                  <a:pt x="10610" y="1820"/>
                </a:lnTo>
                <a:lnTo>
                  <a:pt x="10649" y="1911"/>
                </a:lnTo>
                <a:lnTo>
                  <a:pt x="10679" y="1980"/>
                </a:lnTo>
                <a:lnTo>
                  <a:pt x="10699" y="2026"/>
                </a:lnTo>
                <a:lnTo>
                  <a:pt x="10705" y="2041"/>
                </a:lnTo>
                <a:lnTo>
                  <a:pt x="10713" y="2066"/>
                </a:lnTo>
                <a:lnTo>
                  <a:pt x="10721" y="2095"/>
                </a:lnTo>
                <a:lnTo>
                  <a:pt x="10724" y="2111"/>
                </a:lnTo>
                <a:lnTo>
                  <a:pt x="10727" y="2127"/>
                </a:lnTo>
                <a:lnTo>
                  <a:pt x="10729" y="2144"/>
                </a:lnTo>
                <a:lnTo>
                  <a:pt x="10731" y="2162"/>
                </a:lnTo>
                <a:lnTo>
                  <a:pt x="10733" y="2180"/>
                </a:lnTo>
                <a:lnTo>
                  <a:pt x="10733" y="2198"/>
                </a:lnTo>
                <a:lnTo>
                  <a:pt x="10731" y="2218"/>
                </a:lnTo>
                <a:lnTo>
                  <a:pt x="10730" y="2237"/>
                </a:lnTo>
                <a:lnTo>
                  <a:pt x="10727" y="2255"/>
                </a:lnTo>
                <a:lnTo>
                  <a:pt x="10724" y="2274"/>
                </a:lnTo>
                <a:lnTo>
                  <a:pt x="10719" y="2292"/>
                </a:lnTo>
                <a:lnTo>
                  <a:pt x="10712" y="2310"/>
                </a:lnTo>
                <a:lnTo>
                  <a:pt x="10698" y="2339"/>
                </a:lnTo>
                <a:lnTo>
                  <a:pt x="10659" y="2417"/>
                </a:lnTo>
                <a:lnTo>
                  <a:pt x="10607" y="2526"/>
                </a:lnTo>
                <a:lnTo>
                  <a:pt x="10544" y="2651"/>
                </a:lnTo>
                <a:lnTo>
                  <a:pt x="10483" y="2776"/>
                </a:lnTo>
                <a:lnTo>
                  <a:pt x="10429" y="2885"/>
                </a:lnTo>
                <a:lnTo>
                  <a:pt x="10391" y="2962"/>
                </a:lnTo>
                <a:lnTo>
                  <a:pt x="10377" y="2992"/>
                </a:lnTo>
                <a:lnTo>
                  <a:pt x="10399" y="2992"/>
                </a:lnTo>
                <a:lnTo>
                  <a:pt x="10457" y="2992"/>
                </a:lnTo>
                <a:lnTo>
                  <a:pt x="10541" y="2992"/>
                </a:lnTo>
                <a:lnTo>
                  <a:pt x="10636" y="2992"/>
                </a:lnTo>
                <a:lnTo>
                  <a:pt x="10730" y="2992"/>
                </a:lnTo>
                <a:lnTo>
                  <a:pt x="10814" y="2992"/>
                </a:lnTo>
                <a:lnTo>
                  <a:pt x="10872" y="2992"/>
                </a:lnTo>
                <a:lnTo>
                  <a:pt x="10895" y="2992"/>
                </a:lnTo>
                <a:lnTo>
                  <a:pt x="10907" y="2966"/>
                </a:lnTo>
                <a:lnTo>
                  <a:pt x="10943" y="2890"/>
                </a:lnTo>
                <a:lnTo>
                  <a:pt x="10999" y="2774"/>
                </a:lnTo>
                <a:lnTo>
                  <a:pt x="11072" y="2623"/>
                </a:lnTo>
                <a:lnTo>
                  <a:pt x="11158" y="2444"/>
                </a:lnTo>
                <a:lnTo>
                  <a:pt x="11253" y="2245"/>
                </a:lnTo>
                <a:lnTo>
                  <a:pt x="11356" y="2031"/>
                </a:lnTo>
                <a:lnTo>
                  <a:pt x="11462" y="1811"/>
                </a:lnTo>
                <a:lnTo>
                  <a:pt x="11568" y="1590"/>
                </a:lnTo>
                <a:lnTo>
                  <a:pt x="11671" y="1377"/>
                </a:lnTo>
                <a:lnTo>
                  <a:pt x="11766" y="1177"/>
                </a:lnTo>
                <a:lnTo>
                  <a:pt x="11853" y="999"/>
                </a:lnTo>
                <a:lnTo>
                  <a:pt x="11925" y="848"/>
                </a:lnTo>
                <a:lnTo>
                  <a:pt x="11981" y="731"/>
                </a:lnTo>
                <a:lnTo>
                  <a:pt x="12017" y="656"/>
                </a:lnTo>
                <a:lnTo>
                  <a:pt x="12030" y="629"/>
                </a:lnTo>
                <a:lnTo>
                  <a:pt x="12007" y="629"/>
                </a:lnTo>
                <a:lnTo>
                  <a:pt x="11949" y="629"/>
                </a:lnTo>
                <a:lnTo>
                  <a:pt x="11868" y="629"/>
                </a:lnTo>
                <a:lnTo>
                  <a:pt x="11773" y="629"/>
                </a:lnTo>
                <a:lnTo>
                  <a:pt x="11679" y="629"/>
                </a:lnTo>
                <a:lnTo>
                  <a:pt x="11596" y="629"/>
                </a:lnTo>
                <a:lnTo>
                  <a:pt x="11538" y="629"/>
                </a:lnTo>
                <a:lnTo>
                  <a:pt x="11516" y="629"/>
                </a:lnTo>
                <a:close/>
                <a:moveTo>
                  <a:pt x="2783" y="503"/>
                </a:moveTo>
                <a:lnTo>
                  <a:pt x="2806" y="503"/>
                </a:lnTo>
                <a:lnTo>
                  <a:pt x="2863" y="503"/>
                </a:lnTo>
                <a:lnTo>
                  <a:pt x="2943" y="503"/>
                </a:lnTo>
                <a:lnTo>
                  <a:pt x="3035" y="503"/>
                </a:lnTo>
                <a:lnTo>
                  <a:pt x="3128" y="503"/>
                </a:lnTo>
                <a:lnTo>
                  <a:pt x="3208" y="503"/>
                </a:lnTo>
                <a:lnTo>
                  <a:pt x="3265" y="503"/>
                </a:lnTo>
                <a:lnTo>
                  <a:pt x="3287" y="503"/>
                </a:lnTo>
                <a:lnTo>
                  <a:pt x="3287" y="482"/>
                </a:lnTo>
                <a:lnTo>
                  <a:pt x="3287" y="425"/>
                </a:lnTo>
                <a:lnTo>
                  <a:pt x="3287" y="344"/>
                </a:lnTo>
                <a:lnTo>
                  <a:pt x="3287" y="252"/>
                </a:lnTo>
                <a:lnTo>
                  <a:pt x="3287" y="160"/>
                </a:lnTo>
                <a:lnTo>
                  <a:pt x="3287" y="79"/>
                </a:lnTo>
                <a:lnTo>
                  <a:pt x="3287" y="22"/>
                </a:lnTo>
                <a:lnTo>
                  <a:pt x="3287" y="1"/>
                </a:lnTo>
                <a:lnTo>
                  <a:pt x="3278" y="1"/>
                </a:lnTo>
                <a:lnTo>
                  <a:pt x="3254" y="1"/>
                </a:lnTo>
                <a:lnTo>
                  <a:pt x="3215" y="1"/>
                </a:lnTo>
                <a:lnTo>
                  <a:pt x="3169" y="1"/>
                </a:lnTo>
                <a:lnTo>
                  <a:pt x="3115" y="1"/>
                </a:lnTo>
                <a:lnTo>
                  <a:pt x="3057" y="1"/>
                </a:lnTo>
                <a:lnTo>
                  <a:pt x="2998" y="1"/>
                </a:lnTo>
                <a:lnTo>
                  <a:pt x="2941" y="1"/>
                </a:lnTo>
                <a:lnTo>
                  <a:pt x="2926" y="1"/>
                </a:lnTo>
                <a:lnTo>
                  <a:pt x="2912" y="2"/>
                </a:lnTo>
                <a:lnTo>
                  <a:pt x="2898" y="4"/>
                </a:lnTo>
                <a:lnTo>
                  <a:pt x="2885" y="7"/>
                </a:lnTo>
                <a:lnTo>
                  <a:pt x="2873" y="11"/>
                </a:lnTo>
                <a:lnTo>
                  <a:pt x="2863" y="14"/>
                </a:lnTo>
                <a:lnTo>
                  <a:pt x="2852" y="18"/>
                </a:lnTo>
                <a:lnTo>
                  <a:pt x="2844" y="23"/>
                </a:lnTo>
                <a:lnTo>
                  <a:pt x="2835" y="29"/>
                </a:lnTo>
                <a:lnTo>
                  <a:pt x="2828" y="34"/>
                </a:lnTo>
                <a:lnTo>
                  <a:pt x="2822" y="40"/>
                </a:lnTo>
                <a:lnTo>
                  <a:pt x="2815" y="46"/>
                </a:lnTo>
                <a:lnTo>
                  <a:pt x="2810" y="52"/>
                </a:lnTo>
                <a:lnTo>
                  <a:pt x="2805" y="59"/>
                </a:lnTo>
                <a:lnTo>
                  <a:pt x="2801" y="66"/>
                </a:lnTo>
                <a:lnTo>
                  <a:pt x="2797" y="72"/>
                </a:lnTo>
                <a:lnTo>
                  <a:pt x="2792" y="86"/>
                </a:lnTo>
                <a:lnTo>
                  <a:pt x="2788" y="99"/>
                </a:lnTo>
                <a:lnTo>
                  <a:pt x="2786" y="110"/>
                </a:lnTo>
                <a:lnTo>
                  <a:pt x="2783" y="121"/>
                </a:lnTo>
                <a:lnTo>
                  <a:pt x="2783" y="138"/>
                </a:lnTo>
                <a:lnTo>
                  <a:pt x="2783" y="143"/>
                </a:lnTo>
                <a:lnTo>
                  <a:pt x="2783" y="159"/>
                </a:lnTo>
                <a:lnTo>
                  <a:pt x="2783" y="200"/>
                </a:lnTo>
                <a:lnTo>
                  <a:pt x="2783" y="257"/>
                </a:lnTo>
                <a:lnTo>
                  <a:pt x="2783" y="323"/>
                </a:lnTo>
                <a:lnTo>
                  <a:pt x="2783" y="390"/>
                </a:lnTo>
                <a:lnTo>
                  <a:pt x="2783" y="447"/>
                </a:lnTo>
                <a:lnTo>
                  <a:pt x="2783" y="488"/>
                </a:lnTo>
                <a:lnTo>
                  <a:pt x="2783" y="503"/>
                </a:lnTo>
                <a:close/>
                <a:moveTo>
                  <a:pt x="6368" y="1965"/>
                </a:moveTo>
                <a:lnTo>
                  <a:pt x="6360" y="1965"/>
                </a:lnTo>
                <a:lnTo>
                  <a:pt x="6337" y="1965"/>
                </a:lnTo>
                <a:lnTo>
                  <a:pt x="6304" y="1965"/>
                </a:lnTo>
                <a:lnTo>
                  <a:pt x="6266" y="1965"/>
                </a:lnTo>
                <a:lnTo>
                  <a:pt x="6228" y="1965"/>
                </a:lnTo>
                <a:lnTo>
                  <a:pt x="6195" y="1965"/>
                </a:lnTo>
                <a:lnTo>
                  <a:pt x="6171" y="1965"/>
                </a:lnTo>
                <a:lnTo>
                  <a:pt x="6163" y="1965"/>
                </a:lnTo>
                <a:lnTo>
                  <a:pt x="6135" y="1964"/>
                </a:lnTo>
                <a:lnTo>
                  <a:pt x="6110" y="1963"/>
                </a:lnTo>
                <a:lnTo>
                  <a:pt x="6086" y="1961"/>
                </a:lnTo>
                <a:lnTo>
                  <a:pt x="6063" y="1958"/>
                </a:lnTo>
                <a:lnTo>
                  <a:pt x="6042" y="1954"/>
                </a:lnTo>
                <a:lnTo>
                  <a:pt x="6023" y="1949"/>
                </a:lnTo>
                <a:lnTo>
                  <a:pt x="6005" y="1944"/>
                </a:lnTo>
                <a:lnTo>
                  <a:pt x="5988" y="1938"/>
                </a:lnTo>
                <a:lnTo>
                  <a:pt x="5973" y="1930"/>
                </a:lnTo>
                <a:lnTo>
                  <a:pt x="5959" y="1923"/>
                </a:lnTo>
                <a:lnTo>
                  <a:pt x="5946" y="1913"/>
                </a:lnTo>
                <a:lnTo>
                  <a:pt x="5934" y="1905"/>
                </a:lnTo>
                <a:lnTo>
                  <a:pt x="5925" y="1894"/>
                </a:lnTo>
                <a:lnTo>
                  <a:pt x="5915" y="1884"/>
                </a:lnTo>
                <a:lnTo>
                  <a:pt x="5907" y="1872"/>
                </a:lnTo>
                <a:lnTo>
                  <a:pt x="5900" y="1859"/>
                </a:lnTo>
                <a:lnTo>
                  <a:pt x="5894" y="1847"/>
                </a:lnTo>
                <a:lnTo>
                  <a:pt x="5888" y="1826"/>
                </a:lnTo>
                <a:lnTo>
                  <a:pt x="5881" y="1798"/>
                </a:lnTo>
                <a:lnTo>
                  <a:pt x="5875" y="1761"/>
                </a:lnTo>
                <a:lnTo>
                  <a:pt x="5872" y="1740"/>
                </a:lnTo>
                <a:lnTo>
                  <a:pt x="5869" y="1715"/>
                </a:lnTo>
                <a:lnTo>
                  <a:pt x="5867" y="1688"/>
                </a:lnTo>
                <a:lnTo>
                  <a:pt x="5864" y="1659"/>
                </a:lnTo>
                <a:lnTo>
                  <a:pt x="5862" y="1626"/>
                </a:lnTo>
                <a:lnTo>
                  <a:pt x="5861" y="1591"/>
                </a:lnTo>
                <a:lnTo>
                  <a:pt x="5860" y="1553"/>
                </a:lnTo>
                <a:lnTo>
                  <a:pt x="5860" y="1512"/>
                </a:lnTo>
                <a:lnTo>
                  <a:pt x="5860" y="1498"/>
                </a:lnTo>
                <a:lnTo>
                  <a:pt x="5860" y="1463"/>
                </a:lnTo>
                <a:lnTo>
                  <a:pt x="5860" y="1413"/>
                </a:lnTo>
                <a:lnTo>
                  <a:pt x="5860" y="1357"/>
                </a:lnTo>
                <a:lnTo>
                  <a:pt x="5860" y="1300"/>
                </a:lnTo>
                <a:lnTo>
                  <a:pt x="5860" y="1250"/>
                </a:lnTo>
                <a:lnTo>
                  <a:pt x="5860" y="1215"/>
                </a:lnTo>
                <a:lnTo>
                  <a:pt x="5860" y="1203"/>
                </a:lnTo>
                <a:lnTo>
                  <a:pt x="5860" y="1201"/>
                </a:lnTo>
                <a:lnTo>
                  <a:pt x="5861" y="1173"/>
                </a:lnTo>
                <a:lnTo>
                  <a:pt x="5861" y="1146"/>
                </a:lnTo>
                <a:lnTo>
                  <a:pt x="5863" y="1122"/>
                </a:lnTo>
                <a:lnTo>
                  <a:pt x="5865" y="1101"/>
                </a:lnTo>
                <a:lnTo>
                  <a:pt x="5868" y="1083"/>
                </a:lnTo>
                <a:lnTo>
                  <a:pt x="5870" y="1066"/>
                </a:lnTo>
                <a:lnTo>
                  <a:pt x="5874" y="1051"/>
                </a:lnTo>
                <a:lnTo>
                  <a:pt x="5877" y="1038"/>
                </a:lnTo>
                <a:lnTo>
                  <a:pt x="5881" y="1027"/>
                </a:lnTo>
                <a:lnTo>
                  <a:pt x="5886" y="1017"/>
                </a:lnTo>
                <a:lnTo>
                  <a:pt x="5890" y="1008"/>
                </a:lnTo>
                <a:lnTo>
                  <a:pt x="5895" y="1000"/>
                </a:lnTo>
                <a:lnTo>
                  <a:pt x="5905" y="986"/>
                </a:lnTo>
                <a:lnTo>
                  <a:pt x="5915" y="974"/>
                </a:lnTo>
                <a:lnTo>
                  <a:pt x="5927" y="963"/>
                </a:lnTo>
                <a:lnTo>
                  <a:pt x="5939" y="955"/>
                </a:lnTo>
                <a:lnTo>
                  <a:pt x="5950" y="947"/>
                </a:lnTo>
                <a:lnTo>
                  <a:pt x="5963" y="943"/>
                </a:lnTo>
                <a:lnTo>
                  <a:pt x="5976" y="939"/>
                </a:lnTo>
                <a:lnTo>
                  <a:pt x="5989" y="937"/>
                </a:lnTo>
                <a:lnTo>
                  <a:pt x="6002" y="936"/>
                </a:lnTo>
                <a:lnTo>
                  <a:pt x="6016" y="936"/>
                </a:lnTo>
                <a:lnTo>
                  <a:pt x="6032" y="936"/>
                </a:lnTo>
                <a:lnTo>
                  <a:pt x="6071" y="936"/>
                </a:lnTo>
                <a:lnTo>
                  <a:pt x="6128" y="936"/>
                </a:lnTo>
                <a:lnTo>
                  <a:pt x="6193" y="936"/>
                </a:lnTo>
                <a:lnTo>
                  <a:pt x="6257" y="936"/>
                </a:lnTo>
                <a:lnTo>
                  <a:pt x="6313" y="936"/>
                </a:lnTo>
                <a:lnTo>
                  <a:pt x="6354" y="936"/>
                </a:lnTo>
                <a:lnTo>
                  <a:pt x="6368" y="936"/>
                </a:lnTo>
                <a:lnTo>
                  <a:pt x="6368" y="947"/>
                </a:lnTo>
                <a:lnTo>
                  <a:pt x="6368" y="979"/>
                </a:lnTo>
                <a:lnTo>
                  <a:pt x="6368" y="1030"/>
                </a:lnTo>
                <a:lnTo>
                  <a:pt x="6368" y="1096"/>
                </a:lnTo>
                <a:lnTo>
                  <a:pt x="6368" y="1174"/>
                </a:lnTo>
                <a:lnTo>
                  <a:pt x="6368" y="1261"/>
                </a:lnTo>
                <a:lnTo>
                  <a:pt x="6368" y="1354"/>
                </a:lnTo>
                <a:lnTo>
                  <a:pt x="6368" y="1450"/>
                </a:lnTo>
                <a:lnTo>
                  <a:pt x="6368" y="1546"/>
                </a:lnTo>
                <a:lnTo>
                  <a:pt x="6368" y="1639"/>
                </a:lnTo>
                <a:lnTo>
                  <a:pt x="6368" y="1726"/>
                </a:lnTo>
                <a:lnTo>
                  <a:pt x="6368" y="1804"/>
                </a:lnTo>
                <a:lnTo>
                  <a:pt x="6368" y="1870"/>
                </a:lnTo>
                <a:lnTo>
                  <a:pt x="6368" y="1921"/>
                </a:lnTo>
                <a:lnTo>
                  <a:pt x="6368" y="1954"/>
                </a:lnTo>
                <a:lnTo>
                  <a:pt x="6368" y="1965"/>
                </a:lnTo>
                <a:close/>
                <a:moveTo>
                  <a:pt x="6368" y="124"/>
                </a:moveTo>
                <a:lnTo>
                  <a:pt x="6368" y="145"/>
                </a:lnTo>
                <a:lnTo>
                  <a:pt x="6368" y="203"/>
                </a:lnTo>
                <a:lnTo>
                  <a:pt x="6368" y="285"/>
                </a:lnTo>
                <a:lnTo>
                  <a:pt x="6368" y="378"/>
                </a:lnTo>
                <a:lnTo>
                  <a:pt x="6368" y="471"/>
                </a:lnTo>
                <a:lnTo>
                  <a:pt x="6368" y="553"/>
                </a:lnTo>
                <a:lnTo>
                  <a:pt x="6368" y="610"/>
                </a:lnTo>
                <a:lnTo>
                  <a:pt x="6368" y="633"/>
                </a:lnTo>
                <a:lnTo>
                  <a:pt x="6346" y="633"/>
                </a:lnTo>
                <a:lnTo>
                  <a:pt x="6287" y="633"/>
                </a:lnTo>
                <a:lnTo>
                  <a:pt x="6202" y="633"/>
                </a:lnTo>
                <a:lnTo>
                  <a:pt x="6106" y="633"/>
                </a:lnTo>
                <a:lnTo>
                  <a:pt x="6009" y="633"/>
                </a:lnTo>
                <a:lnTo>
                  <a:pt x="5925" y="633"/>
                </a:lnTo>
                <a:lnTo>
                  <a:pt x="5865" y="633"/>
                </a:lnTo>
                <a:lnTo>
                  <a:pt x="5842" y="633"/>
                </a:lnTo>
                <a:lnTo>
                  <a:pt x="5841" y="633"/>
                </a:lnTo>
                <a:lnTo>
                  <a:pt x="5800" y="634"/>
                </a:lnTo>
                <a:lnTo>
                  <a:pt x="5762" y="636"/>
                </a:lnTo>
                <a:lnTo>
                  <a:pt x="5726" y="639"/>
                </a:lnTo>
                <a:lnTo>
                  <a:pt x="5692" y="645"/>
                </a:lnTo>
                <a:lnTo>
                  <a:pt x="5661" y="652"/>
                </a:lnTo>
                <a:lnTo>
                  <a:pt x="5631" y="660"/>
                </a:lnTo>
                <a:lnTo>
                  <a:pt x="5618" y="665"/>
                </a:lnTo>
                <a:lnTo>
                  <a:pt x="5605" y="671"/>
                </a:lnTo>
                <a:lnTo>
                  <a:pt x="5592" y="676"/>
                </a:lnTo>
                <a:lnTo>
                  <a:pt x="5580" y="682"/>
                </a:lnTo>
                <a:lnTo>
                  <a:pt x="5568" y="689"/>
                </a:lnTo>
                <a:lnTo>
                  <a:pt x="5556" y="695"/>
                </a:lnTo>
                <a:lnTo>
                  <a:pt x="5545" y="702"/>
                </a:lnTo>
                <a:lnTo>
                  <a:pt x="5534" y="710"/>
                </a:lnTo>
                <a:lnTo>
                  <a:pt x="5514" y="727"/>
                </a:lnTo>
                <a:lnTo>
                  <a:pt x="5495" y="745"/>
                </a:lnTo>
                <a:lnTo>
                  <a:pt x="5478" y="764"/>
                </a:lnTo>
                <a:lnTo>
                  <a:pt x="5461" y="785"/>
                </a:lnTo>
                <a:lnTo>
                  <a:pt x="5445" y="807"/>
                </a:lnTo>
                <a:lnTo>
                  <a:pt x="5431" y="832"/>
                </a:lnTo>
                <a:lnTo>
                  <a:pt x="5422" y="850"/>
                </a:lnTo>
                <a:lnTo>
                  <a:pt x="5412" y="869"/>
                </a:lnTo>
                <a:lnTo>
                  <a:pt x="5404" y="889"/>
                </a:lnTo>
                <a:lnTo>
                  <a:pt x="5396" y="910"/>
                </a:lnTo>
                <a:lnTo>
                  <a:pt x="5390" y="931"/>
                </a:lnTo>
                <a:lnTo>
                  <a:pt x="5384" y="955"/>
                </a:lnTo>
                <a:lnTo>
                  <a:pt x="5378" y="978"/>
                </a:lnTo>
                <a:lnTo>
                  <a:pt x="5373" y="1003"/>
                </a:lnTo>
                <a:lnTo>
                  <a:pt x="5369" y="1029"/>
                </a:lnTo>
                <a:lnTo>
                  <a:pt x="5365" y="1055"/>
                </a:lnTo>
                <a:lnTo>
                  <a:pt x="5362" y="1084"/>
                </a:lnTo>
                <a:lnTo>
                  <a:pt x="5359" y="1112"/>
                </a:lnTo>
                <a:lnTo>
                  <a:pt x="5357" y="1142"/>
                </a:lnTo>
                <a:lnTo>
                  <a:pt x="5356" y="1173"/>
                </a:lnTo>
                <a:lnTo>
                  <a:pt x="5355" y="1206"/>
                </a:lnTo>
                <a:lnTo>
                  <a:pt x="5355" y="1239"/>
                </a:lnTo>
                <a:lnTo>
                  <a:pt x="5355" y="1257"/>
                </a:lnTo>
                <a:lnTo>
                  <a:pt x="5355" y="1304"/>
                </a:lnTo>
                <a:lnTo>
                  <a:pt x="5355" y="1372"/>
                </a:lnTo>
                <a:lnTo>
                  <a:pt x="5355" y="1448"/>
                </a:lnTo>
                <a:lnTo>
                  <a:pt x="5355" y="1526"/>
                </a:lnTo>
                <a:lnTo>
                  <a:pt x="5355" y="1593"/>
                </a:lnTo>
                <a:lnTo>
                  <a:pt x="5355" y="1641"/>
                </a:lnTo>
                <a:lnTo>
                  <a:pt x="5355" y="1659"/>
                </a:lnTo>
                <a:lnTo>
                  <a:pt x="5355" y="1692"/>
                </a:lnTo>
                <a:lnTo>
                  <a:pt x="5356" y="1725"/>
                </a:lnTo>
                <a:lnTo>
                  <a:pt x="5357" y="1756"/>
                </a:lnTo>
                <a:lnTo>
                  <a:pt x="5359" y="1785"/>
                </a:lnTo>
                <a:lnTo>
                  <a:pt x="5362" y="1814"/>
                </a:lnTo>
                <a:lnTo>
                  <a:pt x="5365" y="1842"/>
                </a:lnTo>
                <a:lnTo>
                  <a:pt x="5369" y="1869"/>
                </a:lnTo>
                <a:lnTo>
                  <a:pt x="5373" y="1894"/>
                </a:lnTo>
                <a:lnTo>
                  <a:pt x="5378" y="1920"/>
                </a:lnTo>
                <a:lnTo>
                  <a:pt x="5384" y="1943"/>
                </a:lnTo>
                <a:lnTo>
                  <a:pt x="5390" y="1966"/>
                </a:lnTo>
                <a:lnTo>
                  <a:pt x="5396" y="1988"/>
                </a:lnTo>
                <a:lnTo>
                  <a:pt x="5405" y="2009"/>
                </a:lnTo>
                <a:lnTo>
                  <a:pt x="5412" y="2029"/>
                </a:lnTo>
                <a:lnTo>
                  <a:pt x="5422" y="2048"/>
                </a:lnTo>
                <a:lnTo>
                  <a:pt x="5431" y="2066"/>
                </a:lnTo>
                <a:lnTo>
                  <a:pt x="5439" y="2078"/>
                </a:lnTo>
                <a:lnTo>
                  <a:pt x="5446" y="2090"/>
                </a:lnTo>
                <a:lnTo>
                  <a:pt x="5454" y="2102"/>
                </a:lnTo>
                <a:lnTo>
                  <a:pt x="5462" y="2113"/>
                </a:lnTo>
                <a:lnTo>
                  <a:pt x="5472" y="2123"/>
                </a:lnTo>
                <a:lnTo>
                  <a:pt x="5480" y="2134"/>
                </a:lnTo>
                <a:lnTo>
                  <a:pt x="5491" y="2143"/>
                </a:lnTo>
                <a:lnTo>
                  <a:pt x="5500" y="2153"/>
                </a:lnTo>
                <a:lnTo>
                  <a:pt x="5511" y="2162"/>
                </a:lnTo>
                <a:lnTo>
                  <a:pt x="5521" y="2171"/>
                </a:lnTo>
                <a:lnTo>
                  <a:pt x="5532" y="2179"/>
                </a:lnTo>
                <a:lnTo>
                  <a:pt x="5544" y="2188"/>
                </a:lnTo>
                <a:lnTo>
                  <a:pt x="5567" y="2203"/>
                </a:lnTo>
                <a:lnTo>
                  <a:pt x="5592" y="2215"/>
                </a:lnTo>
                <a:lnTo>
                  <a:pt x="5619" y="2227"/>
                </a:lnTo>
                <a:lnTo>
                  <a:pt x="5646" y="2238"/>
                </a:lnTo>
                <a:lnTo>
                  <a:pt x="5676" y="2246"/>
                </a:lnTo>
                <a:lnTo>
                  <a:pt x="5707" y="2252"/>
                </a:lnTo>
                <a:lnTo>
                  <a:pt x="5737" y="2259"/>
                </a:lnTo>
                <a:lnTo>
                  <a:pt x="5770" y="2262"/>
                </a:lnTo>
                <a:lnTo>
                  <a:pt x="5804" y="2264"/>
                </a:lnTo>
                <a:lnTo>
                  <a:pt x="5840" y="2265"/>
                </a:lnTo>
                <a:lnTo>
                  <a:pt x="5841" y="2265"/>
                </a:lnTo>
                <a:lnTo>
                  <a:pt x="5853" y="2265"/>
                </a:lnTo>
                <a:lnTo>
                  <a:pt x="5885" y="2265"/>
                </a:lnTo>
                <a:lnTo>
                  <a:pt x="5935" y="2265"/>
                </a:lnTo>
                <a:lnTo>
                  <a:pt x="6001" y="2265"/>
                </a:lnTo>
                <a:lnTo>
                  <a:pt x="6078" y="2265"/>
                </a:lnTo>
                <a:lnTo>
                  <a:pt x="6165" y="2265"/>
                </a:lnTo>
                <a:lnTo>
                  <a:pt x="6257" y="2265"/>
                </a:lnTo>
                <a:lnTo>
                  <a:pt x="6353" y="2265"/>
                </a:lnTo>
                <a:lnTo>
                  <a:pt x="6448" y="2265"/>
                </a:lnTo>
                <a:lnTo>
                  <a:pt x="6540" y="2265"/>
                </a:lnTo>
                <a:lnTo>
                  <a:pt x="6627" y="2265"/>
                </a:lnTo>
                <a:lnTo>
                  <a:pt x="6704" y="2265"/>
                </a:lnTo>
                <a:lnTo>
                  <a:pt x="6770" y="2265"/>
                </a:lnTo>
                <a:lnTo>
                  <a:pt x="6820" y="2265"/>
                </a:lnTo>
                <a:lnTo>
                  <a:pt x="6852" y="2265"/>
                </a:lnTo>
                <a:lnTo>
                  <a:pt x="6864" y="2265"/>
                </a:lnTo>
                <a:lnTo>
                  <a:pt x="6864" y="2240"/>
                </a:lnTo>
                <a:lnTo>
                  <a:pt x="6864" y="2168"/>
                </a:lnTo>
                <a:lnTo>
                  <a:pt x="6864" y="2056"/>
                </a:lnTo>
                <a:lnTo>
                  <a:pt x="6864" y="1911"/>
                </a:lnTo>
                <a:lnTo>
                  <a:pt x="6864" y="1740"/>
                </a:lnTo>
                <a:lnTo>
                  <a:pt x="6864" y="1549"/>
                </a:lnTo>
                <a:lnTo>
                  <a:pt x="6864" y="1343"/>
                </a:lnTo>
                <a:lnTo>
                  <a:pt x="6864" y="1133"/>
                </a:lnTo>
                <a:lnTo>
                  <a:pt x="6864" y="922"/>
                </a:lnTo>
                <a:lnTo>
                  <a:pt x="6864" y="717"/>
                </a:lnTo>
                <a:lnTo>
                  <a:pt x="6864" y="526"/>
                </a:lnTo>
                <a:lnTo>
                  <a:pt x="6864" y="354"/>
                </a:lnTo>
                <a:lnTo>
                  <a:pt x="6864" y="209"/>
                </a:lnTo>
                <a:lnTo>
                  <a:pt x="6864" y="97"/>
                </a:lnTo>
                <a:lnTo>
                  <a:pt x="6864" y="25"/>
                </a:lnTo>
                <a:lnTo>
                  <a:pt x="6864" y="0"/>
                </a:lnTo>
                <a:lnTo>
                  <a:pt x="6854" y="0"/>
                </a:lnTo>
                <a:lnTo>
                  <a:pt x="6827" y="0"/>
                </a:lnTo>
                <a:lnTo>
                  <a:pt x="6786" y="0"/>
                </a:lnTo>
                <a:lnTo>
                  <a:pt x="6735" y="0"/>
                </a:lnTo>
                <a:lnTo>
                  <a:pt x="6679" y="0"/>
                </a:lnTo>
                <a:lnTo>
                  <a:pt x="6619" y="0"/>
                </a:lnTo>
                <a:lnTo>
                  <a:pt x="6561" y="0"/>
                </a:lnTo>
                <a:lnTo>
                  <a:pt x="6508" y="0"/>
                </a:lnTo>
                <a:lnTo>
                  <a:pt x="6495" y="1"/>
                </a:lnTo>
                <a:lnTo>
                  <a:pt x="6484" y="2"/>
                </a:lnTo>
                <a:lnTo>
                  <a:pt x="6473" y="3"/>
                </a:lnTo>
                <a:lnTo>
                  <a:pt x="6463" y="5"/>
                </a:lnTo>
                <a:lnTo>
                  <a:pt x="6453" y="8"/>
                </a:lnTo>
                <a:lnTo>
                  <a:pt x="6444" y="12"/>
                </a:lnTo>
                <a:lnTo>
                  <a:pt x="6435" y="16"/>
                </a:lnTo>
                <a:lnTo>
                  <a:pt x="6428" y="19"/>
                </a:lnTo>
                <a:lnTo>
                  <a:pt x="6420" y="24"/>
                </a:lnTo>
                <a:lnTo>
                  <a:pt x="6414" y="29"/>
                </a:lnTo>
                <a:lnTo>
                  <a:pt x="6409" y="34"/>
                </a:lnTo>
                <a:lnTo>
                  <a:pt x="6403" y="39"/>
                </a:lnTo>
                <a:lnTo>
                  <a:pt x="6394" y="51"/>
                </a:lnTo>
                <a:lnTo>
                  <a:pt x="6386" y="61"/>
                </a:lnTo>
                <a:lnTo>
                  <a:pt x="6380" y="73"/>
                </a:lnTo>
                <a:lnTo>
                  <a:pt x="6376" y="85"/>
                </a:lnTo>
                <a:lnTo>
                  <a:pt x="6373" y="95"/>
                </a:lnTo>
                <a:lnTo>
                  <a:pt x="6370" y="104"/>
                </a:lnTo>
                <a:lnTo>
                  <a:pt x="6369" y="119"/>
                </a:lnTo>
                <a:lnTo>
                  <a:pt x="6368" y="124"/>
                </a:lnTo>
                <a:close/>
                <a:moveTo>
                  <a:pt x="4910" y="699"/>
                </a:moveTo>
                <a:lnTo>
                  <a:pt x="4894" y="689"/>
                </a:lnTo>
                <a:lnTo>
                  <a:pt x="4876" y="679"/>
                </a:lnTo>
                <a:lnTo>
                  <a:pt x="4859" y="671"/>
                </a:lnTo>
                <a:lnTo>
                  <a:pt x="4842" y="663"/>
                </a:lnTo>
                <a:lnTo>
                  <a:pt x="4826" y="657"/>
                </a:lnTo>
                <a:lnTo>
                  <a:pt x="4809" y="652"/>
                </a:lnTo>
                <a:lnTo>
                  <a:pt x="4793" y="647"/>
                </a:lnTo>
                <a:lnTo>
                  <a:pt x="4777" y="643"/>
                </a:lnTo>
                <a:lnTo>
                  <a:pt x="4746" y="638"/>
                </a:lnTo>
                <a:lnTo>
                  <a:pt x="4720" y="635"/>
                </a:lnTo>
                <a:lnTo>
                  <a:pt x="4696" y="634"/>
                </a:lnTo>
                <a:lnTo>
                  <a:pt x="4674" y="633"/>
                </a:lnTo>
                <a:lnTo>
                  <a:pt x="4660" y="633"/>
                </a:lnTo>
                <a:lnTo>
                  <a:pt x="4623" y="633"/>
                </a:lnTo>
                <a:lnTo>
                  <a:pt x="4566" y="633"/>
                </a:lnTo>
                <a:lnTo>
                  <a:pt x="4494" y="633"/>
                </a:lnTo>
                <a:lnTo>
                  <a:pt x="4410" y="633"/>
                </a:lnTo>
                <a:lnTo>
                  <a:pt x="4317" y="633"/>
                </a:lnTo>
                <a:lnTo>
                  <a:pt x="4217" y="633"/>
                </a:lnTo>
                <a:lnTo>
                  <a:pt x="4113" y="633"/>
                </a:lnTo>
                <a:lnTo>
                  <a:pt x="4011" y="633"/>
                </a:lnTo>
                <a:lnTo>
                  <a:pt x="3911" y="633"/>
                </a:lnTo>
                <a:lnTo>
                  <a:pt x="3819" y="633"/>
                </a:lnTo>
                <a:lnTo>
                  <a:pt x="3735" y="633"/>
                </a:lnTo>
                <a:lnTo>
                  <a:pt x="3665" y="633"/>
                </a:lnTo>
                <a:lnTo>
                  <a:pt x="3611" y="633"/>
                </a:lnTo>
                <a:lnTo>
                  <a:pt x="3576" y="633"/>
                </a:lnTo>
                <a:lnTo>
                  <a:pt x="3564" y="633"/>
                </a:lnTo>
                <a:lnTo>
                  <a:pt x="3564" y="651"/>
                </a:lnTo>
                <a:lnTo>
                  <a:pt x="3564" y="702"/>
                </a:lnTo>
                <a:lnTo>
                  <a:pt x="3564" y="783"/>
                </a:lnTo>
                <a:lnTo>
                  <a:pt x="3564" y="888"/>
                </a:lnTo>
                <a:lnTo>
                  <a:pt x="3564" y="1011"/>
                </a:lnTo>
                <a:lnTo>
                  <a:pt x="3564" y="1150"/>
                </a:lnTo>
                <a:lnTo>
                  <a:pt x="3564" y="1297"/>
                </a:lnTo>
                <a:lnTo>
                  <a:pt x="3564" y="1448"/>
                </a:lnTo>
                <a:lnTo>
                  <a:pt x="3564" y="1601"/>
                </a:lnTo>
                <a:lnTo>
                  <a:pt x="3564" y="1748"/>
                </a:lnTo>
                <a:lnTo>
                  <a:pt x="3564" y="1887"/>
                </a:lnTo>
                <a:lnTo>
                  <a:pt x="3564" y="2010"/>
                </a:lnTo>
                <a:lnTo>
                  <a:pt x="3564" y="2115"/>
                </a:lnTo>
                <a:lnTo>
                  <a:pt x="3564" y="2195"/>
                </a:lnTo>
                <a:lnTo>
                  <a:pt x="3564" y="2247"/>
                </a:lnTo>
                <a:lnTo>
                  <a:pt x="3564" y="2265"/>
                </a:lnTo>
                <a:lnTo>
                  <a:pt x="3586" y="2265"/>
                </a:lnTo>
                <a:lnTo>
                  <a:pt x="3643" y="2265"/>
                </a:lnTo>
                <a:lnTo>
                  <a:pt x="3726" y="2265"/>
                </a:lnTo>
                <a:lnTo>
                  <a:pt x="3819" y="2265"/>
                </a:lnTo>
                <a:lnTo>
                  <a:pt x="3913" y="2265"/>
                </a:lnTo>
                <a:lnTo>
                  <a:pt x="3995" y="2265"/>
                </a:lnTo>
                <a:lnTo>
                  <a:pt x="4053" y="2265"/>
                </a:lnTo>
                <a:lnTo>
                  <a:pt x="4074" y="2265"/>
                </a:lnTo>
                <a:lnTo>
                  <a:pt x="4074" y="2250"/>
                </a:lnTo>
                <a:lnTo>
                  <a:pt x="4074" y="2208"/>
                </a:lnTo>
                <a:lnTo>
                  <a:pt x="4074" y="2142"/>
                </a:lnTo>
                <a:lnTo>
                  <a:pt x="4074" y="2058"/>
                </a:lnTo>
                <a:lnTo>
                  <a:pt x="4074" y="1957"/>
                </a:lnTo>
                <a:lnTo>
                  <a:pt x="4074" y="1845"/>
                </a:lnTo>
                <a:lnTo>
                  <a:pt x="4074" y="1725"/>
                </a:lnTo>
                <a:lnTo>
                  <a:pt x="4074" y="1601"/>
                </a:lnTo>
                <a:lnTo>
                  <a:pt x="4074" y="1477"/>
                </a:lnTo>
                <a:lnTo>
                  <a:pt x="4074" y="1356"/>
                </a:lnTo>
                <a:lnTo>
                  <a:pt x="4074" y="1244"/>
                </a:lnTo>
                <a:lnTo>
                  <a:pt x="4074" y="1143"/>
                </a:lnTo>
                <a:lnTo>
                  <a:pt x="4074" y="1058"/>
                </a:lnTo>
                <a:lnTo>
                  <a:pt x="4074" y="993"/>
                </a:lnTo>
                <a:lnTo>
                  <a:pt x="4074" y="950"/>
                </a:lnTo>
                <a:lnTo>
                  <a:pt x="4074" y="936"/>
                </a:lnTo>
                <a:lnTo>
                  <a:pt x="4089" y="936"/>
                </a:lnTo>
                <a:lnTo>
                  <a:pt x="4128" y="936"/>
                </a:lnTo>
                <a:lnTo>
                  <a:pt x="4183" y="936"/>
                </a:lnTo>
                <a:lnTo>
                  <a:pt x="4246" y="936"/>
                </a:lnTo>
                <a:lnTo>
                  <a:pt x="4309" y="936"/>
                </a:lnTo>
                <a:lnTo>
                  <a:pt x="4364" y="936"/>
                </a:lnTo>
                <a:lnTo>
                  <a:pt x="4403" y="936"/>
                </a:lnTo>
                <a:lnTo>
                  <a:pt x="4418" y="936"/>
                </a:lnTo>
                <a:lnTo>
                  <a:pt x="4432" y="937"/>
                </a:lnTo>
                <a:lnTo>
                  <a:pt x="4445" y="938"/>
                </a:lnTo>
                <a:lnTo>
                  <a:pt x="4457" y="940"/>
                </a:lnTo>
                <a:lnTo>
                  <a:pt x="4468" y="942"/>
                </a:lnTo>
                <a:lnTo>
                  <a:pt x="4479" y="945"/>
                </a:lnTo>
                <a:lnTo>
                  <a:pt x="4488" y="948"/>
                </a:lnTo>
                <a:lnTo>
                  <a:pt x="4498" y="952"/>
                </a:lnTo>
                <a:lnTo>
                  <a:pt x="4505" y="957"/>
                </a:lnTo>
                <a:lnTo>
                  <a:pt x="4512" y="962"/>
                </a:lnTo>
                <a:lnTo>
                  <a:pt x="4520" y="967"/>
                </a:lnTo>
                <a:lnTo>
                  <a:pt x="4526" y="974"/>
                </a:lnTo>
                <a:lnTo>
                  <a:pt x="4533" y="980"/>
                </a:lnTo>
                <a:lnTo>
                  <a:pt x="4543" y="993"/>
                </a:lnTo>
                <a:lnTo>
                  <a:pt x="4552" y="1008"/>
                </a:lnTo>
                <a:lnTo>
                  <a:pt x="4559" y="1022"/>
                </a:lnTo>
                <a:lnTo>
                  <a:pt x="4565" y="1038"/>
                </a:lnTo>
                <a:lnTo>
                  <a:pt x="4570" y="1054"/>
                </a:lnTo>
                <a:lnTo>
                  <a:pt x="4573" y="1069"/>
                </a:lnTo>
                <a:lnTo>
                  <a:pt x="4575" y="1085"/>
                </a:lnTo>
                <a:lnTo>
                  <a:pt x="4577" y="1099"/>
                </a:lnTo>
                <a:lnTo>
                  <a:pt x="4577" y="1111"/>
                </a:lnTo>
                <a:lnTo>
                  <a:pt x="4578" y="1122"/>
                </a:lnTo>
                <a:lnTo>
                  <a:pt x="4578" y="1135"/>
                </a:lnTo>
                <a:lnTo>
                  <a:pt x="4577" y="1171"/>
                </a:lnTo>
                <a:lnTo>
                  <a:pt x="4577" y="1227"/>
                </a:lnTo>
                <a:lnTo>
                  <a:pt x="4577" y="1300"/>
                </a:lnTo>
                <a:lnTo>
                  <a:pt x="4577" y="1387"/>
                </a:lnTo>
                <a:lnTo>
                  <a:pt x="4577" y="1483"/>
                </a:lnTo>
                <a:lnTo>
                  <a:pt x="4577" y="1587"/>
                </a:lnTo>
                <a:lnTo>
                  <a:pt x="4577" y="1693"/>
                </a:lnTo>
                <a:lnTo>
                  <a:pt x="4577" y="1800"/>
                </a:lnTo>
                <a:lnTo>
                  <a:pt x="4577" y="1904"/>
                </a:lnTo>
                <a:lnTo>
                  <a:pt x="4577" y="2000"/>
                </a:lnTo>
                <a:lnTo>
                  <a:pt x="4577" y="2086"/>
                </a:lnTo>
                <a:lnTo>
                  <a:pt x="4577" y="2159"/>
                </a:lnTo>
                <a:lnTo>
                  <a:pt x="4577" y="2216"/>
                </a:lnTo>
                <a:lnTo>
                  <a:pt x="4577" y="2252"/>
                </a:lnTo>
                <a:lnTo>
                  <a:pt x="4577" y="2265"/>
                </a:lnTo>
                <a:lnTo>
                  <a:pt x="4598" y="2265"/>
                </a:lnTo>
                <a:lnTo>
                  <a:pt x="4655" y="2265"/>
                </a:lnTo>
                <a:lnTo>
                  <a:pt x="4736" y="2265"/>
                </a:lnTo>
                <a:lnTo>
                  <a:pt x="4827" y="2265"/>
                </a:lnTo>
                <a:lnTo>
                  <a:pt x="4919" y="2265"/>
                </a:lnTo>
                <a:lnTo>
                  <a:pt x="4999" y="2265"/>
                </a:lnTo>
                <a:lnTo>
                  <a:pt x="5056" y="2265"/>
                </a:lnTo>
                <a:lnTo>
                  <a:pt x="5078" y="2265"/>
                </a:lnTo>
                <a:lnTo>
                  <a:pt x="5078" y="2251"/>
                </a:lnTo>
                <a:lnTo>
                  <a:pt x="5078" y="2214"/>
                </a:lnTo>
                <a:lnTo>
                  <a:pt x="5078" y="2155"/>
                </a:lnTo>
                <a:lnTo>
                  <a:pt x="5078" y="2079"/>
                </a:lnTo>
                <a:lnTo>
                  <a:pt x="5078" y="1989"/>
                </a:lnTo>
                <a:lnTo>
                  <a:pt x="5078" y="1888"/>
                </a:lnTo>
                <a:lnTo>
                  <a:pt x="5078" y="1780"/>
                </a:lnTo>
                <a:lnTo>
                  <a:pt x="5078" y="1670"/>
                </a:lnTo>
                <a:lnTo>
                  <a:pt x="5078" y="1559"/>
                </a:lnTo>
                <a:lnTo>
                  <a:pt x="5078" y="1450"/>
                </a:lnTo>
                <a:lnTo>
                  <a:pt x="5078" y="1350"/>
                </a:lnTo>
                <a:lnTo>
                  <a:pt x="5078" y="1260"/>
                </a:lnTo>
                <a:lnTo>
                  <a:pt x="5078" y="1183"/>
                </a:lnTo>
                <a:lnTo>
                  <a:pt x="5078" y="1125"/>
                </a:lnTo>
                <a:lnTo>
                  <a:pt x="5078" y="1087"/>
                </a:lnTo>
                <a:lnTo>
                  <a:pt x="5078" y="1073"/>
                </a:lnTo>
                <a:lnTo>
                  <a:pt x="5078" y="1072"/>
                </a:lnTo>
                <a:lnTo>
                  <a:pt x="5077" y="1036"/>
                </a:lnTo>
                <a:lnTo>
                  <a:pt x="5075" y="1002"/>
                </a:lnTo>
                <a:lnTo>
                  <a:pt x="5070" y="969"/>
                </a:lnTo>
                <a:lnTo>
                  <a:pt x="5064" y="939"/>
                </a:lnTo>
                <a:lnTo>
                  <a:pt x="5057" y="910"/>
                </a:lnTo>
                <a:lnTo>
                  <a:pt x="5048" y="884"/>
                </a:lnTo>
                <a:lnTo>
                  <a:pt x="5039" y="858"/>
                </a:lnTo>
                <a:lnTo>
                  <a:pt x="5028" y="834"/>
                </a:lnTo>
                <a:lnTo>
                  <a:pt x="5016" y="813"/>
                </a:lnTo>
                <a:lnTo>
                  <a:pt x="5004" y="791"/>
                </a:lnTo>
                <a:lnTo>
                  <a:pt x="4989" y="772"/>
                </a:lnTo>
                <a:lnTo>
                  <a:pt x="4975" y="755"/>
                </a:lnTo>
                <a:lnTo>
                  <a:pt x="4959" y="740"/>
                </a:lnTo>
                <a:lnTo>
                  <a:pt x="4943" y="725"/>
                </a:lnTo>
                <a:lnTo>
                  <a:pt x="4927" y="711"/>
                </a:lnTo>
                <a:lnTo>
                  <a:pt x="4910" y="699"/>
                </a:lnTo>
                <a:close/>
                <a:moveTo>
                  <a:pt x="2339" y="699"/>
                </a:moveTo>
                <a:lnTo>
                  <a:pt x="2322" y="689"/>
                </a:lnTo>
                <a:lnTo>
                  <a:pt x="2305" y="679"/>
                </a:lnTo>
                <a:lnTo>
                  <a:pt x="2288" y="671"/>
                </a:lnTo>
                <a:lnTo>
                  <a:pt x="2271" y="663"/>
                </a:lnTo>
                <a:lnTo>
                  <a:pt x="2254" y="657"/>
                </a:lnTo>
                <a:lnTo>
                  <a:pt x="2237" y="652"/>
                </a:lnTo>
                <a:lnTo>
                  <a:pt x="2221" y="647"/>
                </a:lnTo>
                <a:lnTo>
                  <a:pt x="2205" y="643"/>
                </a:lnTo>
                <a:lnTo>
                  <a:pt x="2176" y="638"/>
                </a:lnTo>
                <a:lnTo>
                  <a:pt x="2148" y="635"/>
                </a:lnTo>
                <a:lnTo>
                  <a:pt x="2124" y="634"/>
                </a:lnTo>
                <a:lnTo>
                  <a:pt x="2103" y="633"/>
                </a:lnTo>
                <a:lnTo>
                  <a:pt x="2079" y="633"/>
                </a:lnTo>
                <a:lnTo>
                  <a:pt x="2013" y="633"/>
                </a:lnTo>
                <a:lnTo>
                  <a:pt x="1909" y="633"/>
                </a:lnTo>
                <a:lnTo>
                  <a:pt x="1774" y="633"/>
                </a:lnTo>
                <a:lnTo>
                  <a:pt x="1616" y="633"/>
                </a:lnTo>
                <a:lnTo>
                  <a:pt x="1438" y="633"/>
                </a:lnTo>
                <a:lnTo>
                  <a:pt x="1247" y="633"/>
                </a:lnTo>
                <a:lnTo>
                  <a:pt x="1051" y="633"/>
                </a:lnTo>
                <a:lnTo>
                  <a:pt x="855" y="633"/>
                </a:lnTo>
                <a:lnTo>
                  <a:pt x="666" y="633"/>
                </a:lnTo>
                <a:lnTo>
                  <a:pt x="488" y="633"/>
                </a:lnTo>
                <a:lnTo>
                  <a:pt x="328" y="633"/>
                </a:lnTo>
                <a:lnTo>
                  <a:pt x="194" y="633"/>
                </a:lnTo>
                <a:lnTo>
                  <a:pt x="91" y="633"/>
                </a:lnTo>
                <a:lnTo>
                  <a:pt x="23" y="633"/>
                </a:lnTo>
                <a:lnTo>
                  <a:pt x="0" y="633"/>
                </a:lnTo>
                <a:lnTo>
                  <a:pt x="0" y="651"/>
                </a:lnTo>
                <a:lnTo>
                  <a:pt x="0" y="702"/>
                </a:lnTo>
                <a:lnTo>
                  <a:pt x="0" y="783"/>
                </a:lnTo>
                <a:lnTo>
                  <a:pt x="0" y="888"/>
                </a:lnTo>
                <a:lnTo>
                  <a:pt x="0" y="1011"/>
                </a:lnTo>
                <a:lnTo>
                  <a:pt x="0" y="1148"/>
                </a:lnTo>
                <a:lnTo>
                  <a:pt x="0" y="1297"/>
                </a:lnTo>
                <a:lnTo>
                  <a:pt x="0" y="1448"/>
                </a:lnTo>
                <a:lnTo>
                  <a:pt x="0" y="1601"/>
                </a:lnTo>
                <a:lnTo>
                  <a:pt x="0" y="1748"/>
                </a:lnTo>
                <a:lnTo>
                  <a:pt x="0" y="1886"/>
                </a:lnTo>
                <a:lnTo>
                  <a:pt x="0" y="2010"/>
                </a:lnTo>
                <a:lnTo>
                  <a:pt x="0" y="2114"/>
                </a:lnTo>
                <a:lnTo>
                  <a:pt x="0" y="2194"/>
                </a:lnTo>
                <a:lnTo>
                  <a:pt x="0" y="2246"/>
                </a:lnTo>
                <a:lnTo>
                  <a:pt x="0" y="2264"/>
                </a:lnTo>
                <a:lnTo>
                  <a:pt x="21" y="2264"/>
                </a:lnTo>
                <a:lnTo>
                  <a:pt x="78" y="2264"/>
                </a:lnTo>
                <a:lnTo>
                  <a:pt x="158" y="2264"/>
                </a:lnTo>
                <a:lnTo>
                  <a:pt x="250" y="2264"/>
                </a:lnTo>
                <a:lnTo>
                  <a:pt x="341" y="2264"/>
                </a:lnTo>
                <a:lnTo>
                  <a:pt x="421" y="2264"/>
                </a:lnTo>
                <a:lnTo>
                  <a:pt x="477" y="2264"/>
                </a:lnTo>
                <a:lnTo>
                  <a:pt x="500" y="2264"/>
                </a:lnTo>
                <a:lnTo>
                  <a:pt x="500" y="2249"/>
                </a:lnTo>
                <a:lnTo>
                  <a:pt x="500" y="2207"/>
                </a:lnTo>
                <a:lnTo>
                  <a:pt x="500" y="2142"/>
                </a:lnTo>
                <a:lnTo>
                  <a:pt x="500" y="2056"/>
                </a:lnTo>
                <a:lnTo>
                  <a:pt x="500" y="1956"/>
                </a:lnTo>
                <a:lnTo>
                  <a:pt x="500" y="1844"/>
                </a:lnTo>
                <a:lnTo>
                  <a:pt x="500" y="1724"/>
                </a:lnTo>
                <a:lnTo>
                  <a:pt x="500" y="1600"/>
                </a:lnTo>
                <a:lnTo>
                  <a:pt x="500" y="1476"/>
                </a:lnTo>
                <a:lnTo>
                  <a:pt x="500" y="1356"/>
                </a:lnTo>
                <a:lnTo>
                  <a:pt x="500" y="1244"/>
                </a:lnTo>
                <a:lnTo>
                  <a:pt x="500" y="1143"/>
                </a:lnTo>
                <a:lnTo>
                  <a:pt x="500" y="1057"/>
                </a:lnTo>
                <a:lnTo>
                  <a:pt x="500" y="993"/>
                </a:lnTo>
                <a:lnTo>
                  <a:pt x="500" y="950"/>
                </a:lnTo>
                <a:lnTo>
                  <a:pt x="500" y="936"/>
                </a:lnTo>
                <a:lnTo>
                  <a:pt x="515" y="936"/>
                </a:lnTo>
                <a:lnTo>
                  <a:pt x="553" y="936"/>
                </a:lnTo>
                <a:lnTo>
                  <a:pt x="608" y="936"/>
                </a:lnTo>
                <a:lnTo>
                  <a:pt x="671" y="936"/>
                </a:lnTo>
                <a:lnTo>
                  <a:pt x="734" y="936"/>
                </a:lnTo>
                <a:lnTo>
                  <a:pt x="789" y="936"/>
                </a:lnTo>
                <a:lnTo>
                  <a:pt x="828" y="936"/>
                </a:lnTo>
                <a:lnTo>
                  <a:pt x="843" y="936"/>
                </a:lnTo>
                <a:lnTo>
                  <a:pt x="857" y="936"/>
                </a:lnTo>
                <a:lnTo>
                  <a:pt x="870" y="937"/>
                </a:lnTo>
                <a:lnTo>
                  <a:pt x="882" y="939"/>
                </a:lnTo>
                <a:lnTo>
                  <a:pt x="894" y="941"/>
                </a:lnTo>
                <a:lnTo>
                  <a:pt x="904" y="944"/>
                </a:lnTo>
                <a:lnTo>
                  <a:pt x="914" y="948"/>
                </a:lnTo>
                <a:lnTo>
                  <a:pt x="922" y="952"/>
                </a:lnTo>
                <a:lnTo>
                  <a:pt x="931" y="957"/>
                </a:lnTo>
                <a:lnTo>
                  <a:pt x="938" y="962"/>
                </a:lnTo>
                <a:lnTo>
                  <a:pt x="944" y="967"/>
                </a:lnTo>
                <a:lnTo>
                  <a:pt x="951" y="974"/>
                </a:lnTo>
                <a:lnTo>
                  <a:pt x="957" y="979"/>
                </a:lnTo>
                <a:lnTo>
                  <a:pt x="968" y="993"/>
                </a:lnTo>
                <a:lnTo>
                  <a:pt x="976" y="1008"/>
                </a:lnTo>
                <a:lnTo>
                  <a:pt x="984" y="1022"/>
                </a:lnTo>
                <a:lnTo>
                  <a:pt x="990" y="1038"/>
                </a:lnTo>
                <a:lnTo>
                  <a:pt x="994" y="1054"/>
                </a:lnTo>
                <a:lnTo>
                  <a:pt x="997" y="1069"/>
                </a:lnTo>
                <a:lnTo>
                  <a:pt x="1001" y="1085"/>
                </a:lnTo>
                <a:lnTo>
                  <a:pt x="1002" y="1099"/>
                </a:lnTo>
                <a:lnTo>
                  <a:pt x="1003" y="1111"/>
                </a:lnTo>
                <a:lnTo>
                  <a:pt x="1003" y="1122"/>
                </a:lnTo>
                <a:lnTo>
                  <a:pt x="1003" y="1123"/>
                </a:lnTo>
                <a:lnTo>
                  <a:pt x="1003" y="1138"/>
                </a:lnTo>
                <a:lnTo>
                  <a:pt x="1003" y="1175"/>
                </a:lnTo>
                <a:lnTo>
                  <a:pt x="1003" y="1232"/>
                </a:lnTo>
                <a:lnTo>
                  <a:pt x="1003" y="1306"/>
                </a:lnTo>
                <a:lnTo>
                  <a:pt x="1003" y="1392"/>
                </a:lnTo>
                <a:lnTo>
                  <a:pt x="1003" y="1489"/>
                </a:lnTo>
                <a:lnTo>
                  <a:pt x="1003" y="1591"/>
                </a:lnTo>
                <a:lnTo>
                  <a:pt x="1003" y="1697"/>
                </a:lnTo>
                <a:lnTo>
                  <a:pt x="1003" y="1803"/>
                </a:lnTo>
                <a:lnTo>
                  <a:pt x="1003" y="1906"/>
                </a:lnTo>
                <a:lnTo>
                  <a:pt x="1003" y="2001"/>
                </a:lnTo>
                <a:lnTo>
                  <a:pt x="1002" y="2087"/>
                </a:lnTo>
                <a:lnTo>
                  <a:pt x="1002" y="2160"/>
                </a:lnTo>
                <a:lnTo>
                  <a:pt x="1002" y="2215"/>
                </a:lnTo>
                <a:lnTo>
                  <a:pt x="1002" y="2251"/>
                </a:lnTo>
                <a:lnTo>
                  <a:pt x="1002" y="2264"/>
                </a:lnTo>
                <a:lnTo>
                  <a:pt x="1024" y="2264"/>
                </a:lnTo>
                <a:lnTo>
                  <a:pt x="1080" y="2264"/>
                </a:lnTo>
                <a:lnTo>
                  <a:pt x="1160" y="2264"/>
                </a:lnTo>
                <a:lnTo>
                  <a:pt x="1253" y="2264"/>
                </a:lnTo>
                <a:lnTo>
                  <a:pt x="1345" y="2264"/>
                </a:lnTo>
                <a:lnTo>
                  <a:pt x="1425" y="2264"/>
                </a:lnTo>
                <a:lnTo>
                  <a:pt x="1481" y="2264"/>
                </a:lnTo>
                <a:lnTo>
                  <a:pt x="1503" y="2264"/>
                </a:lnTo>
                <a:lnTo>
                  <a:pt x="1503" y="2249"/>
                </a:lnTo>
                <a:lnTo>
                  <a:pt x="1503" y="2207"/>
                </a:lnTo>
                <a:lnTo>
                  <a:pt x="1503" y="2142"/>
                </a:lnTo>
                <a:lnTo>
                  <a:pt x="1503" y="2056"/>
                </a:lnTo>
                <a:lnTo>
                  <a:pt x="1503" y="1956"/>
                </a:lnTo>
                <a:lnTo>
                  <a:pt x="1503" y="1844"/>
                </a:lnTo>
                <a:lnTo>
                  <a:pt x="1503" y="1724"/>
                </a:lnTo>
                <a:lnTo>
                  <a:pt x="1503" y="1600"/>
                </a:lnTo>
                <a:lnTo>
                  <a:pt x="1503" y="1476"/>
                </a:lnTo>
                <a:lnTo>
                  <a:pt x="1503" y="1356"/>
                </a:lnTo>
                <a:lnTo>
                  <a:pt x="1503" y="1244"/>
                </a:lnTo>
                <a:lnTo>
                  <a:pt x="1503" y="1143"/>
                </a:lnTo>
                <a:lnTo>
                  <a:pt x="1503" y="1057"/>
                </a:lnTo>
                <a:lnTo>
                  <a:pt x="1503" y="993"/>
                </a:lnTo>
                <a:lnTo>
                  <a:pt x="1503" y="950"/>
                </a:lnTo>
                <a:lnTo>
                  <a:pt x="1503" y="936"/>
                </a:lnTo>
                <a:lnTo>
                  <a:pt x="1518" y="936"/>
                </a:lnTo>
                <a:lnTo>
                  <a:pt x="1556" y="936"/>
                </a:lnTo>
                <a:lnTo>
                  <a:pt x="1611" y="936"/>
                </a:lnTo>
                <a:lnTo>
                  <a:pt x="1675" y="936"/>
                </a:lnTo>
                <a:lnTo>
                  <a:pt x="1737" y="936"/>
                </a:lnTo>
                <a:lnTo>
                  <a:pt x="1792" y="936"/>
                </a:lnTo>
                <a:lnTo>
                  <a:pt x="1832" y="936"/>
                </a:lnTo>
                <a:lnTo>
                  <a:pt x="1846" y="936"/>
                </a:lnTo>
                <a:lnTo>
                  <a:pt x="1860" y="936"/>
                </a:lnTo>
                <a:lnTo>
                  <a:pt x="1874" y="937"/>
                </a:lnTo>
                <a:lnTo>
                  <a:pt x="1886" y="939"/>
                </a:lnTo>
                <a:lnTo>
                  <a:pt x="1897" y="941"/>
                </a:lnTo>
                <a:lnTo>
                  <a:pt x="1907" y="944"/>
                </a:lnTo>
                <a:lnTo>
                  <a:pt x="1917" y="948"/>
                </a:lnTo>
                <a:lnTo>
                  <a:pt x="1926" y="952"/>
                </a:lnTo>
                <a:lnTo>
                  <a:pt x="1934" y="957"/>
                </a:lnTo>
                <a:lnTo>
                  <a:pt x="1942" y="962"/>
                </a:lnTo>
                <a:lnTo>
                  <a:pt x="1948" y="967"/>
                </a:lnTo>
                <a:lnTo>
                  <a:pt x="1954" y="974"/>
                </a:lnTo>
                <a:lnTo>
                  <a:pt x="1961" y="979"/>
                </a:lnTo>
                <a:lnTo>
                  <a:pt x="1971" y="993"/>
                </a:lnTo>
                <a:lnTo>
                  <a:pt x="1980" y="1008"/>
                </a:lnTo>
                <a:lnTo>
                  <a:pt x="1987" y="1022"/>
                </a:lnTo>
                <a:lnTo>
                  <a:pt x="1994" y="1038"/>
                </a:lnTo>
                <a:lnTo>
                  <a:pt x="1998" y="1054"/>
                </a:lnTo>
                <a:lnTo>
                  <a:pt x="2001" y="1069"/>
                </a:lnTo>
                <a:lnTo>
                  <a:pt x="2003" y="1085"/>
                </a:lnTo>
                <a:lnTo>
                  <a:pt x="2005" y="1099"/>
                </a:lnTo>
                <a:lnTo>
                  <a:pt x="2006" y="1111"/>
                </a:lnTo>
                <a:lnTo>
                  <a:pt x="2006" y="1122"/>
                </a:lnTo>
                <a:lnTo>
                  <a:pt x="2006" y="1123"/>
                </a:lnTo>
                <a:lnTo>
                  <a:pt x="2006" y="1138"/>
                </a:lnTo>
                <a:lnTo>
                  <a:pt x="2006" y="1175"/>
                </a:lnTo>
                <a:lnTo>
                  <a:pt x="2006" y="1232"/>
                </a:lnTo>
                <a:lnTo>
                  <a:pt x="2006" y="1306"/>
                </a:lnTo>
                <a:lnTo>
                  <a:pt x="2006" y="1393"/>
                </a:lnTo>
                <a:lnTo>
                  <a:pt x="2006" y="1490"/>
                </a:lnTo>
                <a:lnTo>
                  <a:pt x="2005" y="1592"/>
                </a:lnTo>
                <a:lnTo>
                  <a:pt x="2005" y="1698"/>
                </a:lnTo>
                <a:lnTo>
                  <a:pt x="2005" y="1804"/>
                </a:lnTo>
                <a:lnTo>
                  <a:pt x="2005" y="1907"/>
                </a:lnTo>
                <a:lnTo>
                  <a:pt x="2005" y="2002"/>
                </a:lnTo>
                <a:lnTo>
                  <a:pt x="2005" y="2088"/>
                </a:lnTo>
                <a:lnTo>
                  <a:pt x="2005" y="2160"/>
                </a:lnTo>
                <a:lnTo>
                  <a:pt x="2005" y="2216"/>
                </a:lnTo>
                <a:lnTo>
                  <a:pt x="2005" y="2252"/>
                </a:lnTo>
                <a:lnTo>
                  <a:pt x="2005" y="2265"/>
                </a:lnTo>
                <a:lnTo>
                  <a:pt x="2028" y="2265"/>
                </a:lnTo>
                <a:lnTo>
                  <a:pt x="2084" y="2265"/>
                </a:lnTo>
                <a:lnTo>
                  <a:pt x="2164" y="2265"/>
                </a:lnTo>
                <a:lnTo>
                  <a:pt x="2256" y="2265"/>
                </a:lnTo>
                <a:lnTo>
                  <a:pt x="2347" y="2265"/>
                </a:lnTo>
                <a:lnTo>
                  <a:pt x="2428" y="2265"/>
                </a:lnTo>
                <a:lnTo>
                  <a:pt x="2485" y="2265"/>
                </a:lnTo>
                <a:lnTo>
                  <a:pt x="2506" y="2265"/>
                </a:lnTo>
                <a:lnTo>
                  <a:pt x="2506" y="2251"/>
                </a:lnTo>
                <a:lnTo>
                  <a:pt x="2506" y="2214"/>
                </a:lnTo>
                <a:lnTo>
                  <a:pt x="2506" y="2155"/>
                </a:lnTo>
                <a:lnTo>
                  <a:pt x="2506" y="2079"/>
                </a:lnTo>
                <a:lnTo>
                  <a:pt x="2506" y="1989"/>
                </a:lnTo>
                <a:lnTo>
                  <a:pt x="2506" y="1888"/>
                </a:lnTo>
                <a:lnTo>
                  <a:pt x="2506" y="1780"/>
                </a:lnTo>
                <a:lnTo>
                  <a:pt x="2506" y="1669"/>
                </a:lnTo>
                <a:lnTo>
                  <a:pt x="2506" y="1557"/>
                </a:lnTo>
                <a:lnTo>
                  <a:pt x="2506" y="1449"/>
                </a:lnTo>
                <a:lnTo>
                  <a:pt x="2506" y="1349"/>
                </a:lnTo>
                <a:lnTo>
                  <a:pt x="2506" y="1259"/>
                </a:lnTo>
                <a:lnTo>
                  <a:pt x="2506" y="1182"/>
                </a:lnTo>
                <a:lnTo>
                  <a:pt x="2506" y="1124"/>
                </a:lnTo>
                <a:lnTo>
                  <a:pt x="2506" y="1086"/>
                </a:lnTo>
                <a:lnTo>
                  <a:pt x="2506" y="1072"/>
                </a:lnTo>
                <a:lnTo>
                  <a:pt x="2505" y="1036"/>
                </a:lnTo>
                <a:lnTo>
                  <a:pt x="2503" y="1002"/>
                </a:lnTo>
                <a:lnTo>
                  <a:pt x="2499" y="969"/>
                </a:lnTo>
                <a:lnTo>
                  <a:pt x="2492" y="939"/>
                </a:lnTo>
                <a:lnTo>
                  <a:pt x="2486" y="910"/>
                </a:lnTo>
                <a:lnTo>
                  <a:pt x="2477" y="884"/>
                </a:lnTo>
                <a:lnTo>
                  <a:pt x="2468" y="858"/>
                </a:lnTo>
                <a:lnTo>
                  <a:pt x="2456" y="834"/>
                </a:lnTo>
                <a:lnTo>
                  <a:pt x="2445" y="813"/>
                </a:lnTo>
                <a:lnTo>
                  <a:pt x="2432" y="791"/>
                </a:lnTo>
                <a:lnTo>
                  <a:pt x="2418" y="772"/>
                </a:lnTo>
                <a:lnTo>
                  <a:pt x="2403" y="755"/>
                </a:lnTo>
                <a:lnTo>
                  <a:pt x="2387" y="740"/>
                </a:lnTo>
                <a:lnTo>
                  <a:pt x="2372" y="725"/>
                </a:lnTo>
                <a:lnTo>
                  <a:pt x="2356" y="711"/>
                </a:lnTo>
                <a:lnTo>
                  <a:pt x="2339" y="699"/>
                </a:lnTo>
                <a:close/>
                <a:moveTo>
                  <a:pt x="8041" y="631"/>
                </a:moveTo>
                <a:lnTo>
                  <a:pt x="8039" y="631"/>
                </a:lnTo>
                <a:lnTo>
                  <a:pt x="8037" y="631"/>
                </a:lnTo>
                <a:lnTo>
                  <a:pt x="7988" y="633"/>
                </a:lnTo>
                <a:lnTo>
                  <a:pt x="7943" y="634"/>
                </a:lnTo>
                <a:lnTo>
                  <a:pt x="7898" y="637"/>
                </a:lnTo>
                <a:lnTo>
                  <a:pt x="7857" y="640"/>
                </a:lnTo>
                <a:lnTo>
                  <a:pt x="7817" y="645"/>
                </a:lnTo>
                <a:lnTo>
                  <a:pt x="7779" y="651"/>
                </a:lnTo>
                <a:lnTo>
                  <a:pt x="7742" y="658"/>
                </a:lnTo>
                <a:lnTo>
                  <a:pt x="7708" y="665"/>
                </a:lnTo>
                <a:lnTo>
                  <a:pt x="7675" y="675"/>
                </a:lnTo>
                <a:lnTo>
                  <a:pt x="7643" y="684"/>
                </a:lnTo>
                <a:lnTo>
                  <a:pt x="7615" y="696"/>
                </a:lnTo>
                <a:lnTo>
                  <a:pt x="7586" y="708"/>
                </a:lnTo>
                <a:lnTo>
                  <a:pt x="7559" y="720"/>
                </a:lnTo>
                <a:lnTo>
                  <a:pt x="7535" y="735"/>
                </a:lnTo>
                <a:lnTo>
                  <a:pt x="7512" y="750"/>
                </a:lnTo>
                <a:lnTo>
                  <a:pt x="7490" y="767"/>
                </a:lnTo>
                <a:lnTo>
                  <a:pt x="7469" y="784"/>
                </a:lnTo>
                <a:lnTo>
                  <a:pt x="7449" y="802"/>
                </a:lnTo>
                <a:lnTo>
                  <a:pt x="7431" y="821"/>
                </a:lnTo>
                <a:lnTo>
                  <a:pt x="7414" y="842"/>
                </a:lnTo>
                <a:lnTo>
                  <a:pt x="7399" y="863"/>
                </a:lnTo>
                <a:lnTo>
                  <a:pt x="7384" y="886"/>
                </a:lnTo>
                <a:lnTo>
                  <a:pt x="7370" y="909"/>
                </a:lnTo>
                <a:lnTo>
                  <a:pt x="7357" y="933"/>
                </a:lnTo>
                <a:lnTo>
                  <a:pt x="7345" y="959"/>
                </a:lnTo>
                <a:lnTo>
                  <a:pt x="7334" y="985"/>
                </a:lnTo>
                <a:lnTo>
                  <a:pt x="7323" y="1013"/>
                </a:lnTo>
                <a:lnTo>
                  <a:pt x="7314" y="1041"/>
                </a:lnTo>
                <a:lnTo>
                  <a:pt x="7305" y="1071"/>
                </a:lnTo>
                <a:lnTo>
                  <a:pt x="7297" y="1102"/>
                </a:lnTo>
                <a:lnTo>
                  <a:pt x="7289" y="1134"/>
                </a:lnTo>
                <a:lnTo>
                  <a:pt x="7282" y="1166"/>
                </a:lnTo>
                <a:lnTo>
                  <a:pt x="7279" y="1178"/>
                </a:lnTo>
                <a:lnTo>
                  <a:pt x="7271" y="1213"/>
                </a:lnTo>
                <a:lnTo>
                  <a:pt x="7260" y="1267"/>
                </a:lnTo>
                <a:lnTo>
                  <a:pt x="7245" y="1337"/>
                </a:lnTo>
                <a:lnTo>
                  <a:pt x="7227" y="1421"/>
                </a:lnTo>
                <a:lnTo>
                  <a:pt x="7207" y="1513"/>
                </a:lnTo>
                <a:lnTo>
                  <a:pt x="7186" y="1611"/>
                </a:lnTo>
                <a:lnTo>
                  <a:pt x="7164" y="1714"/>
                </a:lnTo>
                <a:lnTo>
                  <a:pt x="7141" y="1816"/>
                </a:lnTo>
                <a:lnTo>
                  <a:pt x="7120" y="1916"/>
                </a:lnTo>
                <a:lnTo>
                  <a:pt x="7100" y="2008"/>
                </a:lnTo>
                <a:lnTo>
                  <a:pt x="7082" y="2090"/>
                </a:lnTo>
                <a:lnTo>
                  <a:pt x="7067" y="2160"/>
                </a:lnTo>
                <a:lnTo>
                  <a:pt x="7056" y="2214"/>
                </a:lnTo>
                <a:lnTo>
                  <a:pt x="7048" y="2249"/>
                </a:lnTo>
                <a:lnTo>
                  <a:pt x="7045" y="2262"/>
                </a:lnTo>
                <a:lnTo>
                  <a:pt x="7068" y="2262"/>
                </a:lnTo>
                <a:lnTo>
                  <a:pt x="7131" y="2262"/>
                </a:lnTo>
                <a:lnTo>
                  <a:pt x="7217" y="2262"/>
                </a:lnTo>
                <a:lnTo>
                  <a:pt x="7317" y="2262"/>
                </a:lnTo>
                <a:lnTo>
                  <a:pt x="7418" y="2262"/>
                </a:lnTo>
                <a:lnTo>
                  <a:pt x="7504" y="2262"/>
                </a:lnTo>
                <a:lnTo>
                  <a:pt x="7566" y="2262"/>
                </a:lnTo>
                <a:lnTo>
                  <a:pt x="7589" y="2262"/>
                </a:lnTo>
                <a:lnTo>
                  <a:pt x="7591" y="2250"/>
                </a:lnTo>
                <a:lnTo>
                  <a:pt x="7599" y="2218"/>
                </a:lnTo>
                <a:lnTo>
                  <a:pt x="7609" y="2168"/>
                </a:lnTo>
                <a:lnTo>
                  <a:pt x="7624" y="2102"/>
                </a:lnTo>
                <a:lnTo>
                  <a:pt x="7641" y="2024"/>
                </a:lnTo>
                <a:lnTo>
                  <a:pt x="7659" y="1937"/>
                </a:lnTo>
                <a:lnTo>
                  <a:pt x="7679" y="1845"/>
                </a:lnTo>
                <a:lnTo>
                  <a:pt x="7700" y="1749"/>
                </a:lnTo>
                <a:lnTo>
                  <a:pt x="7720" y="1653"/>
                </a:lnTo>
                <a:lnTo>
                  <a:pt x="7741" y="1561"/>
                </a:lnTo>
                <a:lnTo>
                  <a:pt x="7760" y="1474"/>
                </a:lnTo>
                <a:lnTo>
                  <a:pt x="7777" y="1396"/>
                </a:lnTo>
                <a:lnTo>
                  <a:pt x="7790" y="1331"/>
                </a:lnTo>
                <a:lnTo>
                  <a:pt x="7801" y="1280"/>
                </a:lnTo>
                <a:lnTo>
                  <a:pt x="7808" y="1247"/>
                </a:lnTo>
                <a:lnTo>
                  <a:pt x="7810" y="1235"/>
                </a:lnTo>
                <a:lnTo>
                  <a:pt x="7824" y="1177"/>
                </a:lnTo>
                <a:lnTo>
                  <a:pt x="7837" y="1128"/>
                </a:lnTo>
                <a:lnTo>
                  <a:pt x="7850" y="1087"/>
                </a:lnTo>
                <a:lnTo>
                  <a:pt x="7861" y="1055"/>
                </a:lnTo>
                <a:lnTo>
                  <a:pt x="7871" y="1030"/>
                </a:lnTo>
                <a:lnTo>
                  <a:pt x="7880" y="1012"/>
                </a:lnTo>
                <a:lnTo>
                  <a:pt x="7888" y="999"/>
                </a:lnTo>
                <a:lnTo>
                  <a:pt x="7894" y="992"/>
                </a:lnTo>
                <a:lnTo>
                  <a:pt x="7900" y="984"/>
                </a:lnTo>
                <a:lnTo>
                  <a:pt x="7908" y="978"/>
                </a:lnTo>
                <a:lnTo>
                  <a:pt x="7915" y="972"/>
                </a:lnTo>
                <a:lnTo>
                  <a:pt x="7923" y="966"/>
                </a:lnTo>
                <a:lnTo>
                  <a:pt x="7932" y="961"/>
                </a:lnTo>
                <a:lnTo>
                  <a:pt x="7942" y="957"/>
                </a:lnTo>
                <a:lnTo>
                  <a:pt x="7951" y="951"/>
                </a:lnTo>
                <a:lnTo>
                  <a:pt x="7963" y="948"/>
                </a:lnTo>
                <a:lnTo>
                  <a:pt x="7976" y="944"/>
                </a:lnTo>
                <a:lnTo>
                  <a:pt x="7989" y="941"/>
                </a:lnTo>
                <a:lnTo>
                  <a:pt x="8004" y="939"/>
                </a:lnTo>
                <a:lnTo>
                  <a:pt x="8020" y="937"/>
                </a:lnTo>
                <a:lnTo>
                  <a:pt x="8037" y="934"/>
                </a:lnTo>
                <a:lnTo>
                  <a:pt x="8055" y="933"/>
                </a:lnTo>
                <a:lnTo>
                  <a:pt x="8075" y="932"/>
                </a:lnTo>
                <a:lnTo>
                  <a:pt x="8097" y="932"/>
                </a:lnTo>
                <a:lnTo>
                  <a:pt x="8106" y="932"/>
                </a:lnTo>
                <a:lnTo>
                  <a:pt x="8128" y="932"/>
                </a:lnTo>
                <a:lnTo>
                  <a:pt x="8161" y="932"/>
                </a:lnTo>
                <a:lnTo>
                  <a:pt x="8198" y="932"/>
                </a:lnTo>
                <a:lnTo>
                  <a:pt x="8236" y="932"/>
                </a:lnTo>
                <a:lnTo>
                  <a:pt x="8268" y="932"/>
                </a:lnTo>
                <a:lnTo>
                  <a:pt x="8291" y="932"/>
                </a:lnTo>
                <a:lnTo>
                  <a:pt x="8300" y="932"/>
                </a:lnTo>
                <a:lnTo>
                  <a:pt x="8307" y="920"/>
                </a:lnTo>
                <a:lnTo>
                  <a:pt x="8325" y="886"/>
                </a:lnTo>
                <a:lnTo>
                  <a:pt x="8350" y="837"/>
                </a:lnTo>
                <a:lnTo>
                  <a:pt x="8379" y="782"/>
                </a:lnTo>
                <a:lnTo>
                  <a:pt x="8409" y="727"/>
                </a:lnTo>
                <a:lnTo>
                  <a:pt x="8434" y="679"/>
                </a:lnTo>
                <a:lnTo>
                  <a:pt x="8452" y="645"/>
                </a:lnTo>
                <a:lnTo>
                  <a:pt x="8458" y="631"/>
                </a:lnTo>
                <a:lnTo>
                  <a:pt x="8440" y="631"/>
                </a:lnTo>
                <a:lnTo>
                  <a:pt x="8394" y="631"/>
                </a:lnTo>
                <a:lnTo>
                  <a:pt x="8326" y="631"/>
                </a:lnTo>
                <a:lnTo>
                  <a:pt x="8250" y="631"/>
                </a:lnTo>
                <a:lnTo>
                  <a:pt x="8174" y="631"/>
                </a:lnTo>
                <a:lnTo>
                  <a:pt x="8107" y="631"/>
                </a:lnTo>
                <a:lnTo>
                  <a:pt x="8059" y="631"/>
                </a:lnTo>
                <a:lnTo>
                  <a:pt x="8041" y="631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765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876300" y="4200525"/>
            <a:ext cx="9793288" cy="795338"/>
          </a:xfrm>
        </p:spPr>
        <p:txBody>
          <a:bodyPr/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zh-CN" altLang="en-US" noProof="0"/>
              <a:t>主标</a:t>
            </a:r>
            <a:r>
              <a:rPr lang="en-US" altLang="zh-CN" noProof="0"/>
              <a:t>-</a:t>
            </a:r>
            <a:r>
              <a:rPr lang="zh-CN" altLang="en-US" noProof="0"/>
              <a:t>兰亭黑</a:t>
            </a:r>
            <a:r>
              <a:rPr lang="en-US" altLang="zh-CN" noProof="0"/>
              <a:t>6,30</a:t>
            </a:r>
            <a:r>
              <a:rPr lang="zh-CN" altLang="en-US" noProof="0"/>
              <a:t>号字</a:t>
            </a:r>
          </a:p>
        </p:txBody>
      </p:sp>
      <p:sp>
        <p:nvSpPr>
          <p:cNvPr id="2765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52491" y="5078413"/>
            <a:ext cx="8064500" cy="620712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400">
                <a:solidFill>
                  <a:schemeClr val="bg1"/>
                </a:solidFill>
                <a:ea typeface="方正兰亭黑6_GBK" pitchFamily="2" charset="-122"/>
              </a:defRPr>
            </a:lvl1pPr>
          </a:lstStyle>
          <a:p>
            <a:pPr lvl="0"/>
            <a:r>
              <a:rPr lang="zh-CN" altLang="en-US" noProof="0"/>
              <a:t>副标</a:t>
            </a:r>
            <a:r>
              <a:rPr lang="en-US" altLang="zh-CN" noProof="0"/>
              <a:t>-</a:t>
            </a:r>
            <a:r>
              <a:rPr lang="zh-CN" altLang="en-US" noProof="0"/>
              <a:t>兰亭黑</a:t>
            </a:r>
            <a:r>
              <a:rPr lang="en-US" altLang="zh-CN" noProof="0"/>
              <a:t>6,24</a:t>
            </a:r>
            <a:r>
              <a:rPr lang="zh-CN" altLang="en-US" noProof="0"/>
              <a:t>号字</a:t>
            </a:r>
          </a:p>
        </p:txBody>
      </p:sp>
      <p:sp>
        <p:nvSpPr>
          <p:cNvPr id="8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576264" y="5900738"/>
            <a:ext cx="2687636" cy="4508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ea typeface="宋体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937001" y="5900738"/>
            <a:ext cx="3648075" cy="4508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ea typeface="宋体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8258175" y="5900738"/>
            <a:ext cx="2687638" cy="4508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ea typeface="宋体" charset="-122"/>
              </a:defRPr>
            </a:lvl1pPr>
          </a:lstStyle>
          <a:p>
            <a:pPr>
              <a:defRPr/>
            </a:pPr>
            <a:fld id="{E80CFC63-2406-49D0-9C54-FBB492850B08}" type="slidenum">
              <a:rPr lang="en-US" altLang="zh-CN"/>
              <a:pPr>
                <a:defRPr/>
              </a:pPr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94720256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138884653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09638" y="4164013"/>
            <a:ext cx="9794875" cy="1287462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09638" y="2746375"/>
            <a:ext cx="9794875" cy="1417638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5756331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03217" y="1090613"/>
            <a:ext cx="5356224" cy="4773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811840" y="1090613"/>
            <a:ext cx="5356224" cy="4773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208904244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76263" y="258765"/>
            <a:ext cx="10369550" cy="1081087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76262" y="1450975"/>
            <a:ext cx="5091112" cy="60483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76262" y="2055813"/>
            <a:ext cx="5091112" cy="37322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5853115" y="1450975"/>
            <a:ext cx="5092700" cy="60483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5853115" y="2055813"/>
            <a:ext cx="5092700" cy="37322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420756449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15967766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062147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76263" y="258763"/>
            <a:ext cx="3790950" cy="1096962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05324" y="258763"/>
            <a:ext cx="6440488" cy="552926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76263" y="1355725"/>
            <a:ext cx="3790950" cy="44323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96476340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259015" y="4535490"/>
            <a:ext cx="6911975" cy="5365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259015" y="579438"/>
            <a:ext cx="6911975" cy="38877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259015" y="5072063"/>
            <a:ext cx="6911975" cy="7604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79559520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390619255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451850" y="44452"/>
            <a:ext cx="2716213" cy="58197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03216" y="44452"/>
            <a:ext cx="7996237" cy="58197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24259735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3" descr="81785148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224" b="15022"/>
          <a:stretch>
            <a:fillRect/>
          </a:stretch>
        </p:blipFill>
        <p:spPr bwMode="auto">
          <a:xfrm>
            <a:off x="3" y="0"/>
            <a:ext cx="11522075" cy="4360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7" descr="PPT用图灰色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44" t="46463" r="10741"/>
          <a:stretch>
            <a:fillRect/>
          </a:stretch>
        </p:blipFill>
        <p:spPr bwMode="auto">
          <a:xfrm>
            <a:off x="3" y="1925639"/>
            <a:ext cx="11522075" cy="455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Box 10"/>
          <p:cNvSpPr txBox="1">
            <a:spLocks noChangeArrowheads="1"/>
          </p:cNvSpPr>
          <p:nvPr/>
        </p:nvSpPr>
        <p:spPr bwMode="auto">
          <a:xfrm>
            <a:off x="387350" y="6092825"/>
            <a:ext cx="1906589" cy="20955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lIns="80115" tIns="40058" rIns="80115" bIns="40058"/>
          <a:lstStyle>
            <a:lvl1pPr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1pPr>
            <a:lvl2pPr marL="742950" indent="-28575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2pPr>
            <a:lvl3pPr marL="11430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3pPr>
            <a:lvl4pPr marL="16002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4pPr>
            <a:lvl5pPr marL="20574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5pPr>
            <a:lvl6pPr marL="25146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6pPr>
            <a:lvl7pPr marL="29718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7pPr>
            <a:lvl8pPr marL="34290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8pPr>
            <a:lvl9pPr marL="38862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9pPr>
          </a:lstStyle>
          <a:p>
            <a:pPr eaLnBrk="0" hangingPunct="0">
              <a:spcBef>
                <a:spcPct val="70000"/>
              </a:spcBef>
              <a:buClr>
                <a:srgbClr val="990000"/>
              </a:buClr>
              <a:buFont typeface="Wingdings" pitchFamily="2" charset="2"/>
              <a:buNone/>
              <a:defRPr/>
            </a:pPr>
            <a:r>
              <a:rPr lang="en-US" altLang="zh-CN" sz="800" dirty="0">
                <a:ea typeface="Arial Unicode MS" pitchFamily="34" charset="-122"/>
                <a:cs typeface="Arial Unicode MS" pitchFamily="34" charset="-122"/>
              </a:rPr>
              <a:t>© 2011 </a:t>
            </a:r>
            <a:r>
              <a:rPr lang="en-US" altLang="zh-CN" sz="800" dirty="0" err="1">
                <a:ea typeface="Arial Unicode MS" pitchFamily="34" charset="-122"/>
                <a:cs typeface="Arial Unicode MS" pitchFamily="34" charset="-122"/>
              </a:rPr>
              <a:t>Mindray</a:t>
            </a:r>
            <a:r>
              <a:rPr lang="en-US" altLang="zh-CN" sz="800" dirty="0">
                <a:ea typeface="Arial Unicode MS" pitchFamily="34" charset="-122"/>
                <a:cs typeface="Arial Unicode MS" pitchFamily="34" charset="-122"/>
              </a:rPr>
              <a:t> Confidential</a:t>
            </a:r>
          </a:p>
        </p:txBody>
      </p:sp>
      <p:pic>
        <p:nvPicPr>
          <p:cNvPr id="7" name="Picture 12" descr="logo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2828" y="5851525"/>
            <a:ext cx="2444749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96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39790" y="4841876"/>
            <a:ext cx="8066086" cy="60325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400">
                <a:ea typeface="方正兰亭黑6_GBK" pitchFamily="2" charset="-122"/>
              </a:defRPr>
            </a:lvl1pPr>
          </a:lstStyle>
          <a:p>
            <a:pPr lvl="0"/>
            <a:r>
              <a:rPr lang="zh-CN" altLang="en-US" noProof="0"/>
              <a:t>副标</a:t>
            </a:r>
            <a:r>
              <a:rPr lang="en-US" altLang="zh-CN" noProof="0"/>
              <a:t>-</a:t>
            </a:r>
            <a:r>
              <a:rPr lang="zh-CN" altLang="en-US" noProof="0"/>
              <a:t>兰亭黑</a:t>
            </a:r>
            <a:r>
              <a:rPr lang="en-US" altLang="zh-CN" noProof="0"/>
              <a:t>6,24</a:t>
            </a:r>
            <a:r>
              <a:rPr lang="zh-CN" altLang="en-US" noProof="0"/>
              <a:t>号字</a:t>
            </a:r>
          </a:p>
        </p:txBody>
      </p:sp>
      <p:sp>
        <p:nvSpPr>
          <p:cNvPr id="2969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863601" y="3911600"/>
            <a:ext cx="9794875" cy="839788"/>
          </a:xfrm>
        </p:spPr>
        <p:txBody>
          <a:bodyPr/>
          <a:lstStyle>
            <a:lvl1pPr>
              <a:defRPr sz="3000"/>
            </a:lvl1pPr>
          </a:lstStyle>
          <a:p>
            <a:pPr lvl="0"/>
            <a:r>
              <a:rPr lang="zh-CN" altLang="en-US" noProof="0"/>
              <a:t>主标</a:t>
            </a:r>
            <a:r>
              <a:rPr lang="en-US" altLang="zh-CN" noProof="0"/>
              <a:t>-</a:t>
            </a:r>
            <a:r>
              <a:rPr lang="zh-CN" altLang="en-US" noProof="0"/>
              <a:t>兰亭黑</a:t>
            </a:r>
            <a:r>
              <a:rPr lang="en-US" altLang="zh-CN" noProof="0"/>
              <a:t>6,30</a:t>
            </a:r>
            <a:r>
              <a:rPr lang="zh-CN" altLang="en-US" noProof="0"/>
              <a:t>号字</a:t>
            </a:r>
          </a:p>
        </p:txBody>
      </p:sp>
      <p:sp>
        <p:nvSpPr>
          <p:cNvPr id="8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576264" y="5900738"/>
            <a:ext cx="2687636" cy="4508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ea typeface="宋体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937001" y="5900738"/>
            <a:ext cx="3648075" cy="4508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ea typeface="宋体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8258175" y="5900738"/>
            <a:ext cx="2687638" cy="4508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ea typeface="宋体" charset="-122"/>
              </a:defRPr>
            </a:lvl1pPr>
          </a:lstStyle>
          <a:p>
            <a:pPr>
              <a:defRPr/>
            </a:pPr>
            <a:fld id="{33ABA569-27A8-43CF-8612-E7C2905B5874}" type="slidenum">
              <a:rPr lang="en-US" altLang="zh-CN"/>
              <a:pPr>
                <a:defRPr/>
              </a:pPr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3767541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182491986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09638" y="4164013"/>
            <a:ext cx="9794875" cy="1287462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09638" y="2746375"/>
            <a:ext cx="9794875" cy="1417638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44709548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03217" y="1074740"/>
            <a:ext cx="5356224" cy="478948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811840" y="1074740"/>
            <a:ext cx="5356224" cy="478948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278475515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76263" y="258765"/>
            <a:ext cx="10369550" cy="1081087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76262" y="1450975"/>
            <a:ext cx="5091112" cy="60483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76262" y="2055813"/>
            <a:ext cx="5091112" cy="37322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5853115" y="1450975"/>
            <a:ext cx="5092700" cy="60483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5853115" y="2055813"/>
            <a:ext cx="5092700" cy="37322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324050221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63080462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621301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76263" y="258763"/>
            <a:ext cx="3790950" cy="1096962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05324" y="258763"/>
            <a:ext cx="6440488" cy="552926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76263" y="1355725"/>
            <a:ext cx="3790950" cy="44323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30402753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259015" y="4535490"/>
            <a:ext cx="6911975" cy="5365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259015" y="579438"/>
            <a:ext cx="6911975" cy="38877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259015" y="5072063"/>
            <a:ext cx="6911975" cy="7604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13718905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181042481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470903" y="2"/>
            <a:ext cx="2722563" cy="586422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03216" y="2"/>
            <a:ext cx="8015287" cy="586422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801291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image" Target="../media/image4.wmf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3.xml"/><Relationship Id="rId13" Type="http://schemas.openxmlformats.org/officeDocument/2006/relationships/image" Target="../media/image4.wmf"/><Relationship Id="rId3" Type="http://schemas.openxmlformats.org/officeDocument/2006/relationships/slideLayout" Target="../slideLayouts/slideLayout38.xml"/><Relationship Id="rId7" Type="http://schemas.openxmlformats.org/officeDocument/2006/relationships/slideLayout" Target="../slideLayouts/slideLayout42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1" Type="http://schemas.openxmlformats.org/officeDocument/2006/relationships/slideLayout" Target="../slideLayouts/slideLayout36.xml"/><Relationship Id="rId6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46.xml"/><Relationship Id="rId5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45.xml"/><Relationship Id="rId4" Type="http://schemas.openxmlformats.org/officeDocument/2006/relationships/slideLayout" Target="../slideLayouts/slideLayout39.xml"/><Relationship Id="rId9" Type="http://schemas.openxmlformats.org/officeDocument/2006/relationships/slideLayout" Target="../slideLayouts/slideLayout4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3215" y="44450"/>
            <a:ext cx="10864851" cy="1046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03215" y="1087438"/>
            <a:ext cx="10864851" cy="4776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</p:txBody>
      </p:sp>
      <p:sp>
        <p:nvSpPr>
          <p:cNvPr id="98314" name="Text Box 10"/>
          <p:cNvSpPr txBox="1">
            <a:spLocks noChangeArrowheads="1"/>
          </p:cNvSpPr>
          <p:nvPr userDrawn="1"/>
        </p:nvSpPr>
        <p:spPr bwMode="auto">
          <a:xfrm>
            <a:off x="952499" y="6026152"/>
            <a:ext cx="1906589" cy="20796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lIns="80115" tIns="40058" rIns="80115" bIns="40058"/>
          <a:lstStyle>
            <a:lvl1pPr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1pPr>
            <a:lvl2pPr marL="742950" indent="-28575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2pPr>
            <a:lvl3pPr marL="11430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3pPr>
            <a:lvl4pPr marL="16002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4pPr>
            <a:lvl5pPr marL="20574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5pPr>
            <a:lvl6pPr marL="25146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6pPr>
            <a:lvl7pPr marL="29718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7pPr>
            <a:lvl8pPr marL="34290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8pPr>
            <a:lvl9pPr marL="38862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9pPr>
          </a:lstStyle>
          <a:p>
            <a:pPr eaLnBrk="0" hangingPunct="0">
              <a:spcBef>
                <a:spcPct val="70000"/>
              </a:spcBef>
              <a:buClr>
                <a:srgbClr val="990000"/>
              </a:buClr>
              <a:buFont typeface="Wingdings" pitchFamily="2" charset="2"/>
              <a:buNone/>
              <a:defRPr/>
            </a:pPr>
            <a:endParaRPr lang="zh-CN" altLang="zh-CN" sz="800">
              <a:ea typeface="Arial Unicode MS" pitchFamily="34" charset="-122"/>
              <a:cs typeface="Arial Unicode MS" pitchFamily="34" charset="-122"/>
            </a:endParaRPr>
          </a:p>
        </p:txBody>
      </p:sp>
      <p:sp>
        <p:nvSpPr>
          <p:cNvPr id="98315" name="Text Box 11"/>
          <p:cNvSpPr txBox="1">
            <a:spLocks noChangeArrowheads="1"/>
          </p:cNvSpPr>
          <p:nvPr userDrawn="1"/>
        </p:nvSpPr>
        <p:spPr bwMode="auto">
          <a:xfrm>
            <a:off x="330203" y="5984877"/>
            <a:ext cx="711200" cy="2905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lIns="80115" tIns="40058" rIns="80115" bIns="40058"/>
          <a:lstStyle>
            <a:lvl1pPr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1pPr>
            <a:lvl2pPr marL="742950" indent="-28575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2pPr>
            <a:lvl3pPr marL="11430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3pPr>
            <a:lvl4pPr marL="16002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4pPr>
            <a:lvl5pPr marL="20574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5pPr>
            <a:lvl6pPr marL="25146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6pPr>
            <a:lvl7pPr marL="29718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7pPr>
            <a:lvl8pPr marL="34290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8pPr>
            <a:lvl9pPr marL="38862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9pPr>
          </a:lstStyle>
          <a:p>
            <a:pPr eaLnBrk="0" hangingPunct="0">
              <a:spcBef>
                <a:spcPct val="70000"/>
              </a:spcBef>
              <a:buClr>
                <a:srgbClr val="990000"/>
              </a:buClr>
              <a:buFont typeface="Wingdings" pitchFamily="2" charset="2"/>
              <a:buNone/>
              <a:defRPr/>
            </a:pPr>
            <a:endParaRPr lang="zh-CN" altLang="zh-CN" sz="1000">
              <a:ea typeface="Arial Unicode MS" pitchFamily="34" charset="-122"/>
              <a:cs typeface="Arial Unicode MS" pitchFamily="34" charset="-122"/>
            </a:endParaRPr>
          </a:p>
        </p:txBody>
      </p:sp>
      <p:sp>
        <p:nvSpPr>
          <p:cNvPr id="1030" name="Line 15"/>
          <p:cNvSpPr>
            <a:spLocks noChangeShapeType="1"/>
          </p:cNvSpPr>
          <p:nvPr/>
        </p:nvSpPr>
        <p:spPr bwMode="auto">
          <a:xfrm>
            <a:off x="314326" y="5961063"/>
            <a:ext cx="10856914" cy="0"/>
          </a:xfrm>
          <a:prstGeom prst="line">
            <a:avLst/>
          </a:prstGeom>
          <a:noFill/>
          <a:ln w="6350">
            <a:solidFill>
              <a:schemeClr val="tx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0" tIns="0" rIns="0" bIns="0" anchor="ctr"/>
          <a:lstStyle/>
          <a:p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6102" r:id="rId1"/>
    <p:sldLayoutId id="2147486071" r:id="rId2"/>
    <p:sldLayoutId id="2147486070" r:id="rId3"/>
    <p:sldLayoutId id="2147486069" r:id="rId4"/>
    <p:sldLayoutId id="2147486068" r:id="rId5"/>
    <p:sldLayoutId id="2147486067" r:id="rId6"/>
    <p:sldLayoutId id="2147486066" r:id="rId7"/>
    <p:sldLayoutId id="2147486065" r:id="rId8"/>
    <p:sldLayoutId id="2147486064" r:id="rId9"/>
    <p:sldLayoutId id="2147486063" r:id="rId10"/>
    <p:sldLayoutId id="2147486062" r:id="rId11"/>
    <p:sldLayoutId id="2147486061" r:id="rId12"/>
    <p:sldLayoutId id="2147486060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9pPr>
    </p:titleStyle>
    <p:bodyStyle>
      <a:lvl1pPr marL="342900" indent="-342900" algn="l" rtl="0" eaLnBrk="0" fontAlgn="base" hangingPunct="0">
        <a:lnSpc>
          <a:spcPct val="130000"/>
        </a:lnSpc>
        <a:spcBef>
          <a:spcPct val="0"/>
        </a:spcBef>
        <a:spcAft>
          <a:spcPct val="0"/>
        </a:spcAft>
        <a:buClr>
          <a:srgbClr val="C7000B"/>
        </a:buClr>
        <a:buFont typeface="Wingdings" pitchFamily="2" charset="2"/>
        <a:buChar char="l"/>
        <a:defRPr sz="2000">
          <a:solidFill>
            <a:srgbClr val="4D4D4D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lnSpc>
          <a:spcPct val="130000"/>
        </a:lnSpc>
        <a:spcBef>
          <a:spcPct val="0"/>
        </a:spcBef>
        <a:spcAft>
          <a:spcPct val="0"/>
        </a:spcAft>
        <a:buClr>
          <a:srgbClr val="C7000B"/>
        </a:buClr>
        <a:buFont typeface="Wingdings" pitchFamily="2" charset="2"/>
        <a:buChar char="l"/>
        <a:defRPr>
          <a:solidFill>
            <a:srgbClr val="4D4D4D"/>
          </a:solidFill>
          <a:latin typeface="+mn-lt"/>
          <a:ea typeface="+mn-ea"/>
        </a:defRPr>
      </a:lvl2pPr>
      <a:lvl3pPr marL="1143000" indent="-228600" algn="l" rtl="0" eaLnBrk="0" fontAlgn="base" hangingPunct="0">
        <a:lnSpc>
          <a:spcPct val="130000"/>
        </a:lnSpc>
        <a:spcBef>
          <a:spcPct val="0"/>
        </a:spcBef>
        <a:spcAft>
          <a:spcPct val="0"/>
        </a:spcAft>
        <a:buClr>
          <a:srgbClr val="C7000B"/>
        </a:buClr>
        <a:buFont typeface="Wingdings" pitchFamily="2" charset="2"/>
        <a:buChar char="l"/>
        <a:defRPr sz="1600">
          <a:solidFill>
            <a:srgbClr val="4D4D4D"/>
          </a:solidFill>
          <a:latin typeface="+mn-lt"/>
          <a:ea typeface="+mn-ea"/>
        </a:defRPr>
      </a:lvl3pPr>
      <a:lvl4pPr marL="1600200" indent="-228600" algn="l" rtl="0" eaLnBrk="0" fontAlgn="base" hangingPunct="0">
        <a:lnSpc>
          <a:spcPct val="130000"/>
        </a:lnSpc>
        <a:spcBef>
          <a:spcPct val="0"/>
        </a:spcBef>
        <a:spcAft>
          <a:spcPct val="0"/>
        </a:spcAft>
        <a:buClr>
          <a:srgbClr val="C7000B"/>
        </a:buClr>
        <a:buFont typeface="Wingdings" pitchFamily="2" charset="2"/>
        <a:buChar char="l"/>
        <a:defRPr sz="1400">
          <a:solidFill>
            <a:srgbClr val="4D4D4D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宋体" charset="-122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宋体" charset="-122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宋体" charset="-122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宋体" charset="-122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宋体" charset="-122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3215" y="0"/>
            <a:ext cx="10864851" cy="1027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28615" y="1030289"/>
            <a:ext cx="10864851" cy="4829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</p:txBody>
      </p:sp>
      <p:sp>
        <p:nvSpPr>
          <p:cNvPr id="98314" name="Text Box 10"/>
          <p:cNvSpPr txBox="1">
            <a:spLocks noChangeArrowheads="1"/>
          </p:cNvSpPr>
          <p:nvPr userDrawn="1"/>
        </p:nvSpPr>
        <p:spPr bwMode="auto">
          <a:xfrm>
            <a:off x="952499" y="6026152"/>
            <a:ext cx="1906589" cy="20796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lIns="80115" tIns="40058" rIns="80115" bIns="40058"/>
          <a:lstStyle>
            <a:lvl1pPr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1pPr>
            <a:lvl2pPr marL="742950" indent="-28575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2pPr>
            <a:lvl3pPr marL="11430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3pPr>
            <a:lvl4pPr marL="16002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4pPr>
            <a:lvl5pPr marL="20574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5pPr>
            <a:lvl6pPr marL="25146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6pPr>
            <a:lvl7pPr marL="29718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7pPr>
            <a:lvl8pPr marL="34290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8pPr>
            <a:lvl9pPr marL="38862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9pPr>
          </a:lstStyle>
          <a:p>
            <a:pPr eaLnBrk="0" hangingPunct="0">
              <a:spcBef>
                <a:spcPct val="70000"/>
              </a:spcBef>
              <a:buClr>
                <a:srgbClr val="990000"/>
              </a:buClr>
              <a:buFont typeface="Wingdings" pitchFamily="2" charset="2"/>
              <a:buNone/>
              <a:defRPr/>
            </a:pPr>
            <a:endParaRPr lang="zh-CN" altLang="zh-CN" sz="800">
              <a:ea typeface="Arial Unicode MS" pitchFamily="34" charset="-122"/>
              <a:cs typeface="Arial Unicode MS" pitchFamily="34" charset="-122"/>
            </a:endParaRPr>
          </a:p>
        </p:txBody>
      </p:sp>
      <p:sp>
        <p:nvSpPr>
          <p:cNvPr id="98315" name="Text Box 11"/>
          <p:cNvSpPr txBox="1">
            <a:spLocks noChangeArrowheads="1"/>
          </p:cNvSpPr>
          <p:nvPr userDrawn="1"/>
        </p:nvSpPr>
        <p:spPr bwMode="auto">
          <a:xfrm>
            <a:off x="330203" y="5984877"/>
            <a:ext cx="711200" cy="2905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lIns="80115" tIns="40058" rIns="80115" bIns="40058"/>
          <a:lstStyle>
            <a:lvl1pPr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1pPr>
            <a:lvl2pPr marL="742950" indent="-28575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2pPr>
            <a:lvl3pPr marL="11430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3pPr>
            <a:lvl4pPr marL="16002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4pPr>
            <a:lvl5pPr marL="20574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5pPr>
            <a:lvl6pPr marL="25146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6pPr>
            <a:lvl7pPr marL="29718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7pPr>
            <a:lvl8pPr marL="34290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8pPr>
            <a:lvl9pPr marL="38862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9pPr>
          </a:lstStyle>
          <a:p>
            <a:pPr eaLnBrk="0" hangingPunct="0">
              <a:spcBef>
                <a:spcPct val="70000"/>
              </a:spcBef>
              <a:buClr>
                <a:srgbClr val="990000"/>
              </a:buClr>
              <a:buFont typeface="Wingdings" pitchFamily="2" charset="2"/>
              <a:buNone/>
              <a:defRPr/>
            </a:pPr>
            <a:endParaRPr lang="zh-CN" altLang="zh-CN" sz="1000">
              <a:ea typeface="Arial Unicode MS" pitchFamily="34" charset="-122"/>
              <a:cs typeface="Arial Unicode MS" pitchFamily="34" charset="-122"/>
            </a:endParaRPr>
          </a:p>
        </p:txBody>
      </p:sp>
      <p:sp>
        <p:nvSpPr>
          <p:cNvPr id="2054" name="Line 15"/>
          <p:cNvSpPr>
            <a:spLocks noChangeShapeType="1"/>
          </p:cNvSpPr>
          <p:nvPr/>
        </p:nvSpPr>
        <p:spPr bwMode="auto">
          <a:xfrm>
            <a:off x="314326" y="5961063"/>
            <a:ext cx="10856914" cy="0"/>
          </a:xfrm>
          <a:prstGeom prst="line">
            <a:avLst/>
          </a:prstGeom>
          <a:noFill/>
          <a:ln w="6350">
            <a:solidFill>
              <a:schemeClr val="tx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0" tIns="0" rIns="0" bIns="0" anchor="ctr"/>
          <a:lstStyle/>
          <a:p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6103" r:id="rId1"/>
    <p:sldLayoutId id="2147486081" r:id="rId2"/>
    <p:sldLayoutId id="2147486080" r:id="rId3"/>
    <p:sldLayoutId id="2147486079" r:id="rId4"/>
    <p:sldLayoutId id="2147486078" r:id="rId5"/>
    <p:sldLayoutId id="2147486077" r:id="rId6"/>
    <p:sldLayoutId id="2147486076" r:id="rId7"/>
    <p:sldLayoutId id="2147486075" r:id="rId8"/>
    <p:sldLayoutId id="2147486074" r:id="rId9"/>
    <p:sldLayoutId id="2147486073" r:id="rId10"/>
    <p:sldLayoutId id="2147486072" r:id="rId11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9pPr>
    </p:titleStyle>
    <p:bodyStyle>
      <a:lvl1pPr marL="342900" indent="-342900" algn="l" rtl="0" eaLnBrk="0" fontAlgn="base" hangingPunct="0">
        <a:lnSpc>
          <a:spcPct val="130000"/>
        </a:lnSpc>
        <a:spcBef>
          <a:spcPct val="0"/>
        </a:spcBef>
        <a:spcAft>
          <a:spcPct val="0"/>
        </a:spcAft>
        <a:buClr>
          <a:srgbClr val="C7000B"/>
        </a:buClr>
        <a:buFont typeface="Wingdings" pitchFamily="2" charset="2"/>
        <a:buChar char="l"/>
        <a:defRPr sz="2000">
          <a:solidFill>
            <a:srgbClr val="4D4D4D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lnSpc>
          <a:spcPct val="130000"/>
        </a:lnSpc>
        <a:spcBef>
          <a:spcPct val="0"/>
        </a:spcBef>
        <a:spcAft>
          <a:spcPct val="0"/>
        </a:spcAft>
        <a:buClr>
          <a:srgbClr val="C7000B"/>
        </a:buClr>
        <a:buFont typeface="Wingdings" pitchFamily="2" charset="2"/>
        <a:buChar char="l"/>
        <a:defRPr>
          <a:solidFill>
            <a:srgbClr val="4D4D4D"/>
          </a:solidFill>
          <a:latin typeface="+mn-lt"/>
          <a:ea typeface="+mn-ea"/>
        </a:defRPr>
      </a:lvl2pPr>
      <a:lvl3pPr marL="1143000" indent="-228600" algn="l" rtl="0" eaLnBrk="0" fontAlgn="base" hangingPunct="0">
        <a:lnSpc>
          <a:spcPct val="130000"/>
        </a:lnSpc>
        <a:spcBef>
          <a:spcPct val="0"/>
        </a:spcBef>
        <a:spcAft>
          <a:spcPct val="0"/>
        </a:spcAft>
        <a:buClr>
          <a:srgbClr val="C7000B"/>
        </a:buClr>
        <a:buFont typeface="Wingdings" pitchFamily="2" charset="2"/>
        <a:buChar char="l"/>
        <a:defRPr sz="1600">
          <a:solidFill>
            <a:srgbClr val="4D4D4D"/>
          </a:solidFill>
          <a:latin typeface="+mn-lt"/>
          <a:ea typeface="+mn-ea"/>
        </a:defRPr>
      </a:lvl3pPr>
      <a:lvl4pPr marL="1600200" indent="-228600" algn="l" rtl="0" eaLnBrk="0" fontAlgn="base" hangingPunct="0">
        <a:lnSpc>
          <a:spcPct val="130000"/>
        </a:lnSpc>
        <a:spcBef>
          <a:spcPct val="0"/>
        </a:spcBef>
        <a:spcAft>
          <a:spcPct val="0"/>
        </a:spcAft>
        <a:buClr>
          <a:srgbClr val="C7000B"/>
        </a:buClr>
        <a:buFont typeface="Wingdings" pitchFamily="2" charset="2"/>
        <a:buChar char="l"/>
        <a:defRPr sz="1400">
          <a:solidFill>
            <a:srgbClr val="4D4D4D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rgbClr val="4D4D4D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rgbClr val="4D4D4D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rgbClr val="4D4D4D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rgbClr val="4D4D4D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rgbClr val="4D4D4D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3215" y="44450"/>
            <a:ext cx="10864851" cy="1042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03215" y="1090613"/>
            <a:ext cx="10864851" cy="4773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</p:txBody>
      </p:sp>
      <p:sp>
        <p:nvSpPr>
          <p:cNvPr id="98314" name="Text Box 10"/>
          <p:cNvSpPr txBox="1">
            <a:spLocks noChangeArrowheads="1"/>
          </p:cNvSpPr>
          <p:nvPr/>
        </p:nvSpPr>
        <p:spPr bwMode="auto">
          <a:xfrm>
            <a:off x="952499" y="6026152"/>
            <a:ext cx="1906589" cy="20796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lIns="80115" tIns="40058" rIns="80115" bIns="40058"/>
          <a:lstStyle>
            <a:lvl1pPr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1pPr>
            <a:lvl2pPr marL="742950" indent="-28575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2pPr>
            <a:lvl3pPr marL="11430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3pPr>
            <a:lvl4pPr marL="16002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4pPr>
            <a:lvl5pPr marL="20574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5pPr>
            <a:lvl6pPr marL="25146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6pPr>
            <a:lvl7pPr marL="29718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7pPr>
            <a:lvl8pPr marL="34290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8pPr>
            <a:lvl9pPr marL="38862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9pPr>
          </a:lstStyle>
          <a:p>
            <a:pPr eaLnBrk="0" hangingPunct="0">
              <a:spcBef>
                <a:spcPct val="70000"/>
              </a:spcBef>
              <a:buClr>
                <a:srgbClr val="990000"/>
              </a:buClr>
              <a:buFont typeface="Wingdings" pitchFamily="2" charset="2"/>
              <a:buNone/>
              <a:defRPr/>
            </a:pPr>
            <a:r>
              <a:rPr lang="en-US" altLang="zh-CN" sz="800" dirty="0">
                <a:ea typeface="Arial Unicode MS" pitchFamily="34" charset="-122"/>
                <a:cs typeface="Arial Unicode MS" pitchFamily="34" charset="-122"/>
              </a:rPr>
              <a:t>© 2011 </a:t>
            </a:r>
            <a:r>
              <a:rPr lang="en-US" altLang="zh-CN" sz="800" dirty="0" err="1">
                <a:ea typeface="Arial Unicode MS" pitchFamily="34" charset="-122"/>
                <a:cs typeface="Arial Unicode MS" pitchFamily="34" charset="-122"/>
              </a:rPr>
              <a:t>Mindray</a:t>
            </a:r>
            <a:r>
              <a:rPr lang="en-US" altLang="zh-CN" sz="800" dirty="0">
                <a:ea typeface="Arial Unicode MS" pitchFamily="34" charset="-122"/>
                <a:cs typeface="Arial Unicode MS" pitchFamily="34" charset="-122"/>
              </a:rPr>
              <a:t> Confidential</a:t>
            </a:r>
          </a:p>
        </p:txBody>
      </p:sp>
      <p:sp>
        <p:nvSpPr>
          <p:cNvPr id="98315" name="Text Box 11"/>
          <p:cNvSpPr txBox="1">
            <a:spLocks noChangeArrowheads="1"/>
          </p:cNvSpPr>
          <p:nvPr/>
        </p:nvSpPr>
        <p:spPr bwMode="auto">
          <a:xfrm>
            <a:off x="330203" y="5984877"/>
            <a:ext cx="711200" cy="2905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lIns="80115" tIns="40058" rIns="80115" bIns="40058"/>
          <a:lstStyle>
            <a:lvl1pPr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1pPr>
            <a:lvl2pPr marL="742950" indent="-28575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2pPr>
            <a:lvl3pPr marL="11430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3pPr>
            <a:lvl4pPr marL="16002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4pPr>
            <a:lvl5pPr marL="20574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5pPr>
            <a:lvl6pPr marL="25146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6pPr>
            <a:lvl7pPr marL="29718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7pPr>
            <a:lvl8pPr marL="34290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8pPr>
            <a:lvl9pPr marL="38862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9pPr>
          </a:lstStyle>
          <a:p>
            <a:pPr eaLnBrk="0" hangingPunct="0">
              <a:spcBef>
                <a:spcPct val="70000"/>
              </a:spcBef>
              <a:buClr>
                <a:srgbClr val="990000"/>
              </a:buClr>
              <a:buFont typeface="Wingdings" pitchFamily="2" charset="2"/>
              <a:buNone/>
              <a:defRPr/>
            </a:pPr>
            <a:fld id="{141716F1-DEB9-4CEB-A50B-35CD946F019C}" type="slidenum">
              <a:rPr lang="en-US" altLang="zh-CN" sz="1000" smtClean="0">
                <a:ea typeface="Arial Unicode MS" pitchFamily="34" charset="-122"/>
                <a:cs typeface="Arial Unicode MS" pitchFamily="34" charset="-122"/>
              </a:rPr>
              <a:pPr eaLnBrk="0" hangingPunct="0">
                <a:spcBef>
                  <a:spcPct val="70000"/>
                </a:spcBef>
                <a:buClr>
                  <a:srgbClr val="990000"/>
                </a:buClr>
                <a:buFont typeface="Wingdings" pitchFamily="2" charset="2"/>
                <a:buNone/>
                <a:defRPr/>
              </a:pPr>
              <a:t>‹#›</a:t>
            </a:fld>
            <a:endParaRPr lang="en-US" altLang="zh-CN" sz="1000" dirty="0">
              <a:ea typeface="Arial Unicode MS" pitchFamily="34" charset="-122"/>
              <a:cs typeface="Arial Unicode MS" pitchFamily="34" charset="-122"/>
            </a:endParaRPr>
          </a:p>
        </p:txBody>
      </p:sp>
      <p:sp>
        <p:nvSpPr>
          <p:cNvPr id="3078" name="Line 15"/>
          <p:cNvSpPr>
            <a:spLocks noChangeShapeType="1"/>
          </p:cNvSpPr>
          <p:nvPr/>
        </p:nvSpPr>
        <p:spPr bwMode="auto">
          <a:xfrm>
            <a:off x="314326" y="5961063"/>
            <a:ext cx="10856914" cy="0"/>
          </a:xfrm>
          <a:prstGeom prst="line">
            <a:avLst/>
          </a:prstGeom>
          <a:noFill/>
          <a:ln w="6350">
            <a:solidFill>
              <a:schemeClr val="tx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0" tIns="0" rIns="0" bIns="0" anchor="ctr"/>
          <a:lstStyle/>
          <a:p>
            <a:endParaRPr lang="zh-CN" altLang="en-US"/>
          </a:p>
        </p:txBody>
      </p:sp>
      <p:pic>
        <p:nvPicPr>
          <p:cNvPr id="3079" name="Picture 11" descr="logo"/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8313" y="5999163"/>
            <a:ext cx="1781176" cy="31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6104" r:id="rId1"/>
    <p:sldLayoutId id="2147486091" r:id="rId2"/>
    <p:sldLayoutId id="2147486090" r:id="rId3"/>
    <p:sldLayoutId id="2147486089" r:id="rId4"/>
    <p:sldLayoutId id="2147486088" r:id="rId5"/>
    <p:sldLayoutId id="2147486087" r:id="rId6"/>
    <p:sldLayoutId id="2147486086" r:id="rId7"/>
    <p:sldLayoutId id="2147486085" r:id="rId8"/>
    <p:sldLayoutId id="2147486084" r:id="rId9"/>
    <p:sldLayoutId id="2147486083" r:id="rId10"/>
    <p:sldLayoutId id="2147486082" r:id="rId11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9pPr>
    </p:titleStyle>
    <p:bodyStyle>
      <a:lvl1pPr marL="342900" indent="-342900" algn="l" rtl="0" eaLnBrk="0" fontAlgn="base" hangingPunct="0">
        <a:lnSpc>
          <a:spcPct val="130000"/>
        </a:lnSpc>
        <a:spcBef>
          <a:spcPct val="0"/>
        </a:spcBef>
        <a:spcAft>
          <a:spcPct val="0"/>
        </a:spcAft>
        <a:buClr>
          <a:srgbClr val="C7000B"/>
        </a:buClr>
        <a:buFont typeface="Wingdings" pitchFamily="2" charset="2"/>
        <a:buChar char="l"/>
        <a:defRPr sz="2000">
          <a:solidFill>
            <a:srgbClr val="4D4D4D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lnSpc>
          <a:spcPct val="130000"/>
        </a:lnSpc>
        <a:spcBef>
          <a:spcPct val="0"/>
        </a:spcBef>
        <a:spcAft>
          <a:spcPct val="0"/>
        </a:spcAft>
        <a:buClr>
          <a:srgbClr val="C7000B"/>
        </a:buClr>
        <a:buFont typeface="Wingdings" pitchFamily="2" charset="2"/>
        <a:buChar char="l"/>
        <a:defRPr>
          <a:solidFill>
            <a:srgbClr val="4D4D4D"/>
          </a:solidFill>
          <a:latin typeface="+mn-lt"/>
          <a:ea typeface="+mn-ea"/>
        </a:defRPr>
      </a:lvl2pPr>
      <a:lvl3pPr marL="1143000" indent="-228600" algn="l" rtl="0" eaLnBrk="0" fontAlgn="base" hangingPunct="0">
        <a:lnSpc>
          <a:spcPct val="130000"/>
        </a:lnSpc>
        <a:spcBef>
          <a:spcPct val="0"/>
        </a:spcBef>
        <a:spcAft>
          <a:spcPct val="0"/>
        </a:spcAft>
        <a:buClr>
          <a:srgbClr val="C7000B"/>
        </a:buClr>
        <a:buFont typeface="Wingdings" pitchFamily="2" charset="2"/>
        <a:buChar char="l"/>
        <a:defRPr sz="1600">
          <a:solidFill>
            <a:srgbClr val="4D4D4D"/>
          </a:solidFill>
          <a:latin typeface="+mn-lt"/>
          <a:ea typeface="+mn-ea"/>
        </a:defRPr>
      </a:lvl3pPr>
      <a:lvl4pPr marL="1600200" indent="-228600" algn="l" rtl="0" eaLnBrk="0" fontAlgn="base" hangingPunct="0">
        <a:lnSpc>
          <a:spcPct val="130000"/>
        </a:lnSpc>
        <a:spcBef>
          <a:spcPct val="0"/>
        </a:spcBef>
        <a:spcAft>
          <a:spcPct val="0"/>
        </a:spcAft>
        <a:buClr>
          <a:srgbClr val="C7000B"/>
        </a:buClr>
        <a:buFont typeface="Wingdings" pitchFamily="2" charset="2"/>
        <a:buChar char="l"/>
        <a:defRPr sz="1400">
          <a:solidFill>
            <a:srgbClr val="4D4D4D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28615" y="0"/>
            <a:ext cx="10864851" cy="1081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03215" y="1074740"/>
            <a:ext cx="10864851" cy="47894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</p:txBody>
      </p:sp>
      <p:sp>
        <p:nvSpPr>
          <p:cNvPr id="98314" name="Text Box 10"/>
          <p:cNvSpPr txBox="1">
            <a:spLocks noChangeArrowheads="1"/>
          </p:cNvSpPr>
          <p:nvPr/>
        </p:nvSpPr>
        <p:spPr bwMode="auto">
          <a:xfrm>
            <a:off x="952499" y="6026152"/>
            <a:ext cx="1906589" cy="20796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lIns="80115" tIns="40058" rIns="80115" bIns="40058"/>
          <a:lstStyle>
            <a:lvl1pPr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1pPr>
            <a:lvl2pPr marL="742950" indent="-28575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2pPr>
            <a:lvl3pPr marL="11430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3pPr>
            <a:lvl4pPr marL="16002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4pPr>
            <a:lvl5pPr marL="20574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5pPr>
            <a:lvl6pPr marL="25146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6pPr>
            <a:lvl7pPr marL="29718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7pPr>
            <a:lvl8pPr marL="34290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8pPr>
            <a:lvl9pPr marL="38862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9pPr>
          </a:lstStyle>
          <a:p>
            <a:pPr eaLnBrk="0" hangingPunct="0">
              <a:spcBef>
                <a:spcPct val="70000"/>
              </a:spcBef>
              <a:buClr>
                <a:srgbClr val="990000"/>
              </a:buClr>
              <a:buFont typeface="Wingdings" pitchFamily="2" charset="2"/>
              <a:buNone/>
              <a:defRPr/>
            </a:pPr>
            <a:r>
              <a:rPr lang="en-US" altLang="zh-CN" sz="800" dirty="0">
                <a:ea typeface="Arial Unicode MS" pitchFamily="34" charset="-122"/>
                <a:cs typeface="Arial Unicode MS" pitchFamily="34" charset="-122"/>
              </a:rPr>
              <a:t>© 2011 </a:t>
            </a:r>
            <a:r>
              <a:rPr lang="en-US" altLang="zh-CN" sz="800" dirty="0" err="1">
                <a:ea typeface="Arial Unicode MS" pitchFamily="34" charset="-122"/>
                <a:cs typeface="Arial Unicode MS" pitchFamily="34" charset="-122"/>
              </a:rPr>
              <a:t>Mindray</a:t>
            </a:r>
            <a:r>
              <a:rPr lang="en-US" altLang="zh-CN" sz="800" dirty="0">
                <a:ea typeface="Arial Unicode MS" pitchFamily="34" charset="-122"/>
                <a:cs typeface="Arial Unicode MS" pitchFamily="34" charset="-122"/>
              </a:rPr>
              <a:t> Confidential</a:t>
            </a:r>
          </a:p>
        </p:txBody>
      </p:sp>
      <p:sp>
        <p:nvSpPr>
          <p:cNvPr id="98315" name="Text Box 11"/>
          <p:cNvSpPr txBox="1">
            <a:spLocks noChangeArrowheads="1"/>
          </p:cNvSpPr>
          <p:nvPr/>
        </p:nvSpPr>
        <p:spPr bwMode="auto">
          <a:xfrm>
            <a:off x="330203" y="5984877"/>
            <a:ext cx="711200" cy="2905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lIns="80115" tIns="40058" rIns="80115" bIns="40058"/>
          <a:lstStyle>
            <a:lvl1pPr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1pPr>
            <a:lvl2pPr marL="742950" indent="-28575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2pPr>
            <a:lvl3pPr marL="11430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3pPr>
            <a:lvl4pPr marL="16002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4pPr>
            <a:lvl5pPr marL="2057400" indent="-228600" defTabSz="801688"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5pPr>
            <a:lvl6pPr marL="25146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6pPr>
            <a:lvl7pPr marL="29718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7pPr>
            <a:lvl8pPr marL="34290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8pPr>
            <a:lvl9pPr marL="3886200" indent="-228600" defTabSz="801688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charset="-122"/>
              </a:defRPr>
            </a:lvl9pPr>
          </a:lstStyle>
          <a:p>
            <a:pPr eaLnBrk="0" hangingPunct="0">
              <a:spcBef>
                <a:spcPct val="70000"/>
              </a:spcBef>
              <a:buClr>
                <a:srgbClr val="990000"/>
              </a:buClr>
              <a:buFont typeface="Wingdings" pitchFamily="2" charset="2"/>
              <a:buNone/>
              <a:defRPr/>
            </a:pPr>
            <a:fld id="{97717CAE-8A56-4A1E-9CCF-14BB7D98A060}" type="slidenum">
              <a:rPr lang="en-US" altLang="zh-CN" sz="1000" smtClean="0">
                <a:ea typeface="Arial Unicode MS" pitchFamily="34" charset="-122"/>
                <a:cs typeface="Arial Unicode MS" pitchFamily="34" charset="-122"/>
              </a:rPr>
              <a:pPr eaLnBrk="0" hangingPunct="0">
                <a:spcBef>
                  <a:spcPct val="70000"/>
                </a:spcBef>
                <a:buClr>
                  <a:srgbClr val="990000"/>
                </a:buClr>
                <a:buFont typeface="Wingdings" pitchFamily="2" charset="2"/>
                <a:buNone/>
                <a:defRPr/>
              </a:pPr>
              <a:t>‹#›</a:t>
            </a:fld>
            <a:endParaRPr lang="en-US" altLang="zh-CN" sz="1000" dirty="0">
              <a:ea typeface="Arial Unicode MS" pitchFamily="34" charset="-122"/>
              <a:cs typeface="Arial Unicode MS" pitchFamily="34" charset="-122"/>
            </a:endParaRPr>
          </a:p>
        </p:txBody>
      </p:sp>
      <p:sp>
        <p:nvSpPr>
          <p:cNvPr id="4102" name="Line 15"/>
          <p:cNvSpPr>
            <a:spLocks noChangeShapeType="1"/>
          </p:cNvSpPr>
          <p:nvPr/>
        </p:nvSpPr>
        <p:spPr bwMode="auto">
          <a:xfrm>
            <a:off x="314326" y="5961063"/>
            <a:ext cx="10856914" cy="0"/>
          </a:xfrm>
          <a:prstGeom prst="line">
            <a:avLst/>
          </a:prstGeom>
          <a:noFill/>
          <a:ln w="6350">
            <a:solidFill>
              <a:schemeClr val="tx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0" tIns="0" rIns="0" bIns="0" anchor="ctr"/>
          <a:lstStyle/>
          <a:p>
            <a:endParaRPr lang="zh-CN" altLang="en-US"/>
          </a:p>
        </p:txBody>
      </p:sp>
      <p:pic>
        <p:nvPicPr>
          <p:cNvPr id="4103" name="Picture 11" descr="logo"/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8313" y="5999163"/>
            <a:ext cx="1781176" cy="31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6105" r:id="rId1"/>
    <p:sldLayoutId id="2147486101" r:id="rId2"/>
    <p:sldLayoutId id="2147486100" r:id="rId3"/>
    <p:sldLayoutId id="2147486099" r:id="rId4"/>
    <p:sldLayoutId id="2147486098" r:id="rId5"/>
    <p:sldLayoutId id="2147486097" r:id="rId6"/>
    <p:sldLayoutId id="2147486096" r:id="rId7"/>
    <p:sldLayoutId id="2147486095" r:id="rId8"/>
    <p:sldLayoutId id="2147486094" r:id="rId9"/>
    <p:sldLayoutId id="2147486093" r:id="rId10"/>
    <p:sldLayoutId id="2147486092" r:id="rId11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2400">
          <a:solidFill>
            <a:srgbClr val="C7000B"/>
          </a:solidFill>
          <a:latin typeface="Arial" charset="0"/>
          <a:ea typeface="方正兰亭黑6_GBK" pitchFamily="2" charset="-122"/>
        </a:defRPr>
      </a:lvl9pPr>
    </p:titleStyle>
    <p:bodyStyle>
      <a:lvl1pPr marL="342900" indent="-342900" algn="l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rgbClr val="C7000B"/>
        </a:buClr>
        <a:buFont typeface="Wingdings" pitchFamily="2" charset="2"/>
        <a:buChar char="l"/>
        <a:defRPr sz="2000">
          <a:solidFill>
            <a:srgbClr val="4D4D4D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rgbClr val="C7000B"/>
        </a:buClr>
        <a:buFont typeface="Wingdings" pitchFamily="2" charset="2"/>
        <a:buChar char="l"/>
        <a:defRPr>
          <a:solidFill>
            <a:srgbClr val="4D4D4D"/>
          </a:solidFill>
          <a:latin typeface="+mn-lt"/>
          <a:ea typeface="+mn-ea"/>
        </a:defRPr>
      </a:lvl2pPr>
      <a:lvl3pPr marL="1143000" indent="-228600" algn="l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rgbClr val="C7000B"/>
        </a:buClr>
        <a:buFont typeface="Wingdings" pitchFamily="2" charset="2"/>
        <a:buChar char="l"/>
        <a:defRPr sz="1600">
          <a:solidFill>
            <a:srgbClr val="4D4D4D"/>
          </a:solidFill>
          <a:latin typeface="+mn-lt"/>
          <a:ea typeface="+mn-ea"/>
        </a:defRPr>
      </a:lvl3pPr>
      <a:lvl4pPr marL="1600200" indent="-228600" algn="l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rgbClr val="C7000B"/>
        </a:buClr>
        <a:buFont typeface="Wingdings" pitchFamily="2" charset="2"/>
        <a:buChar char="l"/>
        <a:defRPr sz="1400">
          <a:solidFill>
            <a:srgbClr val="4D4D4D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宋体" charset="-122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宋体" charset="-122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宋体" charset="-122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宋体" charset="-122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宋体" charset="-122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w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w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w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w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.emf"/><Relationship Id="rId5" Type="http://schemas.openxmlformats.org/officeDocument/2006/relationships/image" Target="../media/image13.emf"/><Relationship Id="rId4" Type="http://schemas.openxmlformats.org/officeDocument/2006/relationships/image" Target="../media/image12.emf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.bin"/><Relationship Id="rId13" Type="http://schemas.openxmlformats.org/officeDocument/2006/relationships/image" Target="../media/image20.wmf"/><Relationship Id="rId3" Type="http://schemas.openxmlformats.org/officeDocument/2006/relationships/image" Target="../media/image15.emf"/><Relationship Id="rId7" Type="http://schemas.openxmlformats.org/officeDocument/2006/relationships/image" Target="../media/image17.wmf"/><Relationship Id="rId12" Type="http://schemas.openxmlformats.org/officeDocument/2006/relationships/oleObject" Target="../embeddings/oleObject10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oleObject" Target="../embeddings/oleObject7.bin"/><Relationship Id="rId11" Type="http://schemas.openxmlformats.org/officeDocument/2006/relationships/image" Target="../media/image19.wmf"/><Relationship Id="rId5" Type="http://schemas.openxmlformats.org/officeDocument/2006/relationships/image" Target="../media/image16.wmf"/><Relationship Id="rId10" Type="http://schemas.openxmlformats.org/officeDocument/2006/relationships/oleObject" Target="../embeddings/oleObject9.bin"/><Relationship Id="rId4" Type="http://schemas.openxmlformats.org/officeDocument/2006/relationships/oleObject" Target="../embeddings/oleObject6.bin"/><Relationship Id="rId9" Type="http://schemas.openxmlformats.org/officeDocument/2006/relationships/image" Target="../media/image18.w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emf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gi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8.emf"/><Relationship Id="rId5" Type="http://schemas.openxmlformats.org/officeDocument/2006/relationships/image" Target="../media/image27.emf"/><Relationship Id="rId4" Type="http://schemas.openxmlformats.org/officeDocument/2006/relationships/image" Target="../media/image26.emf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9"/>
          <p:cNvSpPr>
            <a:spLocks noGrp="1" noChangeArrowheads="1"/>
          </p:cNvSpPr>
          <p:nvPr>
            <p:ph type="ctrTitle"/>
          </p:nvPr>
        </p:nvSpPr>
        <p:spPr>
          <a:xfrm>
            <a:off x="981869" y="1230779"/>
            <a:ext cx="9558336" cy="2009308"/>
          </a:xfrm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tx1"/>
                </a:solidFill>
                <a:prstDash val="solid"/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ctr" eaLnBrk="1" hangingPunct="1">
              <a:lnSpc>
                <a:spcPct val="150000"/>
              </a:lnSpc>
            </a:pPr>
            <a:r>
              <a:rPr lang="zh-CN" altLang="en-US" sz="32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臨床決策分析</a:t>
            </a:r>
            <a:br>
              <a:rPr lang="en-US" altLang="zh-CN" sz="32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</a:br>
            <a:r>
              <a:rPr lang="zh-CN" altLang="en-US" sz="32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3200" i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clinical decision analysis</a:t>
            </a:r>
            <a:r>
              <a:rPr lang="en-US" altLang="zh-CN" sz="32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, CDA</a:t>
            </a:r>
            <a:r>
              <a:rPr lang="zh-CN" altLang="en-US" sz="32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317539154"/>
      </p:ext>
    </p:extLst>
  </p:cSld>
  <p:clrMapOvr>
    <a:masterClrMapping/>
  </p:clrMapOvr>
  <p:transition advTm="2219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/>
          <p:cNvSpPr txBox="1">
            <a:spLocks/>
          </p:cNvSpPr>
          <p:nvPr/>
        </p:nvSpPr>
        <p:spPr bwMode="auto">
          <a:xfrm>
            <a:off x="32871" y="57128"/>
            <a:ext cx="8524875" cy="21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9pPr>
          </a:lstStyle>
          <a:p>
            <a:r>
              <a:rPr lang="zh-CN" altLang="en-US" sz="1500" dirty="0">
                <a:ea typeface="楷体_GB2312" pitchFamily="49" charset="-122"/>
              </a:rPr>
              <a:t>臨床決策分析</a:t>
            </a:r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CN" sz="12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clinical decision analysis </a:t>
            </a:r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sz="12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CDA</a:t>
            </a:r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9" name="矩形 3"/>
          <p:cNvSpPr>
            <a:spLocks noChangeArrowheads="1"/>
          </p:cNvSpPr>
          <p:nvPr/>
        </p:nvSpPr>
        <p:spPr bwMode="auto">
          <a:xfrm>
            <a:off x="45955" y="273592"/>
            <a:ext cx="9534073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lvl="0"/>
            <a:r>
              <a:rPr lang="zh-CN" altLang="en-US" sz="1300" dirty="0">
                <a:solidFill>
                  <a:srgbClr val="000000"/>
                </a:solidFill>
              </a:rPr>
              <a:t>臨床決策中對於「弱推薦」證據的</a:t>
            </a:r>
            <a:r>
              <a:rPr lang="zh-TW" altLang="en-US" sz="1300" dirty="0">
                <a:solidFill>
                  <a:srgbClr val="000000"/>
                </a:solidFill>
              </a:rPr>
              <a:t>輔助決策工具 </a:t>
            </a:r>
            <a:r>
              <a:rPr lang="zh-CN" altLang="en-US" sz="1300" dirty="0">
                <a:solidFill>
                  <a:srgbClr val="000000"/>
                </a:solidFill>
                <a:latin typeface="Arial" pitchFamily="34" charset="0"/>
              </a:rPr>
              <a:t>：</a:t>
            </a:r>
            <a:r>
              <a:rPr lang="zh-CN" altLang="en-US" sz="900" dirty="0">
                <a:solidFill>
                  <a:srgbClr val="000000"/>
                </a:solidFill>
                <a:latin typeface="Arial" pitchFamily="34" charset="0"/>
              </a:rPr>
              <a:t>～</a:t>
            </a:r>
            <a:r>
              <a:rPr lang="en-US" altLang="zh-CN" sz="1300" dirty="0">
                <a:solidFill>
                  <a:srgbClr val="000000"/>
                </a:solidFill>
                <a:latin typeface="Arial" pitchFamily="34" charset="0"/>
              </a:rPr>
              <a:t> 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決策分析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Decision Analysis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 </a:t>
            </a:r>
            <a:r>
              <a:rPr lang="en-US" altLang="zh-CN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- 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決策論原理</a:t>
            </a:r>
            <a:r>
              <a:rPr lang="zh-CN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；</a:t>
            </a:r>
            <a:endParaRPr lang="zh-CN" altLang="en-US" sz="1000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6" name="Rectangle 57"/>
          <p:cNvSpPr>
            <a:spLocks noChangeArrowheads="1"/>
          </p:cNvSpPr>
          <p:nvPr/>
        </p:nvSpPr>
        <p:spPr bwMode="auto">
          <a:xfrm>
            <a:off x="0" y="0"/>
            <a:ext cx="1152207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sp>
        <p:nvSpPr>
          <p:cNvPr id="68" name="Rectangle 59"/>
          <p:cNvSpPr>
            <a:spLocks noChangeArrowheads="1"/>
          </p:cNvSpPr>
          <p:nvPr/>
        </p:nvSpPr>
        <p:spPr bwMode="auto">
          <a:xfrm>
            <a:off x="0" y="0"/>
            <a:ext cx="1152207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sp>
        <p:nvSpPr>
          <p:cNvPr id="28" name="矩形 27"/>
          <p:cNvSpPr/>
          <p:nvPr/>
        </p:nvSpPr>
        <p:spPr>
          <a:xfrm>
            <a:off x="690460" y="871721"/>
            <a:ext cx="10058408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舉例：非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確定型決策、風險型決策</a:t>
            </a:r>
          </a:p>
        </p:txBody>
      </p:sp>
      <p:graphicFrame>
        <p:nvGraphicFramePr>
          <p:cNvPr id="41" name="表格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9216558"/>
              </p:ext>
            </p:extLst>
          </p:nvPr>
        </p:nvGraphicFramePr>
        <p:xfrm>
          <a:off x="757238" y="1361540"/>
          <a:ext cx="9956800" cy="3594100"/>
        </p:xfrm>
        <a:graphic>
          <a:graphicData uri="http://schemas.openxmlformats.org/drawingml/2006/table">
            <a:tbl>
              <a:tblPr/>
              <a:tblGrid>
                <a:gridCol w="18057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54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55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55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55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28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8288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831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3370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損益函數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ingLiU" panose="02020509000000000000" pitchFamily="49" charset="-120"/>
                          <a:ea typeface="MingLiU" panose="02020509000000000000" pitchFamily="49" charset="-120"/>
                        </a:rPr>
                        <a:t>策略變數</a:t>
                      </a: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1" u="none" strike="noStrike" baseline="-250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收益矩陣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損失矩陣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370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ingLiU" panose="02020509000000000000" pitchFamily="49" charset="-120"/>
                          <a:ea typeface="MingLiU" panose="02020509000000000000" pitchFamily="49" charset="-120"/>
                        </a:rPr>
                        <a:t>狀態變數</a:t>
                      </a: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</a:t>
                      </a:r>
                      <a:r>
                        <a:rPr lang="el-G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n-US" sz="1100" b="0" i="1" u="none" strike="noStrike" baseline="-250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ingLiU" panose="02020509000000000000" pitchFamily="49" charset="-120"/>
                          <a:ea typeface="MingLiU" panose="02020509000000000000" pitchFamily="49" charset="-120"/>
                        </a:rPr>
                        <a:t>狀態變數</a:t>
                      </a: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</a:t>
                      </a:r>
                      <a:r>
                        <a:rPr lang="el-G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n-US" sz="1100" b="0" i="1" u="none" strike="noStrike" baseline="-250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9070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l-G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l-G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l-G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l-G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l-G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l-G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370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P</a:t>
                      </a:r>
                      <a:r>
                        <a:rPr lang="el-GR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</a:t>
                      </a:r>
                      <a:r>
                        <a:rPr lang="el-G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= 0.3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P</a:t>
                      </a:r>
                      <a:r>
                        <a:rPr lang="el-GR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</a:t>
                      </a:r>
                      <a:r>
                        <a:rPr lang="el-G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= 0.4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P</a:t>
                      </a:r>
                      <a:r>
                        <a:rPr lang="el-GR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</a:t>
                      </a:r>
                      <a:r>
                        <a:rPr lang="el-G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= 0.3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P</a:t>
                      </a:r>
                      <a:r>
                        <a:rPr lang="el-GR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</a:t>
                      </a:r>
                      <a:r>
                        <a:rPr lang="el-G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= 0.3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P</a:t>
                      </a:r>
                      <a:r>
                        <a:rPr lang="el-GR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</a:t>
                      </a:r>
                      <a:r>
                        <a:rPr lang="el-G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= 0.4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P</a:t>
                      </a:r>
                      <a:r>
                        <a:rPr lang="el-GR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</a:t>
                      </a:r>
                      <a:r>
                        <a:rPr lang="el-G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= 0.3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6865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O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= ( 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o</a:t>
                      </a:r>
                      <a:r>
                        <a:rPr lang="en-US" sz="1100" b="0" i="1" u="none" strike="noStrike" baseline="-250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ij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) </a:t>
                      </a:r>
                      <a:r>
                        <a:rPr lang="en-US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m </a:t>
                      </a:r>
                      <a:r>
                        <a:rPr lang="en-US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× </a:t>
                      </a:r>
                      <a:r>
                        <a:rPr lang="en-US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800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320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-250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800 - 800 = 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320 - 320 = 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100 - ( - 250 ) = 350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6865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300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-200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800 - 600 = 200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320 - 300 = 20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100 - ( - 200 ) = 300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6865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150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800 - 300 = 500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320 - 150 = 170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100 - 50 = 50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6865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4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400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250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800 - 400 = 400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320 - 250 = 70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100 - 100 = 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6865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EMV </a:t>
                      </a: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= ( </a:t>
                      </a:r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P</a:t>
                      </a:r>
                      <a:r>
                        <a:rPr lang="pt-BR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j</a:t>
                      </a: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)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</a:t>
                      </a:r>
                      <a:r>
                        <a:rPr lang="pt-BR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n</a:t>
                      </a: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× ( </a:t>
                      </a:r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o</a:t>
                      </a:r>
                      <a:r>
                        <a:rPr lang="pt-BR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ij</a:t>
                      </a: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) </a:t>
                      </a:r>
                      <a:r>
                        <a:rPr lang="pt-BR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m 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× </a:t>
                      </a:r>
                      <a:r>
                        <a:rPr lang="pt-BR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n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128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-75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　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　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6865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120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-60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　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6865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11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　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6865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4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120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　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　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6543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296228"/>
              </p:ext>
            </p:extLst>
          </p:nvPr>
        </p:nvGraphicFramePr>
        <p:xfrm>
          <a:off x="2892489" y="2013158"/>
          <a:ext cx="3797300" cy="2326640"/>
        </p:xfrm>
        <a:graphic>
          <a:graphicData uri="http://schemas.openxmlformats.org/drawingml/2006/table">
            <a:tbl>
              <a:tblPr/>
              <a:tblGrid>
                <a:gridCol w="1054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3370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ingLiU" panose="02020509000000000000" pitchFamily="49" charset="-120"/>
                          <a:ea typeface="MingLiU" panose="02020509000000000000" pitchFamily="49" charset="-120"/>
                        </a:rPr>
                        <a:t>策略變數</a:t>
                      </a: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1" u="none" strike="noStrike" baseline="-250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收益矩陣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370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ingLiU" panose="02020509000000000000" pitchFamily="49" charset="-120"/>
                          <a:ea typeface="MingLiU" panose="02020509000000000000" pitchFamily="49" charset="-120"/>
                        </a:rPr>
                        <a:t>狀態變數</a:t>
                      </a: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</a:t>
                      </a:r>
                      <a:r>
                        <a:rPr lang="el-G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n-US" sz="1100" b="0" i="1" u="none" strike="noStrike" baseline="-250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9070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l-G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l-G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l-G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370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P</a:t>
                      </a:r>
                      <a:r>
                        <a:rPr lang="el-GR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</a:t>
                      </a:r>
                      <a:r>
                        <a:rPr lang="el-G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= </a:t>
                      </a:r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？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P</a:t>
                      </a:r>
                      <a:r>
                        <a:rPr lang="el-GR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</a:t>
                      </a:r>
                      <a:r>
                        <a:rPr lang="el-G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= </a:t>
                      </a:r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？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P</a:t>
                      </a:r>
                      <a:r>
                        <a:rPr lang="el-GR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</a:t>
                      </a:r>
                      <a:r>
                        <a:rPr lang="el-G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= </a:t>
                      </a:r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？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686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0" u="none" strike="noStrike" baseline="-25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</a:t>
                      </a:r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800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320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-250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686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0" u="none" strike="noStrike" baseline="-25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</a:t>
                      </a:r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300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-200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686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0" u="none" strike="noStrike" baseline="-25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</a:t>
                      </a:r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150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686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0" u="none" strike="noStrike" baseline="-25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4</a:t>
                      </a:r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400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250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标题 1"/>
          <p:cNvSpPr txBox="1">
            <a:spLocks/>
          </p:cNvSpPr>
          <p:nvPr/>
        </p:nvSpPr>
        <p:spPr bwMode="auto">
          <a:xfrm>
            <a:off x="32871" y="57128"/>
            <a:ext cx="8524875" cy="21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9pPr>
          </a:lstStyle>
          <a:p>
            <a:r>
              <a:rPr lang="zh-CN" altLang="en-US" sz="1500" dirty="0">
                <a:ea typeface="楷体_GB2312" pitchFamily="49" charset="-122"/>
              </a:rPr>
              <a:t>臨床決策分析</a:t>
            </a:r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CN" sz="12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clinical decision analysis </a:t>
            </a:r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sz="12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CDA</a:t>
            </a:r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9" name="矩形 3"/>
          <p:cNvSpPr>
            <a:spLocks noChangeArrowheads="1"/>
          </p:cNvSpPr>
          <p:nvPr/>
        </p:nvSpPr>
        <p:spPr bwMode="auto">
          <a:xfrm>
            <a:off x="45955" y="273592"/>
            <a:ext cx="9534073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lvl="0"/>
            <a:r>
              <a:rPr lang="zh-CN" altLang="en-US" sz="1300" dirty="0">
                <a:solidFill>
                  <a:srgbClr val="000000"/>
                </a:solidFill>
              </a:rPr>
              <a:t>臨床決策中對於「弱推薦」證據的</a:t>
            </a:r>
            <a:r>
              <a:rPr lang="zh-TW" altLang="en-US" sz="1300" dirty="0">
                <a:solidFill>
                  <a:srgbClr val="000000"/>
                </a:solidFill>
              </a:rPr>
              <a:t>輔助決策工具 </a:t>
            </a:r>
            <a:r>
              <a:rPr lang="zh-CN" altLang="en-US" sz="1300" dirty="0">
                <a:solidFill>
                  <a:srgbClr val="000000"/>
                </a:solidFill>
                <a:latin typeface="Arial" pitchFamily="34" charset="0"/>
              </a:rPr>
              <a:t>：</a:t>
            </a:r>
            <a:r>
              <a:rPr lang="zh-CN" altLang="en-US" sz="900" dirty="0">
                <a:solidFill>
                  <a:srgbClr val="000000"/>
                </a:solidFill>
                <a:latin typeface="Arial" pitchFamily="34" charset="0"/>
              </a:rPr>
              <a:t>～</a:t>
            </a:r>
            <a:r>
              <a:rPr lang="en-US" altLang="zh-CN" sz="1300" dirty="0">
                <a:solidFill>
                  <a:srgbClr val="000000"/>
                </a:solidFill>
                <a:latin typeface="Arial" pitchFamily="34" charset="0"/>
              </a:rPr>
              <a:t> 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決策分析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Decision Analysis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 </a:t>
            </a:r>
            <a:r>
              <a:rPr lang="en-US" altLang="zh-CN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- 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決策論原理</a:t>
            </a:r>
            <a:r>
              <a:rPr lang="zh-CN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；</a:t>
            </a:r>
            <a:endParaRPr lang="zh-CN" altLang="en-US" sz="1000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761858" y="1386986"/>
            <a:ext cx="6818170" cy="346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1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樂觀準則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1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max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-</a:t>
            </a:r>
            <a:r>
              <a:rPr lang="en-US" altLang="zh-TW" sz="11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max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：取各狀態中的收益最大值中的最大值所對應的策略變數（方案）；</a:t>
            </a:r>
          </a:p>
        </p:txBody>
      </p:sp>
      <p:sp>
        <p:nvSpPr>
          <p:cNvPr id="66" name="Rectangle 57"/>
          <p:cNvSpPr>
            <a:spLocks noChangeArrowheads="1"/>
          </p:cNvSpPr>
          <p:nvPr/>
        </p:nvSpPr>
        <p:spPr bwMode="auto">
          <a:xfrm>
            <a:off x="0" y="0"/>
            <a:ext cx="1152207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sp>
        <p:nvSpPr>
          <p:cNvPr id="68" name="Rectangle 59"/>
          <p:cNvSpPr>
            <a:spLocks noChangeArrowheads="1"/>
          </p:cNvSpPr>
          <p:nvPr/>
        </p:nvSpPr>
        <p:spPr bwMode="auto">
          <a:xfrm>
            <a:off x="0" y="0"/>
            <a:ext cx="1152207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sp>
        <p:nvSpPr>
          <p:cNvPr id="28" name="矩形 27"/>
          <p:cNvSpPr/>
          <p:nvPr/>
        </p:nvSpPr>
        <p:spPr>
          <a:xfrm>
            <a:off x="2761858" y="1040737"/>
            <a:ext cx="6818170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舉例：非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確定型決策</a:t>
            </a:r>
          </a:p>
        </p:txBody>
      </p:sp>
      <p:sp>
        <p:nvSpPr>
          <p:cNvPr id="15" name="矩形 14"/>
          <p:cNvSpPr/>
          <p:nvPr/>
        </p:nvSpPr>
        <p:spPr>
          <a:xfrm>
            <a:off x="2761858" y="4545311"/>
            <a:ext cx="6818170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結論：因而選擇方案 「</a:t>
            </a:r>
            <a:r>
              <a:rPr lang="en-US" altLang="zh-CN" sz="11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altLang="zh-CN" sz="1100" baseline="-25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1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」；</a:t>
            </a:r>
          </a:p>
        </p:txBody>
      </p:sp>
      <p:graphicFrame>
        <p:nvGraphicFramePr>
          <p:cNvPr id="17" name="对象 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99072128"/>
              </p:ext>
            </p:extLst>
          </p:nvPr>
        </p:nvGraphicFramePr>
        <p:xfrm>
          <a:off x="7119256" y="2640338"/>
          <a:ext cx="1803400" cy="914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803400" imgH="914400" progId="">
                  <p:embed/>
                </p:oleObj>
              </mc:Choice>
              <mc:Fallback>
                <p:oleObj name="Equation" r:id="rId3" imgW="1803400" imgH="914400" progId="">
                  <p:embed/>
                  <p:pic>
                    <p:nvPicPr>
                      <p:cNvPr id="0" name="Picture 50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19256" y="2640338"/>
                        <a:ext cx="1803400" cy="914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圆角矩形 4"/>
          <p:cNvSpPr/>
          <p:nvPr/>
        </p:nvSpPr>
        <p:spPr>
          <a:xfrm>
            <a:off x="4180115" y="3107097"/>
            <a:ext cx="438538" cy="242596"/>
          </a:xfrm>
          <a:prstGeom prst="round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圆角矩形 20"/>
          <p:cNvSpPr/>
          <p:nvPr/>
        </p:nvSpPr>
        <p:spPr>
          <a:xfrm>
            <a:off x="4180115" y="3433440"/>
            <a:ext cx="438538" cy="242596"/>
          </a:xfrm>
          <a:prstGeom prst="round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圆角矩形 21"/>
          <p:cNvSpPr/>
          <p:nvPr/>
        </p:nvSpPr>
        <p:spPr>
          <a:xfrm>
            <a:off x="4180115" y="3737220"/>
            <a:ext cx="438538" cy="242596"/>
          </a:xfrm>
          <a:prstGeom prst="round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圆角矩形 22"/>
          <p:cNvSpPr/>
          <p:nvPr/>
        </p:nvSpPr>
        <p:spPr>
          <a:xfrm>
            <a:off x="4180115" y="4041000"/>
            <a:ext cx="438538" cy="242596"/>
          </a:xfrm>
          <a:prstGeom prst="round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圆角矩形 23"/>
          <p:cNvSpPr/>
          <p:nvPr/>
        </p:nvSpPr>
        <p:spPr>
          <a:xfrm>
            <a:off x="3181739" y="3117041"/>
            <a:ext cx="438538" cy="242596"/>
          </a:xfrm>
          <a:prstGeom prst="round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53338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3209675"/>
              </p:ext>
            </p:extLst>
          </p:nvPr>
        </p:nvGraphicFramePr>
        <p:xfrm>
          <a:off x="2509934" y="2013158"/>
          <a:ext cx="3797300" cy="2326640"/>
        </p:xfrm>
        <a:graphic>
          <a:graphicData uri="http://schemas.openxmlformats.org/drawingml/2006/table">
            <a:tbl>
              <a:tblPr/>
              <a:tblGrid>
                <a:gridCol w="1054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3370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ingLiU" panose="02020509000000000000" pitchFamily="49" charset="-120"/>
                          <a:ea typeface="MingLiU" panose="02020509000000000000" pitchFamily="49" charset="-120"/>
                        </a:rPr>
                        <a:t>策略變數</a:t>
                      </a: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1" u="none" strike="noStrike" baseline="-250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收益矩陣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370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ingLiU" panose="02020509000000000000" pitchFamily="49" charset="-120"/>
                          <a:ea typeface="MingLiU" panose="02020509000000000000" pitchFamily="49" charset="-120"/>
                        </a:rPr>
                        <a:t>狀態變數</a:t>
                      </a: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</a:t>
                      </a:r>
                      <a:r>
                        <a:rPr lang="el-G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n-US" sz="1100" b="0" i="1" u="none" strike="noStrike" baseline="-250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9070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l-G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l-G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l-G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370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P</a:t>
                      </a:r>
                      <a:r>
                        <a:rPr lang="el-GR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</a:t>
                      </a:r>
                      <a:r>
                        <a:rPr lang="el-G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= </a:t>
                      </a:r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？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P</a:t>
                      </a:r>
                      <a:r>
                        <a:rPr lang="el-GR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</a:t>
                      </a:r>
                      <a:r>
                        <a:rPr lang="el-G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= </a:t>
                      </a:r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？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P</a:t>
                      </a:r>
                      <a:r>
                        <a:rPr lang="el-GR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</a:t>
                      </a:r>
                      <a:r>
                        <a:rPr lang="el-G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= </a:t>
                      </a:r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？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686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0" u="none" strike="noStrike" baseline="-25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</a:t>
                      </a:r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800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320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-250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686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0" u="none" strike="noStrike" baseline="-25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</a:t>
                      </a:r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300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-200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686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0" u="none" strike="noStrike" baseline="-25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</a:t>
                      </a:r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150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686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0" u="none" strike="noStrike" baseline="-25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4</a:t>
                      </a:r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400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250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标题 1"/>
          <p:cNvSpPr txBox="1">
            <a:spLocks/>
          </p:cNvSpPr>
          <p:nvPr/>
        </p:nvSpPr>
        <p:spPr bwMode="auto">
          <a:xfrm>
            <a:off x="32871" y="57128"/>
            <a:ext cx="8524875" cy="21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9pPr>
          </a:lstStyle>
          <a:p>
            <a:r>
              <a:rPr lang="zh-CN" altLang="en-US" sz="1500" dirty="0">
                <a:ea typeface="楷体_GB2312" pitchFamily="49" charset="-122"/>
              </a:rPr>
              <a:t>臨床決策分析</a:t>
            </a:r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CN" sz="12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clinical decision analysis </a:t>
            </a:r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sz="12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CDA</a:t>
            </a:r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9" name="矩形 3"/>
          <p:cNvSpPr>
            <a:spLocks noChangeArrowheads="1"/>
          </p:cNvSpPr>
          <p:nvPr/>
        </p:nvSpPr>
        <p:spPr bwMode="auto">
          <a:xfrm>
            <a:off x="45955" y="273592"/>
            <a:ext cx="9534073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lvl="0"/>
            <a:r>
              <a:rPr lang="zh-CN" altLang="en-US" sz="1300" dirty="0">
                <a:solidFill>
                  <a:srgbClr val="000000"/>
                </a:solidFill>
              </a:rPr>
              <a:t>臨床決策中對於「弱推薦」證據的</a:t>
            </a:r>
            <a:r>
              <a:rPr lang="zh-TW" altLang="en-US" sz="1300" dirty="0">
                <a:solidFill>
                  <a:srgbClr val="000000"/>
                </a:solidFill>
              </a:rPr>
              <a:t>輔助決策工具 </a:t>
            </a:r>
            <a:r>
              <a:rPr lang="zh-CN" altLang="en-US" sz="1300" dirty="0">
                <a:solidFill>
                  <a:srgbClr val="000000"/>
                </a:solidFill>
                <a:latin typeface="Arial" pitchFamily="34" charset="0"/>
              </a:rPr>
              <a:t>：</a:t>
            </a:r>
            <a:r>
              <a:rPr lang="zh-CN" altLang="en-US" sz="900" dirty="0">
                <a:solidFill>
                  <a:srgbClr val="000000"/>
                </a:solidFill>
                <a:latin typeface="Arial" pitchFamily="34" charset="0"/>
              </a:rPr>
              <a:t>～</a:t>
            </a:r>
            <a:r>
              <a:rPr lang="en-US" altLang="zh-CN" sz="1300" dirty="0">
                <a:solidFill>
                  <a:srgbClr val="000000"/>
                </a:solidFill>
                <a:latin typeface="Arial" pitchFamily="34" charset="0"/>
              </a:rPr>
              <a:t> 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決策分析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Decision Analysis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 </a:t>
            </a:r>
            <a:r>
              <a:rPr lang="en-US" altLang="zh-CN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- 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決策論原理</a:t>
            </a:r>
            <a:r>
              <a:rPr lang="zh-CN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；</a:t>
            </a:r>
            <a:endParaRPr lang="zh-CN" altLang="en-US" sz="1000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379302" y="1386986"/>
            <a:ext cx="7800395" cy="346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2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悲觀準則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1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max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-</a:t>
            </a:r>
            <a:r>
              <a:rPr lang="en-US" altLang="zh-TW" sz="11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min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：首先找出在各種狀態下收益的最小值，再從這些最小值中取一個最大值所對應的策略變數（方案）；</a:t>
            </a:r>
          </a:p>
        </p:txBody>
      </p:sp>
      <p:sp>
        <p:nvSpPr>
          <p:cNvPr id="66" name="Rectangle 57"/>
          <p:cNvSpPr>
            <a:spLocks noChangeArrowheads="1"/>
          </p:cNvSpPr>
          <p:nvPr/>
        </p:nvSpPr>
        <p:spPr bwMode="auto">
          <a:xfrm>
            <a:off x="0" y="0"/>
            <a:ext cx="1152207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sp>
        <p:nvSpPr>
          <p:cNvPr id="68" name="Rectangle 59"/>
          <p:cNvSpPr>
            <a:spLocks noChangeArrowheads="1"/>
          </p:cNvSpPr>
          <p:nvPr/>
        </p:nvSpPr>
        <p:spPr bwMode="auto">
          <a:xfrm>
            <a:off x="0" y="0"/>
            <a:ext cx="1152207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sp>
        <p:nvSpPr>
          <p:cNvPr id="28" name="矩形 27"/>
          <p:cNvSpPr/>
          <p:nvPr/>
        </p:nvSpPr>
        <p:spPr>
          <a:xfrm>
            <a:off x="2379303" y="1040737"/>
            <a:ext cx="6818170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舉例：非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確定型決策</a:t>
            </a:r>
          </a:p>
        </p:txBody>
      </p:sp>
      <p:sp>
        <p:nvSpPr>
          <p:cNvPr id="15" name="矩形 14"/>
          <p:cNvSpPr/>
          <p:nvPr/>
        </p:nvSpPr>
        <p:spPr>
          <a:xfrm>
            <a:off x="2379303" y="4545311"/>
            <a:ext cx="6818170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結論：因而選擇方案 「</a:t>
            </a:r>
            <a:r>
              <a:rPr lang="en-US" altLang="zh-CN" sz="11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altLang="zh-CN" sz="1100" baseline="-25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4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」；</a:t>
            </a:r>
          </a:p>
        </p:txBody>
      </p:sp>
      <p:graphicFrame>
        <p:nvGraphicFramePr>
          <p:cNvPr id="17" name="对象 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63616006"/>
              </p:ext>
            </p:extLst>
          </p:nvPr>
        </p:nvGraphicFramePr>
        <p:xfrm>
          <a:off x="6711950" y="2640013"/>
          <a:ext cx="1854200" cy="914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854200" imgH="914400" progId="">
                  <p:embed/>
                </p:oleObj>
              </mc:Choice>
              <mc:Fallback>
                <p:oleObj name="Equation" r:id="rId3" imgW="1854200" imgH="914400" progId="">
                  <p:embed/>
                  <p:pic>
                    <p:nvPicPr>
                      <p:cNvPr id="0" name="Picture 50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11950" y="2640013"/>
                        <a:ext cx="1854200" cy="914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圆角矩形 4"/>
          <p:cNvSpPr/>
          <p:nvPr/>
        </p:nvSpPr>
        <p:spPr>
          <a:xfrm>
            <a:off x="5626367" y="3107097"/>
            <a:ext cx="438538" cy="242596"/>
          </a:xfrm>
          <a:prstGeom prst="round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圆角矩形 20"/>
          <p:cNvSpPr/>
          <p:nvPr/>
        </p:nvSpPr>
        <p:spPr>
          <a:xfrm>
            <a:off x="5626367" y="3433440"/>
            <a:ext cx="438538" cy="242596"/>
          </a:xfrm>
          <a:prstGeom prst="round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圆角矩形 21"/>
          <p:cNvSpPr/>
          <p:nvPr/>
        </p:nvSpPr>
        <p:spPr>
          <a:xfrm>
            <a:off x="5626367" y="3737220"/>
            <a:ext cx="438538" cy="242596"/>
          </a:xfrm>
          <a:prstGeom prst="round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圆角矩形 22"/>
          <p:cNvSpPr/>
          <p:nvPr/>
        </p:nvSpPr>
        <p:spPr>
          <a:xfrm>
            <a:off x="5626367" y="4041000"/>
            <a:ext cx="438538" cy="242596"/>
          </a:xfrm>
          <a:prstGeom prst="round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圆角矩形 23"/>
          <p:cNvSpPr/>
          <p:nvPr/>
        </p:nvSpPr>
        <p:spPr>
          <a:xfrm>
            <a:off x="2799184" y="4059438"/>
            <a:ext cx="438538" cy="242596"/>
          </a:xfrm>
          <a:prstGeom prst="round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04281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对象 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85488873"/>
              </p:ext>
            </p:extLst>
          </p:nvPr>
        </p:nvGraphicFramePr>
        <p:xfrm>
          <a:off x="6955352" y="2640013"/>
          <a:ext cx="1778000" cy="914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778000" imgH="914400" progId="">
                  <p:embed/>
                </p:oleObj>
              </mc:Choice>
              <mc:Fallback>
                <p:oleObj name="Equation" r:id="rId3" imgW="1778000" imgH="914400" progId="">
                  <p:embed/>
                  <p:pic>
                    <p:nvPicPr>
                      <p:cNvPr id="0" name="Picture 50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55352" y="2640013"/>
                        <a:ext cx="1778000" cy="914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577050"/>
              </p:ext>
            </p:extLst>
          </p:nvPr>
        </p:nvGraphicFramePr>
        <p:xfrm>
          <a:off x="1276370" y="2013926"/>
          <a:ext cx="5410200" cy="2326640"/>
        </p:xfrm>
        <a:graphic>
          <a:graphicData uri="http://schemas.openxmlformats.org/drawingml/2006/table">
            <a:tbl>
              <a:tblPr/>
              <a:tblGrid>
                <a:gridCol w="10565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4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4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4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3370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ingLiU" panose="02020509000000000000" pitchFamily="49" charset="-120"/>
                          <a:ea typeface="MingLiU" panose="02020509000000000000" pitchFamily="49" charset="-120"/>
                        </a:rPr>
                        <a:t>策略變數</a:t>
                      </a: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1" u="none" strike="noStrike" baseline="-250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損失矩陣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370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ingLiU" panose="02020509000000000000" pitchFamily="49" charset="-120"/>
                          <a:ea typeface="MingLiU" panose="02020509000000000000" pitchFamily="49" charset="-120"/>
                        </a:rPr>
                        <a:t>狀態變數</a:t>
                      </a: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</a:t>
                      </a:r>
                      <a:r>
                        <a:rPr lang="el-G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n-US" sz="1100" b="0" i="1" u="none" strike="noStrike" baseline="-250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9070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l-G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l-G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l-G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370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P</a:t>
                      </a:r>
                      <a:r>
                        <a:rPr lang="el-GR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</a:t>
                      </a:r>
                      <a:r>
                        <a:rPr lang="el-G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= </a:t>
                      </a:r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？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P</a:t>
                      </a:r>
                      <a:r>
                        <a:rPr lang="el-GR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</a:t>
                      </a:r>
                      <a:r>
                        <a:rPr lang="el-G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= </a:t>
                      </a:r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？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P</a:t>
                      </a:r>
                      <a:r>
                        <a:rPr lang="el-GR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</a:t>
                      </a:r>
                      <a:r>
                        <a:rPr lang="el-G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= </a:t>
                      </a:r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？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686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800 - 800 = 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320 - 320 = 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100 - ( - 250 ) = 350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686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800 - 600 = 200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320 - 300 = 20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100 - ( - 200 ) = 300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686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800 - 300 = 500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320 - 150 = 170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100 - 50 = 50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686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4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800 - 400 = 400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320 - 250 = 70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100 - 100 = 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标题 1"/>
          <p:cNvSpPr txBox="1">
            <a:spLocks/>
          </p:cNvSpPr>
          <p:nvPr/>
        </p:nvSpPr>
        <p:spPr bwMode="auto">
          <a:xfrm>
            <a:off x="32871" y="57128"/>
            <a:ext cx="8524875" cy="21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9pPr>
          </a:lstStyle>
          <a:p>
            <a:r>
              <a:rPr lang="zh-CN" altLang="en-US" sz="1500" dirty="0">
                <a:ea typeface="楷体_GB2312" pitchFamily="49" charset="-122"/>
              </a:rPr>
              <a:t>臨床決策分析</a:t>
            </a:r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CN" sz="12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clinical decision analysis </a:t>
            </a:r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sz="12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CDA</a:t>
            </a:r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9" name="矩形 3"/>
          <p:cNvSpPr>
            <a:spLocks noChangeArrowheads="1"/>
          </p:cNvSpPr>
          <p:nvPr/>
        </p:nvSpPr>
        <p:spPr bwMode="auto">
          <a:xfrm>
            <a:off x="45955" y="273592"/>
            <a:ext cx="9534073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lvl="0"/>
            <a:r>
              <a:rPr lang="zh-CN" altLang="en-US" sz="1300" dirty="0">
                <a:solidFill>
                  <a:srgbClr val="000000"/>
                </a:solidFill>
              </a:rPr>
              <a:t>臨床決策中對於「弱推薦」證據的</a:t>
            </a:r>
            <a:r>
              <a:rPr lang="zh-TW" altLang="en-US" sz="1300" dirty="0">
                <a:solidFill>
                  <a:srgbClr val="000000"/>
                </a:solidFill>
              </a:rPr>
              <a:t>輔助決策工具 </a:t>
            </a:r>
            <a:r>
              <a:rPr lang="zh-CN" altLang="en-US" sz="1300" dirty="0">
                <a:solidFill>
                  <a:srgbClr val="000000"/>
                </a:solidFill>
                <a:latin typeface="Arial" pitchFamily="34" charset="0"/>
              </a:rPr>
              <a:t>：</a:t>
            </a:r>
            <a:r>
              <a:rPr lang="zh-CN" altLang="en-US" sz="900" dirty="0">
                <a:solidFill>
                  <a:srgbClr val="000000"/>
                </a:solidFill>
                <a:latin typeface="Arial" pitchFamily="34" charset="0"/>
              </a:rPr>
              <a:t>～</a:t>
            </a:r>
            <a:r>
              <a:rPr lang="en-US" altLang="zh-CN" sz="1300" dirty="0">
                <a:solidFill>
                  <a:srgbClr val="000000"/>
                </a:solidFill>
                <a:latin typeface="Arial" pitchFamily="34" charset="0"/>
              </a:rPr>
              <a:t> 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決策分析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Decision Analysis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 </a:t>
            </a:r>
            <a:r>
              <a:rPr lang="en-US" altLang="zh-CN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- 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決策論原理</a:t>
            </a:r>
            <a:r>
              <a:rPr lang="zh-CN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；</a:t>
            </a:r>
            <a:endParaRPr lang="zh-CN" altLang="en-US" sz="1000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1147650" y="1386986"/>
            <a:ext cx="9815807" cy="346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3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遺憾準則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1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min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-</a:t>
            </a:r>
            <a:r>
              <a:rPr lang="en-US" altLang="zh-TW" sz="11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max</a:t>
            </a:r>
            <a:r>
              <a:rPr lang="en-US" altLang="zh-TW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：計算各方案在每種狀態下的損失值 </a:t>
            </a:r>
            <a:r>
              <a:rPr lang="en-US" altLang="zh-CN" sz="1100" i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r</a:t>
            </a:r>
            <a:r>
              <a:rPr lang="en-US" altLang="zh-CN" sz="1100" i="1" baseline="-25000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ij</a:t>
            </a: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，首先確定每策略的最大損失值，再從最大損失值中取最小者所對應的策略變數（方案）；</a:t>
            </a:r>
          </a:p>
        </p:txBody>
      </p:sp>
      <p:sp>
        <p:nvSpPr>
          <p:cNvPr id="66" name="Rectangle 57"/>
          <p:cNvSpPr>
            <a:spLocks noChangeArrowheads="1"/>
          </p:cNvSpPr>
          <p:nvPr/>
        </p:nvSpPr>
        <p:spPr bwMode="auto">
          <a:xfrm>
            <a:off x="0" y="0"/>
            <a:ext cx="1152207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sp>
        <p:nvSpPr>
          <p:cNvPr id="68" name="Rectangle 59"/>
          <p:cNvSpPr>
            <a:spLocks noChangeArrowheads="1"/>
          </p:cNvSpPr>
          <p:nvPr/>
        </p:nvSpPr>
        <p:spPr bwMode="auto">
          <a:xfrm>
            <a:off x="0" y="0"/>
            <a:ext cx="1152207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sp>
        <p:nvSpPr>
          <p:cNvPr id="28" name="矩形 27"/>
          <p:cNvSpPr/>
          <p:nvPr/>
        </p:nvSpPr>
        <p:spPr>
          <a:xfrm>
            <a:off x="1147651" y="1040737"/>
            <a:ext cx="6818170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舉例：非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確定型決策</a:t>
            </a:r>
          </a:p>
        </p:txBody>
      </p:sp>
      <p:sp>
        <p:nvSpPr>
          <p:cNvPr id="15" name="矩形 14"/>
          <p:cNvSpPr/>
          <p:nvPr/>
        </p:nvSpPr>
        <p:spPr>
          <a:xfrm>
            <a:off x="1147651" y="4545311"/>
            <a:ext cx="6818170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結論：因而選擇方案 「</a:t>
            </a:r>
            <a:r>
              <a:rPr lang="en-US" altLang="zh-CN" sz="11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altLang="zh-CN" sz="1100" baseline="-25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2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」；</a:t>
            </a:r>
          </a:p>
        </p:txBody>
      </p:sp>
      <p:sp>
        <p:nvSpPr>
          <p:cNvPr id="5" name="圆角矩形 4"/>
          <p:cNvSpPr/>
          <p:nvPr/>
        </p:nvSpPr>
        <p:spPr>
          <a:xfrm>
            <a:off x="5262449" y="3107097"/>
            <a:ext cx="1260000" cy="242596"/>
          </a:xfrm>
          <a:prstGeom prst="round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圆角矩形 20"/>
          <p:cNvSpPr/>
          <p:nvPr/>
        </p:nvSpPr>
        <p:spPr>
          <a:xfrm>
            <a:off x="5262449" y="3433440"/>
            <a:ext cx="1260000" cy="242596"/>
          </a:xfrm>
          <a:prstGeom prst="round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圆角矩形 21"/>
          <p:cNvSpPr/>
          <p:nvPr/>
        </p:nvSpPr>
        <p:spPr>
          <a:xfrm>
            <a:off x="2500591" y="3737220"/>
            <a:ext cx="1080000" cy="242596"/>
          </a:xfrm>
          <a:prstGeom prst="round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圆角矩形 22"/>
          <p:cNvSpPr/>
          <p:nvPr/>
        </p:nvSpPr>
        <p:spPr>
          <a:xfrm>
            <a:off x="2500591" y="4041000"/>
            <a:ext cx="1080000" cy="242596"/>
          </a:xfrm>
          <a:prstGeom prst="round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圆角矩形 23"/>
          <p:cNvSpPr/>
          <p:nvPr/>
        </p:nvSpPr>
        <p:spPr>
          <a:xfrm>
            <a:off x="1576863" y="3443616"/>
            <a:ext cx="438538" cy="242596"/>
          </a:xfrm>
          <a:prstGeom prst="round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755316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3398103"/>
              </p:ext>
            </p:extLst>
          </p:nvPr>
        </p:nvGraphicFramePr>
        <p:xfrm>
          <a:off x="613788" y="1556732"/>
          <a:ext cx="6642100" cy="2326640"/>
        </p:xfrm>
        <a:graphic>
          <a:graphicData uri="http://schemas.openxmlformats.org/drawingml/2006/table">
            <a:tbl>
              <a:tblPr/>
              <a:tblGrid>
                <a:gridCol w="1055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5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5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4116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3370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ingLiU" panose="02020509000000000000" pitchFamily="49" charset="-120"/>
                          <a:ea typeface="MingLiU" panose="02020509000000000000" pitchFamily="49" charset="-120"/>
                        </a:rPr>
                        <a:t>策略變數</a:t>
                      </a: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1" u="none" strike="noStrike" baseline="-250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收益矩陣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370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ingLiU" panose="02020509000000000000" pitchFamily="49" charset="-120"/>
                          <a:ea typeface="MingLiU" panose="02020509000000000000" pitchFamily="49" charset="-120"/>
                        </a:rPr>
                        <a:t>狀態變數</a:t>
                      </a: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</a:t>
                      </a:r>
                      <a:r>
                        <a:rPr lang="el-G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n-US" sz="1100" b="0" i="1" u="none" strike="noStrike" baseline="-250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H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(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1" u="none" strike="noStrike" baseline="-250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j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) = </a:t>
                      </a:r>
                      <a:r>
                        <a:rPr lang="el-G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α </a:t>
                      </a:r>
                      <a:r>
                        <a:rPr lang="el-G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· </a:t>
                      </a: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max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{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1" u="none" strike="noStrike" baseline="-250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ij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} + ( </a:t>
                      </a: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- </a:t>
                      </a:r>
                      <a:r>
                        <a:rPr lang="el-G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α</a:t>
                      </a:r>
                      <a:r>
                        <a:rPr lang="el-G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) · </a:t>
                      </a: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min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{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1" u="none" strike="noStrike" baseline="-250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ij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} 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9070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l-G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l-G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l-G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370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P</a:t>
                      </a:r>
                      <a:r>
                        <a:rPr lang="el-GR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</a:t>
                      </a:r>
                      <a:r>
                        <a:rPr lang="el-G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= </a:t>
                      </a:r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？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P</a:t>
                      </a:r>
                      <a:r>
                        <a:rPr lang="el-GR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</a:t>
                      </a:r>
                      <a:r>
                        <a:rPr lang="el-G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= </a:t>
                      </a:r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？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P</a:t>
                      </a:r>
                      <a:r>
                        <a:rPr lang="el-GR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</a:t>
                      </a:r>
                      <a:r>
                        <a:rPr lang="el-G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= </a:t>
                      </a:r>
                      <a:r>
                        <a:rPr lang="zh-CN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？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l-G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α = 0.8</a:t>
                      </a:r>
                    </a:p>
                  </a:txBody>
                  <a:tcPr marL="9525" marR="9525" marT="952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686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800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320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-250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590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686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300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-200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440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686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150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686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4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400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250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7" name="对象 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90982168"/>
              </p:ext>
            </p:extLst>
          </p:nvPr>
        </p:nvGraphicFramePr>
        <p:xfrm>
          <a:off x="635004" y="4071700"/>
          <a:ext cx="3644900" cy="914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644900" imgH="914400" progId="">
                  <p:embed/>
                </p:oleObj>
              </mc:Choice>
              <mc:Fallback>
                <p:oleObj name="Equation" r:id="rId3" imgW="3644900" imgH="914400" progId="">
                  <p:embed/>
                  <p:pic>
                    <p:nvPicPr>
                      <p:cNvPr id="0" name="Picture 50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5004" y="4071700"/>
                        <a:ext cx="3644900" cy="914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标题 1"/>
          <p:cNvSpPr txBox="1">
            <a:spLocks/>
          </p:cNvSpPr>
          <p:nvPr/>
        </p:nvSpPr>
        <p:spPr bwMode="auto">
          <a:xfrm>
            <a:off x="32871" y="57128"/>
            <a:ext cx="8524875" cy="21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9pPr>
          </a:lstStyle>
          <a:p>
            <a:r>
              <a:rPr lang="zh-CN" altLang="en-US" sz="1500" dirty="0">
                <a:ea typeface="楷体_GB2312" pitchFamily="49" charset="-122"/>
              </a:rPr>
              <a:t>臨床決策分析</a:t>
            </a:r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CN" sz="12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clinical decision analysis </a:t>
            </a:r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sz="12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CDA</a:t>
            </a:r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9" name="矩形 3"/>
          <p:cNvSpPr>
            <a:spLocks noChangeArrowheads="1"/>
          </p:cNvSpPr>
          <p:nvPr/>
        </p:nvSpPr>
        <p:spPr bwMode="auto">
          <a:xfrm>
            <a:off x="45955" y="273592"/>
            <a:ext cx="9534073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lvl="0"/>
            <a:r>
              <a:rPr lang="zh-CN" altLang="en-US" sz="1300" dirty="0">
                <a:solidFill>
                  <a:srgbClr val="000000"/>
                </a:solidFill>
              </a:rPr>
              <a:t>臨床決策中對於「弱推薦」證據的</a:t>
            </a:r>
            <a:r>
              <a:rPr lang="zh-TW" altLang="en-US" sz="1300" dirty="0">
                <a:solidFill>
                  <a:srgbClr val="000000"/>
                </a:solidFill>
              </a:rPr>
              <a:t>輔助決策工具 </a:t>
            </a:r>
            <a:r>
              <a:rPr lang="zh-CN" altLang="en-US" sz="1300" dirty="0">
                <a:solidFill>
                  <a:srgbClr val="000000"/>
                </a:solidFill>
                <a:latin typeface="Arial" pitchFamily="34" charset="0"/>
              </a:rPr>
              <a:t>：</a:t>
            </a:r>
            <a:r>
              <a:rPr lang="zh-CN" altLang="en-US" sz="900" dirty="0">
                <a:solidFill>
                  <a:srgbClr val="000000"/>
                </a:solidFill>
                <a:latin typeface="Arial" pitchFamily="34" charset="0"/>
              </a:rPr>
              <a:t>～</a:t>
            </a:r>
            <a:r>
              <a:rPr lang="en-US" altLang="zh-CN" sz="1300" dirty="0">
                <a:solidFill>
                  <a:srgbClr val="000000"/>
                </a:solidFill>
                <a:latin typeface="Arial" pitchFamily="34" charset="0"/>
              </a:rPr>
              <a:t> 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決策分析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Decision Analysis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 </a:t>
            </a:r>
            <a:r>
              <a:rPr lang="en-US" altLang="zh-CN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- 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決策論原理</a:t>
            </a:r>
            <a:r>
              <a:rPr lang="zh-CN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；</a:t>
            </a:r>
            <a:endParaRPr lang="zh-CN" altLang="en-US" sz="1000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503848" y="1107054"/>
            <a:ext cx="10935487" cy="346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4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、赫威斯</a:t>
            </a:r>
            <a:r>
              <a:rPr lang="zh-TW" altLang="en-US" sz="1100" dirty="0">
                <a:latin typeface="Times New Roman" pitchFamily="18" charset="0"/>
                <a:cs typeface="Times New Roman" pitchFamily="18" charset="0"/>
              </a:rPr>
              <a:t>準則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：決策者給出樂觀係數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 α 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∈ 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[ 0 , 1 ]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 ，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α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 → 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0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 表示決策者接近悲觀，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α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 → 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1 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表示決策者接近樂觀，用樂觀係數加權收益值後取最大值所對應的策略變數（方案）；</a:t>
            </a:r>
          </a:p>
        </p:txBody>
      </p:sp>
      <p:sp>
        <p:nvSpPr>
          <p:cNvPr id="66" name="Rectangle 57"/>
          <p:cNvSpPr>
            <a:spLocks noChangeArrowheads="1"/>
          </p:cNvSpPr>
          <p:nvPr/>
        </p:nvSpPr>
        <p:spPr bwMode="auto">
          <a:xfrm>
            <a:off x="0" y="0"/>
            <a:ext cx="1152207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sp>
        <p:nvSpPr>
          <p:cNvPr id="68" name="Rectangle 59"/>
          <p:cNvSpPr>
            <a:spLocks noChangeArrowheads="1"/>
          </p:cNvSpPr>
          <p:nvPr/>
        </p:nvSpPr>
        <p:spPr bwMode="auto">
          <a:xfrm>
            <a:off x="0" y="0"/>
            <a:ext cx="1152207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sp>
        <p:nvSpPr>
          <p:cNvPr id="28" name="矩形 27"/>
          <p:cNvSpPr/>
          <p:nvPr/>
        </p:nvSpPr>
        <p:spPr>
          <a:xfrm>
            <a:off x="503849" y="760805"/>
            <a:ext cx="6818170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舉例：</a:t>
            </a:r>
            <a:r>
              <a:rPr lang="zh-TW" altLang="en-US" sz="1100" dirty="0">
                <a:latin typeface="Times New Roman" pitchFamily="18" charset="0"/>
                <a:cs typeface="Times New Roman" pitchFamily="18" charset="0"/>
              </a:rPr>
              <a:t>不確定型決策</a:t>
            </a:r>
          </a:p>
        </p:txBody>
      </p:sp>
      <p:sp>
        <p:nvSpPr>
          <p:cNvPr id="15" name="矩形 14"/>
          <p:cNvSpPr/>
          <p:nvPr/>
        </p:nvSpPr>
        <p:spPr>
          <a:xfrm>
            <a:off x="503848" y="5067806"/>
            <a:ext cx="6818171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結論：因而選擇方案 「</a:t>
            </a:r>
            <a:r>
              <a:rPr lang="en-US" altLang="zh-CN" sz="1100" i="1" dirty="0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altLang="zh-CN" sz="1100" baseline="-25000" dirty="0">
                <a:latin typeface="Times New Roman" pitchFamily="18" charset="0"/>
                <a:cs typeface="Times New Roman" pitchFamily="18" charset="0"/>
              </a:rPr>
              <a:t>1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」；</a:t>
            </a:r>
          </a:p>
        </p:txBody>
      </p:sp>
      <p:sp>
        <p:nvSpPr>
          <p:cNvPr id="5" name="圆角矩形 4"/>
          <p:cNvSpPr/>
          <p:nvPr/>
        </p:nvSpPr>
        <p:spPr>
          <a:xfrm>
            <a:off x="5635699" y="2649884"/>
            <a:ext cx="432000" cy="242596"/>
          </a:xfrm>
          <a:prstGeom prst="round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24" name="圆角矩形 23"/>
          <p:cNvSpPr/>
          <p:nvPr/>
        </p:nvSpPr>
        <p:spPr>
          <a:xfrm>
            <a:off x="905062" y="2669152"/>
            <a:ext cx="438538" cy="242596"/>
          </a:xfrm>
          <a:prstGeom prst="round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23933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5991988"/>
              </p:ext>
            </p:extLst>
          </p:nvPr>
        </p:nvGraphicFramePr>
        <p:xfrm>
          <a:off x="1118920" y="1556738"/>
          <a:ext cx="7124700" cy="2326640"/>
        </p:xfrm>
        <a:graphic>
          <a:graphicData uri="http://schemas.openxmlformats.org/drawingml/2006/table">
            <a:tbl>
              <a:tblPr/>
              <a:tblGrid>
                <a:gridCol w="1808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69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05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05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05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78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3370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效益函數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ingLiU" panose="02020509000000000000" pitchFamily="49" charset="-120"/>
                          <a:ea typeface="MingLiU" panose="02020509000000000000" pitchFamily="49" charset="-120"/>
                        </a:rPr>
                        <a:t>策略變數</a:t>
                      </a: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1" u="none" strike="noStrike" baseline="-250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收益矩陣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370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ingLiU" panose="02020509000000000000" pitchFamily="49" charset="-120"/>
                          <a:ea typeface="MingLiU" panose="02020509000000000000" pitchFamily="49" charset="-120"/>
                        </a:rPr>
                        <a:t>狀態變數</a:t>
                      </a: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</a:t>
                      </a:r>
                      <a:r>
                        <a:rPr lang="el-G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n-US" sz="1100" b="0" i="1" u="none" strike="noStrike" baseline="-250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el-G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Σ [ 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P</a:t>
                      </a:r>
                      <a:r>
                        <a:rPr lang="en-US" sz="1100" b="0" i="1" u="none" strike="noStrike" baseline="-250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j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× 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o</a:t>
                      </a:r>
                      <a:r>
                        <a:rPr lang="en-US" sz="1100" b="0" i="1" u="none" strike="noStrike" baseline="-250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ij</a:t>
                      </a:r>
                      <a:r>
                        <a:rPr lang="en-US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]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9070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l-G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l-G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l-G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370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P</a:t>
                      </a:r>
                      <a:r>
                        <a:rPr lang="el-GR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</a:t>
                      </a:r>
                      <a:r>
                        <a:rPr lang="el-G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= 0.3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P</a:t>
                      </a:r>
                      <a:r>
                        <a:rPr lang="el-GR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</a:t>
                      </a:r>
                      <a:r>
                        <a:rPr lang="el-G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= 0.4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P</a:t>
                      </a:r>
                      <a:r>
                        <a:rPr lang="el-GR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θ</a:t>
                      </a:r>
                      <a:r>
                        <a:rPr lang="el-G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</a:t>
                      </a:r>
                      <a:r>
                        <a:rPr lang="el-G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= 0.3</a:t>
                      </a:r>
                      <a:endParaRPr lang="el-G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6865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EMV </a:t>
                      </a: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= ( </a:t>
                      </a:r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P</a:t>
                      </a:r>
                      <a:r>
                        <a:rPr lang="pt-BR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j</a:t>
                      </a: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)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</a:t>
                      </a:r>
                      <a:r>
                        <a:rPr lang="pt-BR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n</a:t>
                      </a: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× ( </a:t>
                      </a:r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o</a:t>
                      </a:r>
                      <a:r>
                        <a:rPr lang="pt-BR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ij</a:t>
                      </a: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) </a:t>
                      </a:r>
                      <a:r>
                        <a:rPr lang="pt-BR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m 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× </a:t>
                      </a:r>
                      <a:r>
                        <a:rPr lang="pt-BR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n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128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-75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293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6865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120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-60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6865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165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6865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a</a:t>
                      </a:r>
                      <a:r>
                        <a:rPr lang="en-US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4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120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7" name="对象 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97274579"/>
              </p:ext>
            </p:extLst>
          </p:nvPr>
        </p:nvGraphicFramePr>
        <p:xfrm>
          <a:off x="1113097" y="4135642"/>
          <a:ext cx="7188200" cy="939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188200" imgH="939800" progId="">
                  <p:embed/>
                </p:oleObj>
              </mc:Choice>
              <mc:Fallback>
                <p:oleObj name="Equation" r:id="rId3" imgW="7188200" imgH="939800" progId="">
                  <p:embed/>
                  <p:pic>
                    <p:nvPicPr>
                      <p:cNvPr id="0" name="Picture 50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3097" y="4135642"/>
                        <a:ext cx="7188200" cy="9398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标题 1"/>
          <p:cNvSpPr txBox="1">
            <a:spLocks/>
          </p:cNvSpPr>
          <p:nvPr/>
        </p:nvSpPr>
        <p:spPr bwMode="auto">
          <a:xfrm>
            <a:off x="32871" y="57128"/>
            <a:ext cx="8524875" cy="21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9pPr>
          </a:lstStyle>
          <a:p>
            <a:r>
              <a:rPr lang="zh-CN" altLang="en-US" sz="1500" dirty="0">
                <a:ea typeface="楷体_GB2312" pitchFamily="49" charset="-122"/>
              </a:rPr>
              <a:t>臨床決策分析</a:t>
            </a:r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CN" sz="12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clinical decision analysis </a:t>
            </a:r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sz="12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CDA</a:t>
            </a:r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9" name="矩形 3"/>
          <p:cNvSpPr>
            <a:spLocks noChangeArrowheads="1"/>
          </p:cNvSpPr>
          <p:nvPr/>
        </p:nvSpPr>
        <p:spPr bwMode="auto">
          <a:xfrm>
            <a:off x="45955" y="273592"/>
            <a:ext cx="9534073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lvl="0"/>
            <a:r>
              <a:rPr lang="zh-CN" altLang="en-US" sz="1300" dirty="0">
                <a:solidFill>
                  <a:srgbClr val="000000"/>
                </a:solidFill>
              </a:rPr>
              <a:t>臨床決策中對於「弱推薦」證據的</a:t>
            </a:r>
            <a:r>
              <a:rPr lang="zh-TW" altLang="en-US" sz="1300" dirty="0">
                <a:solidFill>
                  <a:srgbClr val="000000"/>
                </a:solidFill>
              </a:rPr>
              <a:t>輔助決策工具 </a:t>
            </a:r>
            <a:r>
              <a:rPr lang="zh-CN" altLang="en-US" sz="1300" dirty="0">
                <a:solidFill>
                  <a:srgbClr val="000000"/>
                </a:solidFill>
                <a:latin typeface="Arial" pitchFamily="34" charset="0"/>
              </a:rPr>
              <a:t>：</a:t>
            </a:r>
            <a:r>
              <a:rPr lang="zh-CN" altLang="en-US" sz="900" dirty="0">
                <a:solidFill>
                  <a:srgbClr val="000000"/>
                </a:solidFill>
                <a:latin typeface="Arial" pitchFamily="34" charset="0"/>
              </a:rPr>
              <a:t>～</a:t>
            </a:r>
            <a:r>
              <a:rPr lang="en-US" altLang="zh-CN" sz="1300" dirty="0">
                <a:solidFill>
                  <a:srgbClr val="000000"/>
                </a:solidFill>
                <a:latin typeface="Arial" pitchFamily="34" charset="0"/>
              </a:rPr>
              <a:t> 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決策分析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Decision Analysis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 </a:t>
            </a:r>
            <a:r>
              <a:rPr lang="en-US" altLang="zh-CN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- 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決策論原理</a:t>
            </a:r>
            <a:r>
              <a:rPr lang="zh-CN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；</a:t>
            </a:r>
            <a:endParaRPr lang="zh-CN" altLang="en-US" sz="1000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998366" y="1107061"/>
            <a:ext cx="9955764" cy="346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5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、效益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值準則評價模型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：根據不同狀態變數下的效益值 </a:t>
            </a:r>
            <a:r>
              <a:rPr lang="en-US" altLang="zh-CN" sz="1100" i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altLang="zh-CN" sz="1100" i="1" baseline="-25000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ij</a:t>
            </a: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和預估得到其對應的出現概率 </a:t>
            </a:r>
            <a:r>
              <a:rPr lang="en-US" altLang="zh-CN" sz="1100" i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</a:t>
            </a:r>
            <a:r>
              <a:rPr lang="en-US" altLang="zh-CN" sz="1100" i="1" baseline="-25000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j</a:t>
            </a: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，求效益期望值 </a:t>
            </a:r>
            <a:r>
              <a:rPr lang="en-US" altLang="zh-CN" sz="1100" i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EMV</a:t>
            </a:r>
            <a:r>
              <a:rPr lang="en-US" altLang="zh-CN" sz="1100" i="1" baseline="-25000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，取最大效益值所對應的策略變數（方案）；</a:t>
            </a:r>
          </a:p>
        </p:txBody>
      </p:sp>
      <p:sp>
        <p:nvSpPr>
          <p:cNvPr id="66" name="Rectangle 57"/>
          <p:cNvSpPr>
            <a:spLocks noChangeArrowheads="1"/>
          </p:cNvSpPr>
          <p:nvPr/>
        </p:nvSpPr>
        <p:spPr bwMode="auto">
          <a:xfrm>
            <a:off x="0" y="0"/>
            <a:ext cx="1152207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sp>
        <p:nvSpPr>
          <p:cNvPr id="68" name="Rectangle 59"/>
          <p:cNvSpPr>
            <a:spLocks noChangeArrowheads="1"/>
          </p:cNvSpPr>
          <p:nvPr/>
        </p:nvSpPr>
        <p:spPr bwMode="auto">
          <a:xfrm>
            <a:off x="0" y="0"/>
            <a:ext cx="1152207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sp>
        <p:nvSpPr>
          <p:cNvPr id="28" name="矩形 27"/>
          <p:cNvSpPr/>
          <p:nvPr/>
        </p:nvSpPr>
        <p:spPr>
          <a:xfrm>
            <a:off x="998366" y="760812"/>
            <a:ext cx="6818170" cy="346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舉例：</a:t>
            </a:r>
            <a:r>
              <a:rPr lang="zh-TW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風險型決策</a:t>
            </a:r>
          </a:p>
        </p:txBody>
      </p:sp>
      <p:sp>
        <p:nvSpPr>
          <p:cNvPr id="15" name="矩形 14"/>
          <p:cNvSpPr/>
          <p:nvPr/>
        </p:nvSpPr>
        <p:spPr>
          <a:xfrm>
            <a:off x="998367" y="5189108"/>
            <a:ext cx="6818170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結論：因而選擇方案 「</a:t>
            </a:r>
            <a:r>
              <a:rPr lang="en-US" altLang="zh-CN" sz="11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a</a:t>
            </a:r>
            <a:r>
              <a:rPr lang="en-US" altLang="zh-CN" sz="1100" baseline="-25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1</a:t>
            </a:r>
            <a:r>
              <a:rPr lang="zh-CN" altLang="en-US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」；</a:t>
            </a:r>
          </a:p>
        </p:txBody>
      </p:sp>
      <p:sp>
        <p:nvSpPr>
          <p:cNvPr id="5" name="圆角矩形 4"/>
          <p:cNvSpPr/>
          <p:nvPr/>
        </p:nvSpPr>
        <p:spPr>
          <a:xfrm>
            <a:off x="7473823" y="2649891"/>
            <a:ext cx="432000" cy="242596"/>
          </a:xfrm>
          <a:prstGeom prst="round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圆角矩形 23"/>
          <p:cNvSpPr/>
          <p:nvPr/>
        </p:nvSpPr>
        <p:spPr>
          <a:xfrm>
            <a:off x="3228387" y="2669159"/>
            <a:ext cx="438538" cy="242596"/>
          </a:xfrm>
          <a:prstGeom prst="round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60232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/>
          <p:cNvSpPr txBox="1">
            <a:spLocks/>
          </p:cNvSpPr>
          <p:nvPr/>
        </p:nvSpPr>
        <p:spPr bwMode="auto">
          <a:xfrm>
            <a:off x="32871" y="57128"/>
            <a:ext cx="8524875" cy="21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9pPr>
          </a:lstStyle>
          <a:p>
            <a:r>
              <a:rPr lang="zh-CN" altLang="en-US" sz="1500" dirty="0">
                <a:ea typeface="楷体_GB2312" pitchFamily="49" charset="-122"/>
              </a:rPr>
              <a:t>臨床決策分析</a:t>
            </a:r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CN" sz="12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clinical decision analysis </a:t>
            </a:r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sz="12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CDA</a:t>
            </a:r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9" name="矩形 3"/>
          <p:cNvSpPr>
            <a:spLocks noChangeArrowheads="1"/>
          </p:cNvSpPr>
          <p:nvPr/>
        </p:nvSpPr>
        <p:spPr bwMode="auto">
          <a:xfrm>
            <a:off x="45955" y="273592"/>
            <a:ext cx="9534073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lvl="0"/>
            <a:r>
              <a:rPr lang="zh-CN" altLang="en-US" sz="1300" dirty="0">
                <a:solidFill>
                  <a:srgbClr val="000000"/>
                </a:solidFill>
              </a:rPr>
              <a:t>臨床決策中對於「弱推薦」證據的</a:t>
            </a:r>
            <a:r>
              <a:rPr lang="zh-TW" altLang="en-US" sz="1300" dirty="0">
                <a:solidFill>
                  <a:srgbClr val="000000"/>
                </a:solidFill>
              </a:rPr>
              <a:t>輔助決策工具 </a:t>
            </a:r>
            <a:r>
              <a:rPr lang="zh-CN" altLang="en-US" sz="1300" dirty="0">
                <a:solidFill>
                  <a:srgbClr val="000000"/>
                </a:solidFill>
                <a:latin typeface="Arial" pitchFamily="34" charset="0"/>
              </a:rPr>
              <a:t>：</a:t>
            </a:r>
            <a:r>
              <a:rPr lang="zh-CN" altLang="en-US" sz="900" dirty="0">
                <a:solidFill>
                  <a:srgbClr val="000000"/>
                </a:solidFill>
                <a:latin typeface="Arial" pitchFamily="34" charset="0"/>
              </a:rPr>
              <a:t>～</a:t>
            </a:r>
            <a:r>
              <a:rPr lang="en-US" altLang="zh-CN" sz="1300" dirty="0">
                <a:solidFill>
                  <a:srgbClr val="000000"/>
                </a:solidFill>
                <a:latin typeface="Arial" pitchFamily="34" charset="0"/>
              </a:rPr>
              <a:t> 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決策分析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Decision Analysis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 </a:t>
            </a:r>
            <a:r>
              <a:rPr lang="en-US" altLang="zh-CN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- 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決策論原理</a:t>
            </a:r>
            <a:r>
              <a:rPr lang="zh-CN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；</a:t>
            </a:r>
            <a:endParaRPr lang="zh-CN" altLang="en-US" sz="1000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6" name="Rectangle 57"/>
          <p:cNvSpPr>
            <a:spLocks noChangeArrowheads="1"/>
          </p:cNvSpPr>
          <p:nvPr/>
        </p:nvSpPr>
        <p:spPr bwMode="auto">
          <a:xfrm>
            <a:off x="0" y="0"/>
            <a:ext cx="1152207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sp>
        <p:nvSpPr>
          <p:cNvPr id="68" name="Rectangle 59"/>
          <p:cNvSpPr>
            <a:spLocks noChangeArrowheads="1"/>
          </p:cNvSpPr>
          <p:nvPr/>
        </p:nvSpPr>
        <p:spPr bwMode="auto">
          <a:xfrm>
            <a:off x="0" y="0"/>
            <a:ext cx="1152207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0" y="0"/>
            <a:ext cx="1152207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grpSp>
        <p:nvGrpSpPr>
          <p:cNvPr id="3" name="组合 2"/>
          <p:cNvGrpSpPr/>
          <p:nvPr/>
        </p:nvGrpSpPr>
        <p:grpSpPr>
          <a:xfrm>
            <a:off x="181158" y="592139"/>
            <a:ext cx="11182174" cy="5176729"/>
            <a:chOff x="181158" y="639764"/>
            <a:chExt cx="11182174" cy="5176729"/>
          </a:xfrm>
        </p:grpSpPr>
        <p:sp>
          <p:nvSpPr>
            <p:cNvPr id="17" name="矩形 16"/>
            <p:cNvSpPr/>
            <p:nvPr/>
          </p:nvSpPr>
          <p:spPr>
            <a:xfrm>
              <a:off x="181160" y="639764"/>
              <a:ext cx="11182166" cy="34624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>
                <a:lnSpc>
                  <a:spcPct val="150000"/>
                </a:lnSpc>
              </a:pP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決策效用函數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矩形 9"/>
                <p:cNvSpPr/>
                <p:nvPr/>
              </p:nvSpPr>
              <p:spPr>
                <a:xfrm>
                  <a:off x="181159" y="947913"/>
                  <a:ext cx="11182166" cy="1498424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>
                    <a:lnSpc>
                      <a:spcPct val="150000"/>
                    </a:lnSpc>
                  </a:pPr>
                  <a:r>
                    <a:rPr lang="zh-CN" altLang="en-US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設事態體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T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= (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p</a:t>
                  </a:r>
                  <a:r>
                    <a:rPr lang="en-US" altLang="zh-CN" sz="1100" baseline="-25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1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,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o</a:t>
                  </a:r>
                  <a:r>
                    <a:rPr lang="en-US" altLang="zh-CN" sz="1100" baseline="-25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1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,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p</a:t>
                  </a:r>
                  <a:r>
                    <a:rPr lang="en-US" altLang="zh-CN" sz="1100" baseline="-25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2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,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o</a:t>
                  </a:r>
                  <a:r>
                    <a:rPr lang="en-US" altLang="zh-CN" sz="1100" baseline="-25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2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, … , </a:t>
                  </a:r>
                  <a:r>
                    <a:rPr lang="en-US" altLang="zh-CN" sz="1100" i="1" dirty="0" err="1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p</a:t>
                  </a:r>
                  <a:r>
                    <a:rPr lang="en-US" altLang="zh-CN" sz="1100" i="1" baseline="-25000" dirty="0" err="1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n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,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o</a:t>
                  </a:r>
                  <a:r>
                    <a:rPr lang="en-US" altLang="zh-CN" sz="1100" i="1" baseline="-25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n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) </a:t>
                  </a:r>
                  <a:r>
                    <a:rPr lang="zh-CN" altLang="en-US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，則必存在一個簡單事態體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T </a:t>
                  </a:r>
                  <a:r>
                    <a:rPr lang="en-US" altLang="zh-CN" sz="1100" baseline="30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’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(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p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’ ,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o</a:t>
                  </a:r>
                  <a:r>
                    <a:rPr lang="en-US" altLang="zh-CN" sz="1100" baseline="30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*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, </a:t>
                  </a:r>
                  <a:r>
                    <a:rPr lang="en-US" altLang="zh-CN" sz="9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1 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-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p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’ ,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o</a:t>
                  </a:r>
                  <a:r>
                    <a:rPr lang="en-US" altLang="zh-CN" sz="1100" baseline="30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0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) </a:t>
                  </a:r>
                  <a:r>
                    <a:rPr lang="zh-CN" altLang="en-US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使得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T </a:t>
                  </a:r>
                  <a:r>
                    <a:rPr lang="en-US" altLang="zh-CN" sz="1100" baseline="30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’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~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T</a:t>
                  </a:r>
                  <a:r>
                    <a:rPr lang="zh-CN" altLang="en-US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，其中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zh-CN" sz="1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Times New Roman" pitchFamily="18" charset="0"/>
                            </a:rPr>
                          </m:ctrlPr>
                        </m:sSupPr>
                        <m:e>
                          <m:r>
                            <a:rPr lang="en-US" altLang="zh-CN" sz="1100" i="1">
                              <a:solidFill>
                                <a:srgbClr val="000000"/>
                              </a:solidFill>
                              <a:latin typeface="Cambria Math"/>
                              <a:cs typeface="Times New Roman" pitchFamily="18" charset="0"/>
                            </a:rPr>
                            <m:t>𝑜</m:t>
                          </m:r>
                        </m:e>
                        <m:sup>
                          <m:r>
                            <a:rPr lang="en-US" altLang="zh-CN" sz="1100" i="1">
                              <a:solidFill>
                                <a:srgbClr val="000000"/>
                              </a:solidFill>
                              <a:latin typeface="Cambria Math"/>
                              <a:cs typeface="Times New Roman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altLang="zh-CN" sz="1100" i="1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Times New Roman" pitchFamily="18" charset="0"/>
                        </a:rPr>
                        <m:t>≿</m:t>
                      </m:r>
                      <m:func>
                        <m:funcPr>
                          <m:ctrlPr>
                            <a:rPr lang="en-US" altLang="zh-CN" sz="1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Times New Roman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sz="110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Times New Roman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altLang="zh-CN" sz="1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/>
                                  <a:cs typeface="Times New Roman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Times New Roman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Times New Roman" pitchFamily="18" charset="0"/>
                                    </a:rPr>
                                    <m:t>𝑜</m:t>
                                  </m:r>
                                </m:e>
                                <m:sub>
                                  <m: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Times New Roman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sz="1100" i="1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Times New Roman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Times New Roman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Times New Roman" pitchFamily="18" charset="0"/>
                                    </a:rPr>
                                    <m:t>𝑜</m:t>
                                  </m:r>
                                </m:e>
                                <m:sub>
                                  <m: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Times New Roman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CN" sz="1100" i="1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Times New Roman" pitchFamily="18" charset="0"/>
                                </a:rPr>
                                <m:t>,</m:t>
                              </m:r>
                              <m:r>
                                <a:rPr lang="en-US" altLang="zh-CN" sz="110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Times New Roman" pitchFamily="18" charset="0"/>
                                </a:rPr>
                                <m:t>…,</m:t>
                              </m:r>
                              <m:sSub>
                                <m:sSubPr>
                                  <m:ctrlP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Times New Roman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Times New Roman" pitchFamily="18" charset="0"/>
                                    </a:rPr>
                                    <m:t>𝑜</m:t>
                                  </m:r>
                                </m:e>
                                <m:sub>
                                  <m: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Times New Roman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a14:m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,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zh-CN" sz="1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Times New Roman" pitchFamily="18" charset="0"/>
                            </a:rPr>
                          </m:ctrlPr>
                        </m:sSupPr>
                        <m:e>
                          <m:r>
                            <a:rPr lang="en-US" altLang="zh-CN" sz="1100" i="1">
                              <a:solidFill>
                                <a:srgbClr val="000000"/>
                              </a:solidFill>
                              <a:latin typeface="Cambria Math"/>
                              <a:cs typeface="Times New Roman" pitchFamily="18" charset="0"/>
                            </a:rPr>
                            <m:t>𝑜</m:t>
                          </m:r>
                        </m:e>
                        <m:sup>
                          <m:r>
                            <a:rPr lang="en-US" altLang="zh-CN" sz="1100" i="1">
                              <a:solidFill>
                                <a:srgbClr val="000000"/>
                              </a:solidFill>
                              <a:latin typeface="Cambria Math"/>
                              <a:cs typeface="Times New Roman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altLang="zh-CN" sz="1100" i="1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Times New Roman" pitchFamily="18" charset="0"/>
                        </a:rPr>
                        <m:t>≾</m:t>
                      </m:r>
                      <m:func>
                        <m:funcPr>
                          <m:ctrlPr>
                            <a:rPr lang="en-US" altLang="zh-CN" sz="1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Times New Roman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sz="110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Times New Roman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ctrlPr>
                                <a:rPr lang="en-US" altLang="zh-CN" sz="1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/>
                                  <a:cs typeface="Times New Roman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Times New Roman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Times New Roman" pitchFamily="18" charset="0"/>
                                    </a:rPr>
                                    <m:t>𝑜</m:t>
                                  </m:r>
                                </m:e>
                                <m:sub>
                                  <m: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Times New Roman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sz="1100" i="1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Times New Roman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Times New Roman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Times New Roman" pitchFamily="18" charset="0"/>
                                    </a:rPr>
                                    <m:t>𝑜</m:t>
                                  </m:r>
                                </m:e>
                                <m:sub>
                                  <m: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Times New Roman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CN" sz="1100" i="1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Times New Roman" pitchFamily="18" charset="0"/>
                                </a:rPr>
                                <m:t>,</m:t>
                              </m:r>
                              <m:r>
                                <a:rPr lang="en-US" altLang="zh-CN" sz="110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Times New Roman" pitchFamily="18" charset="0"/>
                                </a:rPr>
                                <m:t>…,</m:t>
                              </m:r>
                              <m:sSub>
                                <m:sSubPr>
                                  <m:ctrlP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Times New Roman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Times New Roman" pitchFamily="18" charset="0"/>
                                    </a:rPr>
                                    <m:t>𝑜</m:t>
                                  </m:r>
                                </m:e>
                                <m:sub>
                                  <m: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Times New Roman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a14:m>
                  <a:r>
                    <a:rPr lang="zh-CN" altLang="en-US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且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zh-CN" sz="11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Times New Roman" pitchFamily="18" charset="0"/>
                            </a:rPr>
                          </m:ctrlPr>
                        </m:sSupPr>
                        <m:e>
                          <m:r>
                            <a:rPr lang="en-US" altLang="zh-CN" sz="1100" b="0" i="1" smtClean="0">
                              <a:solidFill>
                                <a:srgbClr val="000000"/>
                              </a:solidFill>
                              <a:latin typeface="Cambria Math"/>
                              <a:cs typeface="Times New Roman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altLang="zh-CN" sz="1100" b="0" i="0" smtClean="0">
                              <a:solidFill>
                                <a:srgbClr val="000000"/>
                              </a:solidFill>
                              <a:latin typeface="Cambria Math"/>
                              <a:cs typeface="Times New Roman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CN" sz="1100" b="0" i="0" smtClean="0">
                          <a:solidFill>
                            <a:srgbClr val="000000"/>
                          </a:solidFill>
                          <a:latin typeface="Cambria Math"/>
                          <a:cs typeface="Times New Roman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11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Times New Roman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CN" sz="1100" b="0" i="1" smtClean="0">
                              <a:solidFill>
                                <a:srgbClr val="000000"/>
                              </a:solidFill>
                              <a:latin typeface="Cambria Math"/>
                              <a:cs typeface="Times New Roman" pitchFamily="18" charset="0"/>
                            </a:rPr>
                            <m:t>𝑗</m:t>
                          </m:r>
                          <m:r>
                            <a:rPr lang="en-US" altLang="zh-CN" sz="1100" b="0" i="1" smtClean="0">
                              <a:solidFill>
                                <a:srgbClr val="000000"/>
                              </a:solidFill>
                              <a:latin typeface="Cambria Math"/>
                              <a:cs typeface="Times New Roman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1100" b="0" i="1" smtClean="0">
                              <a:solidFill>
                                <a:srgbClr val="000000"/>
                              </a:solidFill>
                              <a:latin typeface="Cambria Math"/>
                              <a:cs typeface="Times New Roman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cs typeface="Times New Roman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rgbClr val="000000"/>
                                  </a:solidFill>
                                  <a:latin typeface="Cambria Math"/>
                                  <a:cs typeface="Times New Roman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rgbClr val="000000"/>
                                  </a:solidFill>
                                  <a:latin typeface="Cambria Math"/>
                                  <a:cs typeface="Times New Roman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altLang="zh-CN" sz="1100" b="0" i="1" smtClean="0">
                              <a:solidFill>
                                <a:srgbClr val="000000"/>
                              </a:solidFill>
                              <a:latin typeface="Cambria Math"/>
                              <a:cs typeface="Times New Roman" pitchFamily="18" charset="0"/>
                            </a:rPr>
                            <m:t>·</m:t>
                          </m:r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cs typeface="Times New Roman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rgbClr val="000000"/>
                                  </a:solidFill>
                                  <a:latin typeface="Cambria Math"/>
                                  <a:cs typeface="Times New Roman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rgbClr val="000000"/>
                                  </a:solidFill>
                                  <a:latin typeface="Cambria Math"/>
                                  <a:cs typeface="Times New Roman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a14:m>
                  <a:r>
                    <a:rPr lang="zh-CN" altLang="en-US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，其中 </a:t>
                  </a:r>
                  <a:r>
                    <a:rPr lang="en-US" altLang="zh-CN" sz="1100" i="1" dirty="0" err="1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q</a:t>
                  </a:r>
                  <a:r>
                    <a:rPr lang="en-US" altLang="zh-CN" sz="1100" i="1" baseline="-25000" dirty="0" err="1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j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(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j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= 1 , 2 , … ,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n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) </a:t>
                  </a:r>
                  <a:r>
                    <a:rPr lang="zh-CN" altLang="en-US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是 </a:t>
                  </a:r>
                  <a:r>
                    <a:rPr lang="en-US" altLang="zh-CN" sz="1100" i="1" dirty="0" err="1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o</a:t>
                  </a:r>
                  <a:r>
                    <a:rPr lang="en-US" altLang="zh-CN" sz="1100" i="1" baseline="-25000" dirty="0" err="1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j</a:t>
                  </a:r>
                  <a:r>
                    <a:rPr lang="zh-CN" altLang="en-US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關於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o</a:t>
                  </a:r>
                  <a:r>
                    <a:rPr lang="en-US" altLang="zh-CN" sz="1100" baseline="30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*</a:t>
                  </a:r>
                  <a:r>
                    <a:rPr lang="zh-CN" altLang="en-US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和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o</a:t>
                  </a:r>
                  <a:r>
                    <a:rPr lang="en-US" altLang="zh-CN" sz="1100" baseline="30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0</a:t>
                  </a:r>
                  <a:r>
                    <a:rPr lang="zh-CN" altLang="en-US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的無差異概率，那麼比較一般事態體之間的優劣，就可以轉化為比較相應簡單事態體之間的優劣；設有決策系統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D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=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D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(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Ω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,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A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,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F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)</a:t>
                  </a:r>
                  <a:r>
                    <a:rPr lang="zh-CN" altLang="en-US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，在離散的情況下，結果值可表示為決策矩陣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O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= ( </a:t>
                  </a:r>
                  <a:r>
                    <a:rPr lang="en-US" altLang="zh-CN" sz="1100" i="1" dirty="0" err="1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o</a:t>
                  </a:r>
                  <a:r>
                    <a:rPr lang="en-US" altLang="zh-CN" sz="1100" i="1" baseline="-25000" dirty="0" err="1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ij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) </a:t>
                  </a:r>
                  <a:r>
                    <a:rPr lang="en-US" altLang="zh-CN" sz="1100" i="1" baseline="-25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m</a:t>
                  </a:r>
                  <a:r>
                    <a:rPr lang="en-US" altLang="zh-CN" sz="1100" baseline="-25000" dirty="0">
                      <a:solidFill>
                        <a:srgbClr val="000000"/>
                      </a:solidFill>
                      <a:latin typeface="宋体" pitchFamily="2" charset="-122"/>
                      <a:cs typeface="Times New Roman" pitchFamily="18" charset="0"/>
                    </a:rPr>
                    <a:t>×</a:t>
                  </a:r>
                  <a:r>
                    <a:rPr lang="en-US" altLang="zh-CN" sz="1100" i="1" baseline="-25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n</a:t>
                  </a:r>
                  <a:r>
                    <a:rPr lang="zh-CN" altLang="en-US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，其每一行都表示一個可行方案的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n</a:t>
                  </a:r>
                  <a:r>
                    <a:rPr lang="zh-CN" altLang="en-US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個可能結果值，即事態體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T</a:t>
                  </a:r>
                  <a:r>
                    <a:rPr lang="en-US" altLang="zh-CN" sz="1100" i="1" baseline="-25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i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= (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p</a:t>
                  </a:r>
                  <a:r>
                    <a:rPr lang="en-US" altLang="zh-CN" sz="1100" baseline="-25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1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,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o</a:t>
                  </a:r>
                  <a:r>
                    <a:rPr lang="en-US" altLang="zh-CN" sz="1100" i="1" baseline="-25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i</a:t>
                  </a:r>
                  <a:r>
                    <a:rPr lang="en-US" altLang="zh-CN" sz="1100" baseline="-25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1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,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p</a:t>
                  </a:r>
                  <a:r>
                    <a:rPr lang="en-US" altLang="zh-CN" sz="1100" baseline="-25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2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,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o</a:t>
                  </a:r>
                  <a:r>
                    <a:rPr lang="en-US" altLang="zh-CN" sz="1100" i="1" baseline="-25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i</a:t>
                  </a:r>
                  <a:r>
                    <a:rPr lang="en-US" altLang="zh-CN" sz="1100" baseline="-25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2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, … , </a:t>
                  </a:r>
                  <a:r>
                    <a:rPr lang="en-US" altLang="zh-CN" sz="1100" i="1" dirty="0" err="1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p</a:t>
                  </a:r>
                  <a:r>
                    <a:rPr lang="en-US" altLang="zh-CN" sz="1100" i="1" baseline="-25000" dirty="0" err="1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n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, </a:t>
                  </a:r>
                  <a:r>
                    <a:rPr lang="en-US" altLang="zh-CN" sz="1100" i="1" dirty="0" err="1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o</a:t>
                  </a:r>
                  <a:r>
                    <a:rPr lang="en-US" altLang="zh-CN" sz="1100" i="1" baseline="-25000" dirty="0" err="1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in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) , (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i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= 1 , 2 , … ,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m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) , </a:t>
                  </a:r>
                  <a:r>
                    <a:rPr lang="en-US" altLang="zh-CN" sz="1100" i="1" dirty="0" err="1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p</a:t>
                  </a:r>
                  <a:r>
                    <a:rPr lang="en-US" altLang="zh-CN" sz="1100" i="1" baseline="-25000" dirty="0" err="1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j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=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p 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( </a:t>
                  </a:r>
                  <a:r>
                    <a:rPr lang="en-US" altLang="zh-CN" sz="1100" i="1" dirty="0" err="1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θ</a:t>
                  </a:r>
                  <a:r>
                    <a:rPr lang="en-US" altLang="zh-CN" sz="1100" i="1" baseline="-25000" dirty="0" err="1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j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) </a:t>
                  </a:r>
                  <a:r>
                    <a:rPr lang="zh-CN" altLang="en-US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，此問題的決策分析，就是對這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m</a:t>
                  </a:r>
                  <a:r>
                    <a:rPr lang="zh-CN" altLang="en-US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個事態體進行排序，由上述可知，存在簡單事態體使得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T</a:t>
                  </a:r>
                  <a:r>
                    <a:rPr lang="en-US" altLang="zh-CN" sz="1100" i="1" baseline="-25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i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~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T</a:t>
                  </a:r>
                  <a:r>
                    <a:rPr lang="en-US" altLang="zh-CN" sz="1100" i="1" baseline="-25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i</a:t>
                  </a:r>
                  <a:r>
                    <a:rPr lang="en-US" altLang="zh-CN" sz="1100" baseline="30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’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(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p</a:t>
                  </a:r>
                  <a:r>
                    <a:rPr lang="en-US" altLang="zh-CN" sz="1100" i="1" baseline="-25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i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’ ,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o</a:t>
                  </a:r>
                  <a:r>
                    <a:rPr lang="en-US" altLang="zh-CN" sz="1100" baseline="30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*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, </a:t>
                  </a:r>
                  <a:r>
                    <a:rPr lang="en-US" altLang="zh-CN" sz="9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1 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-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p</a:t>
                  </a:r>
                  <a:r>
                    <a:rPr lang="en-US" altLang="zh-CN" sz="1100" i="1" baseline="-25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i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’ ,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o</a:t>
                  </a:r>
                  <a:r>
                    <a:rPr lang="en-US" altLang="zh-CN" sz="1100" baseline="30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0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) </a:t>
                  </a:r>
                  <a:r>
                    <a:rPr lang="zh-CN" altLang="en-US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，於是決策問題就轉化為對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m</a:t>
                  </a:r>
                  <a:r>
                    <a:rPr lang="zh-CN" altLang="en-US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個簡單事態體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T</a:t>
                  </a:r>
                  <a:r>
                    <a:rPr lang="en-US" altLang="zh-CN" sz="1100" i="1" baseline="-25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i</a:t>
                  </a:r>
                  <a:r>
                    <a:rPr lang="en-US" altLang="zh-CN" sz="1100" baseline="30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’</a:t>
                  </a:r>
                  <a:r>
                    <a:rPr lang="zh-CN" altLang="en-US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的排序，由事態體性質可知，最滿意方案所對應的簡單事態體，應該是最大概率值 </a:t>
                  </a:r>
                  <a14:m>
                    <m:oMath xmlns:m="http://schemas.openxmlformats.org/officeDocument/2006/math">
                      <m:func>
                        <m:funcPr>
                          <m:ctrlPr>
                            <a:rPr lang="en-US" altLang="zh-CN" sz="11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Times New Roman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CN" sz="11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cs typeface="Times New Roman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CN" sz="1100" i="0" smtClean="0">
                                  <a:solidFill>
                                    <a:srgbClr val="000000"/>
                                  </a:solidFill>
                                  <a:latin typeface="Cambria Math"/>
                                  <a:cs typeface="Times New Roman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altLang="zh-CN" sz="1100" b="0" i="1" smtClean="0">
                                  <a:solidFill>
                                    <a:srgbClr val="000000"/>
                                  </a:solidFill>
                                  <a:latin typeface="Cambria Math"/>
                                  <a:cs typeface="Times New Roman" pitchFamily="18" charset="0"/>
                                </a:rPr>
                                <m:t>1</m:t>
                              </m:r>
                              <m:r>
                                <a:rPr lang="en-US" altLang="zh-CN" sz="1100" b="0" i="1" smtClean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Times New Roman" pitchFamily="18" charset="0"/>
                                </a:rPr>
                                <m:t>≤</m:t>
                              </m:r>
                              <m:r>
                                <a:rPr lang="en-US" altLang="zh-CN" sz="1100" b="0" i="1" smtClean="0">
                                  <a:solidFill>
                                    <a:srgbClr val="000000"/>
                                  </a:solidFill>
                                  <a:latin typeface="Cambria Math"/>
                                  <a:cs typeface="Times New Roman" pitchFamily="18" charset="0"/>
                                </a:rPr>
                                <m:t>𝑗</m:t>
                              </m:r>
                              <m:r>
                                <a:rPr lang="en-US" altLang="zh-CN" sz="1100" b="0" i="1" smtClean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Times New Roman" pitchFamily="18" charset="0"/>
                                </a:rPr>
                                <m:t>≤</m:t>
                              </m:r>
                              <m:r>
                                <a:rPr lang="en-US" altLang="zh-CN" sz="1100" b="0" i="1" smtClean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Times New Roman" pitchFamily="18" charset="0"/>
                                </a:rPr>
                                <m:t>𝑚</m:t>
                              </m:r>
                            </m:lim>
                          </m:limLow>
                        </m:fName>
                        <m:e>
                          <m:r>
                            <a:rPr lang="en-US" altLang="zh-CN" sz="1100" b="0" i="1" smtClean="0">
                              <a:solidFill>
                                <a:srgbClr val="000000"/>
                              </a:solidFill>
                              <a:latin typeface="Cambria Math"/>
                              <a:cs typeface="Times New Roman" pitchFamily="18" charset="0"/>
                            </a:rPr>
                            <m:t>𝑝</m:t>
                          </m:r>
                          <m:sSup>
                            <m:sSupPr>
                              <m:ctrlPr>
                                <a:rPr lang="en-US" altLang="zh-CN" sz="11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cs typeface="Times New Roman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100" b="0" i="1" baseline="-25000" smtClean="0">
                                  <a:solidFill>
                                    <a:srgbClr val="000000"/>
                                  </a:solidFill>
                                  <a:latin typeface="Cambria Math"/>
                                  <a:cs typeface="Times New Roman" pitchFamily="18" charset="0"/>
                                </a:rPr>
                                <m:t>𝑖</m:t>
                              </m:r>
                            </m:e>
                            <m:sup>
                              <m:r>
                                <a:rPr lang="en-US" altLang="zh-CN" sz="1100" b="0" i="1" baseline="30000" smtClean="0">
                                  <a:solidFill>
                                    <a:srgbClr val="000000"/>
                                  </a:solidFill>
                                  <a:latin typeface="Cambria Math"/>
                                  <a:cs typeface="Times New Roman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CN" sz="1100" b="0" i="1" smtClean="0">
                              <a:solidFill>
                                <a:srgbClr val="000000"/>
                              </a:solidFill>
                              <a:latin typeface="Cambria Math"/>
                              <a:cs typeface="Times New Roman" pitchFamily="18" charset="0"/>
                            </a:rPr>
                            <m:t>=</m:t>
                          </m:r>
                        </m:e>
                      </m:func>
                      <m:func>
                        <m:funcPr>
                          <m:ctrlPr>
                            <a:rPr lang="en-US" altLang="zh-CN" sz="1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Times New Roman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CN" sz="1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cs typeface="Times New Roman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CN" sz="1100">
                                  <a:solidFill>
                                    <a:srgbClr val="000000"/>
                                  </a:solidFill>
                                  <a:latin typeface="Cambria Math"/>
                                  <a:cs typeface="Times New Roman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altLang="zh-CN" sz="1100" i="1">
                                  <a:solidFill>
                                    <a:srgbClr val="000000"/>
                                  </a:solidFill>
                                  <a:latin typeface="Cambria Math"/>
                                  <a:cs typeface="Times New Roman" pitchFamily="18" charset="0"/>
                                </a:rPr>
                                <m:t>1</m:t>
                              </m:r>
                              <m:r>
                                <a:rPr lang="en-US" altLang="zh-CN" sz="1100" i="1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Times New Roman" pitchFamily="18" charset="0"/>
                                </a:rPr>
                                <m:t>≤</m:t>
                              </m:r>
                              <m:r>
                                <a:rPr lang="en-US" altLang="zh-CN" sz="1100" i="1">
                                  <a:solidFill>
                                    <a:srgbClr val="000000"/>
                                  </a:solidFill>
                                  <a:latin typeface="Cambria Math"/>
                                  <a:cs typeface="Times New Roman" pitchFamily="18" charset="0"/>
                                </a:rPr>
                                <m:t>𝑗</m:t>
                              </m:r>
                              <m:r>
                                <a:rPr lang="en-US" altLang="zh-CN" sz="1100" i="1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Times New Roman" pitchFamily="18" charset="0"/>
                                </a:rPr>
                                <m:t>≤</m:t>
                              </m:r>
                              <m:r>
                                <a:rPr lang="en-US" altLang="zh-CN" sz="1100" i="1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Times New Roman" pitchFamily="18" charset="0"/>
                                </a:rPr>
                                <m:t>𝑚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ctrlPr>
                                <a:rPr lang="en-US" altLang="zh-CN" sz="1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cs typeface="Times New Roman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zh-CN" sz="1100" i="1">
                                  <a:solidFill>
                                    <a:srgbClr val="000000"/>
                                  </a:solidFill>
                                  <a:latin typeface="Cambria Math"/>
                                  <a:cs typeface="Times New Roman" pitchFamily="18" charset="0"/>
                                </a:rPr>
                                <m:t>𝑗</m:t>
                              </m:r>
                              <m:r>
                                <a:rPr lang="en-US" altLang="zh-CN" sz="1100" i="1">
                                  <a:solidFill>
                                    <a:srgbClr val="000000"/>
                                  </a:solidFill>
                                  <a:latin typeface="Cambria Math"/>
                                  <a:cs typeface="Times New Roman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zh-CN" sz="1100" i="1">
                                  <a:solidFill>
                                    <a:srgbClr val="000000"/>
                                  </a:solidFill>
                                  <a:latin typeface="Cambria Math"/>
                                  <a:cs typeface="Times New Roman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cs typeface="Times New Roman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cs typeface="Times New Roman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cs typeface="Times New Roman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100" i="1">
                                  <a:solidFill>
                                    <a:srgbClr val="000000"/>
                                  </a:solidFill>
                                  <a:latin typeface="Cambria Math"/>
                                  <a:cs typeface="Times New Roman" pitchFamily="18" charset="0"/>
                                </a:rPr>
                                <m:t>·</m:t>
                              </m:r>
                              <m:sSub>
                                <m:sSubPr>
                                  <m:ctrlP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cs typeface="Times New Roman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cs typeface="Times New Roman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cs typeface="Times New Roman" pitchFamily="18" charset="0"/>
                                    </a:rPr>
                                    <m:t>𝑖</m:t>
                                  </m:r>
                                  <m: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cs typeface="Times New Roman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e>
                      </m:func>
                    </m:oMath>
                  </a14:m>
                  <a:r>
                    <a:rPr lang="zh-CN" altLang="en-US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所對應的簡單事態體，而 </a:t>
                  </a:r>
                  <a:r>
                    <a:rPr lang="en-US" altLang="zh-CN" sz="1100" i="1" dirty="0" err="1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q</a:t>
                  </a:r>
                  <a:r>
                    <a:rPr lang="en-US" altLang="zh-CN" sz="1100" i="1" baseline="-25000" dirty="0" err="1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ij</a:t>
                  </a:r>
                  <a:r>
                    <a:rPr lang="zh-CN" altLang="en-US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由 </a:t>
                  </a:r>
                  <a:r>
                    <a:rPr lang="en-US" altLang="zh-CN" sz="1100" i="1" dirty="0" err="1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o</a:t>
                  </a:r>
                  <a:r>
                    <a:rPr lang="en-US" altLang="zh-CN" sz="1100" i="1" baseline="-25000" dirty="0" err="1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ij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~ ( </a:t>
                  </a:r>
                  <a:r>
                    <a:rPr lang="en-US" altLang="zh-CN" sz="1100" i="1" dirty="0" err="1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q</a:t>
                  </a:r>
                  <a:r>
                    <a:rPr lang="en-US" altLang="zh-CN" sz="1100" i="1" baseline="-25000" dirty="0" err="1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ij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,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o</a:t>
                  </a:r>
                  <a:r>
                    <a:rPr lang="en-US" altLang="zh-CN" sz="1100" baseline="30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*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, </a:t>
                  </a:r>
                  <a:r>
                    <a:rPr lang="en-US" altLang="zh-CN" sz="9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1 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- </a:t>
                  </a:r>
                  <a:r>
                    <a:rPr lang="en-US" altLang="zh-CN" sz="1100" i="1" dirty="0" err="1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q</a:t>
                  </a:r>
                  <a:r>
                    <a:rPr lang="en-US" altLang="zh-CN" sz="1100" i="1" baseline="-25000" dirty="0" err="1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ij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,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o</a:t>
                  </a:r>
                  <a:r>
                    <a:rPr lang="en-US" altLang="zh-CN" sz="1100" baseline="30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0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) </a:t>
                  </a:r>
                  <a:r>
                    <a:rPr lang="zh-CN" altLang="en-US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所確定；</a:t>
                  </a:r>
                </a:p>
              </p:txBody>
            </p:sp>
          </mc:Choice>
          <mc:Fallback xmlns="">
            <p:sp>
              <p:nvSpPr>
                <p:cNvPr id="10" name="矩形 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159" y="947913"/>
                  <a:ext cx="11182166" cy="1498424"/>
                </a:xfrm>
                <a:prstGeom prst="rect">
                  <a:avLst/>
                </a:prstGeom>
                <a:blipFill rotWithShape="1">
                  <a:blip r:embed="rId3" cstate="print"/>
                  <a:stretch>
                    <a:fillRect t="-11382" r="-491" b="-2113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矩形 10"/>
            <p:cNvSpPr/>
            <p:nvPr/>
          </p:nvSpPr>
          <p:spPr>
            <a:xfrm>
              <a:off x="181162" y="2446337"/>
              <a:ext cx="11182164" cy="60016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>
                <a:lnSpc>
                  <a:spcPct val="150000"/>
                </a:lnSpc>
              </a:pP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設決策問題的各可行方案有多種可能的結果值 </a:t>
              </a:r>
              <a:r>
                <a:rPr lang="en-US" altLang="zh-CN" sz="1100" i="1" dirty="0" err="1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o</a:t>
              </a:r>
              <a:r>
                <a:rPr lang="en-US" altLang="zh-CN" sz="1100" i="1" baseline="-25000" dirty="0" err="1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，依據決策者的主觀願望和價值傾向，每個結果值對決策者有不同的值和作用，反映結果值 </a:t>
              </a:r>
              <a:r>
                <a:rPr lang="en-US" altLang="zh-CN" sz="1100" i="1" dirty="0" err="1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o</a:t>
              </a:r>
              <a:r>
                <a:rPr lang="en-US" altLang="zh-CN" sz="1100" i="1" baseline="-25000" dirty="0" err="1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對決策者價值和作用大小的量值稱為效用，記作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u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=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u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(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o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)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，標準效用測定法（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V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-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M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法）：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矩形 11"/>
                <p:cNvSpPr/>
                <p:nvPr/>
              </p:nvSpPr>
              <p:spPr>
                <a:xfrm>
                  <a:off x="181165" y="3046501"/>
                  <a:ext cx="11182164" cy="346249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>
                    <a:lnSpc>
                      <a:spcPct val="150000"/>
                    </a:lnSpc>
                  </a:pP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1</a:t>
                  </a:r>
                  <a:r>
                    <a:rPr lang="zh-CN" altLang="en-US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、設有決策系統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D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=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D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(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Ω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,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A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,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F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)</a:t>
                  </a:r>
                  <a:r>
                    <a:rPr lang="zh-CN" altLang="en-US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，其結果值集合為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O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= {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o</a:t>
                  </a:r>
                  <a:r>
                    <a:rPr lang="en-US" altLang="zh-CN" sz="1100" baseline="-25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1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,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o</a:t>
                  </a:r>
                  <a:r>
                    <a:rPr lang="en-US" altLang="zh-CN" sz="1100" baseline="-250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2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, … , </a:t>
                  </a:r>
                  <a:r>
                    <a:rPr lang="en-US" altLang="zh-CN" sz="1100" i="1" dirty="0" err="1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o</a:t>
                  </a:r>
                  <a:r>
                    <a:rPr lang="en-US" altLang="zh-CN" sz="1100" i="1" baseline="-25000" dirty="0" err="1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m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} </a:t>
                  </a:r>
                  <a:r>
                    <a:rPr lang="zh-CN" altLang="en-US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，記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zh-CN" sz="1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Times New Roman" pitchFamily="18" charset="0"/>
                            </a:rPr>
                          </m:ctrlPr>
                        </m:sSupPr>
                        <m:e>
                          <m:r>
                            <a:rPr lang="en-US" altLang="zh-CN" sz="1100" i="1">
                              <a:solidFill>
                                <a:srgbClr val="000000"/>
                              </a:solidFill>
                              <a:latin typeface="Cambria Math"/>
                              <a:cs typeface="Times New Roman" pitchFamily="18" charset="0"/>
                            </a:rPr>
                            <m:t>𝑜</m:t>
                          </m:r>
                        </m:e>
                        <m:sup>
                          <m:r>
                            <a:rPr lang="en-US" altLang="zh-CN" sz="1100" i="1">
                              <a:solidFill>
                                <a:srgbClr val="000000"/>
                              </a:solidFill>
                              <a:latin typeface="Cambria Math"/>
                              <a:cs typeface="Times New Roman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altLang="zh-CN" sz="1100" i="1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Times New Roman" pitchFamily="18" charset="0"/>
                        </a:rPr>
                        <m:t>≿</m:t>
                      </m:r>
                      <m:func>
                        <m:funcPr>
                          <m:ctrlPr>
                            <a:rPr lang="en-US" altLang="zh-CN" sz="1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Times New Roman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sz="110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Times New Roman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altLang="zh-CN" sz="1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/>
                                  <a:cs typeface="Times New Roman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Times New Roman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Times New Roman" pitchFamily="18" charset="0"/>
                                    </a:rPr>
                                    <m:t>𝑜</m:t>
                                  </m:r>
                                </m:e>
                                <m:sub>
                                  <m: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Times New Roman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sz="1100" i="1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Times New Roman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Times New Roman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Times New Roman" pitchFamily="18" charset="0"/>
                                    </a:rPr>
                                    <m:t>𝑜</m:t>
                                  </m:r>
                                </m:e>
                                <m:sub>
                                  <m: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Times New Roman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CN" sz="1100" i="1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Times New Roman" pitchFamily="18" charset="0"/>
                                </a:rPr>
                                <m:t>,</m:t>
                              </m:r>
                              <m:r>
                                <a:rPr lang="en-US" altLang="zh-CN" sz="110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Times New Roman" pitchFamily="18" charset="0"/>
                                </a:rPr>
                                <m:t>…,</m:t>
                              </m:r>
                              <m:sSub>
                                <m:sSubPr>
                                  <m:ctrlP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Times New Roman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Times New Roman" pitchFamily="18" charset="0"/>
                                    </a:rPr>
                                    <m:t>𝑜</m:t>
                                  </m:r>
                                </m:e>
                                <m:sub>
                                  <m: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Times New Roman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a14:m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,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zh-CN" sz="1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Times New Roman" pitchFamily="18" charset="0"/>
                            </a:rPr>
                          </m:ctrlPr>
                        </m:sSupPr>
                        <m:e>
                          <m:r>
                            <a:rPr lang="en-US" altLang="zh-CN" sz="1100" i="1">
                              <a:solidFill>
                                <a:srgbClr val="000000"/>
                              </a:solidFill>
                              <a:latin typeface="Cambria Math"/>
                              <a:cs typeface="Times New Roman" pitchFamily="18" charset="0"/>
                            </a:rPr>
                            <m:t>𝑜</m:t>
                          </m:r>
                        </m:e>
                        <m:sup>
                          <m:r>
                            <a:rPr lang="en-US" altLang="zh-CN" sz="1100" i="1">
                              <a:solidFill>
                                <a:srgbClr val="000000"/>
                              </a:solidFill>
                              <a:latin typeface="Cambria Math"/>
                              <a:cs typeface="Times New Roman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altLang="zh-CN" sz="1100" i="1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Times New Roman" pitchFamily="18" charset="0"/>
                        </a:rPr>
                        <m:t>≾</m:t>
                      </m:r>
                      <m:func>
                        <m:funcPr>
                          <m:ctrlPr>
                            <a:rPr lang="en-US" altLang="zh-CN" sz="1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Times New Roman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sz="110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Times New Roman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ctrlPr>
                                <a:rPr lang="en-US" altLang="zh-CN" sz="11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/>
                                  <a:cs typeface="Times New Roman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Times New Roman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Times New Roman" pitchFamily="18" charset="0"/>
                                    </a:rPr>
                                    <m:t>𝑜</m:t>
                                  </m:r>
                                </m:e>
                                <m:sub>
                                  <m: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Times New Roman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sz="1100" i="1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Times New Roman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Times New Roman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Times New Roman" pitchFamily="18" charset="0"/>
                                    </a:rPr>
                                    <m:t>𝑜</m:t>
                                  </m:r>
                                </m:e>
                                <m:sub>
                                  <m: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Times New Roman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CN" sz="1100" i="1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Times New Roman" pitchFamily="18" charset="0"/>
                                </a:rPr>
                                <m:t>,</m:t>
                              </m:r>
                              <m:r>
                                <a:rPr lang="en-US" altLang="zh-CN" sz="110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Times New Roman" pitchFamily="18" charset="0"/>
                                </a:rPr>
                                <m:t>…,</m:t>
                              </m:r>
                              <m:sSub>
                                <m:sSubPr>
                                  <m:ctrlP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Times New Roman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Times New Roman" pitchFamily="18" charset="0"/>
                                    </a:rPr>
                                    <m:t>𝑜</m:t>
                                  </m:r>
                                </m:e>
                                <m:sub>
                                  <m:r>
                                    <a:rPr lang="en-US" altLang="zh-CN" sz="1100" i="1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Times New Roman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a14:m>
                  <a:r>
                    <a:rPr lang="zh-CN" altLang="en-US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，現測定結果值 </a:t>
                  </a:r>
                  <a:r>
                    <a:rPr lang="en-US" altLang="zh-CN" sz="1100" i="1" dirty="0" err="1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o</a:t>
                  </a:r>
                  <a:r>
                    <a:rPr lang="en-US" altLang="zh-CN" sz="1100" i="1" baseline="-25000" dirty="0" err="1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i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(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i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= 1 , 2 , … ,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m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) </a:t>
                  </a:r>
                  <a:r>
                    <a:rPr lang="zh-CN" altLang="en-US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的效用值 </a:t>
                  </a:r>
                  <a:r>
                    <a:rPr lang="en-US" altLang="zh-CN" sz="1100" i="1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u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( </a:t>
                  </a:r>
                  <a:r>
                    <a:rPr lang="en-US" altLang="zh-CN" sz="1100" i="1" dirty="0" err="1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o</a:t>
                  </a:r>
                  <a:r>
                    <a:rPr lang="en-US" altLang="zh-CN" sz="1100" i="1" baseline="-25000" dirty="0" err="1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i</a:t>
                  </a:r>
                  <a:r>
                    <a:rPr lang="en-US" altLang="zh-CN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 )</a:t>
                  </a:r>
                  <a:r>
                    <a:rPr lang="zh-CN" altLang="en-US" sz="1100" dirty="0">
                      <a:solidFill>
                        <a:srgbClr val="000000"/>
                      </a:solidFill>
                      <a:latin typeface="Times New Roman" pitchFamily="18" charset="0"/>
                      <a:cs typeface="Times New Roman" pitchFamily="18" charset="0"/>
                    </a:rPr>
                    <a:t>；</a:t>
                  </a:r>
                </a:p>
              </p:txBody>
            </p:sp>
          </mc:Choice>
          <mc:Fallback xmlns="">
            <p:sp>
              <p:nvSpPr>
                <p:cNvPr id="12" name="矩形 1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165" y="3046501"/>
                  <a:ext cx="11182164" cy="346249"/>
                </a:xfrm>
                <a:prstGeom prst="rect">
                  <a:avLst/>
                </a:prstGeom>
                <a:blipFill rotWithShape="1">
                  <a:blip r:embed="rId4" cstate="print"/>
                  <a:stretch>
                    <a:fillRect r="-1145" b="-350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矩形 12"/>
            <p:cNvSpPr/>
            <p:nvPr/>
          </p:nvSpPr>
          <p:spPr>
            <a:xfrm>
              <a:off x="181165" y="3392750"/>
              <a:ext cx="11182164" cy="34624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>
                <a:lnSpc>
                  <a:spcPct val="150000"/>
                </a:lnSpc>
              </a:pP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2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、設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u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(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o</a:t>
              </a:r>
              <a:r>
                <a:rPr lang="en-US" altLang="zh-CN" sz="1100" i="1" baseline="30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*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) = 1 ,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u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(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o</a:t>
              </a:r>
              <a:r>
                <a:rPr lang="en-US" altLang="zh-CN" sz="1100" baseline="30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0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) = 0 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；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181160" y="3738999"/>
              <a:ext cx="11182167" cy="34624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>
                <a:lnSpc>
                  <a:spcPct val="150000"/>
                </a:lnSpc>
              </a:pP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3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、建立簡單事態體 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(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x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,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o</a:t>
              </a:r>
              <a:r>
                <a:rPr lang="en-US" altLang="zh-CN" sz="1100" baseline="30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*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, </a:t>
              </a:r>
              <a:r>
                <a:rPr lang="en-US" altLang="zh-CN" sz="9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1 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-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x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,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o</a:t>
              </a:r>
              <a:r>
                <a:rPr lang="en-US" altLang="zh-CN" sz="1100" baseline="30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0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)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，其中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x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稱為可調概率；</a:t>
              </a:r>
            </a:p>
          </p:txBody>
        </p:sp>
        <p:sp>
          <p:nvSpPr>
            <p:cNvPr id="15" name="矩形 14"/>
            <p:cNvSpPr/>
            <p:nvPr/>
          </p:nvSpPr>
          <p:spPr>
            <a:xfrm>
              <a:off x="181160" y="4085248"/>
              <a:ext cx="11182167" cy="34624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>
                <a:lnSpc>
                  <a:spcPct val="150000"/>
                </a:lnSpc>
              </a:pP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4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、通過反復提問，不斷改變可調概率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x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，使決策者確認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x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=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p</a:t>
              </a:r>
              <a:r>
                <a:rPr lang="en-US" altLang="zh-CN" sz="1100" i="1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，此時得到無差異關係 </a:t>
              </a:r>
              <a:r>
                <a:rPr lang="en-US" altLang="zh-CN" sz="1100" i="1" dirty="0" err="1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o</a:t>
              </a:r>
              <a:r>
                <a:rPr lang="en-US" altLang="zh-CN" sz="1100" i="1" baseline="-25000" dirty="0" err="1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~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(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p</a:t>
              </a:r>
              <a:r>
                <a:rPr lang="en-US" altLang="zh-CN" sz="1100" i="1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altLang="zh-CN" sz="1100" i="1" baseline="30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’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,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o</a:t>
              </a:r>
              <a:r>
                <a:rPr lang="en-US" altLang="zh-CN" sz="1100" baseline="30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*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, </a:t>
              </a:r>
              <a:r>
                <a:rPr lang="en-US" altLang="zh-CN" sz="9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1 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–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p</a:t>
              </a:r>
              <a:r>
                <a:rPr lang="en-US" altLang="zh-CN" sz="1100" i="1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altLang="zh-CN" sz="1100" i="1" baseline="30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’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,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o</a:t>
              </a:r>
              <a:r>
                <a:rPr lang="en-US" altLang="zh-CN" sz="1100" baseline="30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0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)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；</a:t>
              </a:r>
            </a:p>
          </p:txBody>
        </p:sp>
        <p:sp>
          <p:nvSpPr>
            <p:cNvPr id="16" name="矩形 15"/>
            <p:cNvSpPr/>
            <p:nvPr/>
          </p:nvSpPr>
          <p:spPr>
            <a:xfrm>
              <a:off x="181160" y="4431497"/>
              <a:ext cx="11182167" cy="34624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>
                <a:lnSpc>
                  <a:spcPct val="150000"/>
                </a:lnSpc>
              </a:pP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5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、測得結果值的 </a:t>
              </a:r>
              <a:r>
                <a:rPr lang="en-US" altLang="zh-CN" sz="1100" i="1" dirty="0" err="1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o</a:t>
              </a:r>
              <a:r>
                <a:rPr lang="en-US" altLang="zh-CN" sz="1100" i="1" baseline="-25000" dirty="0" err="1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的效用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u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( </a:t>
              </a:r>
              <a:r>
                <a:rPr lang="en-US" altLang="zh-CN" sz="1100" i="1" dirty="0" err="1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o</a:t>
              </a:r>
              <a:r>
                <a:rPr lang="en-US" altLang="zh-CN" sz="1100" i="1" baseline="-25000" dirty="0" err="1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) =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p</a:t>
              </a:r>
              <a:r>
                <a:rPr lang="en-US" altLang="zh-CN" sz="1100" i="1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altLang="zh-CN" sz="1100" i="1" baseline="30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’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·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u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(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o</a:t>
              </a:r>
              <a:r>
                <a:rPr lang="en-US" altLang="zh-CN" sz="1100" baseline="30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*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) + ( </a:t>
              </a:r>
              <a:r>
                <a:rPr lang="en-US" altLang="zh-CN" sz="9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1 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–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p</a:t>
              </a:r>
              <a:r>
                <a:rPr lang="en-US" altLang="zh-CN" sz="1100" i="1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altLang="zh-CN" sz="1100" i="1" baseline="30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’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) ·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u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(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o</a:t>
              </a:r>
              <a:r>
                <a:rPr lang="en-US" altLang="zh-CN" sz="1100" baseline="30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0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)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=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p</a:t>
              </a:r>
              <a:r>
                <a:rPr lang="en-US" altLang="zh-CN" sz="1100" i="1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，也即各決策結果事態體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T</a:t>
              </a:r>
              <a:r>
                <a:rPr lang="en-US" altLang="zh-CN" sz="1100" i="1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= (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p</a:t>
              </a:r>
              <a:r>
                <a:rPr lang="en-US" altLang="zh-CN" sz="1100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1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,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o</a:t>
              </a:r>
              <a:r>
                <a:rPr lang="en-US" altLang="zh-CN" sz="1100" i="1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altLang="zh-CN" sz="1100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1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,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p</a:t>
              </a:r>
              <a:r>
                <a:rPr lang="en-US" altLang="zh-CN" sz="1100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2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,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o</a:t>
              </a:r>
              <a:r>
                <a:rPr lang="en-US" altLang="zh-CN" sz="1100" i="1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altLang="zh-CN" sz="1100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2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, … , </a:t>
              </a:r>
              <a:r>
                <a:rPr lang="en-US" altLang="zh-CN" sz="1100" i="1" dirty="0" err="1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p</a:t>
              </a:r>
              <a:r>
                <a:rPr lang="en-US" altLang="zh-CN" sz="1100" i="1" baseline="-25000" dirty="0" err="1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n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, </a:t>
              </a:r>
              <a:r>
                <a:rPr lang="en-US" altLang="zh-CN" sz="1100" i="1" dirty="0" err="1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o</a:t>
              </a:r>
              <a:r>
                <a:rPr lang="en-US" altLang="zh-CN" sz="1100" i="1" baseline="-25000" dirty="0" err="1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in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) , (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= 1 , 2 , … ,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m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) , </a:t>
              </a:r>
              <a:r>
                <a:rPr lang="en-US" altLang="zh-CN" sz="1100" i="1" dirty="0" err="1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p</a:t>
              </a:r>
              <a:r>
                <a:rPr lang="en-US" altLang="zh-CN" sz="1100" i="1" baseline="-25000" dirty="0" err="1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j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=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p 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( </a:t>
              </a:r>
              <a:r>
                <a:rPr lang="en-US" altLang="zh-CN" sz="1100" i="1" dirty="0" err="1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θ</a:t>
              </a:r>
              <a:r>
                <a:rPr lang="en-US" altLang="zh-CN" sz="1100" i="1" baseline="-25000" dirty="0" err="1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j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) 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所產生的效用值；</a:t>
              </a:r>
            </a:p>
          </p:txBody>
        </p:sp>
        <p:sp>
          <p:nvSpPr>
            <p:cNvPr id="19" name="矩形 18"/>
            <p:cNvSpPr/>
            <p:nvPr/>
          </p:nvSpPr>
          <p:spPr>
            <a:xfrm>
              <a:off x="181165" y="4777746"/>
              <a:ext cx="11182167" cy="34624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>
                <a:lnSpc>
                  <a:spcPct val="150000"/>
                </a:lnSpc>
              </a:pP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6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、假設有確定狀態決策系統 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(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p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(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θ</a:t>
              </a:r>
              <a:r>
                <a:rPr lang="en-US" altLang="zh-CN" sz="1100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1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) = 1 ,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p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(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θ</a:t>
              </a:r>
              <a:r>
                <a:rPr lang="en-US" altLang="zh-CN" sz="1100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0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) = 0 )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，則確定狀態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θ</a:t>
              </a:r>
              <a:r>
                <a:rPr lang="en-US" altLang="zh-CN" sz="1100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0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下的損益值為 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0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，又假設確定狀態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θ</a:t>
              </a:r>
              <a:r>
                <a:rPr lang="en-US" altLang="zh-CN" sz="1100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1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下損益值為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o</a:t>
              </a:r>
              <a:r>
                <a:rPr lang="en-US" altLang="zh-CN" sz="1100" i="1" baseline="30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x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；</a:t>
              </a:r>
            </a:p>
          </p:txBody>
        </p:sp>
        <p:sp>
          <p:nvSpPr>
            <p:cNvPr id="20" name="矩形 19"/>
            <p:cNvSpPr/>
            <p:nvPr/>
          </p:nvSpPr>
          <p:spPr>
            <a:xfrm>
              <a:off x="181158" y="5123995"/>
              <a:ext cx="11182167" cy="34624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>
                <a:lnSpc>
                  <a:spcPct val="150000"/>
                </a:lnSpc>
              </a:pP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7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、通過反復提問，不斷調整確定狀態 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(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p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(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θ</a:t>
              </a:r>
              <a:r>
                <a:rPr lang="en-US" altLang="zh-CN" sz="1100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1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) = 1 )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下的損益值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o</a:t>
              </a:r>
              <a:r>
                <a:rPr lang="en-US" altLang="zh-CN" sz="1100" i="1" baseline="30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x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，使決策者確認效用值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u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(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o</a:t>
              </a:r>
              <a:r>
                <a:rPr lang="en-US" altLang="zh-CN" sz="1100" i="1" baseline="30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x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) =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u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( </a:t>
              </a:r>
              <a:r>
                <a:rPr lang="en-US" altLang="zh-CN" sz="1100" i="1" dirty="0" err="1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o</a:t>
              </a:r>
              <a:r>
                <a:rPr lang="en-US" altLang="zh-CN" sz="1100" i="1" baseline="-25000" dirty="0" err="1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j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) 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；</a:t>
              </a:r>
            </a:p>
          </p:txBody>
        </p:sp>
        <p:sp>
          <p:nvSpPr>
            <p:cNvPr id="21" name="矩形 20"/>
            <p:cNvSpPr/>
            <p:nvPr/>
          </p:nvSpPr>
          <p:spPr>
            <a:xfrm>
              <a:off x="181159" y="5470244"/>
              <a:ext cx="11182166" cy="34624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>
                <a:lnSpc>
                  <a:spcPct val="150000"/>
                </a:lnSpc>
              </a:pP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8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、則損益值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o</a:t>
              </a:r>
              <a:r>
                <a:rPr lang="en-US" altLang="zh-CN" sz="1100" i="1" baseline="30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x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既為效用值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u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( </a:t>
              </a:r>
              <a:r>
                <a:rPr lang="en-US" altLang="zh-CN" sz="1100" i="1" dirty="0" err="1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o</a:t>
              </a:r>
              <a:r>
                <a:rPr lang="en-US" altLang="zh-CN" sz="1100" i="1" baseline="-25000" dirty="0" err="1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) =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p</a:t>
              </a:r>
              <a:r>
                <a:rPr lang="en-US" altLang="zh-CN" sz="1100" i="1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altLang="zh-CN" sz="1100" i="1" baseline="30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’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·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u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(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o</a:t>
              </a:r>
              <a:r>
                <a:rPr lang="en-US" altLang="zh-CN" sz="1100" baseline="30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*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) + ( </a:t>
              </a:r>
              <a:r>
                <a:rPr lang="en-US" altLang="zh-CN" sz="9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1 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–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p</a:t>
              </a:r>
              <a:r>
                <a:rPr lang="en-US" altLang="zh-CN" sz="1100" i="1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altLang="zh-CN" sz="1100" i="1" baseline="30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’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) ·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u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(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o</a:t>
              </a:r>
              <a:r>
                <a:rPr lang="en-US" altLang="zh-CN" sz="1100" baseline="30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0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)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=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p</a:t>
              </a:r>
              <a:r>
                <a:rPr lang="en-US" altLang="zh-CN" sz="1100" i="1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i</a:t>
              </a:r>
              <a:r>
                <a:rPr lang="en-US" altLang="zh-CN" sz="1100" i="1" baseline="30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’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對應的在確定狀態 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(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p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(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θ</a:t>
              </a:r>
              <a:r>
                <a:rPr lang="en-US" altLang="zh-CN" sz="1100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1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) = 1 )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下的損益值，連接不同方案下各效用值與其對應的損益值點即效用函數曲線；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37790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/>
          <p:cNvSpPr txBox="1">
            <a:spLocks/>
          </p:cNvSpPr>
          <p:nvPr/>
        </p:nvSpPr>
        <p:spPr bwMode="auto">
          <a:xfrm>
            <a:off x="32871" y="57128"/>
            <a:ext cx="8524875" cy="21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9pPr>
          </a:lstStyle>
          <a:p>
            <a:r>
              <a:rPr lang="zh-CN" altLang="en-US" sz="1500" dirty="0">
                <a:ea typeface="楷体_GB2312" pitchFamily="49" charset="-122"/>
              </a:rPr>
              <a:t>臨床決策分析</a:t>
            </a:r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CN" sz="12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clinical decision analysis </a:t>
            </a:r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CN" sz="12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CDA</a:t>
            </a:r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9" name="矩形 3"/>
          <p:cNvSpPr>
            <a:spLocks noChangeArrowheads="1"/>
          </p:cNvSpPr>
          <p:nvPr/>
        </p:nvSpPr>
        <p:spPr bwMode="auto">
          <a:xfrm>
            <a:off x="45955" y="273592"/>
            <a:ext cx="9534073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lvl="0"/>
            <a:r>
              <a:rPr lang="zh-CN" altLang="en-US" sz="1300" dirty="0">
                <a:solidFill>
                  <a:srgbClr val="000000"/>
                </a:solidFill>
              </a:rPr>
              <a:t>臨床決策中對於「弱推薦」證據的</a:t>
            </a:r>
            <a:r>
              <a:rPr lang="zh-TW" altLang="en-US" sz="1300" dirty="0">
                <a:solidFill>
                  <a:srgbClr val="000000"/>
                </a:solidFill>
              </a:rPr>
              <a:t>輔助決策工具 </a:t>
            </a:r>
            <a:r>
              <a:rPr lang="zh-CN" altLang="en-US" sz="1300" dirty="0">
                <a:solidFill>
                  <a:srgbClr val="000000"/>
                </a:solidFill>
                <a:latin typeface="Arial" pitchFamily="34" charset="0"/>
              </a:rPr>
              <a:t>：</a:t>
            </a:r>
            <a:r>
              <a:rPr lang="zh-CN" altLang="en-US" sz="900" dirty="0">
                <a:solidFill>
                  <a:srgbClr val="000000"/>
                </a:solidFill>
                <a:latin typeface="Arial" pitchFamily="34" charset="0"/>
              </a:rPr>
              <a:t>～</a:t>
            </a:r>
            <a:r>
              <a:rPr lang="en-US" altLang="zh-CN" sz="1300" dirty="0">
                <a:solidFill>
                  <a:srgbClr val="000000"/>
                </a:solidFill>
                <a:latin typeface="Arial" pitchFamily="34" charset="0"/>
              </a:rPr>
              <a:t> 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決策分析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Decision Analysis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 </a:t>
            </a:r>
            <a:r>
              <a:rPr lang="en-US" altLang="zh-CN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- 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決策論原理</a:t>
            </a:r>
            <a:r>
              <a:rPr lang="zh-CN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；</a:t>
            </a:r>
            <a:endParaRPr lang="zh-CN" altLang="en-US" sz="1000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6" name="Rectangle 57"/>
          <p:cNvSpPr>
            <a:spLocks noChangeArrowheads="1"/>
          </p:cNvSpPr>
          <p:nvPr/>
        </p:nvSpPr>
        <p:spPr bwMode="auto">
          <a:xfrm>
            <a:off x="0" y="0"/>
            <a:ext cx="1152207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sp>
        <p:nvSpPr>
          <p:cNvPr id="68" name="Rectangle 59"/>
          <p:cNvSpPr>
            <a:spLocks noChangeArrowheads="1"/>
          </p:cNvSpPr>
          <p:nvPr/>
        </p:nvSpPr>
        <p:spPr bwMode="auto">
          <a:xfrm>
            <a:off x="0" y="0"/>
            <a:ext cx="1152207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0" y="0"/>
            <a:ext cx="1152207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grpSp>
        <p:nvGrpSpPr>
          <p:cNvPr id="3" name="组合 2"/>
          <p:cNvGrpSpPr/>
          <p:nvPr/>
        </p:nvGrpSpPr>
        <p:grpSpPr>
          <a:xfrm>
            <a:off x="550635" y="621966"/>
            <a:ext cx="9748726" cy="5187730"/>
            <a:chOff x="550635" y="621966"/>
            <a:chExt cx="9748726" cy="5187730"/>
          </a:xfrm>
        </p:grpSpPr>
        <p:sp>
          <p:nvSpPr>
            <p:cNvPr id="17" name="矩形 16"/>
            <p:cNvSpPr/>
            <p:nvPr/>
          </p:nvSpPr>
          <p:spPr>
            <a:xfrm>
              <a:off x="550635" y="621966"/>
              <a:ext cx="9748726" cy="34624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>
                <a:lnSpc>
                  <a:spcPct val="150000"/>
                </a:lnSpc>
              </a:pP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決策效用函數</a:t>
              </a:r>
            </a:p>
          </p:txBody>
        </p:sp>
        <p:pic>
          <p:nvPicPr>
            <p:cNvPr id="23" name="Picture 7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93370" y="833408"/>
              <a:ext cx="3558055" cy="213359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24" name="Picture 6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15103" y="3447322"/>
              <a:ext cx="4265428" cy="21339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25" name="Picture 3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24065" y="831380"/>
              <a:ext cx="3559469" cy="21351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793602" name="Picture 2"/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04779" y="3218896"/>
              <a:ext cx="4038600" cy="25908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5773080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/>
          <p:cNvSpPr txBox="1">
            <a:spLocks/>
          </p:cNvSpPr>
          <p:nvPr/>
        </p:nvSpPr>
        <p:spPr bwMode="auto">
          <a:xfrm>
            <a:off x="32871" y="57128"/>
            <a:ext cx="8524875" cy="21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9pPr>
          </a:lstStyle>
          <a:p>
            <a:r>
              <a:rPr lang="zh-CN" altLang="en-US" sz="1500" dirty="0">
                <a:ea typeface="楷体_GB2312" pitchFamily="49" charset="-122"/>
              </a:rPr>
              <a:t>臨床決策分析</a:t>
            </a:r>
            <a:r>
              <a:rPr lang="en-US" altLang="zh-CN" sz="13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CN" sz="13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clinical decision </a:t>
            </a:r>
            <a:r>
              <a:rPr lang="en-US" altLang="zh-CN" sz="13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analysis</a:t>
            </a:r>
            <a:r>
              <a:rPr lang="en-US" altLang="zh-CN" sz="13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altLang="zh-CN" sz="13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CDA</a:t>
            </a:r>
            <a:r>
              <a:rPr lang="en-US" altLang="zh-CN" sz="13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9" name="矩形 3"/>
          <p:cNvSpPr>
            <a:spLocks noChangeArrowheads="1"/>
          </p:cNvSpPr>
          <p:nvPr/>
        </p:nvSpPr>
        <p:spPr bwMode="auto">
          <a:xfrm>
            <a:off x="45955" y="273592"/>
            <a:ext cx="11374714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lvl="0"/>
            <a:r>
              <a:rPr lang="zh-CN" altLang="en-US" sz="1300" dirty="0">
                <a:solidFill>
                  <a:srgbClr val="000000"/>
                </a:solidFill>
              </a:rPr>
              <a:t>臨床決策中對於「弱推薦」證據的</a:t>
            </a:r>
            <a:r>
              <a:rPr lang="zh-TW" altLang="en-US" sz="1300" dirty="0">
                <a:solidFill>
                  <a:srgbClr val="000000"/>
                </a:solidFill>
              </a:rPr>
              <a:t>輔助決策工具 </a:t>
            </a:r>
            <a:r>
              <a:rPr lang="zh-CN" altLang="en-US" sz="1300" dirty="0">
                <a:solidFill>
                  <a:srgbClr val="000000"/>
                </a:solidFill>
                <a:latin typeface="Arial" pitchFamily="34" charset="0"/>
              </a:rPr>
              <a:t>：</a:t>
            </a:r>
            <a:r>
              <a:rPr lang="zh-CN" altLang="en-US" sz="900" dirty="0">
                <a:solidFill>
                  <a:srgbClr val="000000"/>
                </a:solidFill>
                <a:latin typeface="Arial" pitchFamily="34" charset="0"/>
              </a:rPr>
              <a:t>～ 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決策分析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Decision Analysis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 </a:t>
            </a:r>
            <a:r>
              <a:rPr lang="en-US" altLang="zh-CN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- </a:t>
            </a:r>
            <a:r>
              <a:rPr lang="zh-CN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決策分析在臨床實踐中的應用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Clinical Applications of Decision Analysis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zh-CN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- </a:t>
            </a:r>
            <a:r>
              <a:rPr lang="zh-CN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閾值分析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threshold approach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CN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；</a:t>
            </a:r>
            <a:endParaRPr lang="zh-CN" altLang="en-US" sz="1000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grpSp>
        <p:nvGrpSpPr>
          <p:cNvPr id="7" name="组合 6"/>
          <p:cNvGrpSpPr/>
          <p:nvPr/>
        </p:nvGrpSpPr>
        <p:grpSpPr>
          <a:xfrm>
            <a:off x="551788" y="682741"/>
            <a:ext cx="10480217" cy="4939111"/>
            <a:chOff x="551788" y="597016"/>
            <a:chExt cx="10480217" cy="4939111"/>
          </a:xfrm>
        </p:grpSpPr>
        <p:sp>
          <p:nvSpPr>
            <p:cNvPr id="13" name="矩形 12"/>
            <p:cNvSpPr/>
            <p:nvPr/>
          </p:nvSpPr>
          <p:spPr>
            <a:xfrm>
              <a:off x="551789" y="597016"/>
              <a:ext cx="10447803" cy="85408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決策分析在臨床實踐中的應用形成了臨床決策分析，</a:t>
              </a:r>
              <a:r>
                <a:rPr lang="en-US" altLang="zh-TW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GRADE </a:t>
              </a:r>
              <a:r>
                <a:rPr lang="zh-TW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系統將推薦意見分為「強」「弱」兩級（指南小組更傾向用「條件性」或「酌情處理」代替弱推薦），當證據為弱推薦時，意謂著使用輔助決策工具來幫助決策可能會很有價值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；對於一個病人，完整的評價應該包括詢問病史、查體、選擇診斷檢查、解釋檢查結果以及選擇處理方法；臨床醫生分析患者症狀後懷疑其患有某種疾病時，對於是否需要選擇做進一步診斷檢查，可以通過閾值分析來決定：</a:t>
              </a:r>
              <a:endPara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17" name="矩形 16"/>
            <p:cNvSpPr/>
            <p:nvPr/>
          </p:nvSpPr>
          <p:spPr>
            <a:xfrm>
              <a:off x="551789" y="1533927"/>
              <a:ext cx="3348399" cy="136191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假設：</a:t>
              </a:r>
              <a:endParaRPr lang="en-US" altLang="zh-CN" sz="11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test sensitivity 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→ </a:t>
              </a:r>
              <a:r>
                <a:rPr lang="en-US" altLang="zh-CN" sz="1100" i="1" dirty="0" err="1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Sen</a:t>
              </a:r>
              <a:endParaRPr lang="en-US" altLang="zh-CN" sz="11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test specificity 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→ </a:t>
              </a:r>
              <a:r>
                <a:rPr lang="en-US" altLang="zh-CN" sz="1100" i="1" dirty="0" err="1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Spe</a:t>
              </a:r>
              <a:endParaRPr lang="en-US" altLang="zh-CN" sz="11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below test probability 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→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P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(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clinical </a:t>
              </a:r>
              <a:r>
                <a:rPr lang="en-US" altLang="zh-CN" sz="1100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+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) =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P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(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D </a:t>
              </a:r>
              <a:r>
                <a:rPr lang="en-US" altLang="zh-CN" sz="1100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+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)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則：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post test probability 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=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P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(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D </a:t>
              </a:r>
              <a:r>
                <a:rPr lang="en-US" altLang="zh-CN" sz="1100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+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|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T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altLang="zh-CN" sz="1100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+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)</a:t>
              </a:r>
            </a:p>
          </p:txBody>
        </p:sp>
        <p:pic>
          <p:nvPicPr>
            <p:cNvPr id="6" name="图片 5"/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737539" y="1554635"/>
              <a:ext cx="6294466" cy="2252258"/>
            </a:xfrm>
            <a:prstGeom prst="rect">
              <a:avLst/>
            </a:prstGeom>
          </p:spPr>
        </p:pic>
        <p:grpSp>
          <p:nvGrpSpPr>
            <p:cNvPr id="29" name="组合 28"/>
            <p:cNvGrpSpPr/>
            <p:nvPr/>
          </p:nvGrpSpPr>
          <p:grpSpPr>
            <a:xfrm>
              <a:off x="551788" y="2996539"/>
              <a:ext cx="3348400" cy="447675"/>
              <a:chOff x="626436" y="2940554"/>
              <a:chExt cx="3348400" cy="447675"/>
            </a:xfrm>
          </p:grpSpPr>
          <p:graphicFrame>
            <p:nvGraphicFramePr>
              <p:cNvPr id="18" name="对象 17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97538764"/>
                  </p:ext>
                </p:extLst>
              </p:nvPr>
            </p:nvGraphicFramePr>
            <p:xfrm>
              <a:off x="2460668" y="2940554"/>
              <a:ext cx="1503362" cy="44767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4" imgW="1701800" imgH="508000" progId="">
                      <p:embed/>
                    </p:oleObj>
                  </mc:Choice>
                  <mc:Fallback>
                    <p:oleObj name="Equation" r:id="rId4" imgW="1701800" imgH="508000" progId="">
                      <p:embed/>
                      <p:pic>
                        <p:nvPicPr>
                          <p:cNvPr id="0" name="Picture 227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460668" y="2940554"/>
                            <a:ext cx="1503362" cy="447675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23" name="矩形 22"/>
              <p:cNvSpPr/>
              <p:nvPr/>
            </p:nvSpPr>
            <p:spPr>
              <a:xfrm>
                <a:off x="626436" y="2973834"/>
                <a:ext cx="3348400" cy="34624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zh-CN" sz="1100" i="1" dirty="0">
                    <a:solidFill>
                      <a:srgbClr val="000000"/>
                    </a:solidFill>
                    <a:latin typeface="Times New Roman" pitchFamily="18" charset="0"/>
                    <a:cs typeface="Times New Roman" pitchFamily="18" charset="0"/>
                  </a:rPr>
                  <a:t>test positive likelihood ratio</a:t>
                </a:r>
                <a:r>
                  <a:rPr lang="en-US" altLang="zh-CN" sz="1100" dirty="0">
                    <a:solidFill>
                      <a:srgbClr val="000000"/>
                    </a:solidFill>
                    <a:latin typeface="Times New Roman" pitchFamily="18" charset="0"/>
                    <a:cs typeface="Times New Roman" pitchFamily="18" charset="0"/>
                  </a:rPr>
                  <a:t> </a:t>
                </a:r>
                <a:r>
                  <a:rPr lang="zh-CN" altLang="en-US" sz="1100" dirty="0">
                    <a:solidFill>
                      <a:srgbClr val="000000"/>
                    </a:solidFill>
                    <a:latin typeface="Times New Roman" pitchFamily="18" charset="0"/>
                    <a:cs typeface="Times New Roman" pitchFamily="18" charset="0"/>
                  </a:rPr>
                  <a:t>→</a:t>
                </a:r>
                <a:endPara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endParaRPr>
              </a:p>
            </p:txBody>
          </p:sp>
        </p:grpSp>
        <p:grpSp>
          <p:nvGrpSpPr>
            <p:cNvPr id="34" name="组合 33"/>
            <p:cNvGrpSpPr/>
            <p:nvPr/>
          </p:nvGrpSpPr>
          <p:grpSpPr>
            <a:xfrm>
              <a:off x="580633" y="4375107"/>
              <a:ext cx="10444688" cy="673100"/>
              <a:chOff x="617957" y="4197821"/>
              <a:chExt cx="10444688" cy="673100"/>
            </a:xfrm>
          </p:grpSpPr>
          <p:graphicFrame>
            <p:nvGraphicFramePr>
              <p:cNvPr id="20" name="对象 19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456071799"/>
                  </p:ext>
                </p:extLst>
              </p:nvPr>
            </p:nvGraphicFramePr>
            <p:xfrm>
              <a:off x="3049590" y="4197821"/>
              <a:ext cx="5143500" cy="50800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6" imgW="5143500" imgH="508000" progId="">
                      <p:embed/>
                    </p:oleObj>
                  </mc:Choice>
                  <mc:Fallback>
                    <p:oleObj name="Equation" r:id="rId6" imgW="5143500" imgH="508000" progId="">
                      <p:embed/>
                      <p:pic>
                        <p:nvPicPr>
                          <p:cNvPr id="0" name="Picture 2280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049590" y="4197821"/>
                            <a:ext cx="5143500" cy="508000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21" name="对象 20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807639874"/>
                  </p:ext>
                </p:extLst>
              </p:nvPr>
            </p:nvGraphicFramePr>
            <p:xfrm>
              <a:off x="617957" y="4197821"/>
              <a:ext cx="1892300" cy="67310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8" imgW="1892300" imgH="673100" progId="">
                      <p:embed/>
                    </p:oleObj>
                  </mc:Choice>
                  <mc:Fallback>
                    <p:oleObj name="Equation" r:id="rId8" imgW="1892300" imgH="673100" progId="">
                      <p:embed/>
                      <p:pic>
                        <p:nvPicPr>
                          <p:cNvPr id="0" name="Picture 2281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617957" y="4197821"/>
                            <a:ext cx="1892300" cy="673100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cxnSp>
            <p:nvCxnSpPr>
              <p:cNvPr id="28" name="直接箭头连接符 27"/>
              <p:cNvCxnSpPr/>
              <p:nvPr/>
            </p:nvCxnSpPr>
            <p:spPr>
              <a:xfrm>
                <a:off x="2604532" y="4454234"/>
                <a:ext cx="360000" cy="0"/>
              </a:xfrm>
              <a:prstGeom prst="straightConnector1">
                <a:avLst/>
              </a:prstGeom>
              <a:ln>
                <a:headEnd type="none"/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aphicFrame>
            <p:nvGraphicFramePr>
              <p:cNvPr id="30" name="对象 29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244995042"/>
                  </p:ext>
                </p:extLst>
              </p:nvPr>
            </p:nvGraphicFramePr>
            <p:xfrm>
              <a:off x="8738545" y="4226590"/>
              <a:ext cx="2324100" cy="46990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0" imgW="2324100" imgH="469900" progId="">
                      <p:embed/>
                    </p:oleObj>
                  </mc:Choice>
                  <mc:Fallback>
                    <p:oleObj name="Equation" r:id="rId10" imgW="2324100" imgH="469900" progId="">
                      <p:embed/>
                      <p:pic>
                        <p:nvPicPr>
                          <p:cNvPr id="0" name="Picture 228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1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8738545" y="4226590"/>
                            <a:ext cx="2324100" cy="469900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cxnSp>
            <p:nvCxnSpPr>
              <p:cNvPr id="31" name="直接箭头连接符 30"/>
              <p:cNvCxnSpPr/>
              <p:nvPr/>
            </p:nvCxnSpPr>
            <p:spPr>
              <a:xfrm>
                <a:off x="8294687" y="4451043"/>
                <a:ext cx="360000" cy="0"/>
              </a:xfrm>
              <a:prstGeom prst="straightConnector1">
                <a:avLst/>
              </a:prstGeom>
              <a:ln>
                <a:headEnd type="none"/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3" name="矩形 32"/>
            <p:cNvSpPr/>
            <p:nvPr/>
          </p:nvSpPr>
          <p:spPr>
            <a:xfrm>
              <a:off x="551788" y="5189878"/>
              <a:ext cx="10447804" cy="34624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因此推導出使用診斷檢查的條件為：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LR</a:t>
              </a:r>
              <a:r>
                <a:rPr lang="en-US" altLang="zh-CN" sz="1100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altLang="zh-CN" sz="1100" i="1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T</a:t>
              </a:r>
              <a:r>
                <a:rPr lang="en-US" altLang="zh-CN" sz="1100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+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&gt;  ( [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treatment threshold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] - [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treatment threshold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] ·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P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(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D </a:t>
              </a:r>
              <a:r>
                <a:rPr lang="en-US" altLang="zh-CN" sz="1100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+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) ) / (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P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(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D </a:t>
              </a:r>
              <a:r>
                <a:rPr lang="en-US" altLang="zh-CN" sz="1100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+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) - [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treatment threshold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] ·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P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(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D </a:t>
              </a:r>
              <a:r>
                <a:rPr lang="en-US" altLang="zh-CN" sz="1100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+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) ) 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；</a:t>
              </a:r>
              <a:endPara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  <p:grpSp>
          <p:nvGrpSpPr>
            <p:cNvPr id="5" name="组合 4"/>
            <p:cNvGrpSpPr/>
            <p:nvPr/>
          </p:nvGrpSpPr>
          <p:grpSpPr>
            <a:xfrm>
              <a:off x="551788" y="3582988"/>
              <a:ext cx="3673290" cy="444500"/>
              <a:chOff x="551788" y="3582988"/>
              <a:chExt cx="3673290" cy="444500"/>
            </a:xfrm>
          </p:grpSpPr>
          <p:graphicFrame>
            <p:nvGraphicFramePr>
              <p:cNvPr id="3" name="对象 2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533220776"/>
                  </p:ext>
                </p:extLst>
              </p:nvPr>
            </p:nvGraphicFramePr>
            <p:xfrm>
              <a:off x="1812078" y="3582988"/>
              <a:ext cx="2413000" cy="44450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公式" r:id="rId12" imgW="2413000" imgH="444500" progId="Equation.3">
                      <p:embed/>
                    </p:oleObj>
                  </mc:Choice>
                  <mc:Fallback>
                    <p:oleObj name="公式" r:id="rId12" imgW="2413000" imgH="444500" progId="Equation.3">
                      <p:embed/>
                      <p:pic>
                        <p:nvPicPr>
                          <p:cNvPr id="0" name="Picture 228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3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812078" y="3582988"/>
                            <a:ext cx="2413000" cy="444500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22" name="矩形 21"/>
              <p:cNvSpPr/>
              <p:nvPr/>
            </p:nvSpPr>
            <p:spPr>
              <a:xfrm>
                <a:off x="551788" y="3592589"/>
                <a:ext cx="2460478" cy="34624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zh-CN" sz="1100" i="1" dirty="0">
                    <a:solidFill>
                      <a:srgbClr val="000000"/>
                    </a:solidFill>
                    <a:latin typeface="Times New Roman" pitchFamily="18" charset="0"/>
                    <a:cs typeface="Times New Roman" pitchFamily="18" charset="0"/>
                  </a:rPr>
                  <a:t>treatment threshold </a:t>
                </a:r>
                <a:endPara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883903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/>
          <p:cNvSpPr txBox="1">
            <a:spLocks/>
          </p:cNvSpPr>
          <p:nvPr/>
        </p:nvSpPr>
        <p:spPr bwMode="auto">
          <a:xfrm>
            <a:off x="32871" y="57128"/>
            <a:ext cx="8524875" cy="21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9pPr>
          </a:lstStyle>
          <a:p>
            <a:r>
              <a:rPr lang="zh-CN" altLang="en-US" sz="1500" dirty="0">
                <a:ea typeface="楷体_GB2312" pitchFamily="49" charset="-122"/>
              </a:rPr>
              <a:t>臨床決策分析</a:t>
            </a:r>
            <a:r>
              <a:rPr lang="en-US" altLang="zh-CN" sz="13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CN" sz="13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clinical decision </a:t>
            </a:r>
            <a:r>
              <a:rPr lang="en-US" altLang="zh-CN" sz="13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analysis</a:t>
            </a:r>
            <a:r>
              <a:rPr lang="en-US" altLang="zh-CN" sz="13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altLang="zh-CN" sz="13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CDA</a:t>
            </a:r>
            <a:r>
              <a:rPr lang="en-US" altLang="zh-CN" sz="13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9" name="矩形 3"/>
          <p:cNvSpPr>
            <a:spLocks noChangeArrowheads="1"/>
          </p:cNvSpPr>
          <p:nvPr/>
        </p:nvSpPr>
        <p:spPr bwMode="auto">
          <a:xfrm>
            <a:off x="45955" y="273592"/>
            <a:ext cx="11374714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lvl="0"/>
            <a:r>
              <a:rPr lang="zh-CN" altLang="en-US" sz="1300" dirty="0">
                <a:solidFill>
                  <a:srgbClr val="000000"/>
                </a:solidFill>
              </a:rPr>
              <a:t>臨床決策中對於「弱推薦」證據的</a:t>
            </a:r>
            <a:r>
              <a:rPr lang="zh-TW" altLang="en-US" sz="1300" dirty="0">
                <a:solidFill>
                  <a:srgbClr val="000000"/>
                </a:solidFill>
              </a:rPr>
              <a:t>輔助決策工具 </a:t>
            </a:r>
            <a:r>
              <a:rPr lang="zh-CN" altLang="en-US" sz="1300" dirty="0">
                <a:solidFill>
                  <a:srgbClr val="000000"/>
                </a:solidFill>
                <a:latin typeface="Arial" pitchFamily="34" charset="0"/>
              </a:rPr>
              <a:t>：</a:t>
            </a:r>
            <a:r>
              <a:rPr lang="zh-CN" altLang="en-US" sz="900" dirty="0">
                <a:solidFill>
                  <a:srgbClr val="000000"/>
                </a:solidFill>
                <a:latin typeface="Arial" pitchFamily="34" charset="0"/>
              </a:rPr>
              <a:t>～ 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決策分析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Decision Analysis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 </a:t>
            </a:r>
            <a:r>
              <a:rPr lang="en-US" altLang="zh-CN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- </a:t>
            </a:r>
            <a:r>
              <a:rPr lang="zh-CN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決策分析在臨床實踐中的應用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Clinical Applications of Decision Analysis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zh-CN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- </a:t>
            </a:r>
            <a:r>
              <a:rPr lang="zh-CN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閾值分析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threshold approach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CN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；</a:t>
            </a:r>
            <a:endParaRPr lang="zh-CN" altLang="en-US" sz="1000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2435300" y="703343"/>
            <a:ext cx="7128574" cy="3141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應用舉例：</a:t>
            </a:r>
            <a:endParaRPr lang="en-US" altLang="zh-CN" sz="1100" dirty="0">
              <a:latin typeface="Times New Roman" pitchFamily="18" charset="0"/>
              <a:cs typeface="Times New Roman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/>
              <p:cNvSpPr/>
              <p:nvPr/>
            </p:nvSpPr>
            <p:spPr>
              <a:xfrm>
                <a:off x="2435299" y="4655192"/>
                <a:ext cx="7669751" cy="5028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1100" dirty="0">
                    <a:solidFill>
                      <a:schemeClr val="tx1"/>
                    </a:solidFill>
                    <a:latin typeface="Times New Roman" pitchFamily="18" charset="0"/>
                    <a:cs typeface="Times New Roman" pitchFamily="18" charset="0"/>
                  </a:rPr>
                  <a:t>∵   </a:t>
                </a:r>
                <a:r>
                  <a:rPr lang="en-US" altLang="zh-CN" sz="1100" i="1" dirty="0">
                    <a:solidFill>
                      <a:schemeClr val="tx1"/>
                    </a:solidFill>
                    <a:latin typeface="Times New Roman" pitchFamily="18" charset="0"/>
                    <a:cs typeface="Times New Roman" pitchFamily="18" charset="0"/>
                  </a:rPr>
                  <a:t>LR</a:t>
                </a:r>
                <a:r>
                  <a:rPr lang="en-US" altLang="zh-CN" sz="1100" i="1" baseline="-25000" dirty="0">
                    <a:solidFill>
                      <a:schemeClr val="tx1"/>
                    </a:solidFill>
                    <a:latin typeface="Times New Roman" pitchFamily="18" charset="0"/>
                    <a:cs typeface="Times New Roman" pitchFamily="18" charset="0"/>
                  </a:rPr>
                  <a:t>T</a:t>
                </a:r>
                <a:r>
                  <a:rPr lang="en-US" altLang="zh-CN" sz="1100" baseline="-25000" dirty="0">
                    <a:solidFill>
                      <a:schemeClr val="tx1"/>
                    </a:solidFill>
                    <a:latin typeface="Times New Roman" pitchFamily="18" charset="0"/>
                    <a:cs typeface="Times New Roman" pitchFamily="18" charset="0"/>
                  </a:rPr>
                  <a:t> +</a:t>
                </a:r>
                <a:r>
                  <a:rPr lang="en-US" altLang="zh-CN" sz="1100" dirty="0">
                    <a:solidFill>
                      <a:schemeClr val="tx1"/>
                    </a:solidFill>
                    <a:latin typeface="Times New Roman" pitchFamily="18" charset="0"/>
                    <a:cs typeface="Times New Roman" pitchFamily="18" charset="0"/>
                  </a:rPr>
                  <a:t>[ ≤ 18 µg / L ] = 41.47</a:t>
                </a:r>
                <a:r>
                  <a:rPr lang="zh-CN" altLang="en-US" sz="1100" dirty="0">
                    <a:solidFill>
                      <a:schemeClr val="tx1"/>
                    </a:solidFill>
                    <a:latin typeface="Times New Roman" pitchFamily="18" charset="0"/>
                    <a:cs typeface="Times New Roman" pitchFamily="18" charset="0"/>
                  </a:rPr>
                  <a:t>，</a:t>
                </a:r>
                <a:r>
                  <a:rPr lang="en-US" altLang="zh-CN" sz="1100" i="1" dirty="0">
                    <a:solidFill>
                      <a:schemeClr val="tx1"/>
                    </a:solidFill>
                    <a:latin typeface="Times New Roman" pitchFamily="18" charset="0"/>
                    <a:cs typeface="Times New Roman" pitchFamily="18" charset="0"/>
                  </a:rPr>
                  <a:t>P</a:t>
                </a:r>
                <a:r>
                  <a:rPr lang="en-US" altLang="zh-CN" sz="1100" dirty="0">
                    <a:solidFill>
                      <a:schemeClr val="tx1"/>
                    </a:solidFill>
                    <a:latin typeface="Times New Roman" pitchFamily="18" charset="0"/>
                    <a:cs typeface="Times New Roman" pitchFamily="18" charset="0"/>
                  </a:rPr>
                  <a:t> ( </a:t>
                </a:r>
                <a:r>
                  <a:rPr lang="en-US" altLang="zh-CN" sz="1100" i="1" dirty="0">
                    <a:solidFill>
                      <a:schemeClr val="tx1"/>
                    </a:solidFill>
                    <a:latin typeface="Times New Roman" pitchFamily="18" charset="0"/>
                    <a:cs typeface="Times New Roman" pitchFamily="18" charset="0"/>
                  </a:rPr>
                  <a:t>D </a:t>
                </a:r>
                <a:r>
                  <a:rPr lang="en-US" altLang="zh-CN" sz="1100" baseline="-25000" dirty="0">
                    <a:solidFill>
                      <a:schemeClr val="tx1"/>
                    </a:solidFill>
                    <a:latin typeface="Times New Roman" pitchFamily="18" charset="0"/>
                    <a:cs typeface="Times New Roman" pitchFamily="18" charset="0"/>
                  </a:rPr>
                  <a:t>+</a:t>
                </a:r>
                <a:r>
                  <a:rPr lang="en-US" altLang="zh-CN" sz="1100" dirty="0">
                    <a:solidFill>
                      <a:schemeClr val="tx1"/>
                    </a:solidFill>
                    <a:latin typeface="Times New Roman" pitchFamily="18" charset="0"/>
                    <a:cs typeface="Times New Roman" pitchFamily="18" charset="0"/>
                  </a:rPr>
                  <a:t> ) = 50% </a:t>
                </a:r>
                <a:r>
                  <a:rPr lang="zh-CN" altLang="en-US" sz="1100" dirty="0">
                    <a:solidFill>
                      <a:schemeClr val="tx1"/>
                    </a:solidFill>
                    <a:latin typeface="Times New Roman" pitchFamily="18" charset="0"/>
                    <a:cs typeface="Times New Roman" pitchFamily="18" charset="0"/>
                  </a:rPr>
                  <a:t>， ∴    </a:t>
                </a:r>
                <a14:m>
                  <m:oMath xmlns:m="http://schemas.openxmlformats.org/officeDocument/2006/math">
                    <m:r>
                      <a:rPr lang="en-US" altLang="zh-CN" sz="11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itchFamily="18" charset="0"/>
                      </a:rPr>
                      <m:t>𝑃</m:t>
                    </m:r>
                    <m:d>
                      <m:dPr>
                        <m:ctrlPr>
                          <a:rPr lang="en-US" altLang="zh-CN" sz="11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1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1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zh-CN" sz="11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+</m:t>
                            </m:r>
                          </m:sub>
                        </m:sSub>
                        <m:r>
                          <a:rPr lang="en-US" altLang="zh-CN" sz="11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altLang="zh-CN" sz="11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1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CN" sz="11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+</m:t>
                            </m:r>
                          </m:sub>
                        </m:sSub>
                      </m:e>
                    </m:d>
                    <m:r>
                      <a:rPr lang="en-US" altLang="zh-CN" sz="11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11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</m:ctrlPr>
                      </m:fPr>
                      <m:num>
                        <m:r>
                          <a:rPr lang="en-US" altLang="zh-CN" sz="11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altLang="zh-CN" sz="11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11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1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US" altLang="zh-CN" sz="11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</a:rPr>
                                  <m:t>+</m:t>
                                </m:r>
                              </m:sub>
                            </m:sSub>
                          </m:e>
                        </m:d>
                        <m:r>
                          <a:rPr lang="en-US" altLang="zh-CN" sz="11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·</m:t>
                        </m:r>
                        <m:sSub>
                          <m:sSubPr>
                            <m:ctrlPr>
                              <a:rPr lang="en-US" altLang="zh-CN" sz="11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1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𝐿𝑅</m:t>
                            </m:r>
                          </m:e>
                          <m:sub>
                            <m:r>
                              <a:rPr lang="en-US" altLang="zh-CN" sz="11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𝑇</m:t>
                            </m:r>
                            <m:r>
                              <a:rPr lang="en-US" altLang="zh-CN" sz="11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+</m:t>
                            </m:r>
                          </m:sub>
                        </m:sSub>
                      </m:num>
                      <m:den>
                        <m:r>
                          <a:rPr lang="en-US" altLang="zh-CN" sz="11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1−</m:t>
                        </m:r>
                        <m:r>
                          <a:rPr lang="en-US" altLang="zh-CN" sz="11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altLang="zh-CN" sz="11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11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1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US" altLang="zh-CN" sz="11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</a:rPr>
                                  <m:t>+</m:t>
                                </m:r>
                              </m:sub>
                            </m:sSub>
                          </m:e>
                        </m:d>
                        <m:r>
                          <a:rPr lang="en-US" altLang="zh-CN" sz="11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+</m:t>
                        </m:r>
                        <m:r>
                          <a:rPr lang="en-US" altLang="zh-CN" sz="11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altLang="zh-CN" sz="11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11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1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US" altLang="zh-CN" sz="11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</a:rPr>
                                  <m:t>+</m:t>
                                </m:r>
                              </m:sub>
                            </m:sSub>
                          </m:e>
                        </m:d>
                        <m:r>
                          <a:rPr lang="en-US" altLang="zh-CN" sz="11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·</m:t>
                        </m:r>
                        <m:sSub>
                          <m:sSubPr>
                            <m:ctrlPr>
                              <a:rPr lang="en-US" altLang="zh-CN" sz="11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1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𝐿𝑅</m:t>
                            </m:r>
                          </m:e>
                          <m:sub>
                            <m:r>
                              <a:rPr lang="en-US" altLang="zh-CN" sz="11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𝑇</m:t>
                            </m:r>
                            <m:r>
                              <a:rPr lang="en-US" altLang="zh-CN" sz="11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</a:rPr>
                              <m:t>+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zh-CN" sz="1100" dirty="0">
                    <a:solidFill>
                      <a:schemeClr val="tx1"/>
                    </a:solidFill>
                    <a:latin typeface="Times New Roman" pitchFamily="18" charset="0"/>
                    <a:cs typeface="Times New Roman" pitchFamily="18" charset="0"/>
                  </a:rPr>
                  <a:t>    =  97.7% </a:t>
                </a:r>
                <a:r>
                  <a:rPr lang="zh-CN" altLang="en-US" sz="1100" dirty="0">
                    <a:solidFill>
                      <a:schemeClr val="tx1"/>
                    </a:solidFill>
                    <a:latin typeface="Times New Roman" pitchFamily="18" charset="0"/>
                    <a:cs typeface="Times New Roman" pitchFamily="18" charset="0"/>
                  </a:rPr>
                  <a:t>；</a:t>
                </a:r>
                <a:endParaRPr lang="en-US" altLang="zh-CN" sz="1100" dirty="0">
                  <a:solidFill>
                    <a:schemeClr val="tx1"/>
                  </a:solidFill>
                  <a:latin typeface="Times New Roman" pitchFamily="18" charset="0"/>
                  <a:cs typeface="Times New Roman" pitchFamily="18" charset="0"/>
                </a:endParaRPr>
              </a:p>
            </p:txBody>
          </p:sp>
        </mc:Choice>
        <mc:Fallback xmlns="">
          <p:sp>
            <p:nvSpPr>
              <p:cNvPr id="19" name="矩形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5299" y="4655192"/>
                <a:ext cx="7669751" cy="502830"/>
              </a:xfrm>
              <a:prstGeom prst="rect">
                <a:avLst/>
              </a:prstGeom>
              <a:blipFill rotWithShape="0">
                <a:blip r:embed="rId3" cstate="print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矩形 21"/>
          <p:cNvSpPr/>
          <p:nvPr/>
        </p:nvSpPr>
        <p:spPr>
          <a:xfrm>
            <a:off x="2435299" y="5473570"/>
            <a:ext cx="7128575" cy="3000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900" dirty="0">
                <a:solidFill>
                  <a:schemeClr val="accent6"/>
                </a:solidFill>
                <a:latin typeface="Times New Roman" pitchFamily="18" charset="0"/>
                <a:cs typeface="Times New Roman" pitchFamily="18" charset="0"/>
              </a:rPr>
              <a:t>《</a:t>
            </a:r>
            <a:r>
              <a:rPr lang="zh-CN" altLang="en-US" sz="900" dirty="0">
                <a:solidFill>
                  <a:schemeClr val="accent6"/>
                </a:solidFill>
                <a:latin typeface="Times New Roman" pitchFamily="18" charset="0"/>
                <a:cs typeface="Times New Roman" pitchFamily="18" charset="0"/>
              </a:rPr>
              <a:t>實驗診斷學</a:t>
            </a:r>
            <a:r>
              <a:rPr lang="en-US" altLang="zh-CN" sz="900" dirty="0">
                <a:solidFill>
                  <a:schemeClr val="accent6"/>
                </a:solidFill>
                <a:latin typeface="Times New Roman" pitchFamily="18" charset="0"/>
                <a:cs typeface="Times New Roman" pitchFamily="18" charset="0"/>
              </a:rPr>
              <a:t>》</a:t>
            </a:r>
            <a:r>
              <a:rPr lang="zh-CN" altLang="en-US" sz="900" dirty="0">
                <a:solidFill>
                  <a:schemeClr val="accent6"/>
                </a:solidFill>
                <a:latin typeface="Times New Roman" pitchFamily="18" charset="0"/>
                <a:cs typeface="Times New Roman" pitchFamily="18" charset="0"/>
              </a:rPr>
              <a:t>，人民衛生出版社，</a:t>
            </a:r>
            <a:r>
              <a:rPr lang="en-US" altLang="zh-CN" sz="900" dirty="0">
                <a:solidFill>
                  <a:schemeClr val="accent6"/>
                </a:solidFill>
                <a:latin typeface="Times New Roman" pitchFamily="18" charset="0"/>
                <a:cs typeface="Times New Roman" pitchFamily="18" charset="0"/>
              </a:rPr>
              <a:t>23</a:t>
            </a:r>
            <a:r>
              <a:rPr lang="zh-CN" altLang="en-US" sz="900" dirty="0">
                <a:solidFill>
                  <a:schemeClr val="accent6"/>
                </a:solidFill>
                <a:latin typeface="Times New Roman" pitchFamily="18" charset="0"/>
                <a:cs typeface="Times New Roman" pitchFamily="18" charset="0"/>
              </a:rPr>
              <a:t>頁</a:t>
            </a:r>
            <a:r>
              <a:rPr lang="en-US" altLang="zh-CN" sz="900" dirty="0">
                <a:solidFill>
                  <a:schemeClr val="accent6"/>
                </a:solidFill>
                <a:latin typeface="Times New Roman" pitchFamily="18" charset="0"/>
                <a:cs typeface="Times New Roman" pitchFamily="18" charset="0"/>
              </a:rPr>
              <a:t>.</a:t>
            </a:r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19242"/>
              </p:ext>
            </p:extLst>
          </p:nvPr>
        </p:nvGraphicFramePr>
        <p:xfrm>
          <a:off x="2625173" y="1816822"/>
          <a:ext cx="5511800" cy="2156460"/>
        </p:xfrm>
        <a:graphic>
          <a:graphicData uri="http://schemas.openxmlformats.org/drawingml/2006/table">
            <a:tbl>
              <a:tblPr/>
              <a:tblGrid>
                <a:gridCol w="13827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29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13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47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5270">
                <a:tc gridSpan="3">
                  <a:txBody>
                    <a:bodyPr/>
                    <a:lstStyle/>
                    <a:p>
                      <a:pPr algn="l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LRs of serum ferritin for diagnosis of iron deficiency anemia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zh-TW" altLang="en-US" sz="1100" b="0" i="1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686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ferritin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( </a:t>
                      </a: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µg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/ L )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iron deficiency anemia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no iron deficiency anemia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LR</a:t>
                      </a:r>
                      <a:r>
                        <a:rPr lang="en-US" sz="11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T</a:t>
                      </a:r>
                      <a:r>
                        <a:rPr lang="en-US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+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6865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≤</a:t>
                      </a: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</a:t>
                      </a:r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18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47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41.47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6865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＞</a:t>
                      </a:r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18 , </a:t>
                      </a: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≤</a:t>
                      </a: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</a:t>
                      </a:r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45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23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13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3.12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6865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＞</a:t>
                      </a:r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45 , </a:t>
                      </a: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≤</a:t>
                      </a:r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 </a:t>
                      </a:r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7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27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0.46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6865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新細明體" panose="02020500000000000000" pitchFamily="18" charset="-120"/>
                          <a:ea typeface="新細明體" panose="02020500000000000000" pitchFamily="18" charset="-120"/>
                        </a:rPr>
                        <a:t>＞</a:t>
                      </a:r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8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108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0.13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686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total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85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150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　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4" name="矩形 23"/>
          <p:cNvSpPr/>
          <p:nvPr/>
        </p:nvSpPr>
        <p:spPr>
          <a:xfrm>
            <a:off x="2435299" y="4234289"/>
            <a:ext cx="7921676" cy="3462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假設 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[ </a:t>
            </a:r>
            <a:r>
              <a:rPr lang="en-US" altLang="zh-CN" sz="1100" i="1" dirty="0">
                <a:latin typeface="Times New Roman" pitchFamily="18" charset="0"/>
                <a:cs typeface="Times New Roman" pitchFamily="18" charset="0"/>
              </a:rPr>
              <a:t>test threshold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 ] = 10%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 、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[ </a:t>
            </a:r>
            <a:r>
              <a:rPr lang="en-US" altLang="zh-CN" sz="1100" i="1" dirty="0">
                <a:latin typeface="Times New Roman" pitchFamily="18" charset="0"/>
                <a:cs typeface="Times New Roman" pitchFamily="18" charset="0"/>
              </a:rPr>
              <a:t>treatment threshold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 ] = 90%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，如此則要求該實驗室檢查項目 </a:t>
            </a:r>
            <a:r>
              <a:rPr lang="en-US" altLang="zh-CN" sz="1100" i="1" dirty="0">
                <a:latin typeface="Times New Roman" pitchFamily="18" charset="0"/>
                <a:cs typeface="Times New Roman" pitchFamily="18" charset="0"/>
              </a:rPr>
              <a:t>LR</a:t>
            </a:r>
            <a:r>
              <a:rPr lang="en-US" altLang="zh-CN" sz="1100" baseline="-250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zh-CN" sz="1100" i="1" baseline="-25000" dirty="0">
                <a:latin typeface="Times New Roman" pitchFamily="18" charset="0"/>
                <a:cs typeface="Times New Roman" pitchFamily="18" charset="0"/>
              </a:rPr>
              <a:t>T</a:t>
            </a:r>
            <a:r>
              <a:rPr lang="en-US" altLang="zh-CN" sz="1100" baseline="-25000" dirty="0">
                <a:latin typeface="Times New Roman" pitchFamily="18" charset="0"/>
                <a:cs typeface="Times New Roman" pitchFamily="18" charset="0"/>
              </a:rPr>
              <a:t> +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  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&gt; 9 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，即</a:t>
            </a:r>
            <a:r>
              <a:rPr lang="zh-TW" altLang="en-US" sz="1100" dirty="0">
                <a:latin typeface="Times New Roman" pitchFamily="18" charset="0"/>
                <a:cs typeface="Times New Roman" pitchFamily="18" charset="0"/>
              </a:rPr>
              <a:t>進一步實驗室檢查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；</a:t>
            </a:r>
            <a:endParaRPr lang="en-US" altLang="zh-CN" sz="11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2435300" y="1017468"/>
            <a:ext cx="7315185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假設 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1 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位 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40 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歲女性患者，月經量較多，貧血，</a:t>
            </a:r>
            <a:r>
              <a:rPr lang="zh-TW" altLang="en-US" sz="1100" dirty="0">
                <a:latin typeface="Times New Roman" pitchFamily="18" charset="0"/>
                <a:cs typeface="Times New Roman" pitchFamily="18" charset="0"/>
              </a:rPr>
              <a:t>臨床醫生分析患者症狀後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初步判斷該患者患缺鐵性貧血的概率為 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50%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，問是否需要進一步做實驗室檢查？如果該患者鐵蛋白測定結果為 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15µg/L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，那麼該患者還貧血的可能性有多大？</a:t>
            </a:r>
            <a:endParaRPr lang="en-US" altLang="zh-CN" sz="11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09579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/>
          <p:cNvSpPr txBox="1">
            <a:spLocks/>
          </p:cNvSpPr>
          <p:nvPr/>
        </p:nvSpPr>
        <p:spPr bwMode="auto">
          <a:xfrm>
            <a:off x="32871" y="57128"/>
            <a:ext cx="8524875" cy="21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9pPr>
          </a:lstStyle>
          <a:p>
            <a:r>
              <a:rPr lang="zh-CN" altLang="en-US" sz="1500" dirty="0">
                <a:ea typeface="楷体_GB2312" pitchFamily="49" charset="-122"/>
              </a:rPr>
              <a:t>臨床決策分析</a:t>
            </a:r>
            <a:r>
              <a:rPr lang="en-US" altLang="zh-CN" sz="13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CN" sz="13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clinical decision </a:t>
            </a:r>
            <a:r>
              <a:rPr lang="en-US" altLang="zh-CN" sz="13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analysis</a:t>
            </a:r>
            <a:r>
              <a:rPr lang="en-US" altLang="zh-CN" sz="13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altLang="zh-CN" sz="13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CDA</a:t>
            </a:r>
            <a:r>
              <a:rPr lang="en-US" altLang="zh-CN" sz="13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9" name="矩形 3"/>
          <p:cNvSpPr>
            <a:spLocks noChangeArrowheads="1"/>
          </p:cNvSpPr>
          <p:nvPr/>
        </p:nvSpPr>
        <p:spPr bwMode="auto">
          <a:xfrm>
            <a:off x="45955" y="273592"/>
            <a:ext cx="11336420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lvl="0"/>
            <a:r>
              <a:rPr lang="zh-CN" altLang="en-US" sz="1300" dirty="0">
                <a:solidFill>
                  <a:srgbClr val="000000"/>
                </a:solidFill>
              </a:rPr>
              <a:t>臨床決策中對於「弱推薦」證據的</a:t>
            </a:r>
            <a:r>
              <a:rPr lang="zh-TW" altLang="en-US" sz="1300" dirty="0">
                <a:solidFill>
                  <a:srgbClr val="000000"/>
                </a:solidFill>
              </a:rPr>
              <a:t>輔助決策工具 </a:t>
            </a:r>
            <a:r>
              <a:rPr lang="zh-CN" altLang="en-US" sz="1300" dirty="0">
                <a:solidFill>
                  <a:srgbClr val="000000"/>
                </a:solidFill>
                <a:latin typeface="Arial" pitchFamily="34" charset="0"/>
              </a:rPr>
              <a:t>：</a:t>
            </a:r>
            <a:r>
              <a:rPr lang="zh-CN" altLang="en-US" sz="900" dirty="0">
                <a:solidFill>
                  <a:srgbClr val="000000"/>
                </a:solidFill>
                <a:latin typeface="Arial" pitchFamily="34" charset="0"/>
              </a:rPr>
              <a:t>～ 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決策分析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Decision Analysis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 </a:t>
            </a:r>
            <a:r>
              <a:rPr lang="en-US" altLang="zh-CN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- </a:t>
            </a:r>
            <a:r>
              <a:rPr lang="zh-CN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決策分析在臨床實踐中的應用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Clinical Applications of Decision Analysis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 </a:t>
            </a:r>
            <a:r>
              <a:rPr lang="en-US" altLang="zh-CN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- 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馬爾可夫過程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Markov chain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zh-CN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；</a:t>
            </a:r>
            <a:endParaRPr lang="zh-CN" altLang="en-US" sz="1000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676275" y="587531"/>
            <a:ext cx="10351147" cy="13619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假設篩查技術的靈敏度為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80%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、特異度為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70%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，篩查過程本身對健康狀態和疾病狀態患者都有可能產生相同的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1%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的死亡率，確診過程本身對健康狀態和疾病狀態患者都有可能產生相同的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1%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的死亡率，治療過程本身對健康狀態和疾病狀態患者都有可能產生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1%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的死亡率，治療可以使原有的疾病狀態轉化為死亡狀態的概率降低為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20%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、轉化為健康狀態的概率為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60%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、仍然保留在疾病狀態的概率為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20%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；假設人群起始狀態為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100%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健康，其中每年健康到疾病狀態的轉化率是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6%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，每年健康到死亡狀態的轉化率是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4%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，每年疾病狀態到死亡狀態的轉化率是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60%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，疾病狀態無法自然轉變為健康狀態，那麼對該人群制定每年一次的篩查策略，考察該篩查行為對五年後人群各狀態比率的變化的影響；</a:t>
            </a:r>
            <a:endParaRPr lang="en-US" altLang="zh-CN" sz="1100" dirty="0">
              <a:latin typeface="Times New Roman" pitchFamily="18" charset="0"/>
              <a:cs typeface="Times New Roman" pitchFamily="18" charset="0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E19A787C-AFCB-D631-2DAC-D70445989CF4}"/>
              </a:ext>
            </a:extLst>
          </p:cNvPr>
          <p:cNvGrpSpPr/>
          <p:nvPr/>
        </p:nvGrpSpPr>
        <p:grpSpPr>
          <a:xfrm>
            <a:off x="1550920" y="1895552"/>
            <a:ext cx="7259705" cy="3924223"/>
            <a:chOff x="1550920" y="1895552"/>
            <a:chExt cx="7259705" cy="3924223"/>
          </a:xfrm>
        </p:grpSpPr>
        <p:sp>
          <p:nvSpPr>
            <p:cNvPr id="34" name="矩形 33"/>
            <p:cNvSpPr/>
            <p:nvPr/>
          </p:nvSpPr>
          <p:spPr>
            <a:xfrm>
              <a:off x="1550920" y="2371197"/>
              <a:ext cx="507255" cy="2972931"/>
            </a:xfrm>
            <a:prstGeom prst="rect">
              <a:avLst/>
            </a:prstGeom>
          </p:spPr>
          <p:txBody>
            <a:bodyPr vert="eaVert"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zh-CN" altLang="en-US" sz="1600" dirty="0">
                  <a:latin typeface="Times New Roman" pitchFamily="18" charset="0"/>
                  <a:cs typeface="Times New Roman" pitchFamily="18" charset="0"/>
                </a:rPr>
                <a:t>篩查策略和狀態向量一步轉移</a:t>
              </a:r>
              <a:endParaRPr lang="en-US" altLang="zh-CN" sz="1600" dirty="0">
                <a:latin typeface="Times New Roman" pitchFamily="18" charset="0"/>
                <a:cs typeface="Times New Roman" pitchFamily="18" charset="0"/>
              </a:endParaRPr>
            </a:p>
          </p:txBody>
        </p:sp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E6CA23F3-7359-05EB-1794-234F5B7E2DDD}"/>
                </a:ext>
              </a:extLst>
            </p:cNvPr>
            <p:cNvGrpSpPr/>
            <p:nvPr/>
          </p:nvGrpSpPr>
          <p:grpSpPr>
            <a:xfrm>
              <a:off x="2800350" y="1895552"/>
              <a:ext cx="6010275" cy="3924223"/>
              <a:chOff x="2800350" y="1895552"/>
              <a:chExt cx="6010275" cy="3924223"/>
            </a:xfrm>
          </p:grpSpPr>
          <p:graphicFrame>
            <p:nvGraphicFramePr>
              <p:cNvPr id="6" name="图示 5"/>
              <p:cNvGraphicFramePr/>
              <p:nvPr>
                <p:extLst>
                  <p:ext uri="{D42A27DB-BD31-4B8C-83A1-F6EECF244321}">
                    <p14:modId xmlns:p14="http://schemas.microsoft.com/office/powerpoint/2010/main" val="1896181150"/>
                  </p:ext>
                </p:extLst>
              </p:nvPr>
            </p:nvGraphicFramePr>
            <p:xfrm>
              <a:off x="2815697" y="2048621"/>
              <a:ext cx="5861578" cy="3599704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3" r:lo="rId4" r:qs="rId5" r:cs="rId6"/>
              </a:graphicData>
            </a:graphic>
          </p:graphicFrame>
          <p:sp>
            <p:nvSpPr>
              <p:cNvPr id="7" name="矩形 6"/>
              <p:cNvSpPr/>
              <p:nvPr/>
            </p:nvSpPr>
            <p:spPr>
              <a:xfrm>
                <a:off x="2800350" y="1895552"/>
                <a:ext cx="6010275" cy="3924223"/>
              </a:xfrm>
              <a:prstGeom prst="rect">
                <a:avLst/>
              </a:prstGeom>
              <a:noFill/>
              <a:ln w="127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" name="矩形 34"/>
              <p:cNvSpPr/>
              <p:nvPr/>
            </p:nvSpPr>
            <p:spPr>
              <a:xfrm>
                <a:off x="3075740" y="4438122"/>
                <a:ext cx="1152584" cy="507831"/>
              </a:xfrm>
              <a:prstGeom prst="rect">
                <a:avLst/>
              </a:prstGeom>
            </p:spPr>
            <p:txBody>
              <a:bodyPr vert="horz" wrap="square">
                <a:spAutoFit/>
              </a:bodyPr>
              <a:lstStyle/>
              <a:p>
                <a:pPr lvl="0"/>
                <a:r>
                  <a:rPr lang="zh-CN" altLang="en-US" sz="900" dirty="0">
                    <a:solidFill>
                      <a:srgbClr val="0070C0"/>
                    </a:solidFill>
                  </a:rPr>
                  <a:t>自然健康狀態</a:t>
                </a:r>
                <a:endParaRPr lang="en-US" altLang="zh-CN" sz="900" dirty="0">
                  <a:solidFill>
                    <a:srgbClr val="0070C0"/>
                  </a:solidFill>
                </a:endParaRPr>
              </a:p>
              <a:p>
                <a:pPr lvl="0"/>
                <a:r>
                  <a:rPr lang="zh-CN" altLang="en-US" sz="900" dirty="0">
                    <a:solidFill>
                      <a:srgbClr val="0070C0"/>
                    </a:solidFill>
                  </a:rPr>
                  <a:t>自然死亡狀態</a:t>
                </a:r>
                <a:endParaRPr lang="en-US" altLang="zh-CN" sz="900" dirty="0">
                  <a:solidFill>
                    <a:srgbClr val="0070C0"/>
                  </a:solidFill>
                </a:endParaRPr>
              </a:p>
              <a:p>
                <a:pPr lvl="0"/>
                <a:r>
                  <a:rPr lang="zh-CN" altLang="en-US" sz="900" dirty="0">
                    <a:solidFill>
                      <a:srgbClr val="0070C0"/>
                    </a:solidFill>
                  </a:rPr>
                  <a:t>自然疾病狀態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494399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/>
          <p:cNvSpPr txBox="1">
            <a:spLocks/>
          </p:cNvSpPr>
          <p:nvPr/>
        </p:nvSpPr>
        <p:spPr bwMode="auto">
          <a:xfrm>
            <a:off x="51921" y="85703"/>
            <a:ext cx="8524875" cy="21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9pPr>
          </a:lstStyle>
          <a:p>
            <a:r>
              <a:rPr lang="zh-CN" altLang="en-US" sz="1500" dirty="0">
                <a:ea typeface="楷体_GB2312" pitchFamily="49" charset="-122"/>
              </a:rPr>
              <a:t>臨床決策分析</a:t>
            </a:r>
            <a:r>
              <a:rPr lang="en-US" altLang="zh-CN" sz="13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CN" sz="13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clinical decision </a:t>
            </a:r>
            <a:r>
              <a:rPr lang="en-US" altLang="zh-CN" sz="13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analysis</a:t>
            </a:r>
            <a:r>
              <a:rPr lang="en-US" altLang="zh-CN" sz="13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altLang="zh-CN" sz="13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CDA</a:t>
            </a:r>
            <a:r>
              <a:rPr lang="en-US" altLang="zh-CN" sz="13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9" name="矩形 3"/>
          <p:cNvSpPr>
            <a:spLocks noChangeArrowheads="1"/>
          </p:cNvSpPr>
          <p:nvPr/>
        </p:nvSpPr>
        <p:spPr bwMode="auto">
          <a:xfrm>
            <a:off x="65005" y="321217"/>
            <a:ext cx="11260220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lvl="0"/>
            <a:r>
              <a:rPr lang="zh-CN" altLang="en-US" sz="1300" dirty="0">
                <a:solidFill>
                  <a:srgbClr val="000000"/>
                </a:solidFill>
              </a:rPr>
              <a:t>臨床決策中對於「弱推薦」證據的</a:t>
            </a:r>
            <a:r>
              <a:rPr lang="zh-TW" altLang="en-US" sz="1300" dirty="0">
                <a:solidFill>
                  <a:srgbClr val="000000"/>
                </a:solidFill>
              </a:rPr>
              <a:t>輔助決策工具 </a:t>
            </a:r>
            <a:r>
              <a:rPr lang="zh-CN" altLang="en-US" sz="1300" dirty="0">
                <a:solidFill>
                  <a:srgbClr val="000000"/>
                </a:solidFill>
                <a:latin typeface="Arial" pitchFamily="34" charset="0"/>
              </a:rPr>
              <a:t>：</a:t>
            </a:r>
            <a:r>
              <a:rPr lang="zh-CN" altLang="en-US" sz="900" dirty="0">
                <a:solidFill>
                  <a:srgbClr val="000000"/>
                </a:solidFill>
                <a:latin typeface="Arial" pitchFamily="34" charset="0"/>
              </a:rPr>
              <a:t>～ 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決策分析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Decision Analysis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 </a:t>
            </a:r>
            <a:r>
              <a:rPr lang="en-US" altLang="zh-CN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- </a:t>
            </a:r>
            <a:r>
              <a:rPr lang="zh-CN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決策分析在臨床實踐中的應用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Clinical Applications of Decision Analysis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zh-CN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- 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馬爾可夫過程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Markov chain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zh-CN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；</a:t>
            </a:r>
            <a:endParaRPr lang="zh-CN" altLang="en-US" sz="1000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590219" y="1109784"/>
            <a:ext cx="10337878" cy="4471088"/>
            <a:chOff x="590219" y="1109784"/>
            <a:chExt cx="10337878" cy="4471088"/>
          </a:xfrm>
        </p:grpSpPr>
        <p:grpSp>
          <p:nvGrpSpPr>
            <p:cNvPr id="24" name="组合 23"/>
            <p:cNvGrpSpPr/>
            <p:nvPr/>
          </p:nvGrpSpPr>
          <p:grpSpPr>
            <a:xfrm>
              <a:off x="1730684" y="1109784"/>
              <a:ext cx="2412445" cy="2173667"/>
              <a:chOff x="3642099" y="1202334"/>
              <a:chExt cx="2412445" cy="2173667"/>
            </a:xfrm>
          </p:grpSpPr>
          <p:pic>
            <p:nvPicPr>
              <p:cNvPr id="12" name="Picture 2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94558" y="1413851"/>
                <a:ext cx="1962150" cy="19621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7" name="矩形 16"/>
              <p:cNvSpPr/>
              <p:nvPr/>
            </p:nvSpPr>
            <p:spPr>
              <a:xfrm>
                <a:off x="4621810" y="1202334"/>
                <a:ext cx="507646" cy="31585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0.9</a:t>
                </a:r>
              </a:p>
            </p:txBody>
          </p:sp>
          <p:sp>
            <p:nvSpPr>
              <p:cNvPr id="18" name="矩形 17"/>
              <p:cNvSpPr/>
              <p:nvPr/>
            </p:nvSpPr>
            <p:spPr>
              <a:xfrm>
                <a:off x="3642099" y="2345341"/>
                <a:ext cx="507646" cy="31585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0.4</a:t>
                </a:r>
              </a:p>
            </p:txBody>
          </p:sp>
          <p:sp>
            <p:nvSpPr>
              <p:cNvPr id="20" name="矩形 19"/>
              <p:cNvSpPr/>
              <p:nvPr/>
            </p:nvSpPr>
            <p:spPr>
              <a:xfrm>
                <a:off x="5546898" y="2345341"/>
                <a:ext cx="507646" cy="31585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1</a:t>
                </a:r>
              </a:p>
            </p:txBody>
          </p:sp>
          <p:sp>
            <p:nvSpPr>
              <p:cNvPr id="21" name="矩形 20"/>
              <p:cNvSpPr/>
              <p:nvPr/>
            </p:nvSpPr>
            <p:spPr>
              <a:xfrm>
                <a:off x="4185089" y="2211570"/>
                <a:ext cx="507646" cy="31585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0.06</a:t>
                </a:r>
              </a:p>
            </p:txBody>
          </p:sp>
          <p:sp>
            <p:nvSpPr>
              <p:cNvPr id="22" name="矩形 21"/>
              <p:cNvSpPr/>
              <p:nvPr/>
            </p:nvSpPr>
            <p:spPr>
              <a:xfrm>
                <a:off x="4621810" y="2971965"/>
                <a:ext cx="507646" cy="31585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0.6</a:t>
                </a:r>
              </a:p>
            </p:txBody>
          </p:sp>
          <p:sp>
            <p:nvSpPr>
              <p:cNvPr id="23" name="矩形 22"/>
              <p:cNvSpPr/>
              <p:nvPr/>
            </p:nvSpPr>
            <p:spPr>
              <a:xfrm>
                <a:off x="5039252" y="2211570"/>
                <a:ext cx="507646" cy="31585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0.04</a:t>
                </a:r>
              </a:p>
            </p:txBody>
          </p:sp>
        </p:grpSp>
        <p:grpSp>
          <p:nvGrpSpPr>
            <p:cNvPr id="2" name="组合 1"/>
            <p:cNvGrpSpPr/>
            <p:nvPr/>
          </p:nvGrpSpPr>
          <p:grpSpPr>
            <a:xfrm>
              <a:off x="4543733" y="1226271"/>
              <a:ext cx="2525328" cy="2271084"/>
              <a:chOff x="4458008" y="1778721"/>
              <a:chExt cx="2525328" cy="2271084"/>
            </a:xfrm>
          </p:grpSpPr>
          <p:cxnSp>
            <p:nvCxnSpPr>
              <p:cNvPr id="46" name="直接箭头连接符 45"/>
              <p:cNvCxnSpPr/>
              <p:nvPr/>
            </p:nvCxnSpPr>
            <p:spPr>
              <a:xfrm>
                <a:off x="4463336" y="2341645"/>
                <a:ext cx="252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矩形 46"/>
              <p:cNvSpPr/>
              <p:nvPr/>
            </p:nvSpPr>
            <p:spPr>
              <a:xfrm>
                <a:off x="4458008" y="1778721"/>
                <a:ext cx="2467322" cy="55399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zh-CN" sz="1000" i="1" dirty="0" err="1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Sen</a:t>
                </a:r>
                <a:r>
                  <a:rPr lang="en-US" altLang="zh-CN" sz="1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[</a:t>
                </a:r>
                <a:r>
                  <a:rPr lang="en-US" altLang="zh-CN" sz="1000" i="1" dirty="0" err="1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scr</a:t>
                </a:r>
                <a:r>
                  <a:rPr lang="en-US" altLang="zh-CN" sz="1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] = 80%</a:t>
                </a:r>
                <a:r>
                  <a:rPr lang="zh-CN" altLang="en-US" sz="1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、</a:t>
                </a:r>
                <a:r>
                  <a:rPr lang="en-US" altLang="zh-CN" sz="1000" i="1" dirty="0" err="1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Spe</a:t>
                </a:r>
                <a:r>
                  <a:rPr lang="en-US" altLang="zh-CN" sz="1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[</a:t>
                </a:r>
                <a:r>
                  <a:rPr lang="en-US" altLang="zh-CN" sz="1000" i="1" dirty="0" err="1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scr</a:t>
                </a:r>
                <a:r>
                  <a:rPr lang="en-US" altLang="zh-CN" sz="1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] = 70%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zh-CN" altLang="en-US" sz="1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 </a:t>
                </a:r>
                <a:r>
                  <a:rPr lang="en-US" altLang="zh-CN" sz="1000" i="1" dirty="0" err="1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Sen</a:t>
                </a:r>
                <a:r>
                  <a:rPr lang="en-US" altLang="zh-CN" sz="1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[</a:t>
                </a:r>
                <a:r>
                  <a:rPr lang="en-US" altLang="zh-CN" sz="1000" i="1" dirty="0" err="1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dia</a:t>
                </a:r>
                <a:r>
                  <a:rPr lang="en-US" altLang="zh-CN" sz="1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] = 99%</a:t>
                </a:r>
                <a:r>
                  <a:rPr lang="zh-CN" altLang="en-US" sz="1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、</a:t>
                </a:r>
                <a:r>
                  <a:rPr lang="en-US" altLang="zh-CN" sz="1000" i="1" dirty="0" err="1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Spe</a:t>
                </a:r>
                <a:r>
                  <a:rPr lang="en-US" altLang="zh-CN" sz="1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[</a:t>
                </a:r>
                <a:r>
                  <a:rPr lang="en-US" altLang="zh-CN" sz="1000" i="1" dirty="0" err="1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dia</a:t>
                </a:r>
                <a:r>
                  <a:rPr lang="en-US" altLang="zh-CN" sz="1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] = 99%</a:t>
                </a:r>
              </a:p>
            </p:txBody>
          </p:sp>
          <p:sp>
            <p:nvSpPr>
              <p:cNvPr id="48" name="矩形 47"/>
              <p:cNvSpPr/>
              <p:nvPr/>
            </p:nvSpPr>
            <p:spPr>
              <a:xfrm>
                <a:off x="4458008" y="2341645"/>
                <a:ext cx="2467322" cy="170816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zh-CN" altLang="en-US" sz="1000" dirty="0">
                    <a:latin typeface="Times New Roman" pitchFamily="18" charset="0"/>
                    <a:cs typeface="Times New Roman" pitchFamily="18" charset="0"/>
                  </a:rPr>
                  <a:t>確診陽性的治療、陰性的無操作</a:t>
                </a:r>
                <a:endParaRPr lang="en-US" altLang="zh-CN" sz="1000" dirty="0">
                  <a:latin typeface="Times New Roman" pitchFamily="18" charset="0"/>
                  <a:cs typeface="Times New Roman" pitchFamily="18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000" i="1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P</a:t>
                </a:r>
                <a:r>
                  <a:rPr lang="en-US" altLang="zh-CN" sz="1000" i="1" baseline="-25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 </a:t>
                </a:r>
                <a:r>
                  <a:rPr lang="en-US" altLang="zh-CN" sz="1000" baseline="-25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(</a:t>
                </a:r>
                <a:r>
                  <a:rPr lang="en-US" altLang="zh-CN" sz="1000" i="1" baseline="-25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screening death</a:t>
                </a:r>
                <a:r>
                  <a:rPr lang="en-US" altLang="zh-CN" sz="1000" baseline="-25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)</a:t>
                </a:r>
                <a:r>
                  <a:rPr lang="en-US" altLang="zh-CN" sz="1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 = 1%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000" i="1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P</a:t>
                </a:r>
                <a:r>
                  <a:rPr lang="en-US" altLang="zh-CN" sz="1000" i="1" baseline="-25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 </a:t>
                </a:r>
                <a:r>
                  <a:rPr lang="en-US" altLang="zh-CN" sz="1000" baseline="-25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(</a:t>
                </a:r>
                <a:r>
                  <a:rPr lang="en-US" altLang="zh-CN" sz="1000" i="1" baseline="-25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diagnosis death</a:t>
                </a:r>
                <a:r>
                  <a:rPr lang="en-US" altLang="zh-CN" sz="1000" baseline="-25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)</a:t>
                </a:r>
                <a:r>
                  <a:rPr lang="en-US" altLang="zh-CN" sz="1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 = 1%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000" i="1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P</a:t>
                </a:r>
                <a:r>
                  <a:rPr lang="en-US" altLang="zh-CN" sz="1000" i="1" baseline="-25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 </a:t>
                </a:r>
                <a:r>
                  <a:rPr lang="en-US" altLang="zh-CN" sz="1000" baseline="-25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(</a:t>
                </a:r>
                <a:r>
                  <a:rPr lang="en-US" altLang="zh-CN" sz="1000" i="1" baseline="-25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treatment  death</a:t>
                </a:r>
                <a:r>
                  <a:rPr lang="en-US" altLang="zh-CN" sz="1000" baseline="-25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)</a:t>
                </a:r>
                <a:r>
                  <a:rPr lang="en-US" altLang="zh-CN" sz="1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 = 1%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000" i="1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P</a:t>
                </a:r>
                <a:r>
                  <a:rPr lang="en-US" altLang="zh-CN" sz="1000" i="1" baseline="-25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 cancer</a:t>
                </a:r>
                <a:r>
                  <a:rPr lang="en-US" altLang="zh-CN" sz="1000" baseline="-25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 </a:t>
                </a:r>
                <a:r>
                  <a:rPr lang="zh-CN" altLang="en-US" sz="1000" baseline="-25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→ </a:t>
                </a:r>
                <a:r>
                  <a:rPr lang="en-US" altLang="zh-CN" sz="1000" i="1" baseline="-25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death</a:t>
                </a:r>
                <a:r>
                  <a:rPr lang="en-US" altLang="zh-CN" sz="1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 = 20%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000" i="1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P</a:t>
                </a:r>
                <a:r>
                  <a:rPr lang="en-US" altLang="zh-CN" sz="1000" i="1" baseline="-25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 cancer</a:t>
                </a:r>
                <a:r>
                  <a:rPr lang="en-US" altLang="zh-CN" sz="1000" baseline="-25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 </a:t>
                </a:r>
                <a:r>
                  <a:rPr lang="zh-CN" altLang="en-US" sz="1000" baseline="-25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→ </a:t>
                </a:r>
                <a:r>
                  <a:rPr lang="en-US" altLang="zh-CN" sz="1000" i="1" baseline="-25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cancer</a:t>
                </a:r>
                <a:r>
                  <a:rPr lang="en-US" altLang="zh-CN" sz="1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 = 20%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000" i="1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P</a:t>
                </a:r>
                <a:r>
                  <a:rPr lang="en-US" altLang="zh-CN" sz="1000" i="1" baseline="-25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 cancer</a:t>
                </a:r>
                <a:r>
                  <a:rPr lang="en-US" altLang="zh-CN" sz="1000" baseline="-25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 </a:t>
                </a:r>
                <a:r>
                  <a:rPr lang="zh-CN" altLang="en-US" sz="1000" baseline="-25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→ </a:t>
                </a:r>
                <a:r>
                  <a:rPr lang="en-US" altLang="zh-CN" sz="1000" i="1" baseline="-25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well</a:t>
                </a:r>
                <a:r>
                  <a:rPr lang="en-US" altLang="zh-CN" sz="10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 = 60%</a:t>
                </a:r>
              </a:p>
            </p:txBody>
          </p:sp>
        </p:grpSp>
        <p:grpSp>
          <p:nvGrpSpPr>
            <p:cNvPr id="57" name="组合 56"/>
            <p:cNvGrpSpPr/>
            <p:nvPr/>
          </p:nvGrpSpPr>
          <p:grpSpPr>
            <a:xfrm>
              <a:off x="7433539" y="1109784"/>
              <a:ext cx="2478048" cy="2173667"/>
              <a:chOff x="7262089" y="976434"/>
              <a:chExt cx="2478048" cy="2173667"/>
            </a:xfrm>
          </p:grpSpPr>
          <p:pic>
            <p:nvPicPr>
              <p:cNvPr id="26" name="Picture 2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580151" y="1187951"/>
                <a:ext cx="1962150" cy="19621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27" name="矩形 26"/>
              <p:cNvSpPr/>
              <p:nvPr/>
            </p:nvSpPr>
            <p:spPr>
              <a:xfrm>
                <a:off x="8307403" y="976434"/>
                <a:ext cx="507646" cy="34624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0.888</a:t>
                </a:r>
              </a:p>
            </p:txBody>
          </p:sp>
          <p:sp>
            <p:nvSpPr>
              <p:cNvPr id="28" name="矩形 27"/>
              <p:cNvSpPr/>
              <p:nvPr/>
            </p:nvSpPr>
            <p:spPr>
              <a:xfrm>
                <a:off x="7262089" y="2086711"/>
                <a:ext cx="507646" cy="31585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0.236</a:t>
                </a:r>
              </a:p>
            </p:txBody>
          </p:sp>
          <p:sp>
            <p:nvSpPr>
              <p:cNvPr id="30" name="矩形 29"/>
              <p:cNvSpPr/>
              <p:nvPr/>
            </p:nvSpPr>
            <p:spPr>
              <a:xfrm>
                <a:off x="9232491" y="2119441"/>
                <a:ext cx="507646" cy="31585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1</a:t>
                </a:r>
              </a:p>
            </p:txBody>
          </p:sp>
          <p:sp>
            <p:nvSpPr>
              <p:cNvPr id="31" name="矩形 30"/>
              <p:cNvSpPr/>
              <p:nvPr/>
            </p:nvSpPr>
            <p:spPr>
              <a:xfrm>
                <a:off x="7837638" y="1991560"/>
                <a:ext cx="507646" cy="31585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0.059</a:t>
                </a:r>
              </a:p>
            </p:txBody>
          </p:sp>
          <p:sp>
            <p:nvSpPr>
              <p:cNvPr id="32" name="矩形 31"/>
              <p:cNvSpPr/>
              <p:nvPr/>
            </p:nvSpPr>
            <p:spPr>
              <a:xfrm>
                <a:off x="8307403" y="2746065"/>
                <a:ext cx="507646" cy="31585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0.303</a:t>
                </a:r>
              </a:p>
            </p:txBody>
          </p:sp>
          <p:sp>
            <p:nvSpPr>
              <p:cNvPr id="33" name="矩形 32"/>
              <p:cNvSpPr/>
              <p:nvPr/>
            </p:nvSpPr>
            <p:spPr>
              <a:xfrm>
                <a:off x="8724845" y="1985670"/>
                <a:ext cx="507646" cy="31585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0.052</a:t>
                </a:r>
              </a:p>
            </p:txBody>
          </p:sp>
          <p:cxnSp>
            <p:nvCxnSpPr>
              <p:cNvPr id="53" name="直接箭头连接符 52"/>
              <p:cNvCxnSpPr/>
              <p:nvPr/>
            </p:nvCxnSpPr>
            <p:spPr>
              <a:xfrm flipV="1">
                <a:off x="8159262" y="2050013"/>
                <a:ext cx="312933" cy="535959"/>
              </a:xfrm>
              <a:prstGeom prst="straightConnector1">
                <a:avLst/>
              </a:prstGeom>
              <a:ln w="1651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矩形 55"/>
              <p:cNvSpPr/>
              <p:nvPr/>
            </p:nvSpPr>
            <p:spPr>
              <a:xfrm>
                <a:off x="8253665" y="2164288"/>
                <a:ext cx="507646" cy="31585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rgbClr val="FF0000"/>
                    </a:solidFill>
                    <a:latin typeface="Times New Roman" pitchFamily="18" charset="0"/>
                    <a:cs typeface="Times New Roman" pitchFamily="18" charset="0"/>
                  </a:rPr>
                  <a:t>0.461</a:t>
                </a:r>
              </a:p>
            </p:txBody>
          </p:sp>
        </p:grpSp>
        <p:pic>
          <p:nvPicPr>
            <p:cNvPr id="812039" name="Picture 7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5400000">
              <a:off x="4911059" y="-436165"/>
              <a:ext cx="1696197" cy="1033787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973296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/>
          <p:cNvSpPr txBox="1">
            <a:spLocks/>
          </p:cNvSpPr>
          <p:nvPr/>
        </p:nvSpPr>
        <p:spPr bwMode="auto">
          <a:xfrm>
            <a:off x="32871" y="57128"/>
            <a:ext cx="8524875" cy="21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9pPr>
          </a:lstStyle>
          <a:p>
            <a:r>
              <a:rPr lang="zh-CN" altLang="en-US" sz="1500" dirty="0">
                <a:ea typeface="楷体_GB2312" pitchFamily="49" charset="-122"/>
              </a:rPr>
              <a:t>臨床決策分析</a:t>
            </a:r>
            <a:r>
              <a:rPr lang="en-US" altLang="zh-CN" sz="13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CN" sz="13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clinical decision </a:t>
            </a:r>
            <a:r>
              <a:rPr lang="en-US" altLang="zh-CN" sz="13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analysis</a:t>
            </a:r>
            <a:r>
              <a:rPr lang="en-US" altLang="zh-CN" sz="13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altLang="zh-CN" sz="13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CDA</a:t>
            </a:r>
            <a:r>
              <a:rPr lang="en-US" altLang="zh-CN" sz="13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9" name="矩形 3"/>
          <p:cNvSpPr>
            <a:spLocks noChangeArrowheads="1"/>
          </p:cNvSpPr>
          <p:nvPr/>
        </p:nvSpPr>
        <p:spPr bwMode="auto">
          <a:xfrm>
            <a:off x="45955" y="273592"/>
            <a:ext cx="11355470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lvl="0"/>
            <a:r>
              <a:rPr lang="zh-CN" altLang="en-US" sz="1300" dirty="0">
                <a:solidFill>
                  <a:srgbClr val="000000"/>
                </a:solidFill>
              </a:rPr>
              <a:t>臨床決策中對於「弱推薦」證據的</a:t>
            </a:r>
            <a:r>
              <a:rPr lang="zh-TW" altLang="en-US" sz="1300" dirty="0">
                <a:solidFill>
                  <a:srgbClr val="000000"/>
                </a:solidFill>
              </a:rPr>
              <a:t>輔助決策工具 </a:t>
            </a:r>
            <a:r>
              <a:rPr lang="zh-CN" altLang="en-US" sz="1300" dirty="0">
                <a:solidFill>
                  <a:srgbClr val="000000"/>
                </a:solidFill>
                <a:latin typeface="Arial" pitchFamily="34" charset="0"/>
              </a:rPr>
              <a:t>：</a:t>
            </a:r>
            <a:r>
              <a:rPr lang="zh-CN" altLang="en-US" sz="900" dirty="0">
                <a:solidFill>
                  <a:srgbClr val="000000"/>
                </a:solidFill>
                <a:latin typeface="Arial" pitchFamily="34" charset="0"/>
              </a:rPr>
              <a:t>～ 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決策分析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Decision Analysis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 </a:t>
            </a:r>
            <a:r>
              <a:rPr lang="en-US" altLang="zh-CN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- </a:t>
            </a:r>
            <a:r>
              <a:rPr lang="zh-CN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決策分析在臨床實踐中的應用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Clinical Applications of Decision Analysis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zh-CN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- 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馬爾可夫過程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Markov chain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zh-CN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；</a:t>
            </a:r>
            <a:endParaRPr lang="zh-CN" altLang="en-US" sz="1000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061961"/>
              </p:ext>
            </p:extLst>
          </p:nvPr>
        </p:nvGraphicFramePr>
        <p:xfrm>
          <a:off x="1635816" y="1642685"/>
          <a:ext cx="2438400" cy="102108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52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P </a:t>
                      </a:r>
                      <a:r>
                        <a:rPr lang="en-US" sz="11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Well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disease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Death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Well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Cancer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40%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60%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Death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100%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4" name="表格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8024053"/>
              </p:ext>
            </p:extLst>
          </p:nvPr>
        </p:nvGraphicFramePr>
        <p:xfrm>
          <a:off x="7473627" y="1642685"/>
          <a:ext cx="2438400" cy="102108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52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P </a:t>
                      </a:r>
                      <a:r>
                        <a:rPr lang="en-US" sz="1100" b="0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Well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disease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Death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Well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88.83%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5.92%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5.25%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Cancer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46.11%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23.60%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30.29%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Death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0.00%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0.00%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100.00%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7" name="表格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174081"/>
              </p:ext>
            </p:extLst>
          </p:nvPr>
        </p:nvGraphicFramePr>
        <p:xfrm>
          <a:off x="1239771" y="3148132"/>
          <a:ext cx="3250493" cy="2042160"/>
        </p:xfrm>
        <a:graphic>
          <a:graphicData uri="http://schemas.openxmlformats.org/drawingml/2006/table">
            <a:tbl>
              <a:tblPr/>
              <a:tblGrid>
                <a:gridCol w="14252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8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5270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Probability of health state at end of yea</a:t>
                      </a:r>
                      <a:r>
                        <a:rPr lang="en-US" altLang="zh-CN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r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Health state </a:t>
                      </a:r>
                      <a:r>
                        <a:rPr lang="el-GR" altLang="zh-CN" sz="1100" i="1" dirty="0">
                          <a:latin typeface="Times New Roman" pitchFamily="18" charset="0"/>
                          <a:cs typeface="Times New Roman" pitchFamily="18" charset="0"/>
                        </a:rPr>
                        <a:t>π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5270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Well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disease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Death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Year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0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100.00%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0.00%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0.00%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Year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90.00%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6.00%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4.00%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Year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81.00%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7.80%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11.20%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Year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72.90%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7.98%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19.12%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Year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4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65.61%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7.57%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26.82%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Year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59.05%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6.96%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33.99%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6" name="表格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5762669"/>
              </p:ext>
            </p:extLst>
          </p:nvPr>
        </p:nvGraphicFramePr>
        <p:xfrm>
          <a:off x="7150532" y="3147938"/>
          <a:ext cx="3250493" cy="2042160"/>
        </p:xfrm>
        <a:graphic>
          <a:graphicData uri="http://schemas.openxmlformats.org/drawingml/2006/table">
            <a:tbl>
              <a:tblPr/>
              <a:tblGrid>
                <a:gridCol w="14252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8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5270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Probability of health state at end of yea</a:t>
                      </a:r>
                      <a:r>
                        <a:rPr lang="en-US" altLang="zh-CN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r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Health state </a:t>
                      </a:r>
                      <a:r>
                        <a:rPr lang="el-GR" altLang="zh-CN" sz="1100" i="1" dirty="0">
                          <a:latin typeface="Times New Roman" pitchFamily="18" charset="0"/>
                          <a:cs typeface="Times New Roman" pitchFamily="18" charset="0"/>
                        </a:rPr>
                        <a:t>π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5270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Well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disease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Death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Year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0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100.00%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0.00%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0.00%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Year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1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88.83%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5.92%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5.25%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Year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2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81.64%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6.66%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11.70%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Year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3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75.59%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6.41%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18.00%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Year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4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70.10%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5.99%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23.91%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Year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新細明體" panose="02020500000000000000" pitchFamily="18" charset="-120"/>
                        </a:rPr>
                        <a:t>5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65.03%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5.56%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29.40%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2" name="组合 1"/>
          <p:cNvGrpSpPr/>
          <p:nvPr/>
        </p:nvGrpSpPr>
        <p:grpSpPr>
          <a:xfrm>
            <a:off x="4496108" y="1664421"/>
            <a:ext cx="2525328" cy="2271084"/>
            <a:chOff x="4496108" y="1397721"/>
            <a:chExt cx="2525328" cy="2271084"/>
          </a:xfrm>
        </p:grpSpPr>
        <p:cxnSp>
          <p:nvCxnSpPr>
            <p:cNvPr id="30" name="直接箭头连接符 29"/>
            <p:cNvCxnSpPr/>
            <p:nvPr/>
          </p:nvCxnSpPr>
          <p:spPr>
            <a:xfrm>
              <a:off x="4501436" y="1960645"/>
              <a:ext cx="252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矩形 30"/>
            <p:cNvSpPr/>
            <p:nvPr/>
          </p:nvSpPr>
          <p:spPr>
            <a:xfrm>
              <a:off x="4496108" y="1397721"/>
              <a:ext cx="2467322" cy="55399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zh-CN" sz="1000" i="1" dirty="0" err="1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Sen</a:t>
              </a:r>
              <a:r>
                <a:rPr lang="en-US" altLang="zh-CN" sz="1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[</a:t>
              </a:r>
              <a:r>
                <a:rPr lang="en-US" altLang="zh-CN" sz="1000" i="1" dirty="0" err="1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scr</a:t>
              </a:r>
              <a:r>
                <a:rPr lang="en-US" altLang="zh-CN" sz="1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] = 80%</a:t>
              </a:r>
              <a:r>
                <a:rPr lang="zh-CN" altLang="en-US" sz="1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、</a:t>
              </a:r>
              <a:r>
                <a:rPr lang="en-US" altLang="zh-CN" sz="1000" i="1" dirty="0" err="1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Spe</a:t>
              </a:r>
              <a:r>
                <a:rPr lang="en-US" altLang="zh-CN" sz="1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[</a:t>
              </a:r>
              <a:r>
                <a:rPr lang="en-US" altLang="zh-CN" sz="1000" i="1" dirty="0" err="1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scr</a:t>
              </a:r>
              <a:r>
                <a:rPr lang="en-US" altLang="zh-CN" sz="1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] = 70%</a:t>
              </a:r>
            </a:p>
            <a:p>
              <a:pPr algn="ctr">
                <a:lnSpc>
                  <a:spcPct val="150000"/>
                </a:lnSpc>
              </a:pPr>
              <a:r>
                <a:rPr lang="zh-CN" altLang="en-US" sz="1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altLang="zh-CN" sz="1000" i="1" dirty="0" err="1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Sen</a:t>
              </a:r>
              <a:r>
                <a:rPr lang="en-US" altLang="zh-CN" sz="1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[</a:t>
              </a:r>
              <a:r>
                <a:rPr lang="en-US" altLang="zh-CN" sz="1000" i="1" dirty="0" err="1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dia</a:t>
              </a:r>
              <a:r>
                <a:rPr lang="en-US" altLang="zh-CN" sz="1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] = 99%</a:t>
              </a:r>
              <a:r>
                <a:rPr lang="zh-CN" altLang="en-US" sz="1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、</a:t>
              </a:r>
              <a:r>
                <a:rPr lang="en-US" altLang="zh-CN" sz="1000" i="1" dirty="0" err="1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Spe</a:t>
              </a:r>
              <a:r>
                <a:rPr lang="en-US" altLang="zh-CN" sz="1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[</a:t>
              </a:r>
              <a:r>
                <a:rPr lang="en-US" altLang="zh-CN" sz="1000" i="1" dirty="0" err="1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dia</a:t>
              </a:r>
              <a:r>
                <a:rPr lang="en-US" altLang="zh-CN" sz="1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] = 99%</a:t>
              </a:r>
            </a:p>
          </p:txBody>
        </p:sp>
        <p:sp>
          <p:nvSpPr>
            <p:cNvPr id="32" name="矩形 31"/>
            <p:cNvSpPr/>
            <p:nvPr/>
          </p:nvSpPr>
          <p:spPr>
            <a:xfrm>
              <a:off x="4496108" y="1960645"/>
              <a:ext cx="2467322" cy="170816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zh-CN" altLang="en-US" sz="1000" dirty="0">
                  <a:latin typeface="Times New Roman" pitchFamily="18" charset="0"/>
                  <a:cs typeface="Times New Roman" pitchFamily="18" charset="0"/>
                </a:rPr>
                <a:t>確診陽性的治療、陰性的無操作</a:t>
              </a:r>
              <a:endParaRPr lang="en-US" altLang="zh-CN" sz="1000" dirty="0">
                <a:latin typeface="Times New Roman" pitchFamily="18" charset="0"/>
                <a:cs typeface="Times New Roman" pitchFamily="18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zh-CN" sz="1000" i="1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P</a:t>
              </a:r>
              <a:r>
                <a:rPr lang="en-US" altLang="zh-CN" sz="1000" i="1" baseline="-25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altLang="zh-CN" sz="1000" baseline="-25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(</a:t>
              </a:r>
              <a:r>
                <a:rPr lang="en-US" altLang="zh-CN" sz="1000" i="1" baseline="-25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screening death</a:t>
              </a:r>
              <a:r>
                <a:rPr lang="en-US" altLang="zh-CN" sz="1000" baseline="-25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)</a:t>
              </a:r>
              <a:r>
                <a:rPr lang="en-US" altLang="zh-CN" sz="1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 = 1%</a:t>
              </a:r>
            </a:p>
            <a:p>
              <a:pPr algn="ctr">
                <a:lnSpc>
                  <a:spcPct val="150000"/>
                </a:lnSpc>
              </a:pPr>
              <a:r>
                <a:rPr lang="en-US" altLang="zh-CN" sz="1000" i="1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P</a:t>
              </a:r>
              <a:r>
                <a:rPr lang="en-US" altLang="zh-CN" sz="1000" i="1" baseline="-25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altLang="zh-CN" sz="1000" baseline="-25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(</a:t>
              </a:r>
              <a:r>
                <a:rPr lang="en-US" altLang="zh-CN" sz="1000" i="1" baseline="-25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diagnosis death</a:t>
              </a:r>
              <a:r>
                <a:rPr lang="en-US" altLang="zh-CN" sz="1000" baseline="-25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)</a:t>
              </a:r>
              <a:r>
                <a:rPr lang="en-US" altLang="zh-CN" sz="1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 = 1%</a:t>
              </a:r>
            </a:p>
            <a:p>
              <a:pPr algn="ctr">
                <a:lnSpc>
                  <a:spcPct val="150000"/>
                </a:lnSpc>
              </a:pPr>
              <a:r>
                <a:rPr lang="en-US" altLang="zh-CN" sz="1000" i="1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P</a:t>
              </a:r>
              <a:r>
                <a:rPr lang="en-US" altLang="zh-CN" sz="1000" i="1" baseline="-25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altLang="zh-CN" sz="1000" baseline="-25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(</a:t>
              </a:r>
              <a:r>
                <a:rPr lang="en-US" altLang="zh-CN" sz="1000" i="1" baseline="-25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treatment  death</a:t>
              </a:r>
              <a:r>
                <a:rPr lang="en-US" altLang="zh-CN" sz="1000" baseline="-25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)</a:t>
              </a:r>
              <a:r>
                <a:rPr lang="en-US" altLang="zh-CN" sz="1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 = 1%</a:t>
              </a:r>
            </a:p>
            <a:p>
              <a:pPr algn="ctr">
                <a:lnSpc>
                  <a:spcPct val="150000"/>
                </a:lnSpc>
              </a:pPr>
              <a:r>
                <a:rPr lang="en-US" altLang="zh-CN" sz="1000" i="1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P</a:t>
              </a:r>
              <a:r>
                <a:rPr lang="en-US" altLang="zh-CN" sz="1000" i="1" baseline="-25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 cancer</a:t>
              </a:r>
              <a:r>
                <a:rPr lang="en-US" altLang="zh-CN" sz="1000" baseline="-25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zh-CN" altLang="en-US" sz="1000" baseline="-25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→ </a:t>
              </a:r>
              <a:r>
                <a:rPr lang="en-US" altLang="zh-CN" sz="1000" i="1" baseline="-25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death</a:t>
              </a:r>
              <a:r>
                <a:rPr lang="en-US" altLang="zh-CN" sz="1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 = 20%</a:t>
              </a:r>
            </a:p>
            <a:p>
              <a:pPr algn="ctr">
                <a:lnSpc>
                  <a:spcPct val="150000"/>
                </a:lnSpc>
              </a:pPr>
              <a:r>
                <a:rPr lang="en-US" altLang="zh-CN" sz="1000" i="1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P</a:t>
              </a:r>
              <a:r>
                <a:rPr lang="en-US" altLang="zh-CN" sz="1000" i="1" baseline="-25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 cancer</a:t>
              </a:r>
              <a:r>
                <a:rPr lang="en-US" altLang="zh-CN" sz="1000" baseline="-25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zh-CN" altLang="en-US" sz="1000" baseline="-25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→ </a:t>
              </a:r>
              <a:r>
                <a:rPr lang="en-US" altLang="zh-CN" sz="1000" i="1" baseline="-25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cancer</a:t>
              </a:r>
              <a:r>
                <a:rPr lang="en-US" altLang="zh-CN" sz="1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 = 20%</a:t>
              </a:r>
            </a:p>
            <a:p>
              <a:pPr algn="ctr">
                <a:lnSpc>
                  <a:spcPct val="150000"/>
                </a:lnSpc>
              </a:pPr>
              <a:r>
                <a:rPr lang="en-US" altLang="zh-CN" sz="1000" i="1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P</a:t>
              </a:r>
              <a:r>
                <a:rPr lang="en-US" altLang="zh-CN" sz="1000" i="1" baseline="-25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 cancer</a:t>
              </a:r>
              <a:r>
                <a:rPr lang="en-US" altLang="zh-CN" sz="1000" baseline="-25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zh-CN" altLang="en-US" sz="1000" baseline="-25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→ </a:t>
              </a:r>
              <a:r>
                <a:rPr lang="en-US" altLang="zh-CN" sz="1000" i="1" baseline="-25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well</a:t>
              </a:r>
              <a:r>
                <a:rPr lang="en-US" altLang="zh-CN" sz="1000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 = 60%</a:t>
              </a:r>
            </a:p>
          </p:txBody>
        </p:sp>
      </p:grpSp>
      <p:sp>
        <p:nvSpPr>
          <p:cNvPr id="33" name="矩形 32"/>
          <p:cNvSpPr/>
          <p:nvPr/>
        </p:nvSpPr>
        <p:spPr>
          <a:xfrm>
            <a:off x="5185527" y="4065670"/>
            <a:ext cx="1605798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100" i="1" dirty="0">
                <a:latin typeface="Times New Roman" pitchFamily="18" charset="0"/>
                <a:cs typeface="Times New Roman" pitchFamily="18" charset="0"/>
              </a:rPr>
              <a:t>Year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 5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：</a:t>
            </a:r>
            <a:endParaRPr lang="en-US" altLang="zh-CN" sz="1100" dirty="0"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150000"/>
              </a:lnSpc>
            </a:pPr>
            <a:r>
              <a:rPr lang="el-GR" altLang="zh-CN" sz="1100" i="1" dirty="0">
                <a:latin typeface="Times New Roman" pitchFamily="18" charset="0"/>
                <a:cs typeface="Times New Roman" pitchFamily="18" charset="0"/>
              </a:rPr>
              <a:t>π </a:t>
            </a:r>
            <a:r>
              <a:rPr lang="en-US" altLang="zh-CN" sz="1100" i="1" baseline="-25000" dirty="0">
                <a:latin typeface="Times New Roman" pitchFamily="18" charset="0"/>
                <a:cs typeface="Times New Roman" pitchFamily="18" charset="0"/>
              </a:rPr>
              <a:t>well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  -  5.98%  </a:t>
            </a:r>
            <a:r>
              <a:rPr lang="zh-CN" altLang="en-US" sz="1100" dirty="0"/>
              <a:t>↑</a:t>
            </a:r>
            <a:endParaRPr lang="en-US" altLang="zh-CN" sz="1100" dirty="0"/>
          </a:p>
          <a:p>
            <a:pPr>
              <a:lnSpc>
                <a:spcPct val="150000"/>
              </a:lnSpc>
            </a:pPr>
            <a:r>
              <a:rPr lang="el-GR" altLang="zh-CN" sz="1100" i="1" dirty="0">
                <a:latin typeface="Times New Roman" pitchFamily="18" charset="0"/>
                <a:cs typeface="Times New Roman" pitchFamily="18" charset="0"/>
              </a:rPr>
              <a:t>π </a:t>
            </a:r>
            <a:r>
              <a:rPr lang="en-US" altLang="zh-CN" sz="1100" i="1" baseline="-25000" dirty="0">
                <a:latin typeface="Times New Roman" pitchFamily="18" charset="0"/>
                <a:cs typeface="Times New Roman" pitchFamily="18" charset="0"/>
              </a:rPr>
              <a:t>death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  -  4.59%  </a:t>
            </a:r>
            <a:r>
              <a:rPr lang="zh-CN" altLang="en-US" sz="1100" dirty="0"/>
              <a:t>↓</a:t>
            </a:r>
            <a:endParaRPr lang="en-US" altLang="zh-CN" sz="1100" dirty="0"/>
          </a:p>
          <a:p>
            <a:pPr>
              <a:lnSpc>
                <a:spcPct val="150000"/>
              </a:lnSpc>
            </a:pPr>
            <a:r>
              <a:rPr lang="el-GR" altLang="zh-CN" sz="1100" i="1" dirty="0">
                <a:latin typeface="Times New Roman" pitchFamily="18" charset="0"/>
                <a:cs typeface="Times New Roman" pitchFamily="18" charset="0"/>
              </a:rPr>
              <a:t>π </a:t>
            </a:r>
            <a:r>
              <a:rPr lang="en-US" altLang="zh-CN" sz="1100" i="1" baseline="-25000" dirty="0">
                <a:latin typeface="Times New Roman" pitchFamily="18" charset="0"/>
                <a:cs typeface="Times New Roman" pitchFamily="18" charset="0"/>
              </a:rPr>
              <a:t>disease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  -  1.4%  </a:t>
            </a:r>
            <a:r>
              <a:rPr lang="zh-CN" altLang="en-US" sz="1100" dirty="0"/>
              <a:t>↓</a:t>
            </a:r>
            <a:endParaRPr lang="en-US" altLang="zh-CN" sz="1100" dirty="0"/>
          </a:p>
        </p:txBody>
      </p:sp>
      <p:sp>
        <p:nvSpPr>
          <p:cNvPr id="35" name="矩形 34"/>
          <p:cNvSpPr/>
          <p:nvPr/>
        </p:nvSpPr>
        <p:spPr>
          <a:xfrm>
            <a:off x="1346951" y="743922"/>
            <a:ext cx="8911474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幹預過程</a:t>
            </a:r>
            <a:r>
              <a:rPr lang="en-US" altLang="zh-CN" sz="1000" dirty="0"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CN" sz="1000" i="1" dirty="0" err="1">
                <a:latin typeface="Times New Roman" pitchFamily="18" charset="0"/>
                <a:cs typeface="Times New Roman" pitchFamily="18" charset="0"/>
              </a:rPr>
              <a:t>screening</a:t>
            </a:r>
            <a:r>
              <a:rPr lang="en-US" altLang="zh-CN" sz="1000" dirty="0" err="1">
                <a:latin typeface="Times New Roman" pitchFamily="18" charset="0"/>
                <a:cs typeface="Times New Roman" pitchFamily="18" charset="0"/>
              </a:rPr>
              <a:t>→</a:t>
            </a:r>
            <a:r>
              <a:rPr lang="en-US" altLang="zh-CN" sz="1000" i="1" dirty="0" err="1">
                <a:latin typeface="Times New Roman" pitchFamily="18" charset="0"/>
                <a:cs typeface="Times New Roman" pitchFamily="18" charset="0"/>
              </a:rPr>
              <a:t>diagnosis</a:t>
            </a:r>
            <a:r>
              <a:rPr lang="en-US" altLang="zh-CN" sz="1000" dirty="0" err="1">
                <a:latin typeface="Times New Roman" pitchFamily="18" charset="0"/>
                <a:cs typeface="Times New Roman" pitchFamily="18" charset="0"/>
              </a:rPr>
              <a:t>→</a:t>
            </a:r>
            <a:r>
              <a:rPr lang="en-US" altLang="zh-CN" sz="1000" i="1" dirty="0" err="1">
                <a:latin typeface="Times New Roman" pitchFamily="18" charset="0"/>
                <a:cs typeface="Times New Roman" pitchFamily="18" charset="0"/>
              </a:rPr>
              <a:t>treatment</a:t>
            </a:r>
            <a:r>
              <a:rPr lang="en-US" altLang="zh-CN" sz="1000" dirty="0"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會影響狀態向量的自然轉移概率，將幹預因素加入後計算得到調整後的一次轉移概率矩陣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CN" sz="1100" i="1" dirty="0">
                <a:latin typeface="Times New Roman" pitchFamily="18" charset="0"/>
                <a:cs typeface="Times New Roman" pitchFamily="18" charset="0"/>
              </a:rPr>
              <a:t>P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，根據馬爾可夫鏈</a:t>
            </a:r>
            <a:r>
              <a:rPr lang="en-US" altLang="zh-CN" sz="1000" dirty="0"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CN" sz="1000" i="1" dirty="0">
                <a:latin typeface="Times New Roman" pitchFamily="18" charset="0"/>
                <a:cs typeface="Times New Roman" pitchFamily="18" charset="0"/>
              </a:rPr>
              <a:t>Markov chain</a:t>
            </a:r>
            <a:r>
              <a:rPr lang="en-US" altLang="zh-CN" sz="1000" dirty="0"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原理  </a:t>
            </a:r>
            <a:r>
              <a:rPr lang="el-GR" altLang="zh-CN" sz="1100" i="1" dirty="0">
                <a:latin typeface="Times New Roman" pitchFamily="18" charset="0"/>
                <a:cs typeface="Times New Roman" pitchFamily="18" charset="0"/>
              </a:rPr>
              <a:t>π</a:t>
            </a:r>
            <a:r>
              <a:rPr lang="en-US" altLang="zh-CN" sz="1100" i="1" baseline="-25000" dirty="0">
                <a:latin typeface="Times New Roman" pitchFamily="18" charset="0"/>
                <a:cs typeface="Times New Roman" pitchFamily="18" charset="0"/>
              </a:rPr>
              <a:t>n</a:t>
            </a:r>
            <a:r>
              <a:rPr lang="el-GR" altLang="zh-CN" sz="11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l-GR" altLang="zh-CN" sz="1100" dirty="0">
                <a:latin typeface="Times New Roman" pitchFamily="18" charset="0"/>
                <a:cs typeface="Times New Roman" pitchFamily="18" charset="0"/>
              </a:rPr>
              <a:t>=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l-GR" altLang="zh-CN" sz="11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l-GR" altLang="zh-CN" sz="1100" i="1" dirty="0">
                <a:latin typeface="Times New Roman" pitchFamily="18" charset="0"/>
                <a:cs typeface="Times New Roman" pitchFamily="18" charset="0"/>
              </a:rPr>
              <a:t>π</a:t>
            </a:r>
            <a:r>
              <a:rPr lang="en-US" altLang="zh-CN" sz="1100" i="1" baseline="-25000" dirty="0">
                <a:latin typeface="Times New Roman" pitchFamily="18" charset="0"/>
                <a:cs typeface="Times New Roman" pitchFamily="18" charset="0"/>
              </a:rPr>
              <a:t>n</a:t>
            </a:r>
            <a:r>
              <a:rPr lang="en-US" altLang="zh-CN" sz="1100" baseline="-25000" dirty="0">
                <a:latin typeface="Times New Roman" pitchFamily="18" charset="0"/>
                <a:cs typeface="Times New Roman" pitchFamily="18" charset="0"/>
              </a:rPr>
              <a:t>-1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l-GR" altLang="zh-CN" sz="1100" i="1" dirty="0">
                <a:latin typeface="Times New Roman" pitchFamily="18" charset="0"/>
                <a:cs typeface="Times New Roman" pitchFamily="18" charset="0"/>
              </a:rPr>
              <a:t>·</a:t>
            </a:r>
            <a:r>
              <a:rPr lang="en-US" altLang="zh-CN" sz="1100" i="1" dirty="0">
                <a:latin typeface="Times New Roman" pitchFamily="18" charset="0"/>
                <a:cs typeface="Times New Roman" pitchFamily="18" charset="0"/>
              </a:rPr>
              <a:t> P</a:t>
            </a:r>
            <a:r>
              <a:rPr lang="en-US" altLang="zh-CN" sz="11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zh-CN" altLang="en-US" sz="1100" dirty="0">
                <a:latin typeface="Times New Roman" pitchFamily="18" charset="0"/>
                <a:cs typeface="Times New Roman" pitchFamily="18" charset="0"/>
              </a:rPr>
              <a:t>，將狀態向量做五步轉移，觀察五年後三個狀態比率的變化，計算如下：</a:t>
            </a:r>
            <a:endParaRPr lang="en-US" altLang="zh-CN" sz="11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74440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/>
          <p:cNvSpPr txBox="1">
            <a:spLocks/>
          </p:cNvSpPr>
          <p:nvPr/>
        </p:nvSpPr>
        <p:spPr bwMode="auto">
          <a:xfrm>
            <a:off x="32871" y="57128"/>
            <a:ext cx="8524875" cy="21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9pPr>
          </a:lstStyle>
          <a:p>
            <a:r>
              <a:rPr lang="zh-CN" altLang="en-US" sz="1500" dirty="0">
                <a:ea typeface="楷体_GB2312" pitchFamily="49" charset="-122"/>
              </a:rPr>
              <a:t>臨床決策分析</a:t>
            </a:r>
            <a:r>
              <a:rPr lang="en-US" altLang="zh-CN" sz="13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CN" sz="13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clinical decision </a:t>
            </a:r>
            <a:r>
              <a:rPr lang="en-US" altLang="zh-CN" sz="13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analysis</a:t>
            </a:r>
            <a:r>
              <a:rPr lang="en-US" altLang="zh-CN" sz="13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altLang="zh-CN" sz="13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CDA</a:t>
            </a:r>
            <a:r>
              <a:rPr lang="en-US" altLang="zh-CN" sz="13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9" name="矩形 3"/>
          <p:cNvSpPr>
            <a:spLocks noChangeArrowheads="1"/>
          </p:cNvSpPr>
          <p:nvPr/>
        </p:nvSpPr>
        <p:spPr bwMode="auto">
          <a:xfrm>
            <a:off x="45954" y="273592"/>
            <a:ext cx="11336421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lvl="0"/>
            <a:r>
              <a:rPr lang="zh-CN" altLang="en-US" sz="1300" dirty="0">
                <a:solidFill>
                  <a:srgbClr val="000000"/>
                </a:solidFill>
              </a:rPr>
              <a:t>臨床決策中對於「弱推薦」證據的</a:t>
            </a:r>
            <a:r>
              <a:rPr lang="zh-TW" altLang="en-US" sz="1300" dirty="0">
                <a:solidFill>
                  <a:srgbClr val="000000"/>
                </a:solidFill>
              </a:rPr>
              <a:t>輔助決策工具 </a:t>
            </a:r>
            <a:r>
              <a:rPr lang="zh-CN" altLang="en-US" sz="1300" dirty="0">
                <a:solidFill>
                  <a:srgbClr val="000000"/>
                </a:solidFill>
                <a:latin typeface="Arial" pitchFamily="34" charset="0"/>
              </a:rPr>
              <a:t>：</a:t>
            </a:r>
            <a:r>
              <a:rPr lang="zh-CN" altLang="en-US" sz="900" dirty="0">
                <a:solidFill>
                  <a:srgbClr val="000000"/>
                </a:solidFill>
                <a:latin typeface="Arial" pitchFamily="34" charset="0"/>
              </a:rPr>
              <a:t>～ 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決策分析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Decision Analysis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 </a:t>
            </a:r>
            <a:r>
              <a:rPr lang="en-US" altLang="zh-CN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- </a:t>
            </a:r>
            <a:r>
              <a:rPr lang="zh-CN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決策分析在臨床實踐中的應用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Clinical Applications of Decision Analysis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zh-TW" sz="105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TW" altLang="en-US" sz="105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zh-TW" sz="105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- </a:t>
            </a:r>
            <a:r>
              <a:rPr lang="zh-CN" altLang="en-US" sz="105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決策樹模型</a:t>
            </a:r>
            <a:r>
              <a:rPr lang="en-US" altLang="zh-CN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CN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Decision Tree</a:t>
            </a:r>
            <a:r>
              <a:rPr lang="en-US" altLang="zh-CN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CN" altLang="en-US" sz="105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；</a:t>
            </a:r>
            <a:endParaRPr lang="zh-CN" altLang="en-US" sz="1050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416040" y="537405"/>
            <a:ext cx="10743373" cy="5367277"/>
            <a:chOff x="416040" y="537405"/>
            <a:chExt cx="10743373" cy="5367277"/>
          </a:xfrm>
        </p:grpSpPr>
        <p:sp>
          <p:nvSpPr>
            <p:cNvPr id="13" name="矩形 12"/>
            <p:cNvSpPr/>
            <p:nvPr/>
          </p:nvSpPr>
          <p:spPr>
            <a:xfrm>
              <a:off x="588806" y="5590557"/>
              <a:ext cx="10542614" cy="31412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計算各決策變數得到結局變數的效益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(QALY)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，比較後面擇優保留分支，對其餘分支做「剪枝」處理，計算最終選擇的決策變數收穫的效益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(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QALY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)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，並做靈敏度分析；</a:t>
              </a:r>
              <a:endPara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  <p:pic>
          <p:nvPicPr>
            <p:cNvPr id="2" name="图片 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8806" y="1321925"/>
              <a:ext cx="4225249" cy="4184844"/>
            </a:xfrm>
            <a:prstGeom prst="rect">
              <a:avLst/>
            </a:prstGeom>
          </p:spPr>
        </p:pic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1423" y="1321925"/>
              <a:ext cx="4622927" cy="4184844"/>
            </a:xfrm>
            <a:prstGeom prst="rect">
              <a:avLst/>
            </a:prstGeom>
          </p:spPr>
        </p:pic>
        <p:sp>
          <p:nvSpPr>
            <p:cNvPr id="7" name="右箭头 6"/>
            <p:cNvSpPr/>
            <p:nvPr/>
          </p:nvSpPr>
          <p:spPr>
            <a:xfrm>
              <a:off x="5243803" y="3638544"/>
              <a:ext cx="540000" cy="242596"/>
            </a:xfrm>
            <a:prstGeom prst="rightArrow">
              <a:avLst/>
            </a:prstGeom>
            <a:noFill/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/>
            <p:cNvSpPr/>
            <p:nvPr/>
          </p:nvSpPr>
          <p:spPr>
            <a:xfrm>
              <a:off x="416040" y="537405"/>
              <a:ext cx="10743373" cy="85408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假設懷疑一位患者可能感染了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HIV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，現需要選擇：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1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、不做處理，即不檢驗也不治療；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2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、先做檢驗，再決定做不做治療；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3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、不用做檢驗，直接治療；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假設：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Prior probability of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HIV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(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AIDS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= 0.08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，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Well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= 0.92 )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；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Obtain PCR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( </a:t>
              </a:r>
              <a:r>
                <a:rPr lang="en-US" altLang="zh-CN" sz="1100" i="1" dirty="0" err="1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Sen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= 0.98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，</a:t>
              </a:r>
              <a:r>
                <a:rPr lang="en-US" altLang="zh-CN" sz="1100" i="1" dirty="0" err="1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Spe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= 0.98 )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；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AIDS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treat QALY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= 10.5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，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AIDS no treat QALY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= 10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，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Well treat QALY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= 75.46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，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Well no treat QALY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= 75.5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；則決策過程如下：</a:t>
              </a:r>
              <a:endPara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27556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/>
          <p:cNvSpPr txBox="1">
            <a:spLocks/>
          </p:cNvSpPr>
          <p:nvPr/>
        </p:nvSpPr>
        <p:spPr bwMode="auto">
          <a:xfrm>
            <a:off x="32871" y="57128"/>
            <a:ext cx="8524875" cy="21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9pPr>
          </a:lstStyle>
          <a:p>
            <a:r>
              <a:rPr lang="zh-CN" altLang="en-US" sz="1500" dirty="0">
                <a:ea typeface="楷体_GB2312" pitchFamily="49" charset="-122"/>
              </a:rPr>
              <a:t>臨床決策分析</a:t>
            </a:r>
            <a:r>
              <a:rPr lang="en-US" altLang="zh-CN" sz="13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CN" sz="13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clinical decision </a:t>
            </a:r>
            <a:r>
              <a:rPr lang="en-US" altLang="zh-CN" sz="13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analysis</a:t>
            </a:r>
            <a:r>
              <a:rPr lang="en-US" altLang="zh-CN" sz="13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altLang="zh-CN" sz="13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CDA</a:t>
            </a:r>
            <a:r>
              <a:rPr lang="en-US" altLang="zh-CN" sz="13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9" name="矩形 3"/>
          <p:cNvSpPr>
            <a:spLocks noChangeArrowheads="1"/>
          </p:cNvSpPr>
          <p:nvPr/>
        </p:nvSpPr>
        <p:spPr bwMode="auto">
          <a:xfrm>
            <a:off x="45954" y="273592"/>
            <a:ext cx="11336421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lvl="0"/>
            <a:r>
              <a:rPr lang="zh-CN" altLang="en-US" sz="1300" dirty="0">
                <a:solidFill>
                  <a:srgbClr val="000000"/>
                </a:solidFill>
              </a:rPr>
              <a:t>臨床決策中對於「弱推薦」證據的</a:t>
            </a:r>
            <a:r>
              <a:rPr lang="zh-TW" altLang="en-US" sz="1300" dirty="0">
                <a:solidFill>
                  <a:srgbClr val="000000"/>
                </a:solidFill>
              </a:rPr>
              <a:t>輔助決策工具 </a:t>
            </a:r>
            <a:r>
              <a:rPr lang="zh-CN" altLang="en-US" sz="1300" dirty="0">
                <a:solidFill>
                  <a:srgbClr val="000000"/>
                </a:solidFill>
                <a:latin typeface="Arial" pitchFamily="34" charset="0"/>
              </a:rPr>
              <a:t>：</a:t>
            </a:r>
            <a:r>
              <a:rPr lang="zh-CN" altLang="en-US" sz="900" dirty="0">
                <a:solidFill>
                  <a:srgbClr val="000000"/>
                </a:solidFill>
                <a:latin typeface="Arial" pitchFamily="34" charset="0"/>
              </a:rPr>
              <a:t>～ 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決策分析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Decision Analysis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 </a:t>
            </a:r>
            <a:r>
              <a:rPr lang="en-US" altLang="zh-CN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- </a:t>
            </a:r>
            <a:r>
              <a:rPr lang="zh-CN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決策分析在臨床實踐中的應用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Clinical Applications of Decision Analysis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zh-TW" sz="105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TW" altLang="en-US" sz="105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zh-TW" sz="105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- </a:t>
            </a:r>
            <a:r>
              <a:rPr lang="zh-CN" altLang="en-US" sz="105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決策樹模型</a:t>
            </a:r>
            <a:r>
              <a:rPr lang="en-US" altLang="zh-CN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CN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Decision Tree</a:t>
            </a:r>
            <a:r>
              <a:rPr lang="en-US" altLang="zh-CN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CN" altLang="en-US" sz="105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；</a:t>
            </a:r>
            <a:endParaRPr lang="zh-CN" altLang="en-US" sz="1050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282690" y="556455"/>
            <a:ext cx="10966335" cy="5382551"/>
            <a:chOff x="282690" y="556455"/>
            <a:chExt cx="10966335" cy="5382551"/>
          </a:xfrm>
        </p:grpSpPr>
        <p:sp>
          <p:nvSpPr>
            <p:cNvPr id="12" name="矩形 11"/>
            <p:cNvSpPr/>
            <p:nvPr/>
          </p:nvSpPr>
          <p:spPr>
            <a:xfrm>
              <a:off x="282690" y="556455"/>
              <a:ext cx="10966335" cy="82195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假設懷疑一位患者可能感染了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HIV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，現需要選擇：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1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不做處理，即不檢驗也不治療；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2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先做檢驗，再決定做不做治療；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3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不用做檢驗，直接治療；假設：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Prior probability of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HIV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(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AIDS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= 0.08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，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Well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= 0.92 )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；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Obtain PCR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( </a:t>
              </a:r>
              <a:r>
                <a:rPr lang="en-US" altLang="zh-CN" sz="1100" i="1" dirty="0" err="1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Sen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= 0.98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，</a:t>
              </a:r>
              <a:r>
                <a:rPr lang="en-US" altLang="zh-CN" sz="1100" i="1" dirty="0" err="1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Spe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= 0.98 )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；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AIDS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treat QALE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= 10.5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，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AIDS no treat QALE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= 10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，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Well treat QALE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= 75.46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，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Well no treat QALE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= 75.5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；如果最終決策選擇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QALY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最大分支如下，則對該決策方案做患病率、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PCR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診斷靈敏度和特異性的單因素靈敏度分析結果如下：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[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d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(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QALY 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) / </a:t>
              </a:r>
              <a:r>
                <a:rPr lang="en-US" altLang="zh-CN" sz="1100" i="1" dirty="0" err="1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dP</a:t>
              </a:r>
              <a:r>
                <a:rPr lang="en-US" altLang="zh-CN" sz="1100" i="1" baseline="-25000" dirty="0" err="1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AIDS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] , [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d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(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QALY 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) /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d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(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Sen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) </a:t>
              </a:r>
              <a:r>
                <a:rPr lang="en-US" altLang="zh-CN" sz="1100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or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(</a:t>
              </a:r>
              <a:r>
                <a:rPr lang="en-US" altLang="zh-CN" sz="1100" i="1" dirty="0" err="1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Spe</a:t>
              </a:r>
              <a:r>
                <a:rPr lang="en-US" altLang="zh-CN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) ]</a:t>
              </a:r>
              <a:r>
                <a:rPr lang="zh-CN" altLang="en-US" sz="11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；</a:t>
              </a:r>
              <a:endParaRPr lang="en-US" altLang="zh-CN" sz="11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3300579" y="5592757"/>
              <a:ext cx="5176671" cy="34624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zh-TW" sz="1100" i="1" dirty="0" err="1">
                  <a:latin typeface="Times New Roman" pitchFamily="18" charset="0"/>
                  <a:cs typeface="Times New Roman" pitchFamily="18" charset="0"/>
                </a:rPr>
                <a:t>Shortliffe</a:t>
              </a:r>
              <a:r>
                <a:rPr lang="en-US" altLang="zh-TW" sz="1100" i="1" dirty="0">
                  <a:latin typeface="Times New Roman" pitchFamily="18" charset="0"/>
                  <a:cs typeface="Times New Roman" pitchFamily="18" charset="0"/>
                </a:rPr>
                <a:t> EH, </a:t>
              </a:r>
              <a:r>
                <a:rPr lang="en-US" altLang="zh-TW" sz="1100" i="1" dirty="0" err="1">
                  <a:latin typeface="Times New Roman" pitchFamily="18" charset="0"/>
                  <a:cs typeface="Times New Roman" pitchFamily="18" charset="0"/>
                </a:rPr>
                <a:t>Cimino</a:t>
              </a:r>
              <a:r>
                <a:rPr lang="en-US" altLang="zh-TW" sz="1100" i="1" dirty="0">
                  <a:latin typeface="Times New Roman" pitchFamily="18" charset="0"/>
                  <a:cs typeface="Times New Roman" pitchFamily="18" charset="0"/>
                </a:rPr>
                <a:t> JJ. Biomedical Informatics </a:t>
              </a:r>
              <a:r>
                <a:rPr lang="en-US" altLang="zh-TW" sz="1100" dirty="0">
                  <a:latin typeface="Times New Roman" pitchFamily="18" charset="0"/>
                  <a:cs typeface="Times New Roman" pitchFamily="18" charset="0"/>
                </a:rPr>
                <a:t>(</a:t>
              </a:r>
              <a:r>
                <a:rPr lang="en-US" altLang="zh-TW" sz="1100" i="1" dirty="0">
                  <a:latin typeface="Times New Roman" pitchFamily="18" charset="0"/>
                  <a:cs typeface="Times New Roman" pitchFamily="18" charset="0"/>
                </a:rPr>
                <a:t>Third Edition</a:t>
              </a:r>
              <a:r>
                <a:rPr lang="en-US" altLang="zh-TW" sz="1100" dirty="0">
                  <a:latin typeface="Times New Roman" pitchFamily="18" charset="0"/>
                  <a:cs typeface="Times New Roman" pitchFamily="18" charset="0"/>
                </a:rPr>
                <a:t>) [</a:t>
              </a:r>
              <a:r>
                <a:rPr lang="en-US" altLang="zh-TW" sz="1100" i="1" dirty="0">
                  <a:latin typeface="Times New Roman" pitchFamily="18" charset="0"/>
                  <a:cs typeface="Times New Roman" pitchFamily="18" charset="0"/>
                </a:rPr>
                <a:t>M</a:t>
              </a:r>
              <a:r>
                <a:rPr lang="en-US" altLang="zh-TW" sz="1100" dirty="0">
                  <a:latin typeface="Times New Roman" pitchFamily="18" charset="0"/>
                  <a:cs typeface="Times New Roman" pitchFamily="18" charset="0"/>
                </a:rPr>
                <a:t>] </a:t>
              </a:r>
              <a:r>
                <a:rPr lang="en-US" altLang="zh-TW" sz="1100" i="1" dirty="0">
                  <a:latin typeface="Times New Roman" pitchFamily="18" charset="0"/>
                  <a:cs typeface="Times New Roman" pitchFamily="18" charset="0"/>
                </a:rPr>
                <a:t>. Springer</a:t>
              </a:r>
              <a:r>
                <a:rPr lang="en-US" altLang="zh-TW" sz="1100" dirty="0">
                  <a:latin typeface="Times New Roman" pitchFamily="18" charset="0"/>
                  <a:cs typeface="Times New Roman" pitchFamily="18" charset="0"/>
                </a:rPr>
                <a:t>, 2006.</a:t>
              </a:r>
            </a:p>
          </p:txBody>
        </p:sp>
        <p:pic>
          <p:nvPicPr>
            <p:cNvPr id="819203" name="Picture 3" descr="C:\Users\ibm\Desktop\image.gif"/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20" t="2030" r="44740" b="71167"/>
            <a:stretch/>
          </p:blipFill>
          <p:spPr bwMode="auto">
            <a:xfrm>
              <a:off x="1443204" y="1496260"/>
              <a:ext cx="7294582" cy="1872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图片 13"/>
            <p:cNvPicPr>
              <a:picLocks noChangeAspect="1"/>
            </p:cNvPicPr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93194" y="3468195"/>
              <a:ext cx="3522968" cy="2115037"/>
            </a:xfrm>
            <a:prstGeom prst="rect">
              <a:avLst/>
            </a:prstGeom>
          </p:spPr>
        </p:pic>
        <p:grpSp>
          <p:nvGrpSpPr>
            <p:cNvPr id="2" name="组合 1"/>
            <p:cNvGrpSpPr/>
            <p:nvPr/>
          </p:nvGrpSpPr>
          <p:grpSpPr>
            <a:xfrm>
              <a:off x="3936999" y="3468195"/>
              <a:ext cx="3524142" cy="2115037"/>
              <a:chOff x="3936999" y="3468195"/>
              <a:chExt cx="3524142" cy="2115037"/>
            </a:xfrm>
          </p:grpSpPr>
          <p:pic>
            <p:nvPicPr>
              <p:cNvPr id="16" name="图片 15"/>
              <p:cNvPicPr>
                <a:picLocks noChangeAspect="1"/>
              </p:cNvPicPr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936999" y="3468195"/>
                <a:ext cx="3524142" cy="2115037"/>
              </a:xfrm>
              <a:prstGeom prst="rect">
                <a:avLst/>
              </a:prstGeom>
            </p:spPr>
          </p:pic>
          <p:sp>
            <p:nvSpPr>
              <p:cNvPr id="17" name="矩形 16"/>
              <p:cNvSpPr/>
              <p:nvPr/>
            </p:nvSpPr>
            <p:spPr>
              <a:xfrm>
                <a:off x="4608531" y="4579422"/>
                <a:ext cx="2053683" cy="30008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zh-CN" sz="900" i="1" dirty="0">
                    <a:solidFill>
                      <a:srgbClr val="000000"/>
                    </a:solidFill>
                    <a:latin typeface="Times New Roman" pitchFamily="18" charset="0"/>
                    <a:cs typeface="Times New Roman" pitchFamily="18" charset="0"/>
                  </a:rPr>
                  <a:t>P</a:t>
                </a:r>
                <a:r>
                  <a:rPr lang="en-US" altLang="zh-CN" sz="900" baseline="-25000" dirty="0">
                    <a:solidFill>
                      <a:srgbClr val="000000"/>
                    </a:solidFill>
                    <a:latin typeface="Times New Roman" pitchFamily="18" charset="0"/>
                    <a:cs typeface="Times New Roman" pitchFamily="18" charset="0"/>
                  </a:rPr>
                  <a:t> ( </a:t>
                </a:r>
                <a:r>
                  <a:rPr lang="en-US" altLang="zh-CN" sz="900" i="1" baseline="-25000" dirty="0">
                    <a:solidFill>
                      <a:srgbClr val="000000"/>
                    </a:solidFill>
                    <a:latin typeface="Times New Roman" pitchFamily="18" charset="0"/>
                    <a:cs typeface="Times New Roman" pitchFamily="18" charset="0"/>
                  </a:rPr>
                  <a:t>AIDS</a:t>
                </a:r>
                <a:r>
                  <a:rPr lang="en-US" altLang="zh-CN" sz="900" baseline="-25000" dirty="0">
                    <a:solidFill>
                      <a:srgbClr val="000000"/>
                    </a:solidFill>
                    <a:latin typeface="Times New Roman" pitchFamily="18" charset="0"/>
                    <a:cs typeface="Times New Roman" pitchFamily="18" charset="0"/>
                  </a:rPr>
                  <a:t> )</a:t>
                </a:r>
                <a:r>
                  <a:rPr lang="en-US" altLang="zh-CN" sz="900" dirty="0">
                    <a:solidFill>
                      <a:srgbClr val="000000"/>
                    </a:solidFill>
                    <a:latin typeface="Times New Roman" pitchFamily="18" charset="0"/>
                    <a:cs typeface="Times New Roman" pitchFamily="18" charset="0"/>
                  </a:rPr>
                  <a:t> </a:t>
                </a:r>
                <a:r>
                  <a:rPr lang="zh-CN" altLang="en-US" sz="900" dirty="0">
                    <a:solidFill>
                      <a:srgbClr val="000000"/>
                    </a:solidFill>
                    <a:latin typeface="Times New Roman" pitchFamily="18" charset="0"/>
                    <a:cs typeface="Times New Roman" pitchFamily="18" charset="0"/>
                  </a:rPr>
                  <a:t>：</a:t>
                </a:r>
                <a:r>
                  <a:rPr lang="en-US" altLang="zh-CN" sz="900" dirty="0">
                    <a:solidFill>
                      <a:srgbClr val="000000"/>
                    </a:solidFill>
                    <a:latin typeface="Times New Roman" pitchFamily="18" charset="0"/>
                    <a:cs typeface="Times New Roman" pitchFamily="18" charset="0"/>
                  </a:rPr>
                  <a:t>1%  ↑ ,  </a:t>
                </a:r>
                <a:r>
                  <a:rPr lang="en-US" altLang="zh-CN" sz="900" i="1" dirty="0">
                    <a:solidFill>
                      <a:srgbClr val="000000"/>
                    </a:solidFill>
                    <a:latin typeface="Times New Roman" pitchFamily="18" charset="0"/>
                    <a:cs typeface="Times New Roman" pitchFamily="18" charset="0"/>
                  </a:rPr>
                  <a:t>QALY</a:t>
                </a:r>
                <a:r>
                  <a:rPr lang="zh-CN" altLang="en-US" sz="900" dirty="0">
                    <a:solidFill>
                      <a:srgbClr val="000000"/>
                    </a:solidFill>
                    <a:latin typeface="Times New Roman" pitchFamily="18" charset="0"/>
                    <a:cs typeface="Times New Roman" pitchFamily="18" charset="0"/>
                  </a:rPr>
                  <a:t>：</a:t>
                </a:r>
                <a:r>
                  <a:rPr lang="en-US" altLang="zh-CN" sz="900" dirty="0">
                    <a:solidFill>
                      <a:srgbClr val="000000"/>
                    </a:solidFill>
                    <a:latin typeface="Times New Roman" pitchFamily="18" charset="0"/>
                    <a:cs typeface="Times New Roman" pitchFamily="18" charset="0"/>
                  </a:rPr>
                  <a:t>-0.65 </a:t>
                </a:r>
                <a:r>
                  <a:rPr lang="en-US" altLang="zh-CN" sz="900" i="1" dirty="0">
                    <a:solidFill>
                      <a:srgbClr val="000000"/>
                    </a:solidFill>
                    <a:latin typeface="Times New Roman" pitchFamily="18" charset="0"/>
                    <a:cs typeface="Times New Roman" pitchFamily="18" charset="0"/>
                  </a:rPr>
                  <a:t>year</a:t>
                </a:r>
                <a:r>
                  <a:rPr lang="en-US" altLang="zh-CN" sz="900" dirty="0">
                    <a:solidFill>
                      <a:srgbClr val="000000"/>
                    </a:solidFill>
                    <a:latin typeface="Times New Roman" pitchFamily="18" charset="0"/>
                    <a:cs typeface="Times New Roman" pitchFamily="18" charset="0"/>
                  </a:rPr>
                  <a:t> ↓</a:t>
                </a:r>
                <a:endParaRPr lang="zh-CN" altLang="en-US" sz="9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endParaRPr>
              </a:p>
            </p:txBody>
          </p:sp>
        </p:grpSp>
        <p:pic>
          <p:nvPicPr>
            <p:cNvPr id="819202" name="Picture 2"/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75875" y="3724332"/>
              <a:ext cx="3634520" cy="181339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8240232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22629-ACEE-C720-7826-E7A2EB4E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1D235E70-2DF2-8863-F9C0-4193C1CA99DD}"/>
              </a:ext>
            </a:extLst>
          </p:cNvPr>
          <p:cNvSpPr txBox="1">
            <a:spLocks/>
          </p:cNvSpPr>
          <p:nvPr/>
        </p:nvSpPr>
        <p:spPr bwMode="auto">
          <a:xfrm>
            <a:off x="32871" y="57128"/>
            <a:ext cx="8524875" cy="21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9pPr>
          </a:lstStyle>
          <a:p>
            <a:r>
              <a:rPr lang="zh-CN" altLang="en-US" sz="1500" dirty="0">
                <a:ea typeface="楷体_GB2312" pitchFamily="49" charset="-122"/>
              </a:rPr>
              <a:t>臨床決策分析</a:t>
            </a:r>
            <a:r>
              <a:rPr lang="en-US" altLang="zh-CN" sz="13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CN" sz="13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clinical decision </a:t>
            </a:r>
            <a:r>
              <a:rPr lang="en-US" altLang="zh-CN" sz="13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analysis</a:t>
            </a:r>
            <a:r>
              <a:rPr lang="en-US" altLang="zh-CN" sz="13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altLang="zh-CN" sz="13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CDA</a:t>
            </a:r>
            <a:r>
              <a:rPr lang="en-US" altLang="zh-CN" sz="13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803857C-9065-C595-6A43-26665BF0B2CB}"/>
              </a:ext>
            </a:extLst>
          </p:cNvPr>
          <p:cNvSpPr/>
          <p:nvPr/>
        </p:nvSpPr>
        <p:spPr>
          <a:xfrm>
            <a:off x="2926516" y="1629694"/>
            <a:ext cx="5714996" cy="23422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在這裏補充一個真實案例演算法示例</a:t>
            </a:r>
            <a:endParaRPr lang="en-US" altLang="zh-CN" sz="2000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150000"/>
              </a:lnSpc>
            </a:pPr>
            <a:r>
              <a:rPr lang="zh-CN" altLang="en-US" sz="2000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自適應反饋學習機制</a:t>
            </a:r>
            <a:endParaRPr lang="en-US" altLang="zh-CN" sz="2000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2000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Adaptive Feedback Learning Mechanism, AFLM</a:t>
            </a:r>
          </a:p>
          <a:p>
            <a:pPr>
              <a:lnSpc>
                <a:spcPct val="150000"/>
              </a:lnSpc>
            </a:pPr>
            <a:r>
              <a:rPr lang="zh-CN" altLang="en-US" sz="2000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機器學習 </a:t>
            </a:r>
            <a:r>
              <a:rPr lang="en-US" altLang="zh-CN" sz="2000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Machine Learning</a:t>
            </a:r>
          </a:p>
          <a:p>
            <a:pPr>
              <a:lnSpc>
                <a:spcPct val="150000"/>
              </a:lnSpc>
            </a:pPr>
            <a:r>
              <a:rPr lang="en-US" altLang="zh-CN" sz="2000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ID3 </a:t>
            </a:r>
            <a:r>
              <a:rPr lang="zh-CN" altLang="en-US" sz="2000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， </a:t>
            </a:r>
            <a:r>
              <a:rPr lang="en-US" altLang="zh-CN" sz="2000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C4.5 </a:t>
            </a:r>
            <a:r>
              <a:rPr lang="zh-CN" altLang="en-US" sz="2000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， </a:t>
            </a:r>
            <a:r>
              <a:rPr lang="en-US" altLang="zh-CN" sz="2000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CART</a:t>
            </a:r>
          </a:p>
        </p:txBody>
      </p:sp>
      <p:sp>
        <p:nvSpPr>
          <p:cNvPr id="2" name="矩形 3">
            <a:extLst>
              <a:ext uri="{FF2B5EF4-FFF2-40B4-BE49-F238E27FC236}">
                <a16:creationId xmlns:a16="http://schemas.microsoft.com/office/drawing/2014/main" id="{19733261-BD8B-2AA2-E8F4-6307775E55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954" y="273592"/>
            <a:ext cx="11476121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lvl="0"/>
            <a:r>
              <a:rPr lang="zh-CN" altLang="en-US" sz="1300" dirty="0">
                <a:solidFill>
                  <a:srgbClr val="000000"/>
                </a:solidFill>
              </a:rPr>
              <a:t>臨床決策中對於“弱推薦”證據的</a:t>
            </a:r>
            <a:r>
              <a:rPr lang="zh-TW" altLang="en-US" sz="1300" dirty="0">
                <a:solidFill>
                  <a:srgbClr val="000000"/>
                </a:solidFill>
              </a:rPr>
              <a:t>輔助決策工具 </a:t>
            </a:r>
            <a:r>
              <a:rPr lang="zh-CN" altLang="en-US" sz="1300" dirty="0">
                <a:solidFill>
                  <a:srgbClr val="000000"/>
                </a:solidFill>
                <a:latin typeface="Arial" pitchFamily="34" charset="0"/>
              </a:rPr>
              <a:t>：</a:t>
            </a:r>
            <a:r>
              <a:rPr lang="zh-CN" altLang="en-US" sz="900" dirty="0">
                <a:solidFill>
                  <a:srgbClr val="000000"/>
                </a:solidFill>
                <a:latin typeface="Arial" pitchFamily="34" charset="0"/>
              </a:rPr>
              <a:t>～ </a:t>
            </a:r>
            <a:r>
              <a:rPr lang="zh-CN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判別分析在臨床實踐中的應用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Clinical Applications of Decision Analysis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TW" altLang="en-US" sz="105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zh-TW" sz="105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- </a:t>
            </a:r>
            <a:r>
              <a:rPr lang="zh-CN" altLang="en-US" sz="105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自適應反饋學習模型</a:t>
            </a:r>
            <a:r>
              <a:rPr lang="en-US" altLang="zh-CN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CN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Adaptive Feedback Learning Mechanism</a:t>
            </a:r>
            <a:r>
              <a:rPr lang="en-US" altLang="zh-CN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CN" altLang="en-US" sz="105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；</a:t>
            </a:r>
            <a:endParaRPr lang="zh-CN" altLang="en-US" sz="1050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2609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/>
          <p:cNvSpPr txBox="1">
            <a:spLocks/>
          </p:cNvSpPr>
          <p:nvPr/>
        </p:nvSpPr>
        <p:spPr bwMode="auto">
          <a:xfrm>
            <a:off x="32871" y="57128"/>
            <a:ext cx="8524875" cy="21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rgbClr val="C7000B"/>
                </a:solidFill>
                <a:latin typeface="Arial" charset="0"/>
                <a:ea typeface="方正兰亭黑6_GBK" pitchFamily="2" charset="-122"/>
              </a:defRPr>
            </a:lvl9pPr>
          </a:lstStyle>
          <a:p>
            <a:r>
              <a:rPr lang="zh-CN" altLang="en-US" sz="1500" dirty="0">
                <a:ea typeface="楷体_GB2312" pitchFamily="49" charset="-122"/>
              </a:rPr>
              <a:t>臨床決策分析</a:t>
            </a:r>
            <a:r>
              <a:rPr lang="en-US" altLang="zh-CN" sz="13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CN" sz="13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clinical decision </a:t>
            </a:r>
            <a:r>
              <a:rPr lang="en-US" altLang="zh-CN" sz="13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analysis</a:t>
            </a:r>
            <a:r>
              <a:rPr lang="en-US" altLang="zh-CN" sz="13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altLang="zh-CN" sz="1300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CDA</a:t>
            </a:r>
            <a:r>
              <a:rPr lang="en-US" altLang="zh-CN" sz="13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9" name="矩形 3"/>
          <p:cNvSpPr>
            <a:spLocks noChangeArrowheads="1"/>
          </p:cNvSpPr>
          <p:nvPr/>
        </p:nvSpPr>
        <p:spPr bwMode="auto">
          <a:xfrm>
            <a:off x="45954" y="273592"/>
            <a:ext cx="9895905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lvl="0"/>
            <a:r>
              <a:rPr lang="zh-CN" altLang="en-US" sz="1300" dirty="0">
                <a:solidFill>
                  <a:srgbClr val="000000"/>
                </a:solidFill>
              </a:rPr>
              <a:t>臨床決策中對於“弱推薦”證據的</a:t>
            </a:r>
            <a:r>
              <a:rPr lang="zh-TW" altLang="en-US" sz="1300" dirty="0">
                <a:solidFill>
                  <a:srgbClr val="000000"/>
                </a:solidFill>
              </a:rPr>
              <a:t>輔助決策工具 </a:t>
            </a:r>
            <a:r>
              <a:rPr lang="zh-CN" altLang="en-US" sz="1300" dirty="0">
                <a:solidFill>
                  <a:srgbClr val="000000"/>
                </a:solidFill>
                <a:latin typeface="Arial" pitchFamily="34" charset="0"/>
              </a:rPr>
              <a:t>：</a:t>
            </a:r>
            <a:r>
              <a:rPr lang="zh-CN" altLang="en-US" sz="900" dirty="0">
                <a:solidFill>
                  <a:srgbClr val="000000"/>
                </a:solidFill>
                <a:latin typeface="Arial" pitchFamily="34" charset="0"/>
              </a:rPr>
              <a:t>～ </a:t>
            </a:r>
            <a:r>
              <a:rPr lang="zh-TW" altLang="en-US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臨床決策支援系統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altLang="zh-TW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Clinical Decision Support System</a:t>
            </a:r>
            <a:r>
              <a:rPr lang="en-US" altLang="zh-TW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, </a:t>
            </a:r>
            <a:r>
              <a:rPr lang="en-US" altLang="zh-TW" sz="1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CDSS</a:t>
            </a:r>
            <a:r>
              <a:rPr lang="en-US" altLang="zh-CN" sz="1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zh-CN" altLang="en-US" sz="105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；</a:t>
            </a:r>
            <a:endParaRPr lang="zh-CN" altLang="en-US" sz="1050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314575" y="1870905"/>
            <a:ext cx="7071472" cy="9572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在這裏補充一個真實案例軟體流程圖架構示例</a:t>
            </a:r>
            <a:endParaRPr lang="en-US" altLang="zh-CN" sz="2000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150000"/>
              </a:lnSpc>
            </a:pPr>
            <a:r>
              <a:rPr lang="zh-CN" altLang="en-US" sz="2000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臨床決策支援系統 </a:t>
            </a:r>
            <a:r>
              <a:rPr lang="en-US" altLang="zh-CN" sz="2000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Clinical Decision Support System, CDSS</a:t>
            </a:r>
          </a:p>
        </p:txBody>
      </p:sp>
    </p:spTree>
    <p:extLst>
      <p:ext uri="{BB962C8B-B14F-4D97-AF65-F5344CB8AC3E}">
        <p14:creationId xmlns:p14="http://schemas.microsoft.com/office/powerpoint/2010/main" val="184955196"/>
      </p:ext>
    </p:extLst>
  </p:cSld>
  <p:clrMapOvr>
    <a:masterClrMapping/>
  </p:clrMapOvr>
</p:sld>
</file>

<file path=ppt/theme/theme1.xml><?xml version="1.0" encoding="utf-8"?>
<a:theme xmlns:a="http://schemas.openxmlformats.org/drawingml/2006/main" name="中文PPT模板2011 4.3">
  <a:themeElements>
    <a:clrScheme name="中文PPT模板2011 4.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中文PPT模板2011 4.3">
      <a:majorFont>
        <a:latin typeface="Arial"/>
        <a:ea typeface="方正兰亭黑6_GBK"/>
        <a:cs typeface=""/>
      </a:majorFont>
      <a:minorFont>
        <a:latin typeface="Arial"/>
        <a:ea typeface="方正兰亭黑3_GBK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中文PPT模板2011 4.3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中文PPT模板2011 4.3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中文PPT模板2011 4.3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中文PPT模板2011 4.3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中文PPT模板2011 4.3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中文PPT模板2011 4.3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中文PPT模板2011 4.3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中文PPT模板2011 4.3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中文PPT模板2011 4.3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中文PPT模板2011 4.3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中文PPT模板2011 4.3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中文PPT模板2011 4.3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自定义设计方案">
  <a:themeElements>
    <a:clrScheme name="自定义设计方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自定义设计方案">
      <a:majorFont>
        <a:latin typeface="Arial"/>
        <a:ea typeface="方正兰亭黑6_GBK"/>
        <a:cs typeface=""/>
      </a:majorFont>
      <a:minorFont>
        <a:latin typeface="Arial"/>
        <a:ea typeface="方正兰亭黑3_GBK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自定义设计方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1_自定义设计方案">
  <a:themeElements>
    <a:clrScheme name="1_自定义设计方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1_自定义设计方案">
      <a:majorFont>
        <a:latin typeface="Arial"/>
        <a:ea typeface="方正兰亭黑6_GBK"/>
        <a:cs typeface=""/>
      </a:majorFont>
      <a:minorFont>
        <a:latin typeface="Arial"/>
        <a:ea typeface="方正兰亭黑3_GBK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1_自定义设计方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自定义设计方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自定义设计方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自定义设计方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自定义设计方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自定义设计方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自定义设计方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自定义设计方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自定义设计方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自定义设计方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自定义设计方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自定义设计方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2_自定义设计方案">
  <a:themeElements>
    <a:clrScheme name="2_自定义设计方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2_自定义设计方案">
      <a:majorFont>
        <a:latin typeface="Arial"/>
        <a:ea typeface="方正兰亭黑6_GBK"/>
        <a:cs typeface=""/>
      </a:majorFont>
      <a:minorFont>
        <a:latin typeface="Arial"/>
        <a:ea typeface="方正兰亭黑3_GBK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2_自定义设计方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自定义设计方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自定义设计方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自定义设计方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自定义设计方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自定义设计方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自定义设计方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自定义设计方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自定义设计方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自定义设计方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自定义设计方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自定义设计方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Office 主题​​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中文PPT模板2011 4.3</Template>
  <TotalTime>54567</TotalTime>
  <Words>14892</Words>
  <Application>Microsoft Office PowerPoint</Application>
  <PresentationFormat>自定义</PresentationFormat>
  <Paragraphs>867</Paragraphs>
  <Slides>18</Slides>
  <Notes>18</Notes>
  <HiddenSlides>0</HiddenSlides>
  <MMClips>0</MMClips>
  <ScaleCrop>false</ScaleCrop>
  <HeadingPairs>
    <vt:vector size="8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4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18</vt:i4>
      </vt:variant>
    </vt:vector>
  </HeadingPairs>
  <TitlesOfParts>
    <vt:vector size="34" baseType="lpstr">
      <vt:lpstr>Arial Unicode MS</vt:lpstr>
      <vt:lpstr>MingLiU</vt:lpstr>
      <vt:lpstr>新細明體</vt:lpstr>
      <vt:lpstr>方正兰亭黑6_GBK</vt:lpstr>
      <vt:lpstr>楷体_GB2312</vt:lpstr>
      <vt:lpstr>宋体</vt:lpstr>
      <vt:lpstr>Arial</vt:lpstr>
      <vt:lpstr>Cambria Math</vt:lpstr>
      <vt:lpstr>Times New Roman</vt:lpstr>
      <vt:lpstr>Wingdings</vt:lpstr>
      <vt:lpstr>中文PPT模板2011 4.3</vt:lpstr>
      <vt:lpstr>自定义设计方案</vt:lpstr>
      <vt:lpstr>1_自定义设计方案</vt:lpstr>
      <vt:lpstr>2_自定义设计方案</vt:lpstr>
      <vt:lpstr>Equation</vt:lpstr>
      <vt:lpstr>公式</vt:lpstr>
      <vt:lpstr>臨床決策分析 （clinical decision analysis, CDA）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臨床決策分析（clinical decision analysis, CDA）</dc:title>
  <dc:subject>醫學、診斷、實驗室診斷、應用、in vitro diagnostic、IVD、Application</dc:subject>
  <dc:creator>趙健</dc:creator>
  <cp:keywords>實驗室診斷、in vitro diagnostic、臨床決策分析、clinical decision analysis、CDA、決策分析、decision analysis、DA、決策、decision</cp:keywords>
  <dc:description>+8618604537694；
283640621@qq.com；</dc:description>
  <cp:lastModifiedBy>Admin</cp:lastModifiedBy>
  <cp:revision>3548</cp:revision>
  <dcterms:created xsi:type="dcterms:W3CDTF">2011-12-19T07:14:23Z</dcterms:created>
  <dcterms:modified xsi:type="dcterms:W3CDTF">2026-01-27T08:54:15Z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4</vt:i4>
  </property>
  <property fmtid="{D5CDD505-2E9C-101B-9397-08002B2CF9AE}" pid="3" name="LCID">
    <vt:i4>2052</vt:i4>
  </property>
</Properties>
</file>