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6" r:id="rId2"/>
    <p:sldId id="258" r:id="rId3"/>
    <p:sldId id="261" r:id="rId4"/>
    <p:sldId id="277" r:id="rId5"/>
    <p:sldId id="269" r:id="rId6"/>
    <p:sldId id="268" r:id="rId7"/>
    <p:sldId id="279" r:id="rId8"/>
    <p:sldId id="280" r:id="rId9"/>
    <p:sldId id="263" r:id="rId10"/>
    <p:sldId id="271" r:id="rId11"/>
    <p:sldId id="267" r:id="rId12"/>
    <p:sldId id="260" r:id="rId13"/>
    <p:sldId id="259" r:id="rId14"/>
    <p:sldId id="275" r:id="rId15"/>
    <p:sldId id="281" r:id="rId16"/>
    <p:sldId id="276" r:id="rId17"/>
    <p:sldId id="262" r:id="rId18"/>
    <p:sldId id="264" r:id="rId19"/>
    <p:sldId id="272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04" autoAdjust="0"/>
    <p:restoredTop sz="86072" autoAdjust="0"/>
  </p:normalViewPr>
  <p:slideViewPr>
    <p:cSldViewPr snapToGrid="0">
      <p:cViewPr varScale="1">
        <p:scale>
          <a:sx n="85" d="100"/>
          <a:sy n="85" d="100"/>
        </p:scale>
        <p:origin x="57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106B94-913D-4B16-8DD6-D3F3F6275C6F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C0961-C9C3-4C27-86E9-7E9C45B3D2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2223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CN" sz="12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nicotinamide adenine dinucleotide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也稱還原型輔酶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Ⅰ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或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Ⅱ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還原型（氫化後）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氧化型（失氫後）系統，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340nm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催化脫落氫離子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（脫氫酶）或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催化結合氫離子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（羥化酶）的反應體系。脫氫酶將蛋白質殘基上的氫離子轉移至氫離子受體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氧化型煙醯胺腺嘌呤二核苷酸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NAD</a:t>
            </a:r>
            <a:r>
              <a:rPr lang="en-US" altLang="zh-CN" sz="1200" baseline="30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+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）上，羥化酶從氫離子供體還原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型煙醯胺腺嘌呤二核苷酸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NADH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）將氫離子轉移至蛋白質殘基上。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常用的工具酶：乳酸脫氫酶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lactic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）、蘋果酸脫氫酶（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malate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）、乙醛脫氫酶（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acetaldehyde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</a:rPr>
              <a:t>六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磷酸脫氫酶（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glucose-6-phosphate 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dehydrogenease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羥化酶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hydroxylase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利用此示蹤系統開發的檢驗項目有：丙氨酸氨基轉移酶（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）、天門冬氨酸氨基轉移酶（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AST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）、肌酸激酶（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CK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）、乳酸脫氫酶（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LDH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）、肌酸激酶同工酶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MB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CK-MB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α-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羥丁酸脫氫酶（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α-HBDH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）、尿素氮（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UREA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）、血清氨離子（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NH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4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+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）、血清碳酸根離子（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CO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2-</a:t>
            </a:r>
            <a:r>
              <a:rPr lang="en-US" altLang="zh-CN" sz="1200" b="0" i="0" baseline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HCO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-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以磷酸根（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phosphate radical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對硝基苯酚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Nitrophenol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磷酸對硝基苯酚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phosphoric acid p-Nitrophenol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05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催化脫落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磷酸根（磷酸酶）或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催化結合磷酸根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（激酶）的反應體系。磷酸酶將蛋白質殘基上的磷酸根裂解爲游離磷酸根離子，激酶從磷酸根供體三磷酸腺苷（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ATP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）將磷酸根轉移至蛋白質殘基上，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）、己糖激酶（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hexokinase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）、酸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性磷酸酶（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ACP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γ-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穀氨酰氨基轉移酶（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γ-GT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）、澱粉酶（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AMY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以氧分子（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CN" sz="12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）爲電子（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四甲基聯苯胺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Tetramethylbenzidine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過氧化氫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50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氧化反應（氧化酶）或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還原反應（葉綠素光解酶）的體系。氧化酶從葡萄糖（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glucose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）上將電子轉移至電子受體氧分子（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en-US" altLang="zh-CN" sz="1200" baseline="-25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）上，葉綠素光解酶通過光催化從電子供體水分子（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H</a:t>
            </a:r>
            <a:r>
              <a:rPr lang="en-US" altLang="zh-CN" sz="1200" baseline="-25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）將電子轉移至電子受體還原型共價氧原子（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en-US" altLang="zh-CN" sz="1200" baseline="30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2-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常用的工具酶：葡萄糖氧化酶（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glucose oxidase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）、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過氧化物歧化酶（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peroxide dismutase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）、脂（肪）氧合酶（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Lipoxygenase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利用此示蹤系統開發的檢驗項目有：總膽固醇（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）、甘油三酯（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）、高密度脂蛋白（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HDL-C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）、低密度脂蛋白（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LDL-C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）、肌酸酐（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Crea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）、尿酸（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UA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三聯吡啶釕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tris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- 2 - 2’-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bipyridyl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ruthe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nium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三丙胺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tripropylamine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發光體系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、以吖啶酯（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acridinium ester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過氧化氫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以鹼性磷酸酶（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魯米諾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Luminol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體系的抗原抗體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結合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利用此示蹤系統開發的檢驗項目有：促卵泡生成激素（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FSH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）、促黃體生成激素（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）、催乳素（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PRL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）、雌二醇（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）、孕酮（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）、睾酮（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）、甲狀腺素（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T4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）、三碘甲狀腺原氨酸（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）、促甲狀腺激素（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TSH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）、游離三碘甲狀腺原氨酸（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fT3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）、游離甲狀腺素（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fT4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）、乙肝病毒表面抗原（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HBsAg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）、乙肝病毒核心抗體（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HBcAb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 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抗體（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HBeAb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 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抗原（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HBeAg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）、乙肝病毒表面抗原（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HBsAb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5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抗原抗體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結合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）凝聚析出現象。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利用此示蹤系統開發的檢驗項目有：載脂蛋白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A1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Apo-A1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）、載脂蛋白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Apo-B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Lpa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）、前白蛋白（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6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以熒光染料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法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SYBR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Green</a:t>
            </a:r>
            <a:r>
              <a:rPr lang="en-US" altLang="zh-CN" sz="1200" dirty="0" err="1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）爲發光體系、以熒光探針法（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TaqMan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）爲發光體系的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聚合酶鏈式反應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polymerase chain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利用此示蹤系統開發的檢驗項目有：乙肝病毒核糖核酸（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HBV-DNA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）、丙肝病毒脫氧核糖核酸（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HCV-RNA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）、人類白細胞抗原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B27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B-27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）、氯吡格雷用藥人類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CYP2C19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基因突變檢測（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CYP2C19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）、硝酸甘油用藥人類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ALDH2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基因突變檢測（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ALDH2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C0961-C9C3-4C27-86E9-7E9C45B3D20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0740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C0961-C9C3-4C27-86E9-7E9C45B3D203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2480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14B80A-DC83-A335-0282-FA824ABF0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CC2E31E-19AE-F513-379C-259882E22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5641B-BD5E-9D22-31FE-2399B0F03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C730CB-CBC3-8FD2-EF1B-27A423CCD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0E5D5E3-2D1B-7E00-1423-BC0844053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286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42924-854B-3231-C71D-314A38D5C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32A5A60-263B-6366-2351-C39A7740A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B48046-FC5E-A6D0-3187-79B1F0BEE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6AC1ED-24FB-0518-8FB6-361D96254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FA473F-57A4-50BC-AFB8-1B1C4005E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239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9190D3-4CA4-4D9C-EC02-C75D571F1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792A3E6-3F11-2888-EB15-039037944C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D7BDA8-1071-F740-D74A-303C9C8CC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D86923-38F9-2078-5927-6191ED714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E29F3B-526E-A38E-D637-C0DF87335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541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42253-E51C-FAB0-C5AD-A5E2E98F6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A62D41-9F55-674B-3E75-408AFBFEE9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2BEF84E-0AAE-F12C-B430-94CD90CE10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958F818-5002-E725-926C-63E809764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4966DD-2288-2178-1717-8CFC154C1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E2D80A-7871-FC8F-1FDD-04D0BABE9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214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F9B960-F162-B8F1-F2AD-112E94DA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6657DC-5C49-D530-2A14-C5876BA78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88A24F-1503-6F66-C896-4758DC52E1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B44BC5E-F443-2ED1-7741-42D32A8DDA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3F3F8C3-70FC-23C5-6418-BAFF109E2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525DA50-ECE4-CB1A-FCFB-B97A3AFEF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0421716-47AF-A1F5-5CB4-CE152C7F2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74772E8-EA9A-4A70-8AC7-0FB440A41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446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F999C0-F090-1CF9-1FFC-71DA1027D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AAEB179-79AD-5EDC-A3AE-2AA072046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F9695B3-C324-0460-0C9E-4943C5F49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7773A1-B1BA-82A7-9359-7DF84E526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836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09DCBD0-BB75-D21F-5C2C-570F8E3B5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581A532-1CF4-22F9-D733-12BBBFCBE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654F7FE-5A82-B488-DFC9-2FDD52E6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92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44C206-7F0F-22D5-0E76-346FA4B5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644089-3CC4-8082-C73A-88CCD23F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2B8BE1-B1AE-7A28-F690-76D029528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9C7CF0-EAC2-8EB4-25C0-8EC368856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D0BA9F-6CCD-0949-A18D-018CC9D01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E3D1FE-505D-FE79-E783-1E938184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1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97DCDE-B2B6-B79D-B1E9-6397ACF65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293E6F1-265F-EC17-A030-B6F8FE993D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7BD5F1-C360-7674-E3B9-5A6980300B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9DF8626-FE2E-53C9-4721-FA24EE3F9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7F9666-F04A-D3FF-251F-71486925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57A49F-71BA-7C41-1A0A-344684E5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985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5F0229-2B8A-7779-584D-8C2C51C7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AC2CC1B-6DC3-515A-7486-590C00046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AE6BF6-C0E0-24B9-0EDE-0BB628AC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015522-CC06-F52E-7E11-F55C9266B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E26FDC-76D5-1893-4515-90DE2275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6854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A719FE6-3D5A-152D-E6C3-023F09F5DA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AD492F-E0A9-F1EA-9B8C-9B4CE531C5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771F98-FBD7-AD89-811C-33B42E676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8A8451-6815-339A-0EA3-4A729B962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0487D0-7E17-BA47-0825-F96ED5E3C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66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15B783E-97B9-4132-8794-67935D506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39A750-DA16-E962-10B2-9AE9E5ECF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846721-8117-C9C9-1A56-CD653642F0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2EC8BA-F36E-C938-CED2-95F61A5AD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8FC11A-7EF9-A602-C585-0CCC3162A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74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FCA75-ED7F-0220-D715-7C7BC6E6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DD9EEE2A-8474-EB50-F202-D837ADC4D6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62" y="347662"/>
            <a:ext cx="12030075" cy="616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993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1C26-F404-3BE8-15F3-24C0D3DFE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8F48B5CF-7898-C035-5EB4-CA8E379A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556" y="274145"/>
            <a:ext cx="11054887" cy="6309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8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D6B7-040E-75DF-DF5C-AFCB42B21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B5637911-A4F5-F336-3F94-3395E598D3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3038" y="276703"/>
            <a:ext cx="11045923" cy="630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54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EBF5EB6C-6A13-39C1-3BD8-F25A38119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227888"/>
            <a:ext cx="12192000" cy="640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506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5BFC723D-6662-2B5D-5198-39E3DD193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297329"/>
            <a:ext cx="12192000" cy="6263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88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10001BBC-429D-B740-2394-6CE62E05E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608" y="263006"/>
            <a:ext cx="11008783" cy="633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20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4B91B-FF12-42F7-13DD-B062F01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96D83F13-179C-A428-5792-0D4EA935FD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51205"/>
            <a:ext cx="12192000" cy="6755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220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A3118-BD2A-0ED2-3131-D1B2A729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965A93AA-CC1D-C0C3-420B-582CBD312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197" y="191729"/>
            <a:ext cx="11461606" cy="6474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61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CFA3EE79-5773-B54F-4D8F-A1AF951A6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81125" y="1190625"/>
            <a:ext cx="942975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259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B6F02918-D0C7-A13F-11FE-10894FA88D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3450" y="633412"/>
            <a:ext cx="10325100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144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89A65F3C-7AE9-3991-628F-31E31982F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" y="681037"/>
            <a:ext cx="10134600" cy="549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35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FCA75-ED7F-0220-D715-7C7BC6E6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BAA3137-690B-162A-C6CF-8897600BA756}"/>
              </a:ext>
            </a:extLst>
          </p:cNvPr>
          <p:cNvSpPr/>
          <p:nvPr/>
        </p:nvSpPr>
        <p:spPr>
          <a:xfrm>
            <a:off x="2573080" y="1027800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4EC17C-CE55-4609-9A75-9B4B1D4823E9}"/>
              </a:ext>
            </a:extLst>
          </p:cNvPr>
          <p:cNvSpPr/>
          <p:nvPr/>
        </p:nvSpPr>
        <p:spPr>
          <a:xfrm>
            <a:off x="1047277" y="306179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190CE10A-183F-B838-E713-1E2298AB77E9}"/>
              </a:ext>
            </a:extLst>
          </p:cNvPr>
          <p:cNvSpPr/>
          <p:nvPr/>
        </p:nvSpPr>
        <p:spPr>
          <a:xfrm flipH="1">
            <a:off x="2295823" y="335634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1A6366E-91C5-C9CD-3C56-835340ABE93D}"/>
              </a:ext>
            </a:extLst>
          </p:cNvPr>
          <p:cNvSpPr/>
          <p:nvPr/>
        </p:nvSpPr>
        <p:spPr>
          <a:xfrm>
            <a:off x="1047276" y="58730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890014-F7BE-84B0-B76F-765AA16C521E}"/>
              </a:ext>
            </a:extLst>
          </p:cNvPr>
          <p:cNvSpPr/>
          <p:nvPr/>
        </p:nvSpPr>
        <p:spPr>
          <a:xfrm>
            <a:off x="1047277" y="86844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8DE0ADB-354F-795F-E9BB-226C540A3042}"/>
              </a:ext>
            </a:extLst>
          </p:cNvPr>
          <p:cNvSpPr/>
          <p:nvPr/>
        </p:nvSpPr>
        <p:spPr>
          <a:xfrm>
            <a:off x="1047277" y="114958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1E74AE-EF24-81A1-FF82-87AFE668D5C6}"/>
              </a:ext>
            </a:extLst>
          </p:cNvPr>
          <p:cNvSpPr/>
          <p:nvPr/>
        </p:nvSpPr>
        <p:spPr>
          <a:xfrm>
            <a:off x="1047275" y="1440444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A3A0181-63D5-212C-C75C-5EE296A792AE}"/>
              </a:ext>
            </a:extLst>
          </p:cNvPr>
          <p:cNvSpPr/>
          <p:nvPr/>
        </p:nvSpPr>
        <p:spPr>
          <a:xfrm>
            <a:off x="1047276" y="1731307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4F087E4-2ACA-B6B4-2141-28E2F8C600A5}"/>
              </a:ext>
            </a:extLst>
          </p:cNvPr>
          <p:cNvSpPr/>
          <p:nvPr/>
        </p:nvSpPr>
        <p:spPr>
          <a:xfrm>
            <a:off x="2573080" y="1311342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7" name="左大括号 26">
            <a:extLst>
              <a:ext uri="{FF2B5EF4-FFF2-40B4-BE49-F238E27FC236}">
                <a16:creationId xmlns:a16="http://schemas.microsoft.com/office/drawing/2014/main" id="{970F4F6E-1F24-CC29-526B-85A569A825AB}"/>
              </a:ext>
            </a:extLst>
          </p:cNvPr>
          <p:cNvSpPr/>
          <p:nvPr/>
        </p:nvSpPr>
        <p:spPr>
          <a:xfrm flipH="1">
            <a:off x="4092327" y="1027801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6B3CCEE-1C79-1520-8878-83052F152648}"/>
              </a:ext>
            </a:extLst>
          </p:cNvPr>
          <p:cNvSpPr/>
          <p:nvPr/>
        </p:nvSpPr>
        <p:spPr>
          <a:xfrm>
            <a:off x="4357320" y="1452977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6AA0652-13EC-718A-1DC4-14AB3BEB7294}"/>
              </a:ext>
            </a:extLst>
          </p:cNvPr>
          <p:cNvSpPr/>
          <p:nvPr/>
        </p:nvSpPr>
        <p:spPr>
          <a:xfrm>
            <a:off x="4357320" y="1733481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199389CC-43E2-2D03-A8F0-A596B585260A}"/>
              </a:ext>
            </a:extLst>
          </p:cNvPr>
          <p:cNvSpPr/>
          <p:nvPr/>
        </p:nvSpPr>
        <p:spPr>
          <a:xfrm flipH="1">
            <a:off x="6046366" y="1453287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886D82C-5DE3-91FD-EC9A-ABC8AF154284}"/>
              </a:ext>
            </a:extLst>
          </p:cNvPr>
          <p:cNvSpPr/>
          <p:nvPr/>
        </p:nvSpPr>
        <p:spPr>
          <a:xfrm>
            <a:off x="6311357" y="1732757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7753C34-6FC4-875C-69B1-18F2F3E7BE0E}"/>
              </a:ext>
            </a:extLst>
          </p:cNvPr>
          <p:cNvSpPr/>
          <p:nvPr/>
        </p:nvSpPr>
        <p:spPr>
          <a:xfrm>
            <a:off x="6311357" y="2018769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6EEC38A9-9A5B-E96A-D305-85B0D00C0F56}"/>
              </a:ext>
            </a:extLst>
          </p:cNvPr>
          <p:cNvSpPr/>
          <p:nvPr/>
        </p:nvSpPr>
        <p:spPr>
          <a:xfrm flipH="1">
            <a:off x="8299227" y="1732757"/>
            <a:ext cx="264989" cy="1405409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079419B-1A30-7664-20AF-D2BB0EB3D10F}"/>
              </a:ext>
            </a:extLst>
          </p:cNvPr>
          <p:cNvSpPr/>
          <p:nvPr/>
        </p:nvSpPr>
        <p:spPr>
          <a:xfrm>
            <a:off x="8568026" y="2296251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90EBA7-A921-16FC-2100-DF7787FB46FF}"/>
              </a:ext>
            </a:extLst>
          </p:cNvPr>
          <p:cNvSpPr/>
          <p:nvPr/>
        </p:nvSpPr>
        <p:spPr>
          <a:xfrm>
            <a:off x="8568026" y="2579560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7" name="左大括号 36">
            <a:extLst>
              <a:ext uri="{FF2B5EF4-FFF2-40B4-BE49-F238E27FC236}">
                <a16:creationId xmlns:a16="http://schemas.microsoft.com/office/drawing/2014/main" id="{8CA622E9-52B8-22F7-A047-9D3971D64939}"/>
              </a:ext>
            </a:extLst>
          </p:cNvPr>
          <p:cNvSpPr/>
          <p:nvPr/>
        </p:nvSpPr>
        <p:spPr>
          <a:xfrm flipH="1">
            <a:off x="10859727" y="2296251"/>
            <a:ext cx="264989" cy="55844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4B927E3-F072-B83B-F7F1-6E0FEA8375BB}"/>
              </a:ext>
            </a:extLst>
          </p:cNvPr>
          <p:cNvSpPr/>
          <p:nvPr/>
        </p:nvSpPr>
        <p:spPr>
          <a:xfrm>
            <a:off x="11126622" y="2437270"/>
            <a:ext cx="42671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A64852-C81A-4C3C-B80F-62C95EC4176A}"/>
              </a:ext>
            </a:extLst>
          </p:cNvPr>
          <p:cNvSpPr/>
          <p:nvPr/>
        </p:nvSpPr>
        <p:spPr>
          <a:xfrm>
            <a:off x="2573080" y="1600311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732F0AC-5213-30A5-E0A9-8DD5D7882CA1}"/>
              </a:ext>
            </a:extLst>
          </p:cNvPr>
          <p:cNvSpPr/>
          <p:nvPr/>
        </p:nvSpPr>
        <p:spPr>
          <a:xfrm>
            <a:off x="2573079" y="1889287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1B30454-D348-C3F0-9250-68746E2438AE}"/>
              </a:ext>
            </a:extLst>
          </p:cNvPr>
          <p:cNvSpPr/>
          <p:nvPr/>
        </p:nvSpPr>
        <p:spPr>
          <a:xfrm>
            <a:off x="4359273" y="2014290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33A13A-A9F0-F84D-234C-505A939E40E3}"/>
              </a:ext>
            </a:extLst>
          </p:cNvPr>
          <p:cNvSpPr/>
          <p:nvPr/>
        </p:nvSpPr>
        <p:spPr>
          <a:xfrm>
            <a:off x="6312183" y="2298764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3A1A35-76A6-4C5F-5E8C-7A3F887C049D}"/>
              </a:ext>
            </a:extLst>
          </p:cNvPr>
          <p:cNvSpPr/>
          <p:nvPr/>
        </p:nvSpPr>
        <p:spPr>
          <a:xfrm>
            <a:off x="6312183" y="2579268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5E2FA0-2BBD-86DC-22E4-FC3F7735F29F}"/>
              </a:ext>
            </a:extLst>
          </p:cNvPr>
          <p:cNvSpPr/>
          <p:nvPr/>
        </p:nvSpPr>
        <p:spPr>
          <a:xfrm>
            <a:off x="6314136" y="2860077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66FA86-6D13-EC92-C3AE-09D494BA6A8D}"/>
              </a:ext>
            </a:extLst>
          </p:cNvPr>
          <p:cNvSpPr/>
          <p:nvPr/>
        </p:nvSpPr>
        <p:spPr>
          <a:xfrm>
            <a:off x="1604054" y="4620377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042474D-5221-A432-4ADC-BEA6D64F5646}"/>
              </a:ext>
            </a:extLst>
          </p:cNvPr>
          <p:cNvSpPr/>
          <p:nvPr/>
        </p:nvSpPr>
        <p:spPr>
          <a:xfrm>
            <a:off x="1604054" y="4903919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5" name="左大括号 24">
            <a:extLst>
              <a:ext uri="{FF2B5EF4-FFF2-40B4-BE49-F238E27FC236}">
                <a16:creationId xmlns:a16="http://schemas.microsoft.com/office/drawing/2014/main" id="{C28E90B5-E35A-9B26-ACB6-08D24D8053F0}"/>
              </a:ext>
            </a:extLst>
          </p:cNvPr>
          <p:cNvSpPr/>
          <p:nvPr/>
        </p:nvSpPr>
        <p:spPr>
          <a:xfrm flipH="1">
            <a:off x="3073195" y="4620378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F989BC1-0EDF-361F-2013-342A25DB7AFE}"/>
              </a:ext>
            </a:extLst>
          </p:cNvPr>
          <p:cNvSpPr/>
          <p:nvPr/>
        </p:nvSpPr>
        <p:spPr>
          <a:xfrm>
            <a:off x="3345517" y="5050133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0582867-84D0-44D8-BC44-8765D98BC731}"/>
              </a:ext>
            </a:extLst>
          </p:cNvPr>
          <p:cNvSpPr/>
          <p:nvPr/>
        </p:nvSpPr>
        <p:spPr>
          <a:xfrm>
            <a:off x="3345517" y="5330637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1" name="左大括号 40">
            <a:extLst>
              <a:ext uri="{FF2B5EF4-FFF2-40B4-BE49-F238E27FC236}">
                <a16:creationId xmlns:a16="http://schemas.microsoft.com/office/drawing/2014/main" id="{E0D79A94-8362-72C6-7294-EE886E3E39FE}"/>
              </a:ext>
            </a:extLst>
          </p:cNvPr>
          <p:cNvSpPr/>
          <p:nvPr/>
        </p:nvSpPr>
        <p:spPr>
          <a:xfrm flipH="1">
            <a:off x="4934955" y="5050443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7DBFD6D-68BF-8281-0FAD-53AAB7B5C222}"/>
              </a:ext>
            </a:extLst>
          </p:cNvPr>
          <p:cNvSpPr/>
          <p:nvPr/>
        </p:nvSpPr>
        <p:spPr>
          <a:xfrm>
            <a:off x="5212208" y="5329913"/>
            <a:ext cx="124014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4" name="左大括号 43">
            <a:extLst>
              <a:ext uri="{FF2B5EF4-FFF2-40B4-BE49-F238E27FC236}">
                <a16:creationId xmlns:a16="http://schemas.microsoft.com/office/drawing/2014/main" id="{037FF372-5CA1-B738-4B74-5E819D14B7DC}"/>
              </a:ext>
            </a:extLst>
          </p:cNvPr>
          <p:cNvSpPr/>
          <p:nvPr/>
        </p:nvSpPr>
        <p:spPr>
          <a:xfrm flipH="1">
            <a:off x="6458741" y="5329914"/>
            <a:ext cx="264989" cy="112193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E13BD69-13CB-D2CA-3497-33832A6E940B}"/>
              </a:ext>
            </a:extLst>
          </p:cNvPr>
          <p:cNvSpPr/>
          <p:nvPr/>
        </p:nvSpPr>
        <p:spPr>
          <a:xfrm>
            <a:off x="8930968" y="5758414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D78845B-F2A5-A173-1C22-30F67DEA3731}"/>
              </a:ext>
            </a:extLst>
          </p:cNvPr>
          <p:cNvSpPr/>
          <p:nvPr/>
        </p:nvSpPr>
        <p:spPr>
          <a:xfrm>
            <a:off x="8930968" y="6041723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8" name="左大括号 47">
            <a:extLst>
              <a:ext uri="{FF2B5EF4-FFF2-40B4-BE49-F238E27FC236}">
                <a16:creationId xmlns:a16="http://schemas.microsoft.com/office/drawing/2014/main" id="{CA1B2702-6D20-B1C8-5F5D-4B887F6095A8}"/>
              </a:ext>
            </a:extLst>
          </p:cNvPr>
          <p:cNvSpPr/>
          <p:nvPr/>
        </p:nvSpPr>
        <p:spPr>
          <a:xfrm flipH="1">
            <a:off x="11114017" y="5758414"/>
            <a:ext cx="264989" cy="558443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3AC8166-A3CE-09E5-0358-2C1C29A6D940}"/>
              </a:ext>
            </a:extLst>
          </p:cNvPr>
          <p:cNvSpPr/>
          <p:nvPr/>
        </p:nvSpPr>
        <p:spPr>
          <a:xfrm>
            <a:off x="11672906" y="5896529"/>
            <a:ext cx="43841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7E7E5D8-6680-80AD-FAD0-3CF2904AF00B}"/>
              </a:ext>
            </a:extLst>
          </p:cNvPr>
          <p:cNvSpPr/>
          <p:nvPr/>
        </p:nvSpPr>
        <p:spPr>
          <a:xfrm>
            <a:off x="1604054" y="5192888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79ADAEF-948E-C03B-051F-621D8997D7C6}"/>
              </a:ext>
            </a:extLst>
          </p:cNvPr>
          <p:cNvSpPr/>
          <p:nvPr/>
        </p:nvSpPr>
        <p:spPr>
          <a:xfrm>
            <a:off x="1604053" y="5481864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0B79B5C-9268-F962-C94D-40A9B44F4495}"/>
              </a:ext>
            </a:extLst>
          </p:cNvPr>
          <p:cNvSpPr/>
          <p:nvPr/>
        </p:nvSpPr>
        <p:spPr>
          <a:xfrm>
            <a:off x="3347470" y="5611446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280AAEA-D74E-BEA0-0DED-8131A8237024}"/>
              </a:ext>
            </a:extLst>
          </p:cNvPr>
          <p:cNvSpPr/>
          <p:nvPr/>
        </p:nvSpPr>
        <p:spPr>
          <a:xfrm>
            <a:off x="5213004" y="5614003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2947942-0B1B-694B-CEDA-63A9475C9C30}"/>
              </a:ext>
            </a:extLst>
          </p:cNvPr>
          <p:cNvSpPr/>
          <p:nvPr/>
        </p:nvSpPr>
        <p:spPr>
          <a:xfrm>
            <a:off x="5213004" y="5894507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D8A1111-9724-C606-544F-5C21FB55494D}"/>
              </a:ext>
            </a:extLst>
          </p:cNvPr>
          <p:cNvSpPr/>
          <p:nvPr/>
        </p:nvSpPr>
        <p:spPr>
          <a:xfrm>
            <a:off x="5214957" y="6175316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963DA5F-9CEA-BD7C-D097-DC3ACC9991AA}"/>
              </a:ext>
            </a:extLst>
          </p:cNvPr>
          <p:cNvCxnSpPr>
            <a:cxnSpLocks/>
          </p:cNvCxnSpPr>
          <p:nvPr/>
        </p:nvCxnSpPr>
        <p:spPr>
          <a:xfrm flipH="1">
            <a:off x="11383001" y="6036203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F053C112-FE2B-62CE-35AC-ABCABEF4FF35}"/>
              </a:ext>
            </a:extLst>
          </p:cNvPr>
          <p:cNvCxnSpPr>
            <a:cxnSpLocks/>
          </p:cNvCxnSpPr>
          <p:nvPr/>
        </p:nvCxnSpPr>
        <p:spPr>
          <a:xfrm flipH="1">
            <a:off x="8636753" y="5894074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52CBE766-CC5E-5AC0-4955-FD268EBEA2D3}"/>
              </a:ext>
            </a:extLst>
          </p:cNvPr>
          <p:cNvSpPr/>
          <p:nvPr/>
        </p:nvSpPr>
        <p:spPr>
          <a:xfrm>
            <a:off x="6729477" y="5753307"/>
            <a:ext cx="190620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71C6A77-E931-6F0F-C1DF-BD32FF917AE0}"/>
              </a:ext>
            </a:extLst>
          </p:cNvPr>
          <p:cNvCxnSpPr>
            <a:cxnSpLocks/>
          </p:cNvCxnSpPr>
          <p:nvPr/>
        </p:nvCxnSpPr>
        <p:spPr>
          <a:xfrm>
            <a:off x="2637028" y="3493551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1726B826-23BB-BD38-F9A6-4C6FAECE7F06}"/>
              </a:ext>
            </a:extLst>
          </p:cNvPr>
          <p:cNvSpPr/>
          <p:nvPr/>
        </p:nvSpPr>
        <p:spPr>
          <a:xfrm>
            <a:off x="1882320" y="3339266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價值傳遞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E0D572BF-E783-0FB4-B798-CB3C7E05BCBA}"/>
              </a:ext>
            </a:extLst>
          </p:cNvPr>
          <p:cNvCxnSpPr>
            <a:cxnSpLocks/>
          </p:cNvCxnSpPr>
          <p:nvPr/>
        </p:nvCxnSpPr>
        <p:spPr>
          <a:xfrm>
            <a:off x="2637027" y="3648723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7646922D-1B1C-5E43-55BE-0ED99318446A}"/>
              </a:ext>
            </a:extLst>
          </p:cNvPr>
          <p:cNvSpPr/>
          <p:nvPr/>
        </p:nvSpPr>
        <p:spPr>
          <a:xfrm>
            <a:off x="10195735" y="3492533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支付傳遞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56D69E9A-9A77-16E0-0609-977B43CE65D2}"/>
              </a:ext>
            </a:extLst>
          </p:cNvPr>
          <p:cNvSpPr/>
          <p:nvPr/>
        </p:nvSpPr>
        <p:spPr>
          <a:xfrm>
            <a:off x="81640" y="3895474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7" name="左大括号 66">
            <a:extLst>
              <a:ext uri="{FF2B5EF4-FFF2-40B4-BE49-F238E27FC236}">
                <a16:creationId xmlns:a16="http://schemas.microsoft.com/office/drawing/2014/main" id="{38A3423A-4A5A-42A8-528F-405C8811F24C}"/>
              </a:ext>
            </a:extLst>
          </p:cNvPr>
          <p:cNvSpPr/>
          <p:nvPr/>
        </p:nvSpPr>
        <p:spPr>
          <a:xfrm flipH="1">
            <a:off x="1330186" y="3924929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3841BC1-DFA9-6A79-E33D-9ADA6E51067C}"/>
              </a:ext>
            </a:extLst>
          </p:cNvPr>
          <p:cNvSpPr/>
          <p:nvPr/>
        </p:nvSpPr>
        <p:spPr>
          <a:xfrm>
            <a:off x="81639" y="417660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BC2A86EF-F648-A450-568A-C8F6620D775A}"/>
              </a:ext>
            </a:extLst>
          </p:cNvPr>
          <p:cNvSpPr/>
          <p:nvPr/>
        </p:nvSpPr>
        <p:spPr>
          <a:xfrm>
            <a:off x="81640" y="445773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694CFD29-9D9B-3F46-6CC7-D37B644822D4}"/>
              </a:ext>
            </a:extLst>
          </p:cNvPr>
          <p:cNvSpPr/>
          <p:nvPr/>
        </p:nvSpPr>
        <p:spPr>
          <a:xfrm>
            <a:off x="81640" y="473888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38C3EF42-C9B5-813B-59CE-0F6C354BE3FB}"/>
              </a:ext>
            </a:extLst>
          </p:cNvPr>
          <p:cNvSpPr/>
          <p:nvPr/>
        </p:nvSpPr>
        <p:spPr>
          <a:xfrm>
            <a:off x="81638" y="5029739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F81131CF-A37A-743E-BC7D-DA0E11E521FB}"/>
              </a:ext>
            </a:extLst>
          </p:cNvPr>
          <p:cNvSpPr/>
          <p:nvPr/>
        </p:nvSpPr>
        <p:spPr>
          <a:xfrm>
            <a:off x="81639" y="5320602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B6A01420-85CB-2A88-09E7-B33980AA677D}"/>
              </a:ext>
            </a:extLst>
          </p:cNvPr>
          <p:cNvSpPr/>
          <p:nvPr/>
        </p:nvSpPr>
        <p:spPr>
          <a:xfrm>
            <a:off x="0" y="-107874"/>
            <a:ext cx="12192000" cy="6955277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交易</a:t>
            </a:r>
          </a:p>
        </p:txBody>
      </p:sp>
    </p:spTree>
    <p:extLst>
      <p:ext uri="{BB962C8B-B14F-4D97-AF65-F5344CB8AC3E}">
        <p14:creationId xmlns:p14="http://schemas.microsoft.com/office/powerpoint/2010/main" val="3774180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6C31B-9896-DA96-ED38-F7004BC40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59116D2-3DBC-1390-C43F-BCD602FE4C94}"/>
              </a:ext>
            </a:extLst>
          </p:cNvPr>
          <p:cNvSpPr/>
          <p:nvPr/>
        </p:nvSpPr>
        <p:spPr>
          <a:xfrm>
            <a:off x="2573080" y="1035962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05D3102-2AC8-80D4-D56B-0E760F1DA49F}"/>
              </a:ext>
            </a:extLst>
          </p:cNvPr>
          <p:cNvSpPr/>
          <p:nvPr/>
        </p:nvSpPr>
        <p:spPr>
          <a:xfrm>
            <a:off x="1047277" y="314341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E63EB9BA-543C-A4FA-A0C6-1FB4E98F962E}"/>
              </a:ext>
            </a:extLst>
          </p:cNvPr>
          <p:cNvSpPr/>
          <p:nvPr/>
        </p:nvSpPr>
        <p:spPr>
          <a:xfrm flipH="1">
            <a:off x="2295823" y="343796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5BB979-B07C-E719-3682-520E50E9F6E1}"/>
              </a:ext>
            </a:extLst>
          </p:cNvPr>
          <p:cNvSpPr/>
          <p:nvPr/>
        </p:nvSpPr>
        <p:spPr>
          <a:xfrm>
            <a:off x="1047276" y="59547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F6D9D92-5A6A-BEDE-6233-92BE98E883FB}"/>
              </a:ext>
            </a:extLst>
          </p:cNvPr>
          <p:cNvSpPr/>
          <p:nvPr/>
        </p:nvSpPr>
        <p:spPr>
          <a:xfrm>
            <a:off x="1047277" y="87660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E56DF48-37E5-87CD-79FB-E2061EEC4103}"/>
              </a:ext>
            </a:extLst>
          </p:cNvPr>
          <p:cNvSpPr/>
          <p:nvPr/>
        </p:nvSpPr>
        <p:spPr>
          <a:xfrm>
            <a:off x="1047277" y="115775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D68E7EA-6DC1-286E-E004-551822E9D8DA}"/>
              </a:ext>
            </a:extLst>
          </p:cNvPr>
          <p:cNvSpPr/>
          <p:nvPr/>
        </p:nvSpPr>
        <p:spPr>
          <a:xfrm>
            <a:off x="1047275" y="1448606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6957BDA-142C-CF4B-D33B-448264EF804F}"/>
              </a:ext>
            </a:extLst>
          </p:cNvPr>
          <p:cNvSpPr/>
          <p:nvPr/>
        </p:nvSpPr>
        <p:spPr>
          <a:xfrm>
            <a:off x="1047276" y="1739469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55A60D-F27E-BBF2-8DE1-4DEB73AD9126}"/>
              </a:ext>
            </a:extLst>
          </p:cNvPr>
          <p:cNvSpPr/>
          <p:nvPr/>
        </p:nvSpPr>
        <p:spPr>
          <a:xfrm>
            <a:off x="2573080" y="1319504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7" name="左大括号 26">
            <a:extLst>
              <a:ext uri="{FF2B5EF4-FFF2-40B4-BE49-F238E27FC236}">
                <a16:creationId xmlns:a16="http://schemas.microsoft.com/office/drawing/2014/main" id="{A3A31ED0-F5A7-86DE-863B-99BCA5CA96D9}"/>
              </a:ext>
            </a:extLst>
          </p:cNvPr>
          <p:cNvSpPr/>
          <p:nvPr/>
        </p:nvSpPr>
        <p:spPr>
          <a:xfrm flipH="1">
            <a:off x="4092327" y="1035963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C5C8851-7C66-6C1E-38E7-687F4CDE7D36}"/>
              </a:ext>
            </a:extLst>
          </p:cNvPr>
          <p:cNvSpPr/>
          <p:nvPr/>
        </p:nvSpPr>
        <p:spPr>
          <a:xfrm>
            <a:off x="4357320" y="1461139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411E79D-50D5-A1C0-41FE-E392E040D687}"/>
              </a:ext>
            </a:extLst>
          </p:cNvPr>
          <p:cNvSpPr/>
          <p:nvPr/>
        </p:nvSpPr>
        <p:spPr>
          <a:xfrm>
            <a:off x="4357320" y="1741643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C1EAEF04-AD86-34C2-A85D-5F156E7D7E31}"/>
              </a:ext>
            </a:extLst>
          </p:cNvPr>
          <p:cNvSpPr/>
          <p:nvPr/>
        </p:nvSpPr>
        <p:spPr>
          <a:xfrm flipH="1">
            <a:off x="6046366" y="1461449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725B69-6CD8-34F5-1110-14148E117E80}"/>
              </a:ext>
            </a:extLst>
          </p:cNvPr>
          <p:cNvSpPr/>
          <p:nvPr/>
        </p:nvSpPr>
        <p:spPr>
          <a:xfrm>
            <a:off x="6311357" y="1740919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0CB1493-46C2-38F8-9BD3-3BB27D3A7CDB}"/>
              </a:ext>
            </a:extLst>
          </p:cNvPr>
          <p:cNvSpPr/>
          <p:nvPr/>
        </p:nvSpPr>
        <p:spPr>
          <a:xfrm>
            <a:off x="6311357" y="2026931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BB7EFFD6-7D11-953D-7F4D-2BA42EE9C0E5}"/>
              </a:ext>
            </a:extLst>
          </p:cNvPr>
          <p:cNvSpPr/>
          <p:nvPr/>
        </p:nvSpPr>
        <p:spPr>
          <a:xfrm flipH="1">
            <a:off x="8299227" y="1740919"/>
            <a:ext cx="264989" cy="1405409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FC4557A-D4A3-B6A5-1790-1B2F9DA2DEA6}"/>
              </a:ext>
            </a:extLst>
          </p:cNvPr>
          <p:cNvSpPr/>
          <p:nvPr/>
        </p:nvSpPr>
        <p:spPr>
          <a:xfrm>
            <a:off x="8568026" y="2304413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CA4B6F6-5B1F-9131-7FF1-338E57EE88B9}"/>
              </a:ext>
            </a:extLst>
          </p:cNvPr>
          <p:cNvSpPr/>
          <p:nvPr/>
        </p:nvSpPr>
        <p:spPr>
          <a:xfrm>
            <a:off x="8568026" y="2587722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7" name="左大括号 36">
            <a:extLst>
              <a:ext uri="{FF2B5EF4-FFF2-40B4-BE49-F238E27FC236}">
                <a16:creationId xmlns:a16="http://schemas.microsoft.com/office/drawing/2014/main" id="{02FEFC50-DDA4-4F78-2F70-A1D69FBD474B}"/>
              </a:ext>
            </a:extLst>
          </p:cNvPr>
          <p:cNvSpPr/>
          <p:nvPr/>
        </p:nvSpPr>
        <p:spPr>
          <a:xfrm flipH="1">
            <a:off x="10859727" y="2304413"/>
            <a:ext cx="264989" cy="55844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B31E56-6CC3-8E01-2D2B-E2BD58449CE1}"/>
              </a:ext>
            </a:extLst>
          </p:cNvPr>
          <p:cNvSpPr/>
          <p:nvPr/>
        </p:nvSpPr>
        <p:spPr>
          <a:xfrm>
            <a:off x="11126622" y="2445068"/>
            <a:ext cx="42671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D8AA9F-C127-1049-84E2-5B961D2927F2}"/>
              </a:ext>
            </a:extLst>
          </p:cNvPr>
          <p:cNvSpPr/>
          <p:nvPr/>
        </p:nvSpPr>
        <p:spPr>
          <a:xfrm>
            <a:off x="2573080" y="1608473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F4AD3E-943E-C5FE-0560-236B82F52546}"/>
              </a:ext>
            </a:extLst>
          </p:cNvPr>
          <p:cNvSpPr/>
          <p:nvPr/>
        </p:nvSpPr>
        <p:spPr>
          <a:xfrm>
            <a:off x="2573079" y="1897449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28EB89-A430-BD4F-99D2-2AB199D9917E}"/>
              </a:ext>
            </a:extLst>
          </p:cNvPr>
          <p:cNvSpPr/>
          <p:nvPr/>
        </p:nvSpPr>
        <p:spPr>
          <a:xfrm>
            <a:off x="4359273" y="2022452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D8B91C-EC9A-833A-43D6-2AF26A5AA148}"/>
              </a:ext>
            </a:extLst>
          </p:cNvPr>
          <p:cNvSpPr/>
          <p:nvPr/>
        </p:nvSpPr>
        <p:spPr>
          <a:xfrm>
            <a:off x="6312183" y="2306926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C9DF8-8A56-F0CE-84BE-1AE147A4D916}"/>
              </a:ext>
            </a:extLst>
          </p:cNvPr>
          <p:cNvSpPr/>
          <p:nvPr/>
        </p:nvSpPr>
        <p:spPr>
          <a:xfrm>
            <a:off x="6312183" y="2587430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27CC5CD-13EA-71BD-73B8-7C2835FECFE0}"/>
              </a:ext>
            </a:extLst>
          </p:cNvPr>
          <p:cNvSpPr/>
          <p:nvPr/>
        </p:nvSpPr>
        <p:spPr>
          <a:xfrm>
            <a:off x="6314136" y="2868239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E75350-67BF-2A99-5F46-CBDAF2F54F48}"/>
              </a:ext>
            </a:extLst>
          </p:cNvPr>
          <p:cNvSpPr/>
          <p:nvPr/>
        </p:nvSpPr>
        <p:spPr>
          <a:xfrm>
            <a:off x="1604054" y="4628539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DFDE66C-D8E1-10FF-1154-EC55A15063B4}"/>
              </a:ext>
            </a:extLst>
          </p:cNvPr>
          <p:cNvSpPr/>
          <p:nvPr/>
        </p:nvSpPr>
        <p:spPr>
          <a:xfrm>
            <a:off x="1604054" y="4912081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5" name="左大括号 24">
            <a:extLst>
              <a:ext uri="{FF2B5EF4-FFF2-40B4-BE49-F238E27FC236}">
                <a16:creationId xmlns:a16="http://schemas.microsoft.com/office/drawing/2014/main" id="{FE5B08E6-D9D0-1443-A37C-CF5E066E471C}"/>
              </a:ext>
            </a:extLst>
          </p:cNvPr>
          <p:cNvSpPr/>
          <p:nvPr/>
        </p:nvSpPr>
        <p:spPr>
          <a:xfrm flipH="1">
            <a:off x="3073195" y="4628540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0A0CF56-8640-5DA7-460D-563E86F87A0E}"/>
              </a:ext>
            </a:extLst>
          </p:cNvPr>
          <p:cNvSpPr/>
          <p:nvPr/>
        </p:nvSpPr>
        <p:spPr>
          <a:xfrm>
            <a:off x="3345517" y="5058295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1458B8-2570-9BDC-E6D0-9C98FFC3BCC3}"/>
              </a:ext>
            </a:extLst>
          </p:cNvPr>
          <p:cNvSpPr/>
          <p:nvPr/>
        </p:nvSpPr>
        <p:spPr>
          <a:xfrm>
            <a:off x="3345517" y="5338799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1" name="左大括号 40">
            <a:extLst>
              <a:ext uri="{FF2B5EF4-FFF2-40B4-BE49-F238E27FC236}">
                <a16:creationId xmlns:a16="http://schemas.microsoft.com/office/drawing/2014/main" id="{41BA50E7-772A-FE60-881C-295251C628CA}"/>
              </a:ext>
            </a:extLst>
          </p:cNvPr>
          <p:cNvSpPr/>
          <p:nvPr/>
        </p:nvSpPr>
        <p:spPr>
          <a:xfrm flipH="1">
            <a:off x="4934955" y="5058605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379F9A-BB93-717F-2F36-DB881CCA7640}"/>
              </a:ext>
            </a:extLst>
          </p:cNvPr>
          <p:cNvSpPr/>
          <p:nvPr/>
        </p:nvSpPr>
        <p:spPr>
          <a:xfrm>
            <a:off x="5212208" y="5338075"/>
            <a:ext cx="124014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4" name="左大括号 43">
            <a:extLst>
              <a:ext uri="{FF2B5EF4-FFF2-40B4-BE49-F238E27FC236}">
                <a16:creationId xmlns:a16="http://schemas.microsoft.com/office/drawing/2014/main" id="{159584CB-5E65-2D48-6E22-F22F51B84E07}"/>
              </a:ext>
            </a:extLst>
          </p:cNvPr>
          <p:cNvSpPr/>
          <p:nvPr/>
        </p:nvSpPr>
        <p:spPr>
          <a:xfrm flipH="1">
            <a:off x="6458741" y="5338076"/>
            <a:ext cx="264989" cy="112193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03832F0-E237-E7FE-F523-3B843AA5026B}"/>
              </a:ext>
            </a:extLst>
          </p:cNvPr>
          <p:cNvSpPr/>
          <p:nvPr/>
        </p:nvSpPr>
        <p:spPr>
          <a:xfrm>
            <a:off x="8930968" y="5766576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E3BEB2F8-1732-700B-CB2F-630D85588869}"/>
              </a:ext>
            </a:extLst>
          </p:cNvPr>
          <p:cNvSpPr/>
          <p:nvPr/>
        </p:nvSpPr>
        <p:spPr>
          <a:xfrm>
            <a:off x="8930968" y="6049885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8" name="左大括号 47">
            <a:extLst>
              <a:ext uri="{FF2B5EF4-FFF2-40B4-BE49-F238E27FC236}">
                <a16:creationId xmlns:a16="http://schemas.microsoft.com/office/drawing/2014/main" id="{3BDF15A2-BDD3-CB18-077E-F66EFEAE98A0}"/>
              </a:ext>
            </a:extLst>
          </p:cNvPr>
          <p:cNvSpPr/>
          <p:nvPr/>
        </p:nvSpPr>
        <p:spPr>
          <a:xfrm flipH="1">
            <a:off x="11114017" y="5766576"/>
            <a:ext cx="264989" cy="55844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BA90343-CA8C-1072-46C4-CC716204327F}"/>
              </a:ext>
            </a:extLst>
          </p:cNvPr>
          <p:cNvSpPr/>
          <p:nvPr/>
        </p:nvSpPr>
        <p:spPr>
          <a:xfrm>
            <a:off x="11672906" y="5904691"/>
            <a:ext cx="43841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581AE60-B186-D9E1-9AFE-639F26F3746D}"/>
              </a:ext>
            </a:extLst>
          </p:cNvPr>
          <p:cNvSpPr/>
          <p:nvPr/>
        </p:nvSpPr>
        <p:spPr>
          <a:xfrm>
            <a:off x="1604054" y="5201050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4D531B84-058C-C73F-EC95-7C6B500E53C4}"/>
              </a:ext>
            </a:extLst>
          </p:cNvPr>
          <p:cNvSpPr/>
          <p:nvPr/>
        </p:nvSpPr>
        <p:spPr>
          <a:xfrm>
            <a:off x="1604053" y="5490026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5D84AEB-6E56-642C-F0FA-E4F51F940540}"/>
              </a:ext>
            </a:extLst>
          </p:cNvPr>
          <p:cNvSpPr/>
          <p:nvPr/>
        </p:nvSpPr>
        <p:spPr>
          <a:xfrm>
            <a:off x="3347470" y="5619608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A5E9395-6EE8-5281-62C2-E0DC3477DA5A}"/>
              </a:ext>
            </a:extLst>
          </p:cNvPr>
          <p:cNvSpPr/>
          <p:nvPr/>
        </p:nvSpPr>
        <p:spPr>
          <a:xfrm>
            <a:off x="5213004" y="5622165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31CE62C-B137-F989-9BC6-D636508066EA}"/>
              </a:ext>
            </a:extLst>
          </p:cNvPr>
          <p:cNvSpPr/>
          <p:nvPr/>
        </p:nvSpPr>
        <p:spPr>
          <a:xfrm>
            <a:off x="5213004" y="5902669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05E8067-CA69-1069-086E-E14BFAB78234}"/>
              </a:ext>
            </a:extLst>
          </p:cNvPr>
          <p:cNvSpPr/>
          <p:nvPr/>
        </p:nvSpPr>
        <p:spPr>
          <a:xfrm>
            <a:off x="5214957" y="6183478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CACE1D2-0830-DF5E-E14D-A7CCC1F11D56}"/>
              </a:ext>
            </a:extLst>
          </p:cNvPr>
          <p:cNvCxnSpPr>
            <a:cxnSpLocks/>
          </p:cNvCxnSpPr>
          <p:nvPr/>
        </p:nvCxnSpPr>
        <p:spPr>
          <a:xfrm flipH="1">
            <a:off x="11383001" y="6044365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35FB69E7-4D0F-B21F-2148-903D6DC86494}"/>
              </a:ext>
            </a:extLst>
          </p:cNvPr>
          <p:cNvCxnSpPr>
            <a:cxnSpLocks/>
          </p:cNvCxnSpPr>
          <p:nvPr/>
        </p:nvCxnSpPr>
        <p:spPr>
          <a:xfrm flipH="1">
            <a:off x="8636753" y="5902236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204939C9-C6B1-1AC5-7B47-677EA0E81D5E}"/>
              </a:ext>
            </a:extLst>
          </p:cNvPr>
          <p:cNvSpPr/>
          <p:nvPr/>
        </p:nvSpPr>
        <p:spPr>
          <a:xfrm>
            <a:off x="6729477" y="5761469"/>
            <a:ext cx="190620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B18E3C39-A78F-1BDE-3768-9B0C4163712D}"/>
              </a:ext>
            </a:extLst>
          </p:cNvPr>
          <p:cNvCxnSpPr>
            <a:cxnSpLocks/>
          </p:cNvCxnSpPr>
          <p:nvPr/>
        </p:nvCxnSpPr>
        <p:spPr>
          <a:xfrm>
            <a:off x="2637028" y="3501713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5BDAFCE4-045A-5A8D-0C8C-645E9C712026}"/>
              </a:ext>
            </a:extLst>
          </p:cNvPr>
          <p:cNvSpPr/>
          <p:nvPr/>
        </p:nvSpPr>
        <p:spPr>
          <a:xfrm>
            <a:off x="1882320" y="3347428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價值傳遞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2F12A422-A672-F4DB-CBA7-B1502A840FB5}"/>
              </a:ext>
            </a:extLst>
          </p:cNvPr>
          <p:cNvCxnSpPr>
            <a:cxnSpLocks/>
          </p:cNvCxnSpPr>
          <p:nvPr/>
        </p:nvCxnSpPr>
        <p:spPr>
          <a:xfrm>
            <a:off x="2637027" y="3656885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375826A3-228F-8F21-387E-78B6F8001CCD}"/>
              </a:ext>
            </a:extLst>
          </p:cNvPr>
          <p:cNvSpPr/>
          <p:nvPr/>
        </p:nvSpPr>
        <p:spPr>
          <a:xfrm>
            <a:off x="10195735" y="3500695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支付傳遞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14A8672-B006-624B-2A69-D4EE76AFE4AE}"/>
              </a:ext>
            </a:extLst>
          </p:cNvPr>
          <p:cNvSpPr/>
          <p:nvPr/>
        </p:nvSpPr>
        <p:spPr>
          <a:xfrm>
            <a:off x="81640" y="3903636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7" name="左大括号 66">
            <a:extLst>
              <a:ext uri="{FF2B5EF4-FFF2-40B4-BE49-F238E27FC236}">
                <a16:creationId xmlns:a16="http://schemas.microsoft.com/office/drawing/2014/main" id="{2C7136BB-F8E4-DA45-AD6E-D5DE8DBDF7FE}"/>
              </a:ext>
            </a:extLst>
          </p:cNvPr>
          <p:cNvSpPr/>
          <p:nvPr/>
        </p:nvSpPr>
        <p:spPr>
          <a:xfrm flipH="1">
            <a:off x="1330186" y="3933091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3E84B90-7746-155D-1D31-7CF9ACEFA0B6}"/>
              </a:ext>
            </a:extLst>
          </p:cNvPr>
          <p:cNvSpPr/>
          <p:nvPr/>
        </p:nvSpPr>
        <p:spPr>
          <a:xfrm>
            <a:off x="81639" y="418476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DEC71CC6-AD07-CDA9-76D9-AEAC424430DE}"/>
              </a:ext>
            </a:extLst>
          </p:cNvPr>
          <p:cNvSpPr/>
          <p:nvPr/>
        </p:nvSpPr>
        <p:spPr>
          <a:xfrm>
            <a:off x="81640" y="446590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AE7651A-BF6A-385C-5CCA-D46D55BAFAC0}"/>
              </a:ext>
            </a:extLst>
          </p:cNvPr>
          <p:cNvSpPr/>
          <p:nvPr/>
        </p:nvSpPr>
        <p:spPr>
          <a:xfrm>
            <a:off x="81640" y="474704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A2E28E24-7355-7640-2EDF-54D2923CD54B}"/>
              </a:ext>
            </a:extLst>
          </p:cNvPr>
          <p:cNvSpPr/>
          <p:nvPr/>
        </p:nvSpPr>
        <p:spPr>
          <a:xfrm>
            <a:off x="81638" y="5037901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8DAAF8-96B1-9C40-EC00-92739892692B}"/>
              </a:ext>
            </a:extLst>
          </p:cNvPr>
          <p:cNvSpPr/>
          <p:nvPr/>
        </p:nvSpPr>
        <p:spPr>
          <a:xfrm>
            <a:off x="81639" y="5328764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C1ED9D3C-600C-9D90-1A22-CA78C385BF67}"/>
              </a:ext>
            </a:extLst>
          </p:cNvPr>
          <p:cNvSpPr/>
          <p:nvPr/>
        </p:nvSpPr>
        <p:spPr>
          <a:xfrm>
            <a:off x="0" y="-99712"/>
            <a:ext cx="12192000" cy="6955277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交易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3A50451-0F2E-EBC3-99E7-C421C38D6903}"/>
              </a:ext>
            </a:extLst>
          </p:cNvPr>
          <p:cNvSpPr/>
          <p:nvPr/>
        </p:nvSpPr>
        <p:spPr>
          <a:xfrm>
            <a:off x="4411980" y="498260"/>
            <a:ext cx="4223700" cy="2848279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醫學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81EEDB98-AA7B-6EAC-6C9F-EF078D7E6D7E}"/>
              </a:ext>
            </a:extLst>
          </p:cNvPr>
          <p:cNvSpPr/>
          <p:nvPr/>
        </p:nvSpPr>
        <p:spPr>
          <a:xfrm>
            <a:off x="1035165" y="53337"/>
            <a:ext cx="3345672" cy="2354836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醫工</a:t>
            </a:r>
          </a:p>
        </p:txBody>
      </p:sp>
    </p:spTree>
    <p:extLst>
      <p:ext uri="{BB962C8B-B14F-4D97-AF65-F5344CB8AC3E}">
        <p14:creationId xmlns:p14="http://schemas.microsoft.com/office/powerpoint/2010/main" val="1339863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350E491-99F9-56FB-15A8-85A437D2C2F2}"/>
              </a:ext>
            </a:extLst>
          </p:cNvPr>
          <p:cNvSpPr/>
          <p:nvPr/>
        </p:nvSpPr>
        <p:spPr>
          <a:xfrm>
            <a:off x="-1736435" y="3362949"/>
            <a:ext cx="2477208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實驗室診斷器械（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 vitro diagnostic products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B5A1A8-829D-9706-33CE-CF3A33678155}"/>
              </a:ext>
            </a:extLst>
          </p:cNvPr>
          <p:cNvSpPr/>
          <p:nvPr/>
        </p:nvSpPr>
        <p:spPr>
          <a:xfrm>
            <a:off x="1016464" y="50671"/>
            <a:ext cx="1986983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分析化學（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analytical chemistry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左大括号 3">
            <a:extLst>
              <a:ext uri="{FF2B5EF4-FFF2-40B4-BE49-F238E27FC236}">
                <a16:creationId xmlns:a16="http://schemas.microsoft.com/office/drawing/2014/main" id="{72E86BE7-1A8F-B091-46F8-FB811531DEF6}"/>
              </a:ext>
            </a:extLst>
          </p:cNvPr>
          <p:cNvSpPr/>
          <p:nvPr/>
        </p:nvSpPr>
        <p:spPr>
          <a:xfrm>
            <a:off x="741259" y="99580"/>
            <a:ext cx="264989" cy="6813187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5C6944-5F11-D7C2-6BD5-6BAB94E88BE6}"/>
              </a:ext>
            </a:extLst>
          </p:cNvPr>
          <p:cNvSpPr/>
          <p:nvPr/>
        </p:nvSpPr>
        <p:spPr>
          <a:xfrm>
            <a:off x="1016461" y="2174658"/>
            <a:ext cx="198698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optics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98699-D93E-419C-00C0-EC6642176C51}"/>
              </a:ext>
            </a:extLst>
          </p:cNvPr>
          <p:cNvSpPr/>
          <p:nvPr/>
        </p:nvSpPr>
        <p:spPr>
          <a:xfrm>
            <a:off x="1016462" y="4063358"/>
            <a:ext cx="198579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化工（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engineering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3D9AEC-88DA-40C5-DC33-99DDACE40852}"/>
              </a:ext>
            </a:extLst>
          </p:cNvPr>
          <p:cNvSpPr/>
          <p:nvPr/>
        </p:nvSpPr>
        <p:spPr>
          <a:xfrm>
            <a:off x="1016462" y="3112969"/>
            <a:ext cx="198579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機械（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mechanical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29BB46-42AF-077A-9175-65F222FD4A33}"/>
              </a:ext>
            </a:extLst>
          </p:cNvPr>
          <p:cNvSpPr/>
          <p:nvPr/>
        </p:nvSpPr>
        <p:spPr>
          <a:xfrm>
            <a:off x="1011010" y="5397293"/>
            <a:ext cx="1985789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電子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硬件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hardware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4FDAA39-A76D-A81A-48B8-6FA554CE277F}"/>
              </a:ext>
            </a:extLst>
          </p:cNvPr>
          <p:cNvSpPr/>
          <p:nvPr/>
        </p:nvSpPr>
        <p:spPr>
          <a:xfrm>
            <a:off x="1006733" y="6638975"/>
            <a:ext cx="1996711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應用數學（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applied mathematics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F47D14B-A45F-0E24-6142-2DAE757211DE}"/>
              </a:ext>
            </a:extLst>
          </p:cNvPr>
          <p:cNvSpPr/>
          <p:nvPr/>
        </p:nvSpPr>
        <p:spPr>
          <a:xfrm>
            <a:off x="3291749" y="-1302200"/>
            <a:ext cx="112772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熱力學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thermodynamics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左大括号 25">
            <a:extLst>
              <a:ext uri="{FF2B5EF4-FFF2-40B4-BE49-F238E27FC236}">
                <a16:creationId xmlns:a16="http://schemas.microsoft.com/office/drawing/2014/main" id="{12F43488-6DD4-283B-E7CB-65D325D9B013}"/>
              </a:ext>
            </a:extLst>
          </p:cNvPr>
          <p:cNvSpPr/>
          <p:nvPr/>
        </p:nvSpPr>
        <p:spPr>
          <a:xfrm>
            <a:off x="3016546" y="-1253289"/>
            <a:ext cx="264989" cy="287955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F617895-68C6-1579-9080-087014C3C0F8}"/>
              </a:ext>
            </a:extLst>
          </p:cNvPr>
          <p:cNvSpPr/>
          <p:nvPr/>
        </p:nvSpPr>
        <p:spPr>
          <a:xfrm>
            <a:off x="3291747" y="-1012639"/>
            <a:ext cx="112772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動力學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kinetics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B588C08-BD2C-0A46-590C-DEDA17613DC4}"/>
              </a:ext>
            </a:extLst>
          </p:cNvPr>
          <p:cNvSpPr/>
          <p:nvPr/>
        </p:nvSpPr>
        <p:spPr>
          <a:xfrm>
            <a:off x="3291748" y="-723072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氫離子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煙醯胺腺嘌呤二核苷酸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nicotinamide adenine dinucleotide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也稱還原型輔酶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或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Ⅱ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還原型（氫化後）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氧化型（失氫後）系統，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340nm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催化脫落氫離子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（脫氫酶）的反應體系。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6CF0F1E-AF7E-9A6B-700B-6B0CA4226286}"/>
              </a:ext>
            </a:extLst>
          </p:cNvPr>
          <p:cNvSpPr/>
          <p:nvPr/>
        </p:nvSpPr>
        <p:spPr>
          <a:xfrm>
            <a:off x="3291748" y="-447061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以磷酸根（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phosphate radical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對硝基苯酚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Nitrophenol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磷酸對硝基苯酚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phosphoric acid p-Nitrophenol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05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催化脫落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磷酸根（磷酸酶）的反應體系。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F2B2E93-0609-69B1-6C9E-F65683D0142C}"/>
              </a:ext>
            </a:extLst>
          </p:cNvPr>
          <p:cNvSpPr/>
          <p:nvPr/>
        </p:nvSpPr>
        <p:spPr>
          <a:xfrm>
            <a:off x="3291747" y="-170609"/>
            <a:ext cx="11277247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以氧分子（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）爲電子（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四甲基聯苯胺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Tetramethylbenzidine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過氧化氫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氧化反應（氧化酶）的體系。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7F02820-C080-0674-7E42-457FFDFF4476}"/>
              </a:ext>
            </a:extLst>
          </p:cNvPr>
          <p:cNvSpPr/>
          <p:nvPr/>
        </p:nvSpPr>
        <p:spPr>
          <a:xfrm>
            <a:off x="3291748" y="105826"/>
            <a:ext cx="11277247" cy="275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以熒光染料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法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SYBR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Green</a:t>
            </a:r>
            <a:r>
              <a:rPr lang="en-US" altLang="zh-CN" sz="900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）爲發光體系、以熒光探針法（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TaqMan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）爲發光體系的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聚合酶鏈式反應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polymerase chain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E275E3D-AE0F-6918-0982-4E8A011BE1C5}"/>
              </a:ext>
            </a:extLst>
          </p:cNvPr>
          <p:cNvSpPr/>
          <p:nvPr/>
        </p:nvSpPr>
        <p:spPr>
          <a:xfrm>
            <a:off x="3288503" y="384620"/>
            <a:ext cx="11277254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(7)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三聯吡啶釕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tris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- 2 - 2’-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bipyridyl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ruthe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nium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三丙胺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tripropylamine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發光體系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、以吖啶酯（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acridinium ester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過氧化氫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以鹼性磷酸酶（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魯米諾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Luminol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體系的抗原抗體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FF546FD-C10D-4C90-3A15-06D6530E1087}"/>
              </a:ext>
            </a:extLst>
          </p:cNvPr>
          <p:cNvSpPr/>
          <p:nvPr/>
        </p:nvSpPr>
        <p:spPr>
          <a:xfrm>
            <a:off x="3288503" y="867856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(8)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、抗原抗體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）凝聚析出現象。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7816DA3-9547-4659-A8DD-F17A9343BE1E}"/>
              </a:ext>
            </a:extLst>
          </p:cNvPr>
          <p:cNvSpPr/>
          <p:nvPr/>
        </p:nvSpPr>
        <p:spPr>
          <a:xfrm>
            <a:off x="3288503" y="1144723"/>
            <a:ext cx="11831423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(9)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、凱氏定氮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kjeldahl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nitrogen determination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反應、血清白蛋白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serum albumin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結合溴甲酚綠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bromocresol green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染料反應、血清膽紅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素（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serum bilirubin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與二唑苯磺酸鹽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diazobenzenesulfonate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結合反應、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血清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鈣離子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鄰甲酚酞絡合酮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鎂離子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Mg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甲基麝香草酚蘭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methyl thymol blue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絡合反應、苦味酸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picric acid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和肌酐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creatinine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、血清磷酸根離子（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HPO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2-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H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）與鉬酸銨（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ammonium molybdate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）的絡合反應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4926BC8-158F-B94E-373A-D40105F1145F}"/>
              </a:ext>
            </a:extLst>
          </p:cNvPr>
          <p:cNvSpPr/>
          <p:nvPr/>
        </p:nvSpPr>
        <p:spPr>
          <a:xfrm>
            <a:off x="3298720" y="1728358"/>
            <a:ext cx="3468559" cy="276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光源組件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lighting facilities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>
            <a:extLst>
              <a:ext uri="{FF2B5EF4-FFF2-40B4-BE49-F238E27FC236}">
                <a16:creationId xmlns:a16="http://schemas.microsoft.com/office/drawing/2014/main" id="{A825FE74-1B91-DDC8-F323-65B1C9FD2A3D}"/>
              </a:ext>
            </a:extLst>
          </p:cNvPr>
          <p:cNvSpPr/>
          <p:nvPr/>
        </p:nvSpPr>
        <p:spPr>
          <a:xfrm>
            <a:off x="3023514" y="1777270"/>
            <a:ext cx="266400" cy="107248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5FF39FC-BB85-F2E5-93D2-A73F1536C1C4}"/>
              </a:ext>
            </a:extLst>
          </p:cNvPr>
          <p:cNvSpPr/>
          <p:nvPr/>
        </p:nvSpPr>
        <p:spPr>
          <a:xfrm>
            <a:off x="3298717" y="2007759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光路組件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ptical path components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05B893B-EF27-010E-31EF-EEE3C2A6092F}"/>
              </a:ext>
            </a:extLst>
          </p:cNvPr>
          <p:cNvSpPr/>
          <p:nvPr/>
        </p:nvSpPr>
        <p:spPr>
          <a:xfrm>
            <a:off x="3298718" y="2289706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單色器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monochromator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BA5AF0C-7323-26AE-0A03-68C9F4507475}"/>
              </a:ext>
            </a:extLst>
          </p:cNvPr>
          <p:cNvSpPr/>
          <p:nvPr/>
        </p:nvSpPr>
        <p:spPr>
          <a:xfrm>
            <a:off x="3298718" y="2571662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光電轉換傳感器組件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hotoelectric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ransducer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85EF07E-CFFB-7F8C-340C-11D0BD31CB2F}"/>
              </a:ext>
            </a:extLst>
          </p:cNvPr>
          <p:cNvSpPr/>
          <p:nvPr/>
        </p:nvSpPr>
        <p:spPr>
          <a:xfrm>
            <a:off x="3298718" y="2948717"/>
            <a:ext cx="7808191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結構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echanical structure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nb-NO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有限元分析（</a:t>
            </a:r>
            <a:r>
              <a:rPr lang="nb-NO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Finite Element Analysis</a:t>
            </a:r>
            <a:r>
              <a:rPr lang="zh-CN" altLang="nb-NO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、材料、形狀、尺寸、公差（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Tolerance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）、連接、加工工藝、表面狀況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左大括号 51">
            <a:extLst>
              <a:ext uri="{FF2B5EF4-FFF2-40B4-BE49-F238E27FC236}">
                <a16:creationId xmlns:a16="http://schemas.microsoft.com/office/drawing/2014/main" id="{941DCCED-51A5-6F21-87B8-B786BA732570}"/>
              </a:ext>
            </a:extLst>
          </p:cNvPr>
          <p:cNvSpPr/>
          <p:nvPr/>
        </p:nvSpPr>
        <p:spPr>
          <a:xfrm>
            <a:off x="3023513" y="2997629"/>
            <a:ext cx="266400" cy="50954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3B6C406-A546-99C0-6AA4-36F15DA8E38F}"/>
              </a:ext>
            </a:extLst>
          </p:cNvPr>
          <p:cNvSpPr/>
          <p:nvPr/>
        </p:nvSpPr>
        <p:spPr>
          <a:xfrm>
            <a:off x="3298716" y="3229088"/>
            <a:ext cx="780819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傳動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ransmission machinery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：帶鏈傳動、齒輪傳動、蝸桿傳動、軸和軸轂連接、彈簧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BACDB5C-453C-7E4B-029D-7FEE86A987D3}"/>
              </a:ext>
            </a:extLst>
          </p:cNvPr>
          <p:cNvSpPr/>
          <p:nvPr/>
        </p:nvSpPr>
        <p:spPr>
          <a:xfrm>
            <a:off x="3298719" y="3620030"/>
            <a:ext cx="571690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、流體輸送（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luid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ransport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：泵、閥、管路、移液組件、清洗組件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左大括号 56">
            <a:extLst>
              <a:ext uri="{FF2B5EF4-FFF2-40B4-BE49-F238E27FC236}">
                <a16:creationId xmlns:a16="http://schemas.microsoft.com/office/drawing/2014/main" id="{7EC40311-126F-12DC-30D0-6E86D35A716D}"/>
              </a:ext>
            </a:extLst>
          </p:cNvPr>
          <p:cNvSpPr/>
          <p:nvPr/>
        </p:nvSpPr>
        <p:spPr>
          <a:xfrm>
            <a:off x="3023513" y="3668942"/>
            <a:ext cx="266400" cy="106740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09188DB-7775-A8E8-4E03-A3F468DF85B3}"/>
              </a:ext>
            </a:extLst>
          </p:cNvPr>
          <p:cNvSpPr/>
          <p:nvPr/>
        </p:nvSpPr>
        <p:spPr>
          <a:xfrm>
            <a:off x="3298716" y="3899431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eactors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混匀組件、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恆溫孵育、冷藏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非均相物系分離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、吸附、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過濾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7EFDB6A-6949-AEED-D045-7D96C74A5CD3}"/>
              </a:ext>
            </a:extLst>
          </p:cNvPr>
          <p:cNvSpPr/>
          <p:nvPr/>
        </p:nvSpPr>
        <p:spPr>
          <a:xfrm>
            <a:off x="3298717" y="4178838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、傳熱（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eat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ransfer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熱傳導過程、輻射傳熱過程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CAC83CA-1A08-2D24-A843-347CEADA1C06}"/>
              </a:ext>
            </a:extLst>
          </p:cNvPr>
          <p:cNvSpPr/>
          <p:nvPr/>
        </p:nvSpPr>
        <p:spPr>
          <a:xfrm>
            <a:off x="3298717" y="4458254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傳質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mass transfer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：擴散過程、吸收過程、蒸發過程、乾燥過程、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沉降過程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327113-2383-684C-B09A-247D28FF61A8}"/>
              </a:ext>
            </a:extLst>
          </p:cNvPr>
          <p:cNvSpPr/>
          <p:nvPr/>
        </p:nvSpPr>
        <p:spPr>
          <a:xfrm>
            <a:off x="3298718" y="4848085"/>
            <a:ext cx="829156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電源組件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power supply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：開關模式電源（交換式電源、開關變換器）（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Switch Mode Power Supply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EEB393DE-4747-5023-3155-4FEE2BEEDC53}"/>
              </a:ext>
            </a:extLst>
          </p:cNvPr>
          <p:cNvSpPr/>
          <p:nvPr/>
        </p:nvSpPr>
        <p:spPr>
          <a:xfrm>
            <a:off x="3023513" y="4896997"/>
            <a:ext cx="266400" cy="127271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7B4C4F3-D334-ED05-C478-6D7D20D2C568}"/>
              </a:ext>
            </a:extLst>
          </p:cNvPr>
          <p:cNvSpPr/>
          <p:nvPr/>
        </p:nvSpPr>
        <p:spPr>
          <a:xfrm>
            <a:off x="3298716" y="5127486"/>
            <a:ext cx="829157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驅動組件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driver module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：電動機（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Electric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Motor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）、繼電器（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Relay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59B06ED-7608-F6CA-B566-F62D6B9E3BAC}"/>
              </a:ext>
            </a:extLst>
          </p:cNvPr>
          <p:cNvSpPr/>
          <p:nvPr/>
        </p:nvSpPr>
        <p:spPr>
          <a:xfrm>
            <a:off x="3298717" y="5406893"/>
            <a:ext cx="829157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過程控制程式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process control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BCFE9E1-F5D7-9C68-707C-409D94CC2B4A}"/>
              </a:ext>
            </a:extLst>
          </p:cNvPr>
          <p:cNvSpPr/>
          <p:nvPr/>
        </p:nvSpPr>
        <p:spPr>
          <a:xfrm>
            <a:off x="3298717" y="5686309"/>
            <a:ext cx="8291574" cy="4834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感測器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sensor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光電效應、熱電效應、壓電效應、磁致伸縮效應、化學吸附電化學反應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；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位置感測器、液面感測器、能耗感測器、壓力敏和力敏感測器、速度感測器、加速度感測器、振動感測器、射線輻射感測器、濕敏感測器、熱敏感測器、磁敏感測器、氣敏感測器、真空度感測器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74EF99-43FE-6F17-FECE-9FC61B100B2B}"/>
              </a:ext>
            </a:extLst>
          </p:cNvPr>
          <p:cNvSpPr/>
          <p:nvPr/>
        </p:nvSpPr>
        <p:spPr>
          <a:xfrm>
            <a:off x="3299900" y="6266889"/>
            <a:ext cx="10379155" cy="482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應用統計學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applied statistics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概率論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probability theory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、總體和抽樣分布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population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and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sampling distribution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、參數估計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parameter estimation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）、隨機採樣算法（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Monte Carlo Simulation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）、無記憶隨機過程算法（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Markov Chain Monte Carlo Simulation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41DF5198-DDC5-91B3-ED55-124B20DB37B7}"/>
              </a:ext>
            </a:extLst>
          </p:cNvPr>
          <p:cNvSpPr/>
          <p:nvPr/>
        </p:nvSpPr>
        <p:spPr>
          <a:xfrm>
            <a:off x="3024696" y="6315801"/>
            <a:ext cx="266400" cy="91758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2D446AA-7B6C-C3F6-F7EC-D4A08613FF68}"/>
              </a:ext>
            </a:extLst>
          </p:cNvPr>
          <p:cNvSpPr/>
          <p:nvPr/>
        </p:nvSpPr>
        <p:spPr>
          <a:xfrm>
            <a:off x="3299897" y="6751844"/>
            <a:ext cx="10933352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、數學建模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Mathematical Modelling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Numerical Analysis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、導數的鏈式法則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Chain Rule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計算機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自動微分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Automatic Differentiation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、拉格朗日插值法（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Lagrange Interpolation Formula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）、牛頓插值法（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ewton Interpolation Formula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）、方程擬合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Curve Fitting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，梯度下降迭代最優化算法（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Gradient Descent Optimization Methods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）、牛頓 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拉弗森迭代最優化算法（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Newton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Raphson Optimization Methods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089654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6F8DA31-0C68-E10F-6613-75C8A3CB904C}"/>
              </a:ext>
            </a:extLst>
          </p:cNvPr>
          <p:cNvSpPr/>
          <p:nvPr/>
        </p:nvSpPr>
        <p:spPr>
          <a:xfrm>
            <a:off x="-1029944" y="1124964"/>
            <a:ext cx="1935924" cy="25200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特定臨床情況下的質量規範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620ABB-89FC-8354-1DD8-073091C62E03}"/>
              </a:ext>
            </a:extLst>
          </p:cNvPr>
          <p:cNvSpPr/>
          <p:nvPr/>
        </p:nvSpPr>
        <p:spPr>
          <a:xfrm>
            <a:off x="-2348437" y="1380855"/>
            <a:ext cx="3254417" cy="273793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基於生物變異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9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biological variation , reference interval </a:t>
            </a:r>
            <a:r>
              <a:rPr lang="en-US" altLang="zh-TW" sz="9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BED561-6884-B8F4-320E-C044F0E4C264}"/>
              </a:ext>
            </a:extLst>
          </p:cNvPr>
          <p:cNvSpPr/>
          <p:nvPr/>
        </p:nvSpPr>
        <p:spPr>
          <a:xfrm>
            <a:off x="-1627086" y="1636746"/>
            <a:ext cx="2533066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基於醫療觀點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clinicians' opinions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DDB0C28-4C0C-3142-102F-39A535B0ACBE}"/>
              </a:ext>
            </a:extLst>
          </p:cNvPr>
          <p:cNvSpPr/>
          <p:nvPr/>
        </p:nvSpPr>
        <p:spPr>
          <a:xfrm>
            <a:off x="-546216" y="1893531"/>
            <a:ext cx="1454244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國家或國際專家小組指南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BE4B4-E39E-2509-715A-D49E9237F591}"/>
              </a:ext>
            </a:extLst>
          </p:cNvPr>
          <p:cNvSpPr/>
          <p:nvPr/>
        </p:nvSpPr>
        <p:spPr>
          <a:xfrm>
            <a:off x="-892465" y="2148528"/>
            <a:ext cx="1800493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0201BF-CB36-772F-5E5D-E9AF565E5F2F}"/>
              </a:ext>
            </a:extLst>
          </p:cNvPr>
          <p:cNvSpPr/>
          <p:nvPr/>
        </p:nvSpPr>
        <p:spPr>
          <a:xfrm>
            <a:off x="-661632" y="2404419"/>
            <a:ext cx="1569660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由法規機構制定的質量規範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5ECD17-499F-F7CE-B9D5-EDC1797A9045}"/>
              </a:ext>
            </a:extLst>
          </p:cNvPr>
          <p:cNvSpPr/>
          <p:nvPr/>
        </p:nvSpPr>
        <p:spPr>
          <a:xfrm>
            <a:off x="-1238714" y="2660369"/>
            <a:ext cx="2146742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C6397E-F7AB-CF84-9795-83EFC82A1743}"/>
              </a:ext>
            </a:extLst>
          </p:cNvPr>
          <p:cNvSpPr/>
          <p:nvPr/>
        </p:nvSpPr>
        <p:spPr>
          <a:xfrm>
            <a:off x="-2613660" y="2916260"/>
            <a:ext cx="3521688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已發表的能力驗證和室間質量評價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External Quality Assessment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的數據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F08F52-A90C-97A2-9D9D-F1E884912F90}"/>
              </a:ext>
            </a:extLst>
          </p:cNvPr>
          <p:cNvSpPr/>
          <p:nvPr/>
        </p:nvSpPr>
        <p:spPr>
          <a:xfrm>
            <a:off x="-2218593" y="3172721"/>
            <a:ext cx="3124573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已發表的特定的方法學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found in current publications on methodology )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3299A51C-81DF-15E3-88BF-3083CB79D83B}"/>
              </a:ext>
            </a:extLst>
          </p:cNvPr>
          <p:cNvSpPr/>
          <p:nvPr/>
        </p:nvSpPr>
        <p:spPr bwMode="auto">
          <a:xfrm>
            <a:off x="905979" y="1124964"/>
            <a:ext cx="252000" cy="22997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BDD42E-59D4-85FF-8E4C-44E9F25F444A}"/>
              </a:ext>
            </a:extLst>
          </p:cNvPr>
          <p:cNvSpPr/>
          <p:nvPr/>
        </p:nvSpPr>
        <p:spPr>
          <a:xfrm>
            <a:off x="1157865" y="2140709"/>
            <a:ext cx="1107996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醫學檢驗品質目標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Quality target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21E7AB4-ECC2-D2A8-3FC3-82C532FAC45A}"/>
              </a:ext>
            </a:extLst>
          </p:cNvPr>
          <p:cNvSpPr/>
          <p:nvPr/>
        </p:nvSpPr>
        <p:spPr>
          <a:xfrm>
            <a:off x="-1238714" y="3552407"/>
            <a:ext cx="2144694" cy="273793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刻度變差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Precision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8D4BAD-F9D4-8968-76D5-2740CA50AAA1}"/>
              </a:ext>
            </a:extLst>
          </p:cNvPr>
          <p:cNvSpPr/>
          <p:nvPr/>
        </p:nvSpPr>
        <p:spPr>
          <a:xfrm>
            <a:off x="-859247" y="3808298"/>
            <a:ext cx="1765227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位置變差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Bias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8D32517-A7E8-0646-2CF6-CA5CBF6A516A}"/>
              </a:ext>
            </a:extLst>
          </p:cNvPr>
          <p:cNvSpPr/>
          <p:nvPr/>
        </p:nvSpPr>
        <p:spPr>
          <a:xfrm>
            <a:off x="-721390" y="4064189"/>
            <a:ext cx="1627370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抗干擾能力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61D0BB8-8BE0-08C7-DB32-A03838953822}"/>
              </a:ext>
            </a:extLst>
          </p:cNvPr>
          <p:cNvSpPr/>
          <p:nvPr/>
        </p:nvSpPr>
        <p:spPr>
          <a:xfrm>
            <a:off x="-430800" y="4320974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檢出限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D45EEF-36A2-B7D6-F1FF-6D751501C2DD}"/>
              </a:ext>
            </a:extLst>
          </p:cNvPr>
          <p:cNvSpPr/>
          <p:nvPr/>
        </p:nvSpPr>
        <p:spPr>
          <a:xfrm>
            <a:off x="-874832" y="4575971"/>
            <a:ext cx="1782860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穩定性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stability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9D5216B-21DF-99BE-8824-CBA7AF8CC775}"/>
              </a:ext>
            </a:extLst>
          </p:cNvPr>
          <p:cNvSpPr/>
          <p:nvPr/>
        </p:nvSpPr>
        <p:spPr>
          <a:xfrm>
            <a:off x="-2186088" y="4831862"/>
            <a:ext cx="3094116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檢驗系統量值傳遞測量不確定度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measurement uncertainty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4" name="右大括号 33">
            <a:extLst>
              <a:ext uri="{FF2B5EF4-FFF2-40B4-BE49-F238E27FC236}">
                <a16:creationId xmlns:a16="http://schemas.microsoft.com/office/drawing/2014/main" id="{82AD4154-9A4A-305E-3F2E-D7FBA172AB26}"/>
              </a:ext>
            </a:extLst>
          </p:cNvPr>
          <p:cNvSpPr/>
          <p:nvPr/>
        </p:nvSpPr>
        <p:spPr bwMode="auto">
          <a:xfrm>
            <a:off x="905979" y="3552407"/>
            <a:ext cx="252000" cy="15470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600EA2D-9B56-12C7-BCC2-5E9BEEA20225}"/>
              </a:ext>
            </a:extLst>
          </p:cNvPr>
          <p:cNvSpPr/>
          <p:nvPr/>
        </p:nvSpPr>
        <p:spPr>
          <a:xfrm>
            <a:off x="1155930" y="4187155"/>
            <a:ext cx="1338828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檢驗系統測量性能評估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System Characterization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右大括号 35">
            <a:extLst>
              <a:ext uri="{FF2B5EF4-FFF2-40B4-BE49-F238E27FC236}">
                <a16:creationId xmlns:a16="http://schemas.microsoft.com/office/drawing/2014/main" id="{F5115843-4E59-4C65-A7AF-4EC255E36238}"/>
              </a:ext>
            </a:extLst>
          </p:cNvPr>
          <p:cNvSpPr/>
          <p:nvPr/>
        </p:nvSpPr>
        <p:spPr bwMode="auto">
          <a:xfrm>
            <a:off x="2500138" y="2140708"/>
            <a:ext cx="252000" cy="2488747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2AF2178-556B-0CCF-FB47-6F22FDDF7795}"/>
              </a:ext>
            </a:extLst>
          </p:cNvPr>
          <p:cNvSpPr/>
          <p:nvPr/>
        </p:nvSpPr>
        <p:spPr>
          <a:xfrm>
            <a:off x="2699239" y="3233290"/>
            <a:ext cx="1160894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醫學上重要的誤差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Medically important errors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2281A2A-33E5-FDC3-6D86-F7C7D1B1439C}"/>
              </a:ext>
            </a:extLst>
          </p:cNvPr>
          <p:cNvSpPr/>
          <p:nvPr/>
        </p:nvSpPr>
        <p:spPr>
          <a:xfrm>
            <a:off x="1699444" y="6246080"/>
            <a:ext cx="1959191" cy="442301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過程能力指數分級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Process Capability index ( Precision , Accuracy )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F1A845C-88D9-021C-CDB9-6D56F30DDC72}"/>
              </a:ext>
            </a:extLst>
          </p:cNvPr>
          <p:cNvSpPr/>
          <p:nvPr/>
        </p:nvSpPr>
        <p:spPr>
          <a:xfrm>
            <a:off x="-613178" y="5709403"/>
            <a:ext cx="2051700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誤差檢出的平均運行測量批數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average run length of error detection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右大括号 45">
            <a:extLst>
              <a:ext uri="{FF2B5EF4-FFF2-40B4-BE49-F238E27FC236}">
                <a16:creationId xmlns:a16="http://schemas.microsoft.com/office/drawing/2014/main" id="{AD9834BF-393D-6717-8B0A-E57918F21802}"/>
              </a:ext>
            </a:extLst>
          </p:cNvPr>
          <p:cNvSpPr/>
          <p:nvPr/>
        </p:nvSpPr>
        <p:spPr bwMode="auto">
          <a:xfrm flipH="1">
            <a:off x="-726130" y="5708082"/>
            <a:ext cx="252000" cy="873845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10201A4-A714-7AE8-5CFF-545200F31357}"/>
              </a:ext>
            </a:extLst>
          </p:cNvPr>
          <p:cNvSpPr/>
          <p:nvPr/>
        </p:nvSpPr>
        <p:spPr>
          <a:xfrm>
            <a:off x="-3209395" y="5808559"/>
            <a:ext cx="236246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檢驗系統誤差發生分布特徵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Errors statistical distribution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D79E4AB-DAF0-7991-3550-56FB140CD0A7}"/>
              </a:ext>
            </a:extLst>
          </p:cNvPr>
          <p:cNvSpPr/>
          <p:nvPr/>
        </p:nvSpPr>
        <p:spPr>
          <a:xfrm>
            <a:off x="-613178" y="6144782"/>
            <a:ext cx="2051700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兩次假失控之間的平均運行測量批數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average run length for false rejection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9" name="右大括号 48">
            <a:extLst>
              <a:ext uri="{FF2B5EF4-FFF2-40B4-BE49-F238E27FC236}">
                <a16:creationId xmlns:a16="http://schemas.microsoft.com/office/drawing/2014/main" id="{77D1A633-69B5-9903-DBE2-2B35809CF4E7}"/>
              </a:ext>
            </a:extLst>
          </p:cNvPr>
          <p:cNvSpPr/>
          <p:nvPr/>
        </p:nvSpPr>
        <p:spPr bwMode="auto">
          <a:xfrm>
            <a:off x="1367892" y="5706178"/>
            <a:ext cx="252000" cy="87575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98D45E3E-C68A-B03F-A098-B713392DEA47}"/>
              </a:ext>
            </a:extLst>
          </p:cNvPr>
          <p:cNvSpPr/>
          <p:nvPr/>
        </p:nvSpPr>
        <p:spPr>
          <a:xfrm>
            <a:off x="1759403" y="5550018"/>
            <a:ext cx="1898278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功效函數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Power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Function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圖</a:t>
            </a:r>
          </a:p>
        </p:txBody>
      </p:sp>
      <p:sp>
        <p:nvSpPr>
          <p:cNvPr id="52" name="右大括号 51">
            <a:extLst>
              <a:ext uri="{FF2B5EF4-FFF2-40B4-BE49-F238E27FC236}">
                <a16:creationId xmlns:a16="http://schemas.microsoft.com/office/drawing/2014/main" id="{84047388-AA8D-0DB1-CC10-94F065E1B8AF}"/>
              </a:ext>
            </a:extLst>
          </p:cNvPr>
          <p:cNvSpPr/>
          <p:nvPr/>
        </p:nvSpPr>
        <p:spPr bwMode="auto">
          <a:xfrm flipH="1">
            <a:off x="1536248" y="5605847"/>
            <a:ext cx="252000" cy="108253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4B4B9B1-43AC-4F4A-8192-FC08D4E6A9CB}"/>
              </a:ext>
            </a:extLst>
          </p:cNvPr>
          <p:cNvSpPr/>
          <p:nvPr/>
        </p:nvSpPr>
        <p:spPr>
          <a:xfrm>
            <a:off x="1759405" y="5820145"/>
            <a:ext cx="189827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操作過程規範圖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Operational Process Specifications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右大括号 53">
            <a:extLst>
              <a:ext uri="{FF2B5EF4-FFF2-40B4-BE49-F238E27FC236}">
                <a16:creationId xmlns:a16="http://schemas.microsoft.com/office/drawing/2014/main" id="{99C92645-D18E-21C1-6A63-89408599F7F2}"/>
              </a:ext>
            </a:extLst>
          </p:cNvPr>
          <p:cNvSpPr/>
          <p:nvPr/>
        </p:nvSpPr>
        <p:spPr bwMode="auto">
          <a:xfrm>
            <a:off x="3608133" y="5546792"/>
            <a:ext cx="252000" cy="114158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右大括号 56">
            <a:extLst>
              <a:ext uri="{FF2B5EF4-FFF2-40B4-BE49-F238E27FC236}">
                <a16:creationId xmlns:a16="http://schemas.microsoft.com/office/drawing/2014/main" id="{695AF1B3-6B8E-B124-1E0B-4653854A7BF1}"/>
              </a:ext>
            </a:extLst>
          </p:cNvPr>
          <p:cNvSpPr/>
          <p:nvPr/>
        </p:nvSpPr>
        <p:spPr bwMode="auto">
          <a:xfrm>
            <a:off x="3860133" y="3233290"/>
            <a:ext cx="252000" cy="28830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8206CEB-EA32-66A4-7069-CD8464826F9B}"/>
              </a:ext>
            </a:extLst>
          </p:cNvPr>
          <p:cNvSpPr/>
          <p:nvPr/>
        </p:nvSpPr>
        <p:spPr>
          <a:xfrm>
            <a:off x="5087239" y="4068789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檢測批質控品測定數量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Control number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右大括号 60">
            <a:extLst>
              <a:ext uri="{FF2B5EF4-FFF2-40B4-BE49-F238E27FC236}">
                <a16:creationId xmlns:a16="http://schemas.microsoft.com/office/drawing/2014/main" id="{EF24CEDA-8F97-DFD4-BE62-A144C96D4D6C}"/>
              </a:ext>
            </a:extLst>
          </p:cNvPr>
          <p:cNvSpPr/>
          <p:nvPr/>
        </p:nvSpPr>
        <p:spPr bwMode="auto">
          <a:xfrm flipH="1">
            <a:off x="4904014" y="4069959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DF3EE1D-6508-6E27-4FFB-D855B0481AA8}"/>
              </a:ext>
            </a:extLst>
          </p:cNvPr>
          <p:cNvSpPr/>
          <p:nvPr/>
        </p:nvSpPr>
        <p:spPr>
          <a:xfrm>
            <a:off x="5087239" y="4453216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控制規則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Control rule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9E4680C-5CD4-36FC-BCA7-EA0552436330}"/>
              </a:ext>
            </a:extLst>
          </p:cNvPr>
          <p:cNvSpPr/>
          <p:nvPr/>
        </p:nvSpPr>
        <p:spPr>
          <a:xfrm>
            <a:off x="5086748" y="4839928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最佳檢測批長度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number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5" name="右大括号 64">
            <a:extLst>
              <a:ext uri="{FF2B5EF4-FFF2-40B4-BE49-F238E27FC236}">
                <a16:creationId xmlns:a16="http://schemas.microsoft.com/office/drawing/2014/main" id="{1FFB99C4-C68F-088C-B283-8F367B936DBB}"/>
              </a:ext>
            </a:extLst>
          </p:cNvPr>
          <p:cNvSpPr/>
          <p:nvPr/>
        </p:nvSpPr>
        <p:spPr bwMode="auto">
          <a:xfrm>
            <a:off x="6447982" y="4062533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D73653D-21E9-4C0F-7A09-6D7FDCCB9DBD}"/>
              </a:ext>
            </a:extLst>
          </p:cNvPr>
          <p:cNvSpPr/>
          <p:nvPr/>
        </p:nvSpPr>
        <p:spPr>
          <a:xfrm>
            <a:off x="7658262" y="4061169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過程的品質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quality costs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右大括号 66">
            <a:extLst>
              <a:ext uri="{FF2B5EF4-FFF2-40B4-BE49-F238E27FC236}">
                <a16:creationId xmlns:a16="http://schemas.microsoft.com/office/drawing/2014/main" id="{6E99C7AD-3FDF-CDF0-19B0-4E05F2F4C173}"/>
              </a:ext>
            </a:extLst>
          </p:cNvPr>
          <p:cNvSpPr/>
          <p:nvPr/>
        </p:nvSpPr>
        <p:spPr bwMode="auto">
          <a:xfrm flipH="1">
            <a:off x="7411104" y="4062339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C38976B-6AAC-CCFE-C6B9-E041BF50ABB1}"/>
              </a:ext>
            </a:extLst>
          </p:cNvPr>
          <p:cNvSpPr/>
          <p:nvPr/>
        </p:nvSpPr>
        <p:spPr>
          <a:xfrm>
            <a:off x="7658262" y="4445596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檢測過程的生產率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yield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E08CC0AE-27D7-28AE-92EE-78B603D56755}"/>
              </a:ext>
            </a:extLst>
          </p:cNvPr>
          <p:cNvSpPr/>
          <p:nvPr/>
        </p:nvSpPr>
        <p:spPr>
          <a:xfrm>
            <a:off x="7657771" y="4832308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檢測過程的風險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risk management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右大括号 69">
            <a:extLst>
              <a:ext uri="{FF2B5EF4-FFF2-40B4-BE49-F238E27FC236}">
                <a16:creationId xmlns:a16="http://schemas.microsoft.com/office/drawing/2014/main" id="{37C797F5-43F4-F16F-1581-8D8970A51A07}"/>
              </a:ext>
            </a:extLst>
          </p:cNvPr>
          <p:cNvSpPr/>
          <p:nvPr/>
        </p:nvSpPr>
        <p:spPr bwMode="auto">
          <a:xfrm>
            <a:off x="8697897" y="-65590"/>
            <a:ext cx="252000" cy="671717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06C2C0A-8DC6-B230-BAB8-88A5AF13B4F6}"/>
              </a:ext>
            </a:extLst>
          </p:cNvPr>
          <p:cNvSpPr/>
          <p:nvPr/>
        </p:nvSpPr>
        <p:spPr>
          <a:xfrm>
            <a:off x="7384281" y="6209283"/>
            <a:ext cx="138449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診斷準確度估計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Reporting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of diagnostic accuracy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3592F8E8-22ED-91FE-15CE-CF3D80C5A7EB}"/>
              </a:ext>
            </a:extLst>
          </p:cNvPr>
          <p:cNvSpPr/>
          <p:nvPr/>
        </p:nvSpPr>
        <p:spPr>
          <a:xfrm>
            <a:off x="7337903" y="2794024"/>
            <a:ext cx="1430382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診斷的經濟評價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Economic appraisal for diagnostic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348DDCF-536B-34DE-B069-86C5FF19EBD1}"/>
              </a:ext>
            </a:extLst>
          </p:cNvPr>
          <p:cNvSpPr/>
          <p:nvPr/>
        </p:nvSpPr>
        <p:spPr>
          <a:xfrm>
            <a:off x="10002426" y="3139882"/>
            <a:ext cx="2264052" cy="475387"/>
          </a:xfrm>
          <a:prstGeom prst="rect">
            <a:avLst/>
          </a:prstGeom>
          <a:ln>
            <a:noFill/>
          </a:ln>
        </p:spPr>
        <p:txBody>
          <a:bodyPr wrap="square">
            <a:no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證據評價、分級、推薦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vidence quality evaluation , grading , recommendation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5C1C384-06AA-06B5-E784-80CCA104C491}"/>
              </a:ext>
            </a:extLst>
          </p:cNvPr>
          <p:cNvSpPr/>
          <p:nvPr/>
        </p:nvSpPr>
        <p:spPr>
          <a:xfrm>
            <a:off x="5233592" y="5904208"/>
            <a:ext cx="1793069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診斷試驗的系統評價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systematic review , meta analysis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62C7AC33-A5DB-6335-65C5-75C674F8D523}"/>
              </a:ext>
            </a:extLst>
          </p:cNvPr>
          <p:cNvSpPr/>
          <p:nvPr/>
        </p:nvSpPr>
        <p:spPr>
          <a:xfrm>
            <a:off x="10001682" y="5146720"/>
            <a:ext cx="2264795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臨床決策分析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Clinical decision analysis , CDA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8" name="右大括号 77">
            <a:extLst>
              <a:ext uri="{FF2B5EF4-FFF2-40B4-BE49-F238E27FC236}">
                <a16:creationId xmlns:a16="http://schemas.microsoft.com/office/drawing/2014/main" id="{980465CE-C280-7DCA-3347-7C4FB6BECC0E}"/>
              </a:ext>
            </a:extLst>
          </p:cNvPr>
          <p:cNvSpPr/>
          <p:nvPr/>
        </p:nvSpPr>
        <p:spPr bwMode="auto">
          <a:xfrm>
            <a:off x="12269797" y="3139881"/>
            <a:ext cx="252000" cy="244913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01F478B-FCDB-40B7-7580-262AD6427108}"/>
              </a:ext>
            </a:extLst>
          </p:cNvPr>
          <p:cNvSpPr/>
          <p:nvPr/>
        </p:nvSpPr>
        <p:spPr>
          <a:xfrm>
            <a:off x="12525117" y="4226239"/>
            <a:ext cx="98969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診斷試驗的應用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右大括号 11">
            <a:extLst>
              <a:ext uri="{FF2B5EF4-FFF2-40B4-BE49-F238E27FC236}">
                <a16:creationId xmlns:a16="http://schemas.microsoft.com/office/drawing/2014/main" id="{97CE75E3-C4FA-A792-84CC-6D1B0C80FB1D}"/>
              </a:ext>
            </a:extLst>
          </p:cNvPr>
          <p:cNvSpPr/>
          <p:nvPr/>
        </p:nvSpPr>
        <p:spPr bwMode="auto">
          <a:xfrm>
            <a:off x="-929976" y="5811406"/>
            <a:ext cx="252000" cy="66714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68BD18B-D447-9943-A133-8EB35DEC86A4}"/>
              </a:ext>
            </a:extLst>
          </p:cNvPr>
          <p:cNvSpPr/>
          <p:nvPr/>
        </p:nvSpPr>
        <p:spPr>
          <a:xfrm>
            <a:off x="-3210027" y="6209659"/>
            <a:ext cx="2365130" cy="273793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Simulation )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BE40D9-4889-0252-26F4-A06538664245}"/>
              </a:ext>
            </a:extLst>
          </p:cNvPr>
          <p:cNvSpPr/>
          <p:nvPr/>
        </p:nvSpPr>
        <p:spPr>
          <a:xfrm>
            <a:off x="5235615" y="6460056"/>
            <a:ext cx="1791046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受衆檢測值的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分布特徵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True value statistical distribution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右大括号 18">
            <a:extLst>
              <a:ext uri="{FF2B5EF4-FFF2-40B4-BE49-F238E27FC236}">
                <a16:creationId xmlns:a16="http://schemas.microsoft.com/office/drawing/2014/main" id="{1ABE0610-1DAA-1EB1-A9AA-02094ED5BE46}"/>
              </a:ext>
            </a:extLst>
          </p:cNvPr>
          <p:cNvSpPr/>
          <p:nvPr/>
        </p:nvSpPr>
        <p:spPr bwMode="auto">
          <a:xfrm>
            <a:off x="7029981" y="6507304"/>
            <a:ext cx="252000" cy="66214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7508922-B136-BE68-A5F5-8C0AB4F24FE6}"/>
              </a:ext>
            </a:extLst>
          </p:cNvPr>
          <p:cNvSpPr/>
          <p:nvPr/>
        </p:nvSpPr>
        <p:spPr>
          <a:xfrm>
            <a:off x="3742254" y="6900526"/>
            <a:ext cx="3286443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隨機採樣和無記憶隨機過程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Simulation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786407E-2173-2D4A-1816-28AEC2F69DE7}"/>
              </a:ext>
            </a:extLst>
          </p:cNvPr>
          <p:cNvCxnSpPr>
            <a:cxnSpLocks/>
          </p:cNvCxnSpPr>
          <p:nvPr/>
        </p:nvCxnSpPr>
        <p:spPr bwMode="auto">
          <a:xfrm>
            <a:off x="6676192" y="4667923"/>
            <a:ext cx="756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右大括号 21">
            <a:extLst>
              <a:ext uri="{FF2B5EF4-FFF2-40B4-BE49-F238E27FC236}">
                <a16:creationId xmlns:a16="http://schemas.microsoft.com/office/drawing/2014/main" id="{2E2BDEBB-DEF0-0AC0-A153-3E8C4E67E583}"/>
              </a:ext>
            </a:extLst>
          </p:cNvPr>
          <p:cNvSpPr/>
          <p:nvPr/>
        </p:nvSpPr>
        <p:spPr bwMode="auto">
          <a:xfrm>
            <a:off x="7222692" y="5902392"/>
            <a:ext cx="252000" cy="93712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E8CBA3B-F872-E8ED-CECD-E08192E3E256}"/>
              </a:ext>
            </a:extLst>
          </p:cNvPr>
          <p:cNvCxnSpPr>
            <a:cxnSpLocks/>
          </p:cNvCxnSpPr>
          <p:nvPr/>
        </p:nvCxnSpPr>
        <p:spPr bwMode="auto">
          <a:xfrm>
            <a:off x="4092419" y="4675179"/>
            <a:ext cx="82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D5759198-4B6C-10BA-3B5E-A1217EB5B6F1}"/>
              </a:ext>
            </a:extLst>
          </p:cNvPr>
          <p:cNvSpPr/>
          <p:nvPr/>
        </p:nvSpPr>
        <p:spPr>
          <a:xfrm>
            <a:off x="6148093" y="2510762"/>
            <a:ext cx="1000363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生存品質調查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Quality of Life Survey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D1FD909-A4BD-227F-55DC-5EF51244506C}"/>
              </a:ext>
            </a:extLst>
          </p:cNvPr>
          <p:cNvSpPr/>
          <p:nvPr/>
        </p:nvSpPr>
        <p:spPr>
          <a:xfrm>
            <a:off x="6148093" y="2949963"/>
            <a:ext cx="1000363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成本</a:t>
            </a:r>
            <a:r>
              <a:rPr lang="en-US" altLang="zh-CN" sz="900" dirty="0">
                <a:latin typeface="华文宋体" panose="02010600040101010101" pitchFamily="2" charset="-122"/>
                <a:ea typeface="华文宋体" panose="02010600040101010101" pitchFamily="2" charset="-122"/>
                <a:cs typeface="Times New Roman" panose="02020603050405020304" pitchFamily="18" charset="0"/>
              </a:rPr>
              <a:t>~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效用分析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Cost - Utility analysis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右大括号 32">
            <a:extLst>
              <a:ext uri="{FF2B5EF4-FFF2-40B4-BE49-F238E27FC236}">
                <a16:creationId xmlns:a16="http://schemas.microsoft.com/office/drawing/2014/main" id="{601D0DE2-4852-3F62-4B8A-E9185E574E25}"/>
              </a:ext>
            </a:extLst>
          </p:cNvPr>
          <p:cNvSpPr/>
          <p:nvPr/>
        </p:nvSpPr>
        <p:spPr bwMode="auto">
          <a:xfrm>
            <a:off x="7151775" y="2535031"/>
            <a:ext cx="252000" cy="8353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83E6815-8494-C50C-4C5A-63AC499BD0B4}"/>
              </a:ext>
            </a:extLst>
          </p:cNvPr>
          <p:cNvSpPr/>
          <p:nvPr/>
        </p:nvSpPr>
        <p:spPr>
          <a:xfrm>
            <a:off x="9313937" y="405051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決策樹模型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FBBA095-015F-8090-DF4C-35085836071D}"/>
              </a:ext>
            </a:extLst>
          </p:cNvPr>
          <p:cNvSpPr/>
          <p:nvPr/>
        </p:nvSpPr>
        <p:spPr>
          <a:xfrm>
            <a:off x="9313937" y="4327794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貝葉斯決策模型</a:t>
            </a:r>
          </a:p>
        </p:txBody>
      </p:sp>
      <p:sp>
        <p:nvSpPr>
          <p:cNvPr id="50" name="右大括号 49">
            <a:extLst>
              <a:ext uri="{FF2B5EF4-FFF2-40B4-BE49-F238E27FC236}">
                <a16:creationId xmlns:a16="http://schemas.microsoft.com/office/drawing/2014/main" id="{7EF0CC28-F17E-B1BF-BA86-752393BCC914}"/>
              </a:ext>
            </a:extLst>
          </p:cNvPr>
          <p:cNvSpPr/>
          <p:nvPr/>
        </p:nvSpPr>
        <p:spPr bwMode="auto">
          <a:xfrm>
            <a:off x="10772935" y="4050517"/>
            <a:ext cx="252000" cy="24612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6039483-FE76-69B0-6F39-AFB2CA861D8A}"/>
              </a:ext>
            </a:extLst>
          </p:cNvPr>
          <p:cNvSpPr/>
          <p:nvPr/>
        </p:nvSpPr>
        <p:spPr>
          <a:xfrm>
            <a:off x="9313937" y="4603630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無記憶隨機過程決策模型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D85DA7-21D7-5DD9-AB95-1EA60D5E3B5F}"/>
              </a:ext>
            </a:extLst>
          </p:cNvPr>
          <p:cNvSpPr/>
          <p:nvPr/>
        </p:nvSpPr>
        <p:spPr>
          <a:xfrm>
            <a:off x="9313937" y="4873159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敏感性分析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E0A7AF1-90AF-2B6C-2263-CDED10359442}"/>
              </a:ext>
            </a:extLst>
          </p:cNvPr>
          <p:cNvSpPr/>
          <p:nvPr/>
        </p:nvSpPr>
        <p:spPr>
          <a:xfrm>
            <a:off x="9313937" y="515043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閾值判別法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805A62A-2B7A-B56C-5DE1-1B6E38AFEBD5}"/>
              </a:ext>
            </a:extLst>
          </p:cNvPr>
          <p:cNvSpPr/>
          <p:nvPr/>
        </p:nvSpPr>
        <p:spPr>
          <a:xfrm>
            <a:off x="9313937" y="5426271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典則判別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E3D9A11-3B31-58C5-364B-0434D9A2D0E5}"/>
              </a:ext>
            </a:extLst>
          </p:cNvPr>
          <p:cNvSpPr/>
          <p:nvPr/>
        </p:nvSpPr>
        <p:spPr>
          <a:xfrm>
            <a:off x="9313937" y="5697363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最大似然判別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A8FC226-F4EE-ED0D-3EA8-D1FDB7DC3281}"/>
              </a:ext>
            </a:extLst>
          </p:cNvPr>
          <p:cNvSpPr/>
          <p:nvPr/>
        </p:nvSpPr>
        <p:spPr>
          <a:xfrm>
            <a:off x="9313937" y="5966892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邏輯回歸判別模型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AB31A4-6DD3-1AD3-EEA8-68E4EE8C3739}"/>
              </a:ext>
            </a:extLst>
          </p:cNvPr>
          <p:cNvSpPr/>
          <p:nvPr/>
        </p:nvSpPr>
        <p:spPr>
          <a:xfrm>
            <a:off x="9313937" y="624416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比例風險回歸判別模型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D79C615E-801D-687F-5D73-0735FEF2DB5C}"/>
              </a:ext>
            </a:extLst>
          </p:cNvPr>
          <p:cNvCxnSpPr>
            <a:cxnSpLocks/>
          </p:cNvCxnSpPr>
          <p:nvPr/>
        </p:nvCxnSpPr>
        <p:spPr bwMode="auto">
          <a:xfrm>
            <a:off x="8929961" y="3292416"/>
            <a:ext cx="118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103BB6E8-5C80-AB82-1B04-2BEE67677B4D}"/>
              </a:ext>
            </a:extLst>
          </p:cNvPr>
          <p:cNvSpPr/>
          <p:nvPr/>
        </p:nvSpPr>
        <p:spPr>
          <a:xfrm>
            <a:off x="3851212" y="1718289"/>
            <a:ext cx="4843553" cy="44121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證據推薦分級的評估、制訂、評價標準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Grades of Recommendation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Assessment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Development and Evaluation, GRADE 2014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A4E0740-7D67-FE26-5EA6-06A16C7CE78C}"/>
              </a:ext>
            </a:extLst>
          </p:cNvPr>
          <p:cNvSpPr/>
          <p:nvPr/>
        </p:nvSpPr>
        <p:spPr>
          <a:xfrm>
            <a:off x="3851212" y="1259000"/>
            <a:ext cx="484355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牛津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大學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循證醫學中心臨床研究證據分級與推薦強度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Oxford Centre for Evidence-based Medicine  Levels of Evidence 2001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EFA68C1-5637-7C18-0468-36B3A2402018}"/>
              </a:ext>
            </a:extLst>
          </p:cNvPr>
          <p:cNvSpPr/>
          <p:nvPr/>
        </p:nvSpPr>
        <p:spPr>
          <a:xfrm>
            <a:off x="-1368376" y="-576382"/>
            <a:ext cx="500956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診斷性原始研究品質評價清單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Standards for Reporting of Diagnostic Accuracy ( STARD ) 2003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33C51B18-367C-B33B-BADE-DF50B5C8BF83}"/>
              </a:ext>
            </a:extLst>
          </p:cNvPr>
          <p:cNvSpPr/>
          <p:nvPr/>
        </p:nvSpPr>
        <p:spPr>
          <a:xfrm>
            <a:off x="-1370827" y="-1019281"/>
            <a:ext cx="500956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荷蘭醫學雜誌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診斷準確性研究報告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的清單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development of QUADAS a tool for the quality assessment of studies of diagnostic accuracy included in systematic reviews 2006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DF425F8-5346-02B8-CC67-3C3AF1D26462}"/>
              </a:ext>
            </a:extLst>
          </p:cNvPr>
          <p:cNvSpPr/>
          <p:nvPr/>
        </p:nvSpPr>
        <p:spPr>
          <a:xfrm>
            <a:off x="4738845" y="3760901"/>
            <a:ext cx="2078033" cy="1643015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（概括稱品質控制方案）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3B8F8BC-E50E-FC97-DFD4-696ABFBF2CE5}"/>
              </a:ext>
            </a:extLst>
          </p:cNvPr>
          <p:cNvSpPr/>
          <p:nvPr/>
        </p:nvSpPr>
        <p:spPr>
          <a:xfrm>
            <a:off x="7196395" y="3760901"/>
            <a:ext cx="1793069" cy="1643015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（即診斷試驗的内涵）</a:t>
            </a:r>
          </a:p>
        </p:txBody>
      </p:sp>
      <p:sp>
        <p:nvSpPr>
          <p:cNvPr id="86" name="右大括号 85">
            <a:extLst>
              <a:ext uri="{FF2B5EF4-FFF2-40B4-BE49-F238E27FC236}">
                <a16:creationId xmlns:a16="http://schemas.microsoft.com/office/drawing/2014/main" id="{F6E107A0-E5C3-2C96-ADF3-61D2A89EDAAF}"/>
              </a:ext>
            </a:extLst>
          </p:cNvPr>
          <p:cNvSpPr/>
          <p:nvPr/>
        </p:nvSpPr>
        <p:spPr bwMode="auto">
          <a:xfrm>
            <a:off x="3642039" y="-1019281"/>
            <a:ext cx="252000" cy="88770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F230D3-A8BB-763A-1795-44A262F422F5}"/>
              </a:ext>
            </a:extLst>
          </p:cNvPr>
          <p:cNvSpPr/>
          <p:nvPr/>
        </p:nvSpPr>
        <p:spPr>
          <a:xfrm>
            <a:off x="3905731" y="-731079"/>
            <a:ext cx="2311851" cy="2689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Studies of accuracy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5DD3FA5-EA18-E278-8244-10AFB0668F56}"/>
              </a:ext>
            </a:extLst>
          </p:cNvPr>
          <p:cNvSpPr/>
          <p:nvPr/>
        </p:nvSpPr>
        <p:spPr>
          <a:xfrm>
            <a:off x="1110801" y="427947"/>
            <a:ext cx="5110591" cy="44121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系統評價研究設計的方法學報告規範的量表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kumimoji="0" lang="en-US" altLang="zh-TW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Development of AMSTAR: A Measurement Tool to Assess Systematic Reviews 2007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490B309-AC66-E4E1-2131-521A7CDC53E6}"/>
              </a:ext>
            </a:extLst>
          </p:cNvPr>
          <p:cNvSpPr/>
          <p:nvPr/>
        </p:nvSpPr>
        <p:spPr>
          <a:xfrm>
            <a:off x="1110801" y="-24192"/>
            <a:ext cx="5110592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研究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優先報告條目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Preferred reporting items for systematic reviews and meta-analyses: the PRISMA statement 2009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5" name="右大括号 94">
            <a:extLst>
              <a:ext uri="{FF2B5EF4-FFF2-40B4-BE49-F238E27FC236}">
                <a16:creationId xmlns:a16="http://schemas.microsoft.com/office/drawing/2014/main" id="{5FF51C98-9CD0-5EF5-27D1-3C3B472005A9}"/>
              </a:ext>
            </a:extLst>
          </p:cNvPr>
          <p:cNvSpPr/>
          <p:nvPr/>
        </p:nvSpPr>
        <p:spPr bwMode="auto">
          <a:xfrm>
            <a:off x="6223933" y="-727104"/>
            <a:ext cx="252000" cy="159666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3DA9687C-D7BA-88DA-4C4A-029E84A5E06A}"/>
              </a:ext>
            </a:extLst>
          </p:cNvPr>
          <p:cNvSpPr/>
          <p:nvPr/>
        </p:nvSpPr>
        <p:spPr>
          <a:xfrm>
            <a:off x="6483284" y="-63710"/>
            <a:ext cx="2214068" cy="2689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systematic review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報告規範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5A1562CE-0E23-1D25-BB57-2FD1F424BF03}"/>
              </a:ext>
            </a:extLst>
          </p:cNvPr>
          <p:cNvSpPr/>
          <p:nvPr/>
        </p:nvSpPr>
        <p:spPr>
          <a:xfrm>
            <a:off x="-3707476" y="-1386348"/>
            <a:ext cx="17639607" cy="9955162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診斷試驗應用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070DFCB-F20D-3AB4-684F-3C4FA7AD059C}"/>
              </a:ext>
            </a:extLst>
          </p:cNvPr>
          <p:cNvCxnSpPr>
            <a:cxnSpLocks/>
          </p:cNvCxnSpPr>
          <p:nvPr/>
        </p:nvCxnSpPr>
        <p:spPr>
          <a:xfrm>
            <a:off x="459546" y="805940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DC1B05D-006D-E276-2AD0-242612D7541B}"/>
              </a:ext>
            </a:extLst>
          </p:cNvPr>
          <p:cNvSpPr/>
          <p:nvPr/>
        </p:nvSpPr>
        <p:spPr>
          <a:xfrm>
            <a:off x="-295162" y="790512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31269E0-EDD1-5D82-5962-D677D2AA64C9}"/>
              </a:ext>
            </a:extLst>
          </p:cNvPr>
          <p:cNvCxnSpPr>
            <a:cxnSpLocks/>
          </p:cNvCxnSpPr>
          <p:nvPr/>
        </p:nvCxnSpPr>
        <p:spPr>
          <a:xfrm>
            <a:off x="3014254" y="806054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A9CA49F-2BFB-438A-3718-876F7AFD75F6}"/>
              </a:ext>
            </a:extLst>
          </p:cNvPr>
          <p:cNvSpPr/>
          <p:nvPr/>
        </p:nvSpPr>
        <p:spPr>
          <a:xfrm>
            <a:off x="2259546" y="790626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運行結果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432AED1F-7B7E-25B7-BD72-458321972E61}"/>
              </a:ext>
            </a:extLst>
          </p:cNvPr>
          <p:cNvCxnSpPr>
            <a:cxnSpLocks/>
          </p:cNvCxnSpPr>
          <p:nvPr/>
        </p:nvCxnSpPr>
        <p:spPr>
          <a:xfrm>
            <a:off x="5568282" y="805511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948E1D1A-F157-575B-47D0-415136BB13C4}"/>
              </a:ext>
            </a:extLst>
          </p:cNvPr>
          <p:cNvSpPr/>
          <p:nvPr/>
        </p:nvSpPr>
        <p:spPr>
          <a:xfrm>
            <a:off x="4813574" y="790083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特定事件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D4C6F2C0-87DB-0615-437B-316032E6ED1A}"/>
              </a:ext>
            </a:extLst>
          </p:cNvPr>
          <p:cNvCxnSpPr>
            <a:cxnSpLocks/>
          </p:cNvCxnSpPr>
          <p:nvPr/>
        </p:nvCxnSpPr>
        <p:spPr>
          <a:xfrm>
            <a:off x="8122990" y="805625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861AEDB6-A465-51BD-8A4F-8865D3C9D98D}"/>
              </a:ext>
            </a:extLst>
          </p:cNvPr>
          <p:cNvSpPr/>
          <p:nvPr/>
        </p:nvSpPr>
        <p:spPr>
          <a:xfrm>
            <a:off x="7368282" y="790197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特定現象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85795FB-AD6F-5E6B-B7BE-9BD53AA167F9}"/>
              </a:ext>
            </a:extLst>
          </p:cNvPr>
          <p:cNvSpPr/>
          <p:nvPr/>
        </p:nvSpPr>
        <p:spPr>
          <a:xfrm>
            <a:off x="9922310" y="7900831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用戶價值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881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6F8DA31-0C68-E10F-6613-75C8A3CB904C}"/>
              </a:ext>
            </a:extLst>
          </p:cNvPr>
          <p:cNvSpPr/>
          <p:nvPr/>
        </p:nvSpPr>
        <p:spPr>
          <a:xfrm>
            <a:off x="-651125" y="1201170"/>
            <a:ext cx="1935924" cy="25200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特定臨床情況下的質量規範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620ABB-89FC-8354-1DD8-073091C62E03}"/>
              </a:ext>
            </a:extLst>
          </p:cNvPr>
          <p:cNvSpPr/>
          <p:nvPr/>
        </p:nvSpPr>
        <p:spPr>
          <a:xfrm>
            <a:off x="-400278" y="1457061"/>
            <a:ext cx="1685077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基於生物變異的一般質量規範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BED561-6884-B8F4-320E-C044F0E4C264}"/>
              </a:ext>
            </a:extLst>
          </p:cNvPr>
          <p:cNvSpPr/>
          <p:nvPr/>
        </p:nvSpPr>
        <p:spPr>
          <a:xfrm>
            <a:off x="-400278" y="1712952"/>
            <a:ext cx="1685077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基於醫療觀點的一般質量規範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DDB0C28-4C0C-3142-102F-39A535B0ACBE}"/>
              </a:ext>
            </a:extLst>
          </p:cNvPr>
          <p:cNvSpPr/>
          <p:nvPr/>
        </p:nvSpPr>
        <p:spPr>
          <a:xfrm>
            <a:off x="-167397" y="1969737"/>
            <a:ext cx="1454244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國家或國際專家小組指南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BE4B4-E39E-2509-715A-D49E9237F591}"/>
              </a:ext>
            </a:extLst>
          </p:cNvPr>
          <p:cNvSpPr/>
          <p:nvPr/>
        </p:nvSpPr>
        <p:spPr>
          <a:xfrm>
            <a:off x="-513646" y="2224734"/>
            <a:ext cx="1800493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0201BF-CB36-772F-5E5D-E9AF565E5F2F}"/>
              </a:ext>
            </a:extLst>
          </p:cNvPr>
          <p:cNvSpPr/>
          <p:nvPr/>
        </p:nvSpPr>
        <p:spPr>
          <a:xfrm>
            <a:off x="-282813" y="2480625"/>
            <a:ext cx="1569660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由法規機構制定的質量規範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5ECD17-499F-F7CE-B9D5-EDC1797A9045}"/>
              </a:ext>
            </a:extLst>
          </p:cNvPr>
          <p:cNvSpPr/>
          <p:nvPr/>
        </p:nvSpPr>
        <p:spPr>
          <a:xfrm>
            <a:off x="-859895" y="2736575"/>
            <a:ext cx="2146742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C6397E-F7AB-CF84-9795-83EFC82A1743}"/>
              </a:ext>
            </a:extLst>
          </p:cNvPr>
          <p:cNvSpPr/>
          <p:nvPr/>
        </p:nvSpPr>
        <p:spPr>
          <a:xfrm>
            <a:off x="-975311" y="2992466"/>
            <a:ext cx="2262158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已發表的能力驗證和室間質量評價的數據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F08F52-A90C-97A2-9D9D-F1E884912F90}"/>
              </a:ext>
            </a:extLst>
          </p:cNvPr>
          <p:cNvSpPr/>
          <p:nvPr/>
        </p:nvSpPr>
        <p:spPr>
          <a:xfrm>
            <a:off x="-54029" y="3248927"/>
            <a:ext cx="1338828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已發表的特定的方法學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3299A51C-81DF-15E3-88BF-3083CB79D83B}"/>
              </a:ext>
            </a:extLst>
          </p:cNvPr>
          <p:cNvSpPr/>
          <p:nvPr/>
        </p:nvSpPr>
        <p:spPr bwMode="auto">
          <a:xfrm>
            <a:off x="1284798" y="1201170"/>
            <a:ext cx="252000" cy="22997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BDD42E-59D4-85FF-8E4C-44E9F25F444A}"/>
              </a:ext>
            </a:extLst>
          </p:cNvPr>
          <p:cNvSpPr/>
          <p:nvPr/>
        </p:nvSpPr>
        <p:spPr>
          <a:xfrm>
            <a:off x="1536684" y="2216915"/>
            <a:ext cx="1107996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醫學檢驗品質目標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21E7AB4-ECC2-D2A8-3FC3-82C532FAC45A}"/>
              </a:ext>
            </a:extLst>
          </p:cNvPr>
          <p:cNvSpPr/>
          <p:nvPr/>
        </p:nvSpPr>
        <p:spPr>
          <a:xfrm>
            <a:off x="-651125" y="3628613"/>
            <a:ext cx="193592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刻度變差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8D4BAD-F9D4-8968-76D5-2740CA50AAA1}"/>
              </a:ext>
            </a:extLst>
          </p:cNvPr>
          <p:cNvSpPr/>
          <p:nvPr/>
        </p:nvSpPr>
        <p:spPr>
          <a:xfrm>
            <a:off x="-227153" y="3884504"/>
            <a:ext cx="1511952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位置變差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8D32517-A7E8-0646-2CF6-CA5CBF6A516A}"/>
              </a:ext>
            </a:extLst>
          </p:cNvPr>
          <p:cNvSpPr/>
          <p:nvPr/>
        </p:nvSpPr>
        <p:spPr>
          <a:xfrm>
            <a:off x="-342571" y="4140395"/>
            <a:ext cx="1627370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抗干擾能力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61D0BB8-8BE0-08C7-DB32-A03838953822}"/>
              </a:ext>
            </a:extLst>
          </p:cNvPr>
          <p:cNvSpPr/>
          <p:nvPr/>
        </p:nvSpPr>
        <p:spPr>
          <a:xfrm>
            <a:off x="-51981" y="4397180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檢出限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D45EEF-36A2-B7D6-F1FF-6D751501C2DD}"/>
              </a:ext>
            </a:extLst>
          </p:cNvPr>
          <p:cNvSpPr/>
          <p:nvPr/>
        </p:nvSpPr>
        <p:spPr>
          <a:xfrm>
            <a:off x="-51981" y="4652177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穩定性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9D5216B-21DF-99BE-8824-CBA7AF8CC775}"/>
              </a:ext>
            </a:extLst>
          </p:cNvPr>
          <p:cNvSpPr/>
          <p:nvPr/>
        </p:nvSpPr>
        <p:spPr>
          <a:xfrm>
            <a:off x="-744478" y="4908068"/>
            <a:ext cx="2031325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檢驗系統量值傳遞測量不確定度估計</a:t>
            </a:r>
          </a:p>
        </p:txBody>
      </p:sp>
      <p:sp>
        <p:nvSpPr>
          <p:cNvPr id="34" name="右大括号 33">
            <a:extLst>
              <a:ext uri="{FF2B5EF4-FFF2-40B4-BE49-F238E27FC236}">
                <a16:creationId xmlns:a16="http://schemas.microsoft.com/office/drawing/2014/main" id="{82AD4154-9A4A-305E-3F2E-D7FBA172AB26}"/>
              </a:ext>
            </a:extLst>
          </p:cNvPr>
          <p:cNvSpPr/>
          <p:nvPr/>
        </p:nvSpPr>
        <p:spPr bwMode="auto">
          <a:xfrm>
            <a:off x="1284798" y="3628613"/>
            <a:ext cx="252000" cy="15470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600EA2D-9B56-12C7-BCC2-5E9BEEA20225}"/>
              </a:ext>
            </a:extLst>
          </p:cNvPr>
          <p:cNvSpPr/>
          <p:nvPr/>
        </p:nvSpPr>
        <p:spPr>
          <a:xfrm>
            <a:off x="1534749" y="4263361"/>
            <a:ext cx="1338828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檢驗系統測量性能評估</a:t>
            </a:r>
          </a:p>
        </p:txBody>
      </p:sp>
      <p:sp>
        <p:nvSpPr>
          <p:cNvPr id="36" name="右大括号 35">
            <a:extLst>
              <a:ext uri="{FF2B5EF4-FFF2-40B4-BE49-F238E27FC236}">
                <a16:creationId xmlns:a16="http://schemas.microsoft.com/office/drawing/2014/main" id="{F5115843-4E59-4C65-A7AF-4EC255E36238}"/>
              </a:ext>
            </a:extLst>
          </p:cNvPr>
          <p:cNvSpPr/>
          <p:nvPr/>
        </p:nvSpPr>
        <p:spPr bwMode="auto">
          <a:xfrm>
            <a:off x="2878957" y="2216915"/>
            <a:ext cx="252000" cy="231408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2AF2178-556B-0CCF-FB47-6F22FDDF7795}"/>
              </a:ext>
            </a:extLst>
          </p:cNvPr>
          <p:cNvSpPr/>
          <p:nvPr/>
        </p:nvSpPr>
        <p:spPr>
          <a:xfrm>
            <a:off x="3130956" y="3233290"/>
            <a:ext cx="1107996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醫學上重要的誤差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2281A2A-33E5-FDC3-6D86-F7C7D1B1439C}"/>
              </a:ext>
            </a:extLst>
          </p:cNvPr>
          <p:cNvSpPr/>
          <p:nvPr/>
        </p:nvSpPr>
        <p:spPr>
          <a:xfrm>
            <a:off x="2929458" y="6360380"/>
            <a:ext cx="1107996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過程能力指數分級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F1A845C-88D9-021C-CDB9-6D56F30DDC72}"/>
              </a:ext>
            </a:extLst>
          </p:cNvPr>
          <p:cNvSpPr/>
          <p:nvPr/>
        </p:nvSpPr>
        <p:spPr>
          <a:xfrm>
            <a:off x="643304" y="5609073"/>
            <a:ext cx="203204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誤差檢出的平均運行測量批數</a:t>
            </a:r>
          </a:p>
        </p:txBody>
      </p:sp>
      <p:sp>
        <p:nvSpPr>
          <p:cNvPr id="46" name="右大括号 45">
            <a:extLst>
              <a:ext uri="{FF2B5EF4-FFF2-40B4-BE49-F238E27FC236}">
                <a16:creationId xmlns:a16="http://schemas.microsoft.com/office/drawing/2014/main" id="{AD9834BF-393D-6717-8B0A-E57918F21802}"/>
              </a:ext>
            </a:extLst>
          </p:cNvPr>
          <p:cNvSpPr/>
          <p:nvPr/>
        </p:nvSpPr>
        <p:spPr bwMode="auto">
          <a:xfrm flipH="1">
            <a:off x="393353" y="5607753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10201A4-A714-7AE8-5CFF-545200F31357}"/>
              </a:ext>
            </a:extLst>
          </p:cNvPr>
          <p:cNvSpPr/>
          <p:nvPr/>
        </p:nvSpPr>
        <p:spPr>
          <a:xfrm>
            <a:off x="-1592667" y="5604089"/>
            <a:ext cx="1791046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檢驗系統誤差發生分布特徵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D79E4AB-DAF0-7991-3550-56FB140CD0A7}"/>
              </a:ext>
            </a:extLst>
          </p:cNvPr>
          <p:cNvSpPr/>
          <p:nvPr/>
        </p:nvSpPr>
        <p:spPr>
          <a:xfrm>
            <a:off x="643304" y="5879200"/>
            <a:ext cx="203204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兩次假失控之間的平均運行測量批數</a:t>
            </a:r>
          </a:p>
        </p:txBody>
      </p:sp>
      <p:sp>
        <p:nvSpPr>
          <p:cNvPr id="49" name="右大括号 48">
            <a:extLst>
              <a:ext uri="{FF2B5EF4-FFF2-40B4-BE49-F238E27FC236}">
                <a16:creationId xmlns:a16="http://schemas.microsoft.com/office/drawing/2014/main" id="{77D1A633-69B5-9903-DBE2-2B35809CF4E7}"/>
              </a:ext>
            </a:extLst>
          </p:cNvPr>
          <p:cNvSpPr/>
          <p:nvPr/>
        </p:nvSpPr>
        <p:spPr bwMode="auto">
          <a:xfrm>
            <a:off x="2623773" y="5605848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98D45E3E-C68A-B03F-A098-B713392DEA47}"/>
              </a:ext>
            </a:extLst>
          </p:cNvPr>
          <p:cNvSpPr/>
          <p:nvPr/>
        </p:nvSpPr>
        <p:spPr>
          <a:xfrm>
            <a:off x="3042080" y="5607168"/>
            <a:ext cx="99441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功效函數圖</a:t>
            </a:r>
          </a:p>
        </p:txBody>
      </p:sp>
      <p:sp>
        <p:nvSpPr>
          <p:cNvPr id="52" name="右大括号 51">
            <a:extLst>
              <a:ext uri="{FF2B5EF4-FFF2-40B4-BE49-F238E27FC236}">
                <a16:creationId xmlns:a16="http://schemas.microsoft.com/office/drawing/2014/main" id="{84047388-AA8D-0DB1-CC10-94F065E1B8AF}"/>
              </a:ext>
            </a:extLst>
          </p:cNvPr>
          <p:cNvSpPr/>
          <p:nvPr/>
        </p:nvSpPr>
        <p:spPr bwMode="auto">
          <a:xfrm flipH="1">
            <a:off x="2792129" y="5605848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4B4B9B1-43AC-4F4A-8192-FC08D4E6A9CB}"/>
              </a:ext>
            </a:extLst>
          </p:cNvPr>
          <p:cNvSpPr/>
          <p:nvPr/>
        </p:nvSpPr>
        <p:spPr>
          <a:xfrm>
            <a:off x="3042081" y="5877295"/>
            <a:ext cx="994418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操作過程規範圖</a:t>
            </a:r>
          </a:p>
        </p:txBody>
      </p:sp>
      <p:sp>
        <p:nvSpPr>
          <p:cNvPr id="54" name="右大括号 53">
            <a:extLst>
              <a:ext uri="{FF2B5EF4-FFF2-40B4-BE49-F238E27FC236}">
                <a16:creationId xmlns:a16="http://schemas.microsoft.com/office/drawing/2014/main" id="{99C92645-D18E-21C1-6A63-89408599F7F2}"/>
              </a:ext>
            </a:extLst>
          </p:cNvPr>
          <p:cNvSpPr/>
          <p:nvPr/>
        </p:nvSpPr>
        <p:spPr bwMode="auto">
          <a:xfrm>
            <a:off x="3986952" y="5603942"/>
            <a:ext cx="252000" cy="1024075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右大括号 56">
            <a:extLst>
              <a:ext uri="{FF2B5EF4-FFF2-40B4-BE49-F238E27FC236}">
                <a16:creationId xmlns:a16="http://schemas.microsoft.com/office/drawing/2014/main" id="{695AF1B3-6B8E-B124-1E0B-4653854A7BF1}"/>
              </a:ext>
            </a:extLst>
          </p:cNvPr>
          <p:cNvSpPr/>
          <p:nvPr/>
        </p:nvSpPr>
        <p:spPr bwMode="auto">
          <a:xfrm>
            <a:off x="4238952" y="3233290"/>
            <a:ext cx="252000" cy="28830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8206CEB-EA32-66A4-7069-CD8464826F9B}"/>
              </a:ext>
            </a:extLst>
          </p:cNvPr>
          <p:cNvSpPr/>
          <p:nvPr/>
        </p:nvSpPr>
        <p:spPr>
          <a:xfrm>
            <a:off x="5370019" y="4270719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檢測批質控品測定數量</a:t>
            </a:r>
          </a:p>
        </p:txBody>
      </p:sp>
      <p:sp>
        <p:nvSpPr>
          <p:cNvPr id="61" name="右大括号 60">
            <a:extLst>
              <a:ext uri="{FF2B5EF4-FFF2-40B4-BE49-F238E27FC236}">
                <a16:creationId xmlns:a16="http://schemas.microsoft.com/office/drawing/2014/main" id="{EF24CEDA-8F97-DFD4-BE62-A144C96D4D6C}"/>
              </a:ext>
            </a:extLst>
          </p:cNvPr>
          <p:cNvSpPr/>
          <p:nvPr/>
        </p:nvSpPr>
        <p:spPr bwMode="auto">
          <a:xfrm flipH="1">
            <a:off x="5118163" y="4271890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DF3EE1D-6508-6E27-4FFB-D855B0481AA8}"/>
              </a:ext>
            </a:extLst>
          </p:cNvPr>
          <p:cNvSpPr/>
          <p:nvPr/>
        </p:nvSpPr>
        <p:spPr>
          <a:xfrm>
            <a:off x="5370019" y="4540846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控制規則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9E4680C-5CD4-36FC-BCA7-EA0552436330}"/>
              </a:ext>
            </a:extLst>
          </p:cNvPr>
          <p:cNvSpPr/>
          <p:nvPr/>
        </p:nvSpPr>
        <p:spPr>
          <a:xfrm>
            <a:off x="5369528" y="4809448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最佳檢測批長度</a:t>
            </a:r>
          </a:p>
        </p:txBody>
      </p:sp>
      <p:sp>
        <p:nvSpPr>
          <p:cNvPr id="65" name="右大括号 64">
            <a:extLst>
              <a:ext uri="{FF2B5EF4-FFF2-40B4-BE49-F238E27FC236}">
                <a16:creationId xmlns:a16="http://schemas.microsoft.com/office/drawing/2014/main" id="{1FFB99C4-C68F-088C-B283-8F367B936DBB}"/>
              </a:ext>
            </a:extLst>
          </p:cNvPr>
          <p:cNvSpPr/>
          <p:nvPr/>
        </p:nvSpPr>
        <p:spPr bwMode="auto">
          <a:xfrm>
            <a:off x="6662131" y="4264464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D73653D-21E9-4C0F-7A09-6D7FDCCB9DBD}"/>
              </a:ext>
            </a:extLst>
          </p:cNvPr>
          <p:cNvSpPr/>
          <p:nvPr/>
        </p:nvSpPr>
        <p:spPr>
          <a:xfrm>
            <a:off x="7662961" y="4263099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過程的品質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右大括号 66">
            <a:extLst>
              <a:ext uri="{FF2B5EF4-FFF2-40B4-BE49-F238E27FC236}">
                <a16:creationId xmlns:a16="http://schemas.microsoft.com/office/drawing/2014/main" id="{6E99C7AD-3FDF-CDF0-19B0-4E05F2F4C173}"/>
              </a:ext>
            </a:extLst>
          </p:cNvPr>
          <p:cNvSpPr/>
          <p:nvPr/>
        </p:nvSpPr>
        <p:spPr bwMode="auto">
          <a:xfrm flipH="1">
            <a:off x="7411104" y="4264270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C38976B-6AAC-CCFE-C6B9-E041BF50ABB1}"/>
              </a:ext>
            </a:extLst>
          </p:cNvPr>
          <p:cNvSpPr/>
          <p:nvPr/>
        </p:nvSpPr>
        <p:spPr>
          <a:xfrm>
            <a:off x="7662961" y="4533226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檢測過程的生產率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E08CC0AE-27D7-28AE-92EE-78B603D56755}"/>
              </a:ext>
            </a:extLst>
          </p:cNvPr>
          <p:cNvSpPr/>
          <p:nvPr/>
        </p:nvSpPr>
        <p:spPr>
          <a:xfrm>
            <a:off x="7662470" y="4801828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檢測過程的風險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右大括号 69">
            <a:extLst>
              <a:ext uri="{FF2B5EF4-FFF2-40B4-BE49-F238E27FC236}">
                <a16:creationId xmlns:a16="http://schemas.microsoft.com/office/drawing/2014/main" id="{37C797F5-43F4-F16F-1581-8D8970A51A07}"/>
              </a:ext>
            </a:extLst>
          </p:cNvPr>
          <p:cNvSpPr/>
          <p:nvPr/>
        </p:nvSpPr>
        <p:spPr bwMode="auto">
          <a:xfrm>
            <a:off x="8697897" y="926767"/>
            <a:ext cx="252000" cy="518958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06C2C0A-8DC6-B230-BAB8-88A5AF13B4F6}"/>
              </a:ext>
            </a:extLst>
          </p:cNvPr>
          <p:cNvSpPr/>
          <p:nvPr/>
        </p:nvSpPr>
        <p:spPr>
          <a:xfrm>
            <a:off x="7662470" y="5853683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診斷準確度估計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3592F8E8-22ED-91FE-15CE-CF3D80C5A7EB}"/>
              </a:ext>
            </a:extLst>
          </p:cNvPr>
          <p:cNvSpPr/>
          <p:nvPr/>
        </p:nvSpPr>
        <p:spPr>
          <a:xfrm>
            <a:off x="7661979" y="3157353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診斷的經濟評價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348DDCF-536B-34DE-B069-86C5FF19EBD1}"/>
              </a:ext>
            </a:extLst>
          </p:cNvPr>
          <p:cNvSpPr/>
          <p:nvPr/>
        </p:nvSpPr>
        <p:spPr>
          <a:xfrm>
            <a:off x="10393319" y="3366979"/>
            <a:ext cx="1338829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證據評價、分級、推薦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5C1C384-06AA-06B5-E784-80CCA104C491}"/>
              </a:ext>
            </a:extLst>
          </p:cNvPr>
          <p:cNvSpPr/>
          <p:nvPr/>
        </p:nvSpPr>
        <p:spPr>
          <a:xfrm>
            <a:off x="5417162" y="5605758"/>
            <a:ext cx="179306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診斷試驗的系統評價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62C7AC33-A5DB-6335-65C5-75C674F8D523}"/>
              </a:ext>
            </a:extLst>
          </p:cNvPr>
          <p:cNvSpPr/>
          <p:nvPr/>
        </p:nvSpPr>
        <p:spPr>
          <a:xfrm>
            <a:off x="10854754" y="5179507"/>
            <a:ext cx="877394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臨床決策分析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8" name="右大括号 77">
            <a:extLst>
              <a:ext uri="{FF2B5EF4-FFF2-40B4-BE49-F238E27FC236}">
                <a16:creationId xmlns:a16="http://schemas.microsoft.com/office/drawing/2014/main" id="{980465CE-C280-7DCA-3347-7C4FB6BECC0E}"/>
              </a:ext>
            </a:extLst>
          </p:cNvPr>
          <p:cNvSpPr/>
          <p:nvPr/>
        </p:nvSpPr>
        <p:spPr bwMode="auto">
          <a:xfrm>
            <a:off x="11735467" y="3366979"/>
            <a:ext cx="252000" cy="209200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01F478B-FCDB-40B7-7580-262AD6427108}"/>
              </a:ext>
            </a:extLst>
          </p:cNvPr>
          <p:cNvSpPr/>
          <p:nvPr/>
        </p:nvSpPr>
        <p:spPr>
          <a:xfrm>
            <a:off x="11990787" y="4270456"/>
            <a:ext cx="98969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診斷試驗的應用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右大括号 11">
            <a:extLst>
              <a:ext uri="{FF2B5EF4-FFF2-40B4-BE49-F238E27FC236}">
                <a16:creationId xmlns:a16="http://schemas.microsoft.com/office/drawing/2014/main" id="{97CE75E3-C4FA-A792-84CC-6D1B0C80FB1D}"/>
              </a:ext>
            </a:extLst>
          </p:cNvPr>
          <p:cNvSpPr/>
          <p:nvPr/>
        </p:nvSpPr>
        <p:spPr bwMode="auto">
          <a:xfrm>
            <a:off x="201699" y="5606936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68BD18B-D447-9943-A133-8EB35DEC86A4}"/>
              </a:ext>
            </a:extLst>
          </p:cNvPr>
          <p:cNvSpPr/>
          <p:nvPr/>
        </p:nvSpPr>
        <p:spPr>
          <a:xfrm>
            <a:off x="-1592654" y="5880729"/>
            <a:ext cx="179306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的計算機仿真分析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BE40D9-4889-0252-26F4-A06538664245}"/>
              </a:ext>
            </a:extLst>
          </p:cNvPr>
          <p:cNvSpPr/>
          <p:nvPr/>
        </p:nvSpPr>
        <p:spPr>
          <a:xfrm>
            <a:off x="5419185" y="6093026"/>
            <a:ext cx="1791046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受衆檢測值的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分布特徵</a:t>
            </a:r>
          </a:p>
        </p:txBody>
      </p:sp>
      <p:sp>
        <p:nvSpPr>
          <p:cNvPr id="19" name="右大括号 18">
            <a:extLst>
              <a:ext uri="{FF2B5EF4-FFF2-40B4-BE49-F238E27FC236}">
                <a16:creationId xmlns:a16="http://schemas.microsoft.com/office/drawing/2014/main" id="{1ABE0610-1DAA-1EB1-A9AA-02094ED5BE46}"/>
              </a:ext>
            </a:extLst>
          </p:cNvPr>
          <p:cNvSpPr/>
          <p:nvPr/>
        </p:nvSpPr>
        <p:spPr bwMode="auto">
          <a:xfrm>
            <a:off x="7213551" y="6095873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7508922-B136-BE68-A5F5-8C0AB4F24FE6}"/>
              </a:ext>
            </a:extLst>
          </p:cNvPr>
          <p:cNvSpPr/>
          <p:nvPr/>
        </p:nvSpPr>
        <p:spPr>
          <a:xfrm>
            <a:off x="4450948" y="6369666"/>
            <a:ext cx="276131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隨機採樣和無記憶隨機過程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的計算機仿真分析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786407E-2173-2D4A-1816-28AEC2F69DE7}"/>
              </a:ext>
            </a:extLst>
          </p:cNvPr>
          <p:cNvCxnSpPr>
            <a:cxnSpLocks/>
          </p:cNvCxnSpPr>
          <p:nvPr/>
        </p:nvCxnSpPr>
        <p:spPr bwMode="auto">
          <a:xfrm>
            <a:off x="6890341" y="4667923"/>
            <a:ext cx="54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右大括号 21">
            <a:extLst>
              <a:ext uri="{FF2B5EF4-FFF2-40B4-BE49-F238E27FC236}">
                <a16:creationId xmlns:a16="http://schemas.microsoft.com/office/drawing/2014/main" id="{2E2BDEBB-DEF0-0AC0-A153-3E8C4E67E583}"/>
              </a:ext>
            </a:extLst>
          </p:cNvPr>
          <p:cNvSpPr/>
          <p:nvPr/>
        </p:nvSpPr>
        <p:spPr bwMode="auto">
          <a:xfrm>
            <a:off x="7406262" y="5605758"/>
            <a:ext cx="252000" cy="763907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E8CBA3B-F872-E8ED-CECD-E08192E3E256}"/>
              </a:ext>
            </a:extLst>
          </p:cNvPr>
          <p:cNvCxnSpPr>
            <a:cxnSpLocks/>
          </p:cNvCxnSpPr>
          <p:nvPr/>
        </p:nvCxnSpPr>
        <p:spPr bwMode="auto">
          <a:xfrm>
            <a:off x="4477766" y="4675179"/>
            <a:ext cx="64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D5759198-4B6C-10BA-3B5E-A1217EB5B6F1}"/>
              </a:ext>
            </a:extLst>
          </p:cNvPr>
          <p:cNvSpPr/>
          <p:nvPr/>
        </p:nvSpPr>
        <p:spPr>
          <a:xfrm>
            <a:off x="6402089" y="3013156"/>
            <a:ext cx="1000363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生存品質調查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D1FD909-A4BD-227F-55DC-5EF51244506C}"/>
              </a:ext>
            </a:extLst>
          </p:cNvPr>
          <p:cNvSpPr/>
          <p:nvPr/>
        </p:nvSpPr>
        <p:spPr>
          <a:xfrm>
            <a:off x="6402089" y="3290432"/>
            <a:ext cx="1000363" cy="277576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成本</a:t>
            </a:r>
            <a:r>
              <a:rPr lang="en-US" altLang="zh-CN" sz="900" dirty="0">
                <a:latin typeface="华文宋体" panose="02010600040101010101" pitchFamily="2" charset="-122"/>
                <a:ea typeface="华文宋体" panose="02010600040101010101" pitchFamily="2" charset="-122"/>
                <a:cs typeface="Times New Roman" panose="02020603050405020304" pitchFamily="18" charset="0"/>
              </a:rPr>
              <a:t>~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效用分析</a:t>
            </a:r>
          </a:p>
        </p:txBody>
      </p:sp>
      <p:sp>
        <p:nvSpPr>
          <p:cNvPr id="33" name="右大括号 32">
            <a:extLst>
              <a:ext uri="{FF2B5EF4-FFF2-40B4-BE49-F238E27FC236}">
                <a16:creationId xmlns:a16="http://schemas.microsoft.com/office/drawing/2014/main" id="{601D0DE2-4852-3F62-4B8A-E9185E574E25}"/>
              </a:ext>
            </a:extLst>
          </p:cNvPr>
          <p:cNvSpPr/>
          <p:nvPr/>
        </p:nvSpPr>
        <p:spPr bwMode="auto">
          <a:xfrm>
            <a:off x="7405771" y="3013155"/>
            <a:ext cx="252000" cy="55485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83E6815-8494-C50C-4C5A-63AC499BD0B4}"/>
              </a:ext>
            </a:extLst>
          </p:cNvPr>
          <p:cNvSpPr/>
          <p:nvPr/>
        </p:nvSpPr>
        <p:spPr>
          <a:xfrm>
            <a:off x="9141557" y="408330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決策樹模型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FBBA095-015F-8090-DF4C-35085836071D}"/>
              </a:ext>
            </a:extLst>
          </p:cNvPr>
          <p:cNvSpPr/>
          <p:nvPr/>
        </p:nvSpPr>
        <p:spPr>
          <a:xfrm>
            <a:off x="9141557" y="4360581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貝葉斯決策模型</a:t>
            </a:r>
          </a:p>
        </p:txBody>
      </p:sp>
      <p:sp>
        <p:nvSpPr>
          <p:cNvPr id="50" name="右大括号 49">
            <a:extLst>
              <a:ext uri="{FF2B5EF4-FFF2-40B4-BE49-F238E27FC236}">
                <a16:creationId xmlns:a16="http://schemas.microsoft.com/office/drawing/2014/main" id="{7EF0CC28-F17E-B1BF-BA86-752393BCC914}"/>
              </a:ext>
            </a:extLst>
          </p:cNvPr>
          <p:cNvSpPr/>
          <p:nvPr/>
        </p:nvSpPr>
        <p:spPr bwMode="auto">
          <a:xfrm>
            <a:off x="10600555" y="4083304"/>
            <a:ext cx="252000" cy="24612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6039483-FE76-69B0-6F39-AFB2CA861D8A}"/>
              </a:ext>
            </a:extLst>
          </p:cNvPr>
          <p:cNvSpPr/>
          <p:nvPr/>
        </p:nvSpPr>
        <p:spPr>
          <a:xfrm>
            <a:off x="9141557" y="4636417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無記憶隨機過程決策模型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D85DA7-21D7-5DD9-AB95-1EA60D5E3B5F}"/>
              </a:ext>
            </a:extLst>
          </p:cNvPr>
          <p:cNvSpPr/>
          <p:nvPr/>
        </p:nvSpPr>
        <p:spPr>
          <a:xfrm>
            <a:off x="9141557" y="4905946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敏感性分析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E0A7AF1-90AF-2B6C-2263-CDED10359442}"/>
              </a:ext>
            </a:extLst>
          </p:cNvPr>
          <p:cNvSpPr/>
          <p:nvPr/>
        </p:nvSpPr>
        <p:spPr>
          <a:xfrm>
            <a:off x="9141557" y="5183222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閾值判別法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805A62A-2B7A-B56C-5DE1-1B6E38AFEBD5}"/>
              </a:ext>
            </a:extLst>
          </p:cNvPr>
          <p:cNvSpPr/>
          <p:nvPr/>
        </p:nvSpPr>
        <p:spPr>
          <a:xfrm>
            <a:off x="9141557" y="545905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典則判別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E3D9A11-3B31-58C5-364B-0434D9A2D0E5}"/>
              </a:ext>
            </a:extLst>
          </p:cNvPr>
          <p:cNvSpPr/>
          <p:nvPr/>
        </p:nvSpPr>
        <p:spPr>
          <a:xfrm>
            <a:off x="9141557" y="5730150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最大似然判別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A8FC226-F4EE-ED0D-3EA8-D1FDB7DC3281}"/>
              </a:ext>
            </a:extLst>
          </p:cNvPr>
          <p:cNvSpPr/>
          <p:nvPr/>
        </p:nvSpPr>
        <p:spPr>
          <a:xfrm>
            <a:off x="9141557" y="5999679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邏輯回歸判別模型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AB31A4-6DD3-1AD3-EEA8-68E4EE8C3739}"/>
              </a:ext>
            </a:extLst>
          </p:cNvPr>
          <p:cNvSpPr/>
          <p:nvPr/>
        </p:nvSpPr>
        <p:spPr>
          <a:xfrm>
            <a:off x="9141557" y="627695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比例風險回歸判別模型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D79C615E-801D-687F-5D73-0735FEF2DB5C}"/>
              </a:ext>
            </a:extLst>
          </p:cNvPr>
          <p:cNvCxnSpPr>
            <a:cxnSpLocks/>
          </p:cNvCxnSpPr>
          <p:nvPr/>
        </p:nvCxnSpPr>
        <p:spPr bwMode="auto">
          <a:xfrm>
            <a:off x="8929961" y="3519513"/>
            <a:ext cx="1476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103BB6E8-5C80-AB82-1B04-2BEE67677B4D}"/>
              </a:ext>
            </a:extLst>
          </p:cNvPr>
          <p:cNvSpPr/>
          <p:nvPr/>
        </p:nvSpPr>
        <p:spPr>
          <a:xfrm>
            <a:off x="3851212" y="2387366"/>
            <a:ext cx="4843553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證據推薦分級的評估、制訂、評價標準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A4E0740-7D67-FE26-5EA6-06A16C7CE78C}"/>
              </a:ext>
            </a:extLst>
          </p:cNvPr>
          <p:cNvSpPr/>
          <p:nvPr/>
        </p:nvSpPr>
        <p:spPr>
          <a:xfrm>
            <a:off x="3851212" y="2113821"/>
            <a:ext cx="484355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牛津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大學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循證醫學中心臨床研究證據分級與推薦強度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EFA68C1-5637-7C18-0468-36B3A2402018}"/>
              </a:ext>
            </a:extLst>
          </p:cNvPr>
          <p:cNvSpPr/>
          <p:nvPr/>
        </p:nvSpPr>
        <p:spPr>
          <a:xfrm>
            <a:off x="967740" y="534112"/>
            <a:ext cx="4420443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診斷性原始研究品質評價清單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33C51B18-367C-B33B-BADE-DF50B5C8BF83}"/>
              </a:ext>
            </a:extLst>
          </p:cNvPr>
          <p:cNvSpPr/>
          <p:nvPr/>
        </p:nvSpPr>
        <p:spPr>
          <a:xfrm>
            <a:off x="965290" y="265043"/>
            <a:ext cx="442044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荷蘭醫學雜誌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診斷準確性研究報告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的清單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DF425F8-5346-02B8-CC67-3C3AF1D26462}"/>
              </a:ext>
            </a:extLst>
          </p:cNvPr>
          <p:cNvSpPr/>
          <p:nvPr/>
        </p:nvSpPr>
        <p:spPr>
          <a:xfrm>
            <a:off x="5056630" y="3962832"/>
            <a:ext cx="1914409" cy="1259876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（概括稱品質控制方案）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3B8F8BC-E50E-FC97-DFD4-696ABFBF2CE5}"/>
              </a:ext>
            </a:extLst>
          </p:cNvPr>
          <p:cNvSpPr/>
          <p:nvPr/>
        </p:nvSpPr>
        <p:spPr>
          <a:xfrm>
            <a:off x="7315436" y="3962832"/>
            <a:ext cx="1687474" cy="1259876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（即診斷試驗的内涵）</a:t>
            </a:r>
          </a:p>
        </p:txBody>
      </p:sp>
      <p:sp>
        <p:nvSpPr>
          <p:cNvPr id="86" name="右大括号 85">
            <a:extLst>
              <a:ext uri="{FF2B5EF4-FFF2-40B4-BE49-F238E27FC236}">
                <a16:creationId xmlns:a16="http://schemas.microsoft.com/office/drawing/2014/main" id="{F6E107A0-E5C3-2C96-ADF3-61D2A89EDAAF}"/>
              </a:ext>
            </a:extLst>
          </p:cNvPr>
          <p:cNvSpPr/>
          <p:nvPr/>
        </p:nvSpPr>
        <p:spPr bwMode="auto">
          <a:xfrm>
            <a:off x="5389035" y="262297"/>
            <a:ext cx="252000" cy="53945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F230D3-A8BB-763A-1795-44A262F422F5}"/>
              </a:ext>
            </a:extLst>
          </p:cNvPr>
          <p:cNvSpPr/>
          <p:nvPr/>
        </p:nvSpPr>
        <p:spPr>
          <a:xfrm>
            <a:off x="5645929" y="400367"/>
            <a:ext cx="1454244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診斷準確性研究品質評價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5DD3FA5-EA18-E278-8244-10AFB0668F56}"/>
              </a:ext>
            </a:extLst>
          </p:cNvPr>
          <p:cNvSpPr/>
          <p:nvPr/>
        </p:nvSpPr>
        <p:spPr>
          <a:xfrm>
            <a:off x="1993392" y="1460339"/>
            <a:ext cx="511059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系統評價研究設計的方法學報告規範的量表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490B309-AC66-E4E1-2131-521A7CDC53E6}"/>
              </a:ext>
            </a:extLst>
          </p:cNvPr>
          <p:cNvSpPr/>
          <p:nvPr/>
        </p:nvSpPr>
        <p:spPr>
          <a:xfrm>
            <a:off x="1993392" y="1186794"/>
            <a:ext cx="5110592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研究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優先報告條目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</a:p>
        </p:txBody>
      </p:sp>
      <p:sp>
        <p:nvSpPr>
          <p:cNvPr id="95" name="右大括号 94">
            <a:extLst>
              <a:ext uri="{FF2B5EF4-FFF2-40B4-BE49-F238E27FC236}">
                <a16:creationId xmlns:a16="http://schemas.microsoft.com/office/drawing/2014/main" id="{5FF51C98-9CD0-5EF5-27D1-3C3B472005A9}"/>
              </a:ext>
            </a:extLst>
          </p:cNvPr>
          <p:cNvSpPr/>
          <p:nvPr/>
        </p:nvSpPr>
        <p:spPr bwMode="auto">
          <a:xfrm>
            <a:off x="7106524" y="400367"/>
            <a:ext cx="252000" cy="133012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3DA9687C-D7BA-88DA-4C4A-029E84A5E06A}"/>
              </a:ext>
            </a:extLst>
          </p:cNvPr>
          <p:cNvSpPr/>
          <p:nvPr/>
        </p:nvSpPr>
        <p:spPr>
          <a:xfrm>
            <a:off x="7358524" y="926766"/>
            <a:ext cx="1338828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系統評價研究報告規範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5A1562CE-0E23-1D25-BB57-2FD1F424BF03}"/>
              </a:ext>
            </a:extLst>
          </p:cNvPr>
          <p:cNvSpPr/>
          <p:nvPr/>
        </p:nvSpPr>
        <p:spPr>
          <a:xfrm>
            <a:off x="-1782617" y="-304802"/>
            <a:ext cx="14842836" cy="8534401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診斷試驗應用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070DFCB-F20D-3AB4-684F-3C4FA7AD059C}"/>
              </a:ext>
            </a:extLst>
          </p:cNvPr>
          <p:cNvCxnSpPr>
            <a:cxnSpLocks/>
          </p:cNvCxnSpPr>
          <p:nvPr/>
        </p:nvCxnSpPr>
        <p:spPr>
          <a:xfrm>
            <a:off x="992946" y="755648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DC1B05D-006D-E276-2AD0-242612D7541B}"/>
              </a:ext>
            </a:extLst>
          </p:cNvPr>
          <p:cNvSpPr/>
          <p:nvPr/>
        </p:nvSpPr>
        <p:spPr>
          <a:xfrm>
            <a:off x="238238" y="740220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31269E0-EDD1-5D82-5962-D677D2AA64C9}"/>
              </a:ext>
            </a:extLst>
          </p:cNvPr>
          <p:cNvCxnSpPr>
            <a:cxnSpLocks/>
          </p:cNvCxnSpPr>
          <p:nvPr/>
        </p:nvCxnSpPr>
        <p:spPr>
          <a:xfrm>
            <a:off x="3547654" y="755762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A9CA49F-2BFB-438A-3718-876F7AFD75F6}"/>
              </a:ext>
            </a:extLst>
          </p:cNvPr>
          <p:cNvSpPr/>
          <p:nvPr/>
        </p:nvSpPr>
        <p:spPr>
          <a:xfrm>
            <a:off x="2792946" y="740334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運行結果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432AED1F-7B7E-25B7-BD72-458321972E61}"/>
              </a:ext>
            </a:extLst>
          </p:cNvPr>
          <p:cNvCxnSpPr>
            <a:cxnSpLocks/>
          </p:cNvCxnSpPr>
          <p:nvPr/>
        </p:nvCxnSpPr>
        <p:spPr>
          <a:xfrm>
            <a:off x="6101682" y="755219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948E1D1A-F157-575B-47D0-415136BB13C4}"/>
              </a:ext>
            </a:extLst>
          </p:cNvPr>
          <p:cNvSpPr/>
          <p:nvPr/>
        </p:nvSpPr>
        <p:spPr>
          <a:xfrm>
            <a:off x="5346974" y="739791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特定事件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D4C6F2C0-87DB-0615-437B-316032E6ED1A}"/>
              </a:ext>
            </a:extLst>
          </p:cNvPr>
          <p:cNvCxnSpPr>
            <a:cxnSpLocks/>
          </p:cNvCxnSpPr>
          <p:nvPr/>
        </p:nvCxnSpPr>
        <p:spPr>
          <a:xfrm>
            <a:off x="8656390" y="755333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861AEDB6-A465-51BD-8A4F-8865D3C9D98D}"/>
              </a:ext>
            </a:extLst>
          </p:cNvPr>
          <p:cNvSpPr/>
          <p:nvPr/>
        </p:nvSpPr>
        <p:spPr>
          <a:xfrm>
            <a:off x="7901682" y="739905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特定現象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85795FB-AD6F-5E6B-B7BE-9BD53AA167F9}"/>
              </a:ext>
            </a:extLst>
          </p:cNvPr>
          <p:cNvSpPr/>
          <p:nvPr/>
        </p:nvSpPr>
        <p:spPr>
          <a:xfrm>
            <a:off x="10455710" y="7397911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用戶價值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4826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19AC647-F1DB-C19D-2C9D-8AA0C195EB99}"/>
              </a:ext>
            </a:extLst>
          </p:cNvPr>
          <p:cNvSpPr/>
          <p:nvPr/>
        </p:nvSpPr>
        <p:spPr>
          <a:xfrm>
            <a:off x="1932107" y="1877712"/>
            <a:ext cx="1935924" cy="29399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特定臨床情況下的質量規範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253E3D-274E-21B4-4692-1A539F4B7929}"/>
              </a:ext>
            </a:extLst>
          </p:cNvPr>
          <p:cNvSpPr/>
          <p:nvPr/>
        </p:nvSpPr>
        <p:spPr>
          <a:xfrm>
            <a:off x="2016242" y="2171703"/>
            <a:ext cx="185178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基於生物變異的一般質量規範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7F462E7-2D54-C743-6BF0-85DAFEFDE774}"/>
              </a:ext>
            </a:extLst>
          </p:cNvPr>
          <p:cNvSpPr/>
          <p:nvPr/>
        </p:nvSpPr>
        <p:spPr>
          <a:xfrm>
            <a:off x="2016242" y="2465694"/>
            <a:ext cx="185178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基於醫療觀點的一般質量規範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27E0E7-CD7E-DC33-FD9A-F0B5C11F896C}"/>
              </a:ext>
            </a:extLst>
          </p:cNvPr>
          <p:cNvSpPr/>
          <p:nvPr/>
        </p:nvSpPr>
        <p:spPr>
          <a:xfrm>
            <a:off x="2274770" y="2760579"/>
            <a:ext cx="159530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國家或國際專家小組指南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3ED996F-84E9-701D-13B2-2B0F08E95DA6}"/>
              </a:ext>
            </a:extLst>
          </p:cNvPr>
          <p:cNvSpPr/>
          <p:nvPr/>
        </p:nvSpPr>
        <p:spPr>
          <a:xfrm>
            <a:off x="1890050" y="3053676"/>
            <a:ext cx="198002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8A24A3C-36F9-7913-8522-90A1BFDF06E0}"/>
              </a:ext>
            </a:extLst>
          </p:cNvPr>
          <p:cNvSpPr/>
          <p:nvPr/>
        </p:nvSpPr>
        <p:spPr>
          <a:xfrm>
            <a:off x="2146530" y="3347667"/>
            <a:ext cx="172354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由法規機構制定的質量規範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150F22-CDB4-6EA3-A8A9-5180D0CA42DC}"/>
              </a:ext>
            </a:extLst>
          </p:cNvPr>
          <p:cNvSpPr/>
          <p:nvPr/>
        </p:nvSpPr>
        <p:spPr>
          <a:xfrm>
            <a:off x="1505329" y="3641717"/>
            <a:ext cx="2364750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91A9B0-00A1-82A3-46A0-96A73EAF6DD7}"/>
              </a:ext>
            </a:extLst>
          </p:cNvPr>
          <p:cNvSpPr/>
          <p:nvPr/>
        </p:nvSpPr>
        <p:spPr>
          <a:xfrm>
            <a:off x="1377089" y="3935708"/>
            <a:ext cx="2492990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已發表的能力驗證和室間質量評價的數據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DE5E46-3CDB-3EC5-1E61-86D43D9DE1B5}"/>
              </a:ext>
            </a:extLst>
          </p:cNvPr>
          <p:cNvSpPr/>
          <p:nvPr/>
        </p:nvSpPr>
        <p:spPr>
          <a:xfrm>
            <a:off x="2400963" y="4256939"/>
            <a:ext cx="146706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已發表的特定的方法學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59737003-AAC7-5B58-DDEA-F0D4D1EBE11F}"/>
              </a:ext>
            </a:extLst>
          </p:cNvPr>
          <p:cNvSpPr/>
          <p:nvPr/>
        </p:nvSpPr>
        <p:spPr bwMode="auto">
          <a:xfrm>
            <a:off x="3868031" y="1877712"/>
            <a:ext cx="225307" cy="27023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0E3345A8-D88D-DDA6-064E-F4BBBD0C52D2}"/>
              </a:ext>
            </a:extLst>
          </p:cNvPr>
          <p:cNvCxnSpPr/>
          <p:nvPr/>
        </p:nvCxnSpPr>
        <p:spPr bwMode="auto">
          <a:xfrm>
            <a:off x="3870077" y="5059139"/>
            <a:ext cx="2268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33BD8EE2-A48D-1C3B-F122-3C532A10C7E1}"/>
              </a:ext>
            </a:extLst>
          </p:cNvPr>
          <p:cNvSpPr/>
          <p:nvPr/>
        </p:nvSpPr>
        <p:spPr>
          <a:xfrm>
            <a:off x="2400963" y="4897556"/>
            <a:ext cx="1467068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檢驗系統測量性能評估</a:t>
            </a:r>
          </a:p>
        </p:txBody>
      </p:sp>
      <p:sp>
        <p:nvSpPr>
          <p:cNvPr id="14" name="右大括号 13">
            <a:extLst>
              <a:ext uri="{FF2B5EF4-FFF2-40B4-BE49-F238E27FC236}">
                <a16:creationId xmlns:a16="http://schemas.microsoft.com/office/drawing/2014/main" id="{4AF7FB6C-0BCD-7D58-7B96-3E4E1F7EF67B}"/>
              </a:ext>
            </a:extLst>
          </p:cNvPr>
          <p:cNvSpPr/>
          <p:nvPr/>
        </p:nvSpPr>
        <p:spPr bwMode="auto">
          <a:xfrm>
            <a:off x="4096470" y="3229306"/>
            <a:ext cx="225307" cy="182983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FBEAA1-9F4F-A5E3-7F4F-1CF2C6ECFDEC}"/>
              </a:ext>
            </a:extLst>
          </p:cNvPr>
          <p:cNvSpPr/>
          <p:nvPr/>
        </p:nvSpPr>
        <p:spPr>
          <a:xfrm>
            <a:off x="5372245" y="3982639"/>
            <a:ext cx="146706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導出醫學上重要的</a:t>
            </a: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誤差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05C16A9-A1AF-8AD4-112C-236E41CB22A6}"/>
              </a:ext>
            </a:extLst>
          </p:cNvPr>
          <p:cNvCxnSpPr/>
          <p:nvPr/>
        </p:nvCxnSpPr>
        <p:spPr bwMode="auto">
          <a:xfrm>
            <a:off x="4321936" y="4144218"/>
            <a:ext cx="1044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FEC6C777-E95D-C8FA-6191-DA0F12EA43E8}"/>
              </a:ext>
            </a:extLst>
          </p:cNvPr>
          <p:cNvSpPr/>
          <p:nvPr/>
        </p:nvSpPr>
        <p:spPr>
          <a:xfrm>
            <a:off x="5756965" y="3659474"/>
            <a:ext cx="108234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操作過程規範圖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48D2692-B2A5-6A87-7421-7DCCEBA05DC6}"/>
              </a:ext>
            </a:extLst>
          </p:cNvPr>
          <p:cNvSpPr/>
          <p:nvPr/>
        </p:nvSpPr>
        <p:spPr>
          <a:xfrm>
            <a:off x="6013446" y="3336309"/>
            <a:ext cx="825867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功效函數圖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92D35D4-1AC4-2A74-0C30-1B43A147D6B8}"/>
              </a:ext>
            </a:extLst>
          </p:cNvPr>
          <p:cNvSpPr/>
          <p:nvPr/>
        </p:nvSpPr>
        <p:spPr>
          <a:xfrm>
            <a:off x="4474562" y="3013144"/>
            <a:ext cx="2364750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在兩次假失控之間的平均運行測量批數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右大括号 19">
            <a:extLst>
              <a:ext uri="{FF2B5EF4-FFF2-40B4-BE49-F238E27FC236}">
                <a16:creationId xmlns:a16="http://schemas.microsoft.com/office/drawing/2014/main" id="{C5199DE6-6912-573B-2D00-27E785FF9F80}"/>
              </a:ext>
            </a:extLst>
          </p:cNvPr>
          <p:cNvSpPr/>
          <p:nvPr/>
        </p:nvSpPr>
        <p:spPr bwMode="auto">
          <a:xfrm>
            <a:off x="6839313" y="2366814"/>
            <a:ext cx="225307" cy="193899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1C2822F-0AB3-0AFD-2231-E835602B8998}"/>
              </a:ext>
            </a:extLst>
          </p:cNvPr>
          <p:cNvSpPr/>
          <p:nvPr/>
        </p:nvSpPr>
        <p:spPr>
          <a:xfrm>
            <a:off x="7428346" y="2829106"/>
            <a:ext cx="1798890" cy="99129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確定控制方案：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每個檢測批質控品測定數量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控制規則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最佳檢測批長度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A2E07CED-E958-B92C-E8A2-7B2B8141ACC4}"/>
              </a:ext>
            </a:extLst>
          </p:cNvPr>
          <p:cNvCxnSpPr/>
          <p:nvPr/>
        </p:nvCxnSpPr>
        <p:spPr bwMode="auto">
          <a:xfrm>
            <a:off x="7063791" y="3336937"/>
            <a:ext cx="36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E88F743-6039-CF60-600D-67D5716CB71B}"/>
              </a:ext>
            </a:extLst>
          </p:cNvPr>
          <p:cNvCxnSpPr/>
          <p:nvPr/>
        </p:nvCxnSpPr>
        <p:spPr bwMode="auto">
          <a:xfrm>
            <a:off x="9232386" y="3336938"/>
            <a:ext cx="36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B6698827-092D-3647-1B48-853259C3A638}"/>
              </a:ext>
            </a:extLst>
          </p:cNvPr>
          <p:cNvSpPr/>
          <p:nvPr/>
        </p:nvSpPr>
        <p:spPr>
          <a:xfrm>
            <a:off x="4987524" y="2689979"/>
            <a:ext cx="1851789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誤差檢出的平均運行測量批數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6A7DDE7-36AD-5044-8739-0DDBBB5CBB38}"/>
              </a:ext>
            </a:extLst>
          </p:cNvPr>
          <p:cNvSpPr/>
          <p:nvPr/>
        </p:nvSpPr>
        <p:spPr>
          <a:xfrm>
            <a:off x="5115763" y="2366814"/>
            <a:ext cx="1723549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根據過程能力指數分級選擇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761A647-D56A-7B94-ED5F-3AA5E3C782A9}"/>
              </a:ext>
            </a:extLst>
          </p:cNvPr>
          <p:cNvSpPr/>
          <p:nvPr/>
        </p:nvSpPr>
        <p:spPr>
          <a:xfrm>
            <a:off x="9592386" y="2829105"/>
            <a:ext cx="1210588" cy="99129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估計檢測過程的：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品質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生產率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風險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64EAAC2-8A34-BE9B-98AE-71FE4A278C24}"/>
              </a:ext>
            </a:extLst>
          </p:cNvPr>
          <p:cNvCxnSpPr/>
          <p:nvPr/>
        </p:nvCxnSpPr>
        <p:spPr bwMode="auto">
          <a:xfrm>
            <a:off x="10198189" y="4370685"/>
            <a:ext cx="0" cy="11808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E9640C50-3064-8F94-BF53-1A80CB3BF039}"/>
              </a:ext>
            </a:extLst>
          </p:cNvPr>
          <p:cNvCxnSpPr/>
          <p:nvPr/>
        </p:nvCxnSpPr>
        <p:spPr bwMode="auto">
          <a:xfrm>
            <a:off x="8036692" y="5538782"/>
            <a:ext cx="2160000" cy="12788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50F629F1-5D17-D558-A9A2-8B54A217C747}"/>
              </a:ext>
            </a:extLst>
          </p:cNvPr>
          <p:cNvSpPr/>
          <p:nvPr/>
        </p:nvSpPr>
        <p:spPr>
          <a:xfrm>
            <a:off x="6613508" y="5359613"/>
            <a:ext cx="1423184" cy="34624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重新選擇檢驗系統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8D54048-8BBE-C7D3-C6F4-28068B1F1E07}"/>
              </a:ext>
            </a:extLst>
          </p:cNvPr>
          <p:cNvCxnSpPr/>
          <p:nvPr/>
        </p:nvCxnSpPr>
        <p:spPr bwMode="auto">
          <a:xfrm>
            <a:off x="3126621" y="5526694"/>
            <a:ext cx="3484800" cy="12088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54234219-D7E8-022D-F79E-6D2827A082BB}"/>
              </a:ext>
            </a:extLst>
          </p:cNvPr>
          <p:cNvCxnSpPr/>
          <p:nvPr/>
        </p:nvCxnSpPr>
        <p:spPr bwMode="auto">
          <a:xfrm flipH="1">
            <a:off x="3129248" y="5221841"/>
            <a:ext cx="496" cy="3024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右大括号 31">
            <a:extLst>
              <a:ext uri="{FF2B5EF4-FFF2-40B4-BE49-F238E27FC236}">
                <a16:creationId xmlns:a16="http://schemas.microsoft.com/office/drawing/2014/main" id="{8F2E55EA-316A-069B-FDD6-700404B8262A}"/>
              </a:ext>
            </a:extLst>
          </p:cNvPr>
          <p:cNvSpPr/>
          <p:nvPr/>
        </p:nvSpPr>
        <p:spPr bwMode="auto">
          <a:xfrm rot="5400000">
            <a:off x="9932203" y="3504953"/>
            <a:ext cx="530953" cy="12105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B213224-D2C3-4115-B056-2DC8E03095E5}"/>
              </a:ext>
            </a:extLst>
          </p:cNvPr>
          <p:cNvSpPr/>
          <p:nvPr/>
        </p:nvSpPr>
        <p:spPr>
          <a:xfrm>
            <a:off x="10076960" y="4455688"/>
            <a:ext cx="433196" cy="558038"/>
          </a:xfrm>
          <a:prstGeom prst="rect">
            <a:avLst/>
          </a:prstGeom>
          <a:ln>
            <a:noFill/>
          </a:ln>
        </p:spPr>
        <p:txBody>
          <a:bodyPr vert="wordArtVertRtl"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不滿意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B51EC8B-C0D3-FEEE-31CB-A7D796066F1C}"/>
              </a:ext>
            </a:extLst>
          </p:cNvPr>
          <p:cNvCxnSpPr/>
          <p:nvPr/>
        </p:nvCxnSpPr>
        <p:spPr bwMode="auto">
          <a:xfrm flipH="1">
            <a:off x="5985566" y="1411438"/>
            <a:ext cx="496" cy="9540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none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D984116C-34CC-CB12-5BBB-7DE8F0632729}"/>
              </a:ext>
            </a:extLst>
          </p:cNvPr>
          <p:cNvSpPr/>
          <p:nvPr/>
        </p:nvSpPr>
        <p:spPr>
          <a:xfrm>
            <a:off x="2146530" y="1249282"/>
            <a:ext cx="1723549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檢驗系統誤差發生分布特徵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A4620B76-6CF8-D009-41CA-0960F12127B1}"/>
              </a:ext>
            </a:extLst>
          </p:cNvPr>
          <p:cNvCxnSpPr/>
          <p:nvPr/>
        </p:nvCxnSpPr>
        <p:spPr bwMode="auto">
          <a:xfrm>
            <a:off x="3870174" y="1410865"/>
            <a:ext cx="21168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FFE74446-BCE5-688A-C411-E85D369C7655}"/>
              </a:ext>
            </a:extLst>
          </p:cNvPr>
          <p:cNvSpPr/>
          <p:nvPr/>
        </p:nvSpPr>
        <p:spPr>
          <a:xfrm>
            <a:off x="955221" y="449035"/>
            <a:ext cx="10270669" cy="5560861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診斷試驗設計</a:t>
            </a:r>
          </a:p>
        </p:txBody>
      </p:sp>
    </p:spTree>
    <p:extLst>
      <p:ext uri="{BB962C8B-B14F-4D97-AF65-F5344CB8AC3E}">
        <p14:creationId xmlns:p14="http://schemas.microsoft.com/office/powerpoint/2010/main" val="11164794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350E491-99F9-56FB-15A8-85A437D2C2F2}"/>
              </a:ext>
            </a:extLst>
          </p:cNvPr>
          <p:cNvSpPr/>
          <p:nvPr/>
        </p:nvSpPr>
        <p:spPr>
          <a:xfrm>
            <a:off x="1057275" y="3090657"/>
            <a:ext cx="1362765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行銷學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B5A1A8-829D-9706-33CE-CF3A33678155}"/>
              </a:ext>
            </a:extLst>
          </p:cNvPr>
          <p:cNvSpPr/>
          <p:nvPr/>
        </p:nvSpPr>
        <p:spPr>
          <a:xfrm>
            <a:off x="2695732" y="519992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消費者洞察（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Consumer Insight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）、市場調查（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Research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左大括号 3">
            <a:extLst>
              <a:ext uri="{FF2B5EF4-FFF2-40B4-BE49-F238E27FC236}">
                <a16:creationId xmlns:a16="http://schemas.microsoft.com/office/drawing/2014/main" id="{72E86BE7-1A8F-B091-46F8-FB811531DEF6}"/>
              </a:ext>
            </a:extLst>
          </p:cNvPr>
          <p:cNvSpPr/>
          <p:nvPr/>
        </p:nvSpPr>
        <p:spPr>
          <a:xfrm>
            <a:off x="2420527" y="568902"/>
            <a:ext cx="264989" cy="5395737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5C6944-5F11-D7C2-6BD5-6BAB94E88BE6}"/>
              </a:ext>
            </a:extLst>
          </p:cNvPr>
          <p:cNvSpPr/>
          <p:nvPr/>
        </p:nvSpPr>
        <p:spPr>
          <a:xfrm>
            <a:off x="2695730" y="840033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策略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Strategy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98699-D93E-419C-00C0-EC6642176C51}"/>
              </a:ext>
            </a:extLst>
          </p:cNvPr>
          <p:cNvSpPr/>
          <p:nvPr/>
        </p:nvSpPr>
        <p:spPr>
          <a:xfrm>
            <a:off x="2695731" y="5001910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、行銷預算（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Budget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3D9AEC-88DA-40C5-DC33-99DDACE40852}"/>
              </a:ext>
            </a:extLst>
          </p:cNvPr>
          <p:cNvSpPr/>
          <p:nvPr/>
        </p:nvSpPr>
        <p:spPr>
          <a:xfrm>
            <a:off x="2695731" y="2893889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、行銷組合（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Mix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8P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2C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29BB46-42AF-077A-9175-65F222FD4A33}"/>
              </a:ext>
            </a:extLst>
          </p:cNvPr>
          <p:cNvSpPr/>
          <p:nvPr/>
        </p:nvSpPr>
        <p:spPr>
          <a:xfrm>
            <a:off x="2690278" y="5326662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、行銷績效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Performance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1CD860D-0959-4ACA-30A2-E1487B2A1DE6}"/>
              </a:ext>
            </a:extLst>
          </p:cNvPr>
          <p:cNvSpPr/>
          <p:nvPr/>
        </p:nvSpPr>
        <p:spPr>
          <a:xfrm>
            <a:off x="6379075" y="1114594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、產品（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Product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和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顧客（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Customers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601D7019-74E1-EC5D-50EA-D0CF39DDFC60}"/>
              </a:ext>
            </a:extLst>
          </p:cNvPr>
          <p:cNvSpPr/>
          <p:nvPr/>
        </p:nvSpPr>
        <p:spPr>
          <a:xfrm>
            <a:off x="6103870" y="1163505"/>
            <a:ext cx="264989" cy="381514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389A0C-F8B3-E8C8-4E14-0099F5D1F5AB}"/>
              </a:ext>
            </a:extLst>
          </p:cNvPr>
          <p:cNvSpPr/>
          <p:nvPr/>
        </p:nvSpPr>
        <p:spPr>
          <a:xfrm>
            <a:off x="6379072" y="1434635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(2)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訂價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Pricing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）和成本（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Cost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83853ED-0708-E465-60D5-C6D0F9F81556}"/>
              </a:ext>
            </a:extLst>
          </p:cNvPr>
          <p:cNvSpPr/>
          <p:nvPr/>
        </p:nvSpPr>
        <p:spPr>
          <a:xfrm>
            <a:off x="6379073" y="1754682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、通路（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Place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）和可觸及（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Convenience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4C328F9-33C4-4CCE-0293-C6D58C655ED2}"/>
              </a:ext>
            </a:extLst>
          </p:cNvPr>
          <p:cNvSpPr/>
          <p:nvPr/>
        </p:nvSpPr>
        <p:spPr>
          <a:xfrm>
            <a:off x="6379073" y="2074738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、推廣（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Promotion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）和溝通（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Communication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7D76486-D341-3F5B-15AD-14EC2C58A84F}"/>
              </a:ext>
            </a:extLst>
          </p:cNvPr>
          <p:cNvSpPr/>
          <p:nvPr/>
        </p:nvSpPr>
        <p:spPr>
          <a:xfrm>
            <a:off x="6379073" y="2394775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、品牌（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Branding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6421BC6-236A-0EC3-180C-12E67B5BAD8C}"/>
              </a:ext>
            </a:extLst>
          </p:cNvPr>
          <p:cNvSpPr/>
          <p:nvPr/>
        </p:nvSpPr>
        <p:spPr>
          <a:xfrm>
            <a:off x="6379074" y="2724550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、現場環境（店頭或展會體驗行銷）（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Physical Environment, PE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199F7D8-24B6-BF63-1785-37157A8B1E23}"/>
              </a:ext>
            </a:extLst>
          </p:cNvPr>
          <p:cNvSpPr/>
          <p:nvPr/>
        </p:nvSpPr>
        <p:spPr>
          <a:xfrm>
            <a:off x="6375828" y="3047159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(7)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、人員銷售（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Personal Sales, PS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DF501D-4F81-C124-8F9B-BB66FDC5F27D}"/>
              </a:ext>
            </a:extLst>
          </p:cNvPr>
          <p:cNvSpPr/>
          <p:nvPr/>
        </p:nvSpPr>
        <p:spPr>
          <a:xfrm>
            <a:off x="6375828" y="3367200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(8)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、公共關係（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Public Relationship, PR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DAF5E8-8BB1-430F-31AD-97CD10389E82}"/>
              </a:ext>
            </a:extLst>
          </p:cNvPr>
          <p:cNvSpPr/>
          <p:nvPr/>
        </p:nvSpPr>
        <p:spPr>
          <a:xfrm>
            <a:off x="6375829" y="3687247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(9)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、服務（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Service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B04117F-6E33-6FB5-119C-8BE1012C8D1D}"/>
              </a:ext>
            </a:extLst>
          </p:cNvPr>
          <p:cNvSpPr/>
          <p:nvPr/>
        </p:nvSpPr>
        <p:spPr>
          <a:xfrm>
            <a:off x="6375829" y="4007303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(10)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、服務客戶的標準化作業流程（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Processing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4FDAA39-A76D-A81A-48B8-6FA554CE277F}"/>
              </a:ext>
            </a:extLst>
          </p:cNvPr>
          <p:cNvSpPr/>
          <p:nvPr/>
        </p:nvSpPr>
        <p:spPr>
          <a:xfrm>
            <a:off x="2686002" y="5650515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行銷關鍵績效指標（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Key Performance Indicator, KPI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）達成率復盤檢討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64C38E-001A-435E-3C6B-DAE578D9489C}"/>
              </a:ext>
            </a:extLst>
          </p:cNvPr>
          <p:cNvSpPr/>
          <p:nvPr/>
        </p:nvSpPr>
        <p:spPr>
          <a:xfrm>
            <a:off x="6375829" y="4344472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(11)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、客戶關係管理（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Customer Relationship Management, CRM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8487C33-25E3-7375-AF02-A23C02B57F90}"/>
              </a:ext>
            </a:extLst>
          </p:cNvPr>
          <p:cNvSpPr/>
          <p:nvPr/>
        </p:nvSpPr>
        <p:spPr>
          <a:xfrm>
            <a:off x="6375829" y="4664528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(12)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企業行銷社會責任（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Corporate Marketing Social Responsibility, CSR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882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CE56CA4-EA78-9D5D-3744-E38A77C753E4}"/>
              </a:ext>
            </a:extLst>
          </p:cNvPr>
          <p:cNvSpPr/>
          <p:nvPr/>
        </p:nvSpPr>
        <p:spPr>
          <a:xfrm>
            <a:off x="1264955" y="391718"/>
            <a:ext cx="800373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過度診斷：</a:t>
            </a: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作 者：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韋爾奇著　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施瓦茨著　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沃洛辛著　黃雅莎譯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重慶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重慶大學出版社 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,2015</a:t>
            </a:r>
          </a:p>
          <a:p>
            <a:pPr>
              <a:lnSpc>
                <a:spcPct val="150000"/>
              </a:lnSpc>
            </a:pP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深圳市科技圖書館藏</a:t>
            </a: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endParaRPr lang="zh-TW" alt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6" name="图片 25" descr="http://202.112.150.126/index.php?client=szlib&amp;isbn=9787562485209/cover">
            <a:extLst>
              <a:ext uri="{FF2B5EF4-FFF2-40B4-BE49-F238E27FC236}">
                <a16:creationId xmlns:a16="http://schemas.microsoft.com/office/drawing/2014/main" id="{40A5A3BE-B38E-D352-5C3F-E5962776B79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3128" y="1662458"/>
            <a:ext cx="3419475" cy="37685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2240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1976</TotalTime>
  <Words>4923</Words>
  <Application>Microsoft Office PowerPoint</Application>
  <PresentationFormat>宽屏</PresentationFormat>
  <Paragraphs>359</Paragraphs>
  <Slides>19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8" baseType="lpstr">
      <vt:lpstr>-apple-system</vt:lpstr>
      <vt:lpstr>Helvetica Neue</vt:lpstr>
      <vt:lpstr>等线</vt:lpstr>
      <vt:lpstr>等线 Light</vt:lpstr>
      <vt:lpstr>华文宋体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vitro diagnostic outline</dc:title>
  <dc:subject>醫學診斷,in vitro diagnostic,IVD</dc:subject>
  <dc:creator>趙健</dc:creator>
  <cp:keywords>醫學,診斷,實驗室診斷,in vitro diagnostic,IVD,outline</cp:keywords>
  <dc:description>+8618604537694；283640621@qq.com；</dc:description>
  <cp:lastModifiedBy>Admin</cp:lastModifiedBy>
  <cp:revision>362</cp:revision>
  <dcterms:created xsi:type="dcterms:W3CDTF">2024-04-11T04:56:20Z</dcterms:created>
  <dcterms:modified xsi:type="dcterms:W3CDTF">2026-01-27T11:23:43Z</dcterms:modified>
</cp:coreProperties>
</file>